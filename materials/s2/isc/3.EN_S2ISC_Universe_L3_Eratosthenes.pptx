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jpeg" ContentType="image/jpeg"/>
  <Override PartName="/ppt/media/image3.png" ContentType="image/png"/>
  <Override PartName="/ppt/media/image4.jpeg" ContentType="image/jpeg"/>
  <Override PartName="/ppt/media/image5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D70A00-3F92-4D05-BCB4-BD7EF91631E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075CC7-FB4A-461C-81B3-F1F5D9042AE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41DF91D-2E2C-472E-A3F6-C4A06E630AB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67B2027-17B2-42A0-A782-0893455DA2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419E448-87AB-422F-A0E2-1322B7EA1C3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90E2A534-4202-46BF-86B9-E8ECB2B5592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ECF01BB-461B-45E2-A9D7-48202F15095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949C817-2CE2-47F5-BF38-F314EDE1A87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D12C5809-05F9-4B33-8C0C-E235DA3F4D1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31262FA3-589C-417B-B260-B00314CB733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EA75425F-5A23-406B-A419-249A0CAF3AC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8C0D59F-CE21-4E24-88B2-00F15894C3C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81FC6B3-2D80-49B3-9854-F3655358C05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76D8AD3-5E4E-490D-8149-F27D3F80608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4C8C00E-381A-496B-B795-5BC7F3FE861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299E085-93F5-43B1-8FED-9AF1AA44E45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DEDC0D4-66F2-49A8-A4CD-8D73B150F41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0C2CFF2-78D6-429F-94EF-5F90FDF8598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9F6020-370D-4365-B52D-15B0D2020A7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FD81B8-F36B-4263-AF2D-35E86FDA900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A7BC710-530D-47DE-82DF-B7145810179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0A7B8EB-990F-4644-A9A1-0FE050311E7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82520" cy="6857640"/>
          </a:xfrm>
          <a:prstGeom prst="rect">
            <a:avLst/>
          </a:prstGeom>
          <a:solidFill>
            <a:srgbClr val="5b6e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731520" y="1005840"/>
            <a:ext cx="6583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ef476f"/>
                </a:solidFill>
                <a:latin typeface="Arial"/>
              </a:rPr>
              <a:t>UNIT 1 · OUR PLACE IN THE UNIVERSE · LESSON 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731520" y="1508760"/>
            <a:ext cx="6583320" cy="14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600" spc="-1" strike="noStrike">
                <a:solidFill>
                  <a:srgbClr val="5b6ee1"/>
                </a:solidFill>
                <a:latin typeface="Verdana"/>
              </a:rPr>
              <a:t>How Do We Know</a:t>
            </a:r>
            <a:endParaRPr b="0" lang="en-US" sz="4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4600" spc="-1" strike="noStrike">
                <a:solidFill>
                  <a:srgbClr val="5b6ee1"/>
                </a:solidFill>
                <a:latin typeface="Verdana"/>
              </a:rPr>
              <a:t>Earth Is Round?</a:t>
            </a:r>
            <a:endParaRPr b="0" lang="en-US" sz="4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731520" y="3840480"/>
            <a:ext cx="640044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555566"/>
                </a:solidFill>
                <a:latin typeface="Arial"/>
              </a:rPr>
              <a:t>And how a librarian, 2,000 years ago, used nothing but shadows and geometry to measure its exact size.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1"/>
          <p:cNvSpPr/>
          <p:nvPr/>
        </p:nvSpPr>
        <p:spPr>
          <a:xfrm>
            <a:off x="0" y="0"/>
            <a:ext cx="182520" cy="6857640"/>
          </a:xfrm>
          <a:prstGeom prst="rect">
            <a:avLst/>
          </a:prstGeom>
          <a:solidFill>
            <a:srgbClr val="5b6e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731520" y="457200"/>
            <a:ext cx="105152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f476f"/>
                </a:solidFill>
                <a:latin typeface="Arial"/>
              </a:rPr>
              <a:t>QUICK RECAP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731520" y="822960"/>
            <a:ext cx="105152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5b6ee1"/>
                </a:solidFill>
                <a:latin typeface="Verdana"/>
              </a:rPr>
              <a:t>Where We've Been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731520" y="1920240"/>
            <a:ext cx="10515240" cy="11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⬤  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We've covered the Solar System, day/night, the year, the Sun, seasons, and the Moon's same-faced mystery.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⬤  </a:t>
            </a: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Today's question: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  how do we actually KNOW Earth is round — and how big is it?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"/>
          <p:cNvSpPr/>
          <p:nvPr/>
        </p:nvSpPr>
        <p:spPr>
          <a:xfrm>
            <a:off x="0" y="0"/>
            <a:ext cx="182520" cy="6857640"/>
          </a:xfrm>
          <a:prstGeom prst="rect">
            <a:avLst/>
          </a:prstGeom>
          <a:solidFill>
            <a:srgbClr val="5b6e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731520" y="457200"/>
            <a:ext cx="105152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f476f"/>
                </a:solidFill>
                <a:latin typeface="Arial"/>
              </a:rPr>
              <a:t>A BIT OF HISTORY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731520" y="822960"/>
            <a:ext cx="105152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5b6ee1"/>
                </a:solidFill>
                <a:latin typeface="Verdana"/>
              </a:rPr>
              <a:t>The Old Idea: A Flat Earth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4"/>
          <p:cNvSpPr/>
          <p:nvPr/>
        </p:nvSpPr>
        <p:spPr>
          <a:xfrm>
            <a:off x="731520" y="1920240"/>
            <a:ext cx="10515240" cy="247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⬤  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Ancient civilisations like the Babylonians and Egyptians generally believed Earth was a flat disk — that's simply what it looks like when you stand on it.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⬤  </a:t>
            </a: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The first doubter: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  the Greek philosopher Pythagoras, around the 6th century BCE, noticed that the Moon and Sun were both spherical — and reasoned that Earth, part of the same cosmic family, probably was too.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⬤  </a:t>
            </a: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The proof was still missing: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  a good guess isn't the same as evidence. That's where our hero comes in.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0" y="0"/>
            <a:ext cx="182520" cy="6857640"/>
          </a:xfrm>
          <a:prstGeom prst="rect">
            <a:avLst/>
          </a:prstGeom>
          <a:solidFill>
            <a:srgbClr val="5b6e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731520" y="457200"/>
            <a:ext cx="105152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f476f"/>
                </a:solidFill>
                <a:latin typeface="Arial"/>
              </a:rPr>
              <a:t>MEET THE SCIENTIST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3"/>
          <p:cNvSpPr/>
          <p:nvPr/>
        </p:nvSpPr>
        <p:spPr>
          <a:xfrm>
            <a:off x="731520" y="822960"/>
            <a:ext cx="105152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5b6ee1"/>
                </a:solidFill>
                <a:latin typeface="Verdana"/>
              </a:rPr>
              <a:t>Eratosthenes of Cyrene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2" name="Picture 4" descr="eratosthenes_3.png"/>
          <p:cNvPicPr/>
          <p:nvPr/>
        </p:nvPicPr>
        <p:blipFill>
          <a:blip r:embed="rId1"/>
          <a:stretch/>
        </p:blipFill>
        <p:spPr>
          <a:xfrm>
            <a:off x="7589520" y="1554480"/>
            <a:ext cx="3931560" cy="4065840"/>
          </a:xfrm>
          <a:prstGeom prst="rect">
            <a:avLst/>
          </a:prstGeom>
          <a:ln w="0">
            <a:noFill/>
          </a:ln>
        </p:spPr>
      </p:pic>
      <p:sp>
        <p:nvSpPr>
          <p:cNvPr id="83" name="TextBox 5"/>
          <p:cNvSpPr/>
          <p:nvPr/>
        </p:nvSpPr>
        <p:spPr>
          <a:xfrm>
            <a:off x="731520" y="1920240"/>
            <a:ext cx="6949080" cy="236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900" spc="-1" strike="noStrike">
                <a:solidFill>
                  <a:srgbClr val="222233"/>
                </a:solidFill>
                <a:latin typeface="Arial"/>
              </a:rPr>
              <a:t>⬤  </a:t>
            </a:r>
            <a:r>
              <a:rPr b="0" lang="en-US" sz="1900" spc="-1" strike="noStrike">
                <a:solidFill>
                  <a:srgbClr val="222233"/>
                </a:solidFill>
                <a:latin typeface="Arial"/>
              </a:rPr>
              <a:t>Born in 276 BCE in Cyrene (modern-day Libya), Eratosthenes lived and worked in Alexandria, Egypt.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900" spc="-1" strike="noStrike">
                <a:solidFill>
                  <a:srgbClr val="5b6ee1"/>
                </a:solidFill>
                <a:latin typeface="Arial"/>
              </a:rPr>
              <a:t>⬤  </a:t>
            </a:r>
            <a:r>
              <a:rPr b="1" lang="en-US" sz="1900" spc="-1" strike="noStrike">
                <a:solidFill>
                  <a:srgbClr val="5b6ee1"/>
                </a:solidFill>
                <a:latin typeface="Arial"/>
              </a:rPr>
              <a:t>His job:</a:t>
            </a:r>
            <a:r>
              <a:rPr b="0" lang="en-US" sz="1900" spc="-1" strike="noStrike">
                <a:solidFill>
                  <a:srgbClr val="222233"/>
                </a:solidFill>
                <a:latin typeface="Arial"/>
              </a:rPr>
              <a:t>  chief librarian of the Library of Alexandria — one of the greatest centres of knowledge in the ancient world.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900" spc="-1" strike="noStrike">
                <a:solidFill>
                  <a:srgbClr val="5b6ee1"/>
                </a:solidFill>
                <a:latin typeface="Arial"/>
              </a:rPr>
              <a:t>⬤  </a:t>
            </a:r>
            <a:r>
              <a:rPr b="1" lang="en-US" sz="1900" spc="-1" strike="noStrike">
                <a:solidFill>
                  <a:srgbClr val="5b6ee1"/>
                </a:solidFill>
                <a:latin typeface="Arial"/>
              </a:rPr>
              <a:t>His claim to fame:</a:t>
            </a:r>
            <a:r>
              <a:rPr b="0" lang="en-US" sz="1900" spc="-1" strike="noStrike">
                <a:solidFill>
                  <a:srgbClr val="222233"/>
                </a:solidFill>
                <a:latin typeface="Arial"/>
              </a:rPr>
              <a:t>  around 2,000 years ago, he became the first person in history to calculate the size of the Earth — using nothing but shadows, geometry, and a very clever idea.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1"/>
          <p:cNvSpPr/>
          <p:nvPr/>
        </p:nvSpPr>
        <p:spPr>
          <a:xfrm>
            <a:off x="0" y="0"/>
            <a:ext cx="182520" cy="6857640"/>
          </a:xfrm>
          <a:prstGeom prst="rect">
            <a:avLst/>
          </a:prstGeom>
          <a:solidFill>
            <a:srgbClr val="5b6e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731520" y="457200"/>
            <a:ext cx="105152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f476f"/>
                </a:solidFill>
                <a:latin typeface="Arial"/>
              </a:rPr>
              <a:t>THE EXPERIMENT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3"/>
          <p:cNvSpPr/>
          <p:nvPr/>
        </p:nvSpPr>
        <p:spPr>
          <a:xfrm>
            <a:off x="731520" y="822960"/>
            <a:ext cx="105152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5b6ee1"/>
                </a:solidFill>
                <a:latin typeface="Verdana"/>
              </a:rPr>
              <a:t>Two Cities, One Day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4"/>
          <p:cNvSpPr/>
          <p:nvPr/>
        </p:nvSpPr>
        <p:spPr>
          <a:xfrm>
            <a:off x="731520" y="1920240"/>
            <a:ext cx="10515240" cy="21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⬤  </a:t>
            </a: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The cities: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  Eratosthenes picked Alexandria and Syene (modern Aswan), about 800 km apart in Egypt.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⬤  </a:t>
            </a: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The day: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  the Summer Solstice (around 21 June) — the longest day of the year, when the Sun reaches its highest point in the sky.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⬤  </a:t>
            </a: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Why that day: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  he knew that in Syene, at noon on that exact day, the Sun was directly overhead — vertical objects cast NO shadow at all.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1"/>
          <p:cNvSpPr/>
          <p:nvPr/>
        </p:nvSpPr>
        <p:spPr>
          <a:xfrm>
            <a:off x="0" y="0"/>
            <a:ext cx="182520" cy="6857640"/>
          </a:xfrm>
          <a:prstGeom prst="rect">
            <a:avLst/>
          </a:prstGeom>
          <a:solidFill>
            <a:srgbClr val="5b6e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TextBox 2"/>
          <p:cNvSpPr/>
          <p:nvPr/>
        </p:nvSpPr>
        <p:spPr>
          <a:xfrm>
            <a:off x="731520" y="457200"/>
            <a:ext cx="105152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f476f"/>
                </a:solidFill>
                <a:latin typeface="Arial"/>
              </a:rPr>
              <a:t>THE KEY OBSERVATION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3"/>
          <p:cNvSpPr/>
          <p:nvPr/>
        </p:nvSpPr>
        <p:spPr>
          <a:xfrm>
            <a:off x="731520" y="822960"/>
            <a:ext cx="105152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5b6ee1"/>
                </a:solidFill>
                <a:latin typeface="Verdana"/>
              </a:rPr>
              <a:t>Shadows Tell the Story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Picture 4" descr="eratosthenes_1.jpeg"/>
          <p:cNvPicPr/>
          <p:nvPr/>
        </p:nvPicPr>
        <p:blipFill>
          <a:blip r:embed="rId1"/>
          <a:stretch/>
        </p:blipFill>
        <p:spPr>
          <a:xfrm>
            <a:off x="7406640" y="1737360"/>
            <a:ext cx="4114440" cy="3265200"/>
          </a:xfrm>
          <a:prstGeom prst="rect">
            <a:avLst/>
          </a:prstGeom>
          <a:ln w="0">
            <a:noFill/>
          </a:ln>
        </p:spPr>
      </p:pic>
      <p:sp>
        <p:nvSpPr>
          <p:cNvPr id="92" name="TextBox 5"/>
          <p:cNvSpPr/>
          <p:nvPr/>
        </p:nvSpPr>
        <p:spPr>
          <a:xfrm>
            <a:off x="731520" y="1920240"/>
            <a:ext cx="6766200" cy="236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900" spc="-1" strike="noStrike">
                <a:solidFill>
                  <a:srgbClr val="5b6ee1"/>
                </a:solidFill>
                <a:latin typeface="Arial"/>
              </a:rPr>
              <a:t>⬤  </a:t>
            </a:r>
            <a:r>
              <a:rPr b="1" lang="en-US" sz="1900" spc="-1" strike="noStrike">
                <a:solidFill>
                  <a:srgbClr val="5b6ee1"/>
                </a:solidFill>
                <a:latin typeface="Arial"/>
              </a:rPr>
              <a:t>In Syene:</a:t>
            </a:r>
            <a:r>
              <a:rPr b="0" lang="en-US" sz="1900" spc="-1" strike="noStrike">
                <a:solidFill>
                  <a:srgbClr val="222233"/>
                </a:solidFill>
                <a:latin typeface="Arial"/>
              </a:rPr>
              <a:t>  at noon, a vertical rod cast no shadow — the Sun was exactly overhead.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900" spc="-1" strike="noStrike">
                <a:solidFill>
                  <a:srgbClr val="5b6ee1"/>
                </a:solidFill>
                <a:latin typeface="Arial"/>
              </a:rPr>
              <a:t>⬤  </a:t>
            </a:r>
            <a:r>
              <a:rPr b="1" lang="en-US" sz="1900" spc="-1" strike="noStrike">
                <a:solidFill>
                  <a:srgbClr val="5b6ee1"/>
                </a:solidFill>
                <a:latin typeface="Arial"/>
              </a:rPr>
              <a:t>In Alexandria:</a:t>
            </a:r>
            <a:r>
              <a:rPr b="0" lang="en-US" sz="1900" spc="-1" strike="noStrike">
                <a:solidFill>
                  <a:srgbClr val="222233"/>
                </a:solidFill>
                <a:latin typeface="Arial"/>
              </a:rPr>
              <a:t>  at the very same moment, a vertical rod DID cast a shadow.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900" spc="-1" strike="noStrike">
                <a:solidFill>
                  <a:srgbClr val="5b6ee1"/>
                </a:solidFill>
                <a:latin typeface="Arial"/>
              </a:rPr>
              <a:t>⬤  </a:t>
            </a:r>
            <a:r>
              <a:rPr b="1" lang="en-US" sz="1900" spc="-1" strike="noStrike">
                <a:solidFill>
                  <a:srgbClr val="5b6ee1"/>
                </a:solidFill>
                <a:latin typeface="Arial"/>
              </a:rPr>
              <a:t>The puzzle:</a:t>
            </a:r>
            <a:r>
              <a:rPr b="0" lang="en-US" sz="1900" spc="-1" strike="noStrike">
                <a:solidFill>
                  <a:srgbClr val="222233"/>
                </a:solidFill>
                <a:latin typeface="Arial"/>
              </a:rPr>
              <a:t>  if Earth were flat, the Sun's angle would be identical in both cities. It wasn't — so Earth's surface must be curved between them.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1"/>
          <p:cNvSpPr/>
          <p:nvPr/>
        </p:nvSpPr>
        <p:spPr>
          <a:xfrm>
            <a:off x="0" y="0"/>
            <a:ext cx="182520" cy="6857640"/>
          </a:xfrm>
          <a:prstGeom prst="rect">
            <a:avLst/>
          </a:prstGeom>
          <a:solidFill>
            <a:srgbClr val="5b6e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TextBox 2"/>
          <p:cNvSpPr/>
          <p:nvPr/>
        </p:nvSpPr>
        <p:spPr>
          <a:xfrm>
            <a:off x="731520" y="457200"/>
            <a:ext cx="105152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f476f"/>
                </a:solidFill>
                <a:latin typeface="Arial"/>
              </a:rPr>
              <a:t>THE CLEVER MATHS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3"/>
          <p:cNvSpPr/>
          <p:nvPr/>
        </p:nvSpPr>
        <p:spPr>
          <a:xfrm>
            <a:off x="731520" y="822960"/>
            <a:ext cx="105152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5b6ee1"/>
                </a:solidFill>
                <a:latin typeface="Verdana"/>
              </a:rPr>
              <a:t>From an Angle to the Whole Planet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Picture 4" descr="eratosthenes_0.png"/>
          <p:cNvPicPr/>
          <p:nvPr/>
        </p:nvPicPr>
        <p:blipFill>
          <a:blip r:embed="rId1"/>
          <a:stretch/>
        </p:blipFill>
        <p:spPr>
          <a:xfrm>
            <a:off x="1828800" y="4023360"/>
            <a:ext cx="5486040" cy="474840"/>
          </a:xfrm>
          <a:prstGeom prst="rect">
            <a:avLst/>
          </a:prstGeom>
          <a:ln w="0">
            <a:noFill/>
          </a:ln>
        </p:spPr>
      </p:pic>
      <p:sp>
        <p:nvSpPr>
          <p:cNvPr id="97" name="TextBox 5"/>
          <p:cNvSpPr/>
          <p:nvPr/>
        </p:nvSpPr>
        <p:spPr>
          <a:xfrm>
            <a:off x="731520" y="1920240"/>
            <a:ext cx="10515240" cy="179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900" spc="-1" strike="noStrike">
                <a:solidFill>
                  <a:srgbClr val="5b6ee1"/>
                </a:solidFill>
                <a:latin typeface="Arial"/>
              </a:rPr>
              <a:t>⬤  </a:t>
            </a:r>
            <a:r>
              <a:rPr b="1" lang="en-US" sz="1900" spc="-1" strike="noStrike">
                <a:solidFill>
                  <a:srgbClr val="5b6ee1"/>
                </a:solidFill>
                <a:latin typeface="Arial"/>
              </a:rPr>
              <a:t>The angle:</a:t>
            </a:r>
            <a:r>
              <a:rPr b="0" lang="en-US" sz="1900" spc="-1" strike="noStrike">
                <a:solidFill>
                  <a:srgbClr val="222233"/>
                </a:solidFill>
                <a:latin typeface="Arial"/>
              </a:rPr>
              <a:t>  by measuring the shadow in Alexandria, Eratosthenes calculated the Sun's angle there was about 7.2° away from straight overhead.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900" spc="-1" strike="noStrike">
                <a:solidFill>
                  <a:srgbClr val="5b6ee1"/>
                </a:solidFill>
                <a:latin typeface="Arial"/>
              </a:rPr>
              <a:t>⬤  </a:t>
            </a:r>
            <a:r>
              <a:rPr b="1" lang="en-US" sz="1900" spc="-1" strike="noStrike">
                <a:solidFill>
                  <a:srgbClr val="5b6ee1"/>
                </a:solidFill>
                <a:latin typeface="Arial"/>
              </a:rPr>
              <a:t>The fraction:</a:t>
            </a:r>
            <a:r>
              <a:rPr b="0" lang="en-US" sz="1900" spc="-1" strike="noStrike">
                <a:solidFill>
                  <a:srgbClr val="222233"/>
                </a:solidFill>
                <a:latin typeface="Arial"/>
              </a:rPr>
              <a:t>  7.2° is exactly 1/50th of a full circle (360°) — so the 800 km between the two cities must be 1/50th of Earth's whole circumference.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900" spc="-1" strike="noStrike">
                <a:solidFill>
                  <a:srgbClr val="5b6ee1"/>
                </a:solidFill>
                <a:latin typeface="Arial"/>
              </a:rPr>
              <a:t>⬤  </a:t>
            </a:r>
            <a:r>
              <a:rPr b="1" lang="en-US" sz="1900" spc="-1" strike="noStrike">
                <a:solidFill>
                  <a:srgbClr val="5b6ee1"/>
                </a:solidFill>
                <a:latin typeface="Arial"/>
              </a:rPr>
              <a:t>The multiplication:</a:t>
            </a:r>
            <a:r>
              <a:rPr b="0" lang="en-US" sz="1900" spc="-1" strike="noStrike">
                <a:solidFill>
                  <a:srgbClr val="222233"/>
                </a:solidFill>
                <a:latin typeface="Arial"/>
              </a:rPr>
              <a:t>  multiply 800 km by 50...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1"/>
          <p:cNvSpPr/>
          <p:nvPr/>
        </p:nvSpPr>
        <p:spPr>
          <a:xfrm>
            <a:off x="0" y="0"/>
            <a:ext cx="182520" cy="6857640"/>
          </a:xfrm>
          <a:prstGeom prst="rect">
            <a:avLst/>
          </a:prstGeom>
          <a:solidFill>
            <a:srgbClr val="06d6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TextBox 2"/>
          <p:cNvSpPr/>
          <p:nvPr/>
        </p:nvSpPr>
        <p:spPr>
          <a:xfrm>
            <a:off x="731520" y="457200"/>
            <a:ext cx="105152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f476f"/>
                </a:solidFill>
                <a:latin typeface="Arial"/>
              </a:rPr>
              <a:t>THE RESULT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3"/>
          <p:cNvSpPr/>
          <p:nvPr/>
        </p:nvSpPr>
        <p:spPr>
          <a:xfrm>
            <a:off x="731520" y="822960"/>
            <a:ext cx="105152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06d6a0"/>
                </a:solidFill>
                <a:latin typeface="Verdana"/>
              </a:rPr>
              <a:t>Astonishingly Close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4"/>
          <p:cNvSpPr/>
          <p:nvPr/>
        </p:nvSpPr>
        <p:spPr>
          <a:xfrm>
            <a:off x="731520" y="1920240"/>
            <a:ext cx="10515240" cy="186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06d6a0"/>
                </a:solidFill>
                <a:latin typeface="Arial"/>
              </a:rPr>
              <a:t>⬤  </a:t>
            </a:r>
            <a:r>
              <a:rPr b="1" lang="en-US" sz="2000" spc="-1" strike="noStrike">
                <a:solidFill>
                  <a:srgbClr val="06d6a0"/>
                </a:solidFill>
                <a:latin typeface="Arial"/>
              </a:rPr>
              <a:t>His estimate: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  about 40,000 km around the Earth.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06d6a0"/>
                </a:solidFill>
                <a:latin typeface="Arial"/>
              </a:rPr>
              <a:t>⬤  </a:t>
            </a:r>
            <a:r>
              <a:rPr b="1" lang="en-US" sz="2000" spc="-1" strike="noStrike">
                <a:solidFill>
                  <a:srgbClr val="06d6a0"/>
                </a:solidFill>
                <a:latin typeface="Arial"/>
              </a:rPr>
              <a:t>The real answer (measured by satellites today):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  40,075 km.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06d6a0"/>
                </a:solidFill>
                <a:latin typeface="Arial"/>
              </a:rPr>
              <a:t>⬤  </a:t>
            </a:r>
            <a:r>
              <a:rPr b="1" lang="en-US" sz="2000" spc="-1" strike="noStrike">
                <a:solidFill>
                  <a:srgbClr val="06d6a0"/>
                </a:solidFill>
                <a:latin typeface="Arial"/>
              </a:rPr>
              <a:t>Let that sink in: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  over 2,000 years ago, with no satellites, no computers — just two shadows, a known distance, and geometry — Eratosthenes got within 0.2% of the true answer.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 txBox="1"/>
          <p:nvPr/>
        </p:nvSpPr>
        <p:spPr>
          <a:xfrm>
            <a:off x="2643120" y="2853720"/>
            <a:ext cx="5129280" cy="34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https://www.youtube.com/watch?v=I7UbiDVXoyo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1"/>
          <p:cNvSpPr/>
          <p:nvPr/>
        </p:nvSpPr>
        <p:spPr>
          <a:xfrm>
            <a:off x="731520" y="822960"/>
            <a:ext cx="105152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5b6ee1"/>
                </a:solidFill>
                <a:latin typeface="Verdana"/>
              </a:rPr>
              <a:t>Meet Eratosthenes of Cyrene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"/>
          <p:cNvSpPr/>
          <p:nvPr/>
        </p:nvSpPr>
        <p:spPr>
          <a:xfrm>
            <a:off x="0" y="0"/>
            <a:ext cx="182520" cy="6857640"/>
          </a:xfrm>
          <a:prstGeom prst="rect">
            <a:avLst/>
          </a:prstGeom>
          <a:solidFill>
            <a:srgbClr val="5b6e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" name="TextBox 2"/>
          <p:cNvSpPr/>
          <p:nvPr/>
        </p:nvSpPr>
        <p:spPr>
          <a:xfrm>
            <a:off x="731520" y="457200"/>
            <a:ext cx="105152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f476f"/>
                </a:solidFill>
                <a:latin typeface="Arial"/>
              </a:rPr>
              <a:t>A SECOND HERO OF ASTRONOMY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3"/>
          <p:cNvSpPr/>
          <p:nvPr/>
        </p:nvSpPr>
        <p:spPr>
          <a:xfrm>
            <a:off x="731520" y="822960"/>
            <a:ext cx="105152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5b6ee1"/>
                </a:solidFill>
                <a:latin typeface="Verdana"/>
              </a:rPr>
              <a:t>Meet Galileo Galilei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7" name="Picture 4" descr="galileo_1.jpeg"/>
          <p:cNvPicPr/>
          <p:nvPr/>
        </p:nvPicPr>
        <p:blipFill>
          <a:blip r:embed="rId1"/>
          <a:stretch/>
        </p:blipFill>
        <p:spPr>
          <a:xfrm>
            <a:off x="8503920" y="1463040"/>
            <a:ext cx="3311640" cy="4205880"/>
          </a:xfrm>
          <a:prstGeom prst="rect">
            <a:avLst/>
          </a:prstGeom>
          <a:ln w="0">
            <a:noFill/>
          </a:ln>
        </p:spPr>
      </p:pic>
      <p:sp>
        <p:nvSpPr>
          <p:cNvPr id="108" name="TextBox 5"/>
          <p:cNvSpPr/>
          <p:nvPr/>
        </p:nvSpPr>
        <p:spPr>
          <a:xfrm>
            <a:off x="731520" y="1920240"/>
            <a:ext cx="7406280" cy="308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⬤  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Eratosthenes measured the Earth using shadows and geometry. About 1,800 years later, an Italian scientist named Galileo Galilei (born 1564) changed astronomy again — this time with a brand-new tool.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⬤  </a:t>
            </a: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The tool: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  in 1609, Galileo built his own improved version of the newly-invented telescope — and became the first person ever to study the sky through one.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⬤  </a:t>
            </a:r>
            <a:r>
              <a:rPr b="1" lang="en-US" sz="2000" spc="-1" strike="noStrike">
                <a:solidFill>
                  <a:srgbClr val="5b6ee1"/>
                </a:solidFill>
                <a:latin typeface="Arial"/>
              </a:rPr>
              <a:t>Why it mattered: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  what he saw through it would challenge what almost everyone believed about our place in the universe.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"/>
          <p:cNvSpPr/>
          <p:nvPr/>
        </p:nvSpPr>
        <p:spPr>
          <a:xfrm>
            <a:off x="0" y="0"/>
            <a:ext cx="182520" cy="6857640"/>
          </a:xfrm>
          <a:prstGeom prst="rect">
            <a:avLst/>
          </a:prstGeom>
          <a:solidFill>
            <a:srgbClr val="06d6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TextBox 2"/>
          <p:cNvSpPr/>
          <p:nvPr/>
        </p:nvSpPr>
        <p:spPr>
          <a:xfrm>
            <a:off x="731520" y="457200"/>
            <a:ext cx="105152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f476f"/>
                </a:solidFill>
                <a:latin typeface="Arial"/>
              </a:rPr>
              <a:t>THE DISCOVERIES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3"/>
          <p:cNvSpPr/>
          <p:nvPr/>
        </p:nvSpPr>
        <p:spPr>
          <a:xfrm>
            <a:off x="731520" y="822960"/>
            <a:ext cx="105152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06d6a0"/>
                </a:solidFill>
                <a:latin typeface="Verdana"/>
              </a:rPr>
              <a:t>What Galileo Saw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2" name="Picture 4" descr="galileo_0.jpeg"/>
          <p:cNvPicPr/>
          <p:nvPr/>
        </p:nvPicPr>
        <p:blipFill>
          <a:blip r:embed="rId1"/>
          <a:stretch/>
        </p:blipFill>
        <p:spPr>
          <a:xfrm>
            <a:off x="8138160" y="1737360"/>
            <a:ext cx="3657240" cy="2571480"/>
          </a:xfrm>
          <a:prstGeom prst="rect">
            <a:avLst/>
          </a:prstGeom>
          <a:ln w="0">
            <a:noFill/>
          </a:ln>
        </p:spPr>
      </p:pic>
      <p:sp>
        <p:nvSpPr>
          <p:cNvPr id="113" name="TextBox 5"/>
          <p:cNvSpPr/>
          <p:nvPr/>
        </p:nvSpPr>
        <p:spPr>
          <a:xfrm>
            <a:off x="731520" y="1920240"/>
            <a:ext cx="7589160" cy="321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06d6a0"/>
                </a:solidFill>
                <a:latin typeface="Arial"/>
              </a:rPr>
              <a:t>⬤  </a:t>
            </a:r>
            <a:r>
              <a:rPr b="1" lang="en-US" sz="2000" spc="-1" strike="noStrike">
                <a:solidFill>
                  <a:srgbClr val="06d6a0"/>
                </a:solidFill>
                <a:latin typeface="Arial"/>
              </a:rPr>
              <a:t>The Moon: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  up close, it wasn't a smooth sphere — it had mountains and craters, just like Earth.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06d6a0"/>
                </a:solidFill>
                <a:latin typeface="Arial"/>
              </a:rPr>
              <a:t>⬤  </a:t>
            </a:r>
            <a:r>
              <a:rPr b="1" lang="en-US" sz="2000" spc="-1" strike="noStrike">
                <a:solidFill>
                  <a:srgbClr val="06d6a0"/>
                </a:solidFill>
                <a:latin typeface="Arial"/>
              </a:rPr>
              <a:t>Jupiter's moons: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  four tiny “stars” next to Jupiter turned out to be moons, orbiting Jupiter — proof that not everything in the sky orbits Earth.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06d6a0"/>
                </a:solidFill>
                <a:latin typeface="Arial"/>
              </a:rPr>
              <a:t>⬤  </a:t>
            </a:r>
            <a:r>
              <a:rPr b="1" lang="en-US" sz="2000" spc="-1" strike="noStrike">
                <a:solidFill>
                  <a:srgbClr val="06d6a0"/>
                </a:solidFill>
                <a:latin typeface="Arial"/>
              </a:rPr>
              <a:t>Venus's phases: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  Venus changed shape like the Moon does — which only made sense if Venus orbits the Sun, not Earth.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06d6a0"/>
                </a:solidFill>
                <a:latin typeface="Arial"/>
              </a:rPr>
              <a:t>⬤  </a:t>
            </a:r>
            <a:r>
              <a:rPr b="1" lang="en-US" sz="2000" spc="-1" strike="noStrike">
                <a:solidFill>
                  <a:srgbClr val="06d6a0"/>
                </a:solidFill>
                <a:latin typeface="Arial"/>
              </a:rPr>
              <a:t>Sunspots:</a:t>
            </a:r>
            <a:r>
              <a:rPr b="0" lang="en-US" sz="2000" spc="-1" strike="noStrike">
                <a:solidFill>
                  <a:srgbClr val="222233"/>
                </a:solidFill>
                <a:latin typeface="Arial"/>
              </a:rPr>
              <a:t>  even the Sun had dark blemishes on it — it wasn't a perfect, unchanging ball of light.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"/>
          <p:cNvSpPr txBox="1"/>
          <p:nvPr/>
        </p:nvSpPr>
        <p:spPr>
          <a:xfrm>
            <a:off x="3138480" y="2745360"/>
            <a:ext cx="5091120" cy="34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https://www.youtube.com/watch?v=BVo6neZ1-tg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1371600" y="685800"/>
            <a:ext cx="4350240" cy="678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400" spc="-1" strike="noStrike">
                <a:solidFill>
                  <a:srgbClr val="5b6ee1"/>
                </a:solidFill>
                <a:latin typeface="Verdana"/>
              </a:rPr>
              <a:t>Meet Galileo Galilei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b6e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"/>
          <p:cNvSpPr/>
          <p:nvPr/>
        </p:nvSpPr>
        <p:spPr>
          <a:xfrm>
            <a:off x="0" y="0"/>
            <a:ext cx="182520" cy="6857640"/>
          </a:xfrm>
          <a:prstGeom prst="rect">
            <a:avLst/>
          </a:prstGeom>
          <a:solidFill>
            <a:srgbClr val="ef476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" name="TextBox 2"/>
          <p:cNvSpPr/>
          <p:nvPr/>
        </p:nvSpPr>
        <p:spPr>
          <a:xfrm>
            <a:off x="731520" y="2377440"/>
            <a:ext cx="1005804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Verdana"/>
              </a:rPr>
              <a:t>Next Time...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Box 3"/>
          <p:cNvSpPr/>
          <p:nvPr/>
        </p:nvSpPr>
        <p:spPr>
          <a:xfrm>
            <a:off x="731520" y="3474720"/>
            <a:ext cx="100580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ffd166"/>
                </a:solidFill>
                <a:latin typeface="Arial"/>
              </a:rPr>
              <a:t>Shadows again — but this time, we'll explore exactly how light has to travel to make them happen.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2026-10-09T17:13:08Z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