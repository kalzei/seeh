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DC2B7C-44A1-4F6A-B9C1-001E936CCE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AE67A6-308D-44DE-A4C4-55C9FA1C58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74EF803-1820-4382-AAE7-B5F329E9DB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04D5841-FFFB-4CFB-967B-B1E0E48602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5CF0D76-2080-463F-855A-8F2DC29966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E16861F-C041-40B1-9D68-976CEE2155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0071944-DE97-4E29-B8E1-CA970EBB32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FF61874-45AF-4AD9-9381-8370900A2E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5441EAC-C05E-4414-8CEC-5D81AE73FD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B9EC6FD-6FDC-4FB2-8740-E948463F5E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99A30AC-95E4-41F7-8766-9552224692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0CC5E1-328C-444C-97EB-BAC8918DD79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1B1E9E-6265-4933-B07D-21FFCF9C1A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33A3F19-B45A-4285-A481-B66F8202A4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4CC786-99BF-434C-98A7-C8D23249F5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09676D-555E-4A1B-B974-4997B7D8AB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1950E28-80FD-407C-8E17-8516AA443E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BBED3F-36BE-4024-8D56-7E8484823E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0967EE-0E07-40BE-BF8B-B075FF234E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2E8472-B689-4AF9-9CD6-020F9D8ED5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072BC6-EA97-4F0F-BFA7-C427F87C3A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AD68AD-3CF8-4015-9583-4C9D050A3D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731520" y="1005840"/>
            <a:ext cx="6582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f476f"/>
                </a:solidFill>
                <a:latin typeface="Arial"/>
              </a:rPr>
              <a:t>UNIT 1 · OUR PLACE IN THE UNIVERSE · LESSON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731520" y="1508760"/>
            <a:ext cx="658296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5b6ee1"/>
                </a:solidFill>
                <a:latin typeface="Verdana"/>
              </a:rPr>
              <a:t>Seasons &amp; the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5b6ee1"/>
                </a:solidFill>
                <a:latin typeface="Verdana"/>
              </a:rPr>
              <a:t>Same-Faced Moon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731520" y="3840480"/>
            <a:ext cx="64000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66"/>
                </a:solidFill>
                <a:latin typeface="Arial"/>
              </a:rPr>
              <a:t>Two everyday mysteries, one elegant explanation each.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2"/>
          <p:cNvSpPr/>
          <p:nvPr/>
        </p:nvSpPr>
        <p:spPr>
          <a:xfrm>
            <a:off x="731520" y="45720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QUICK RECAP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3"/>
          <p:cNvSpPr/>
          <p:nvPr/>
        </p:nvSpPr>
        <p:spPr>
          <a:xfrm>
            <a:off x="731520" y="822960"/>
            <a:ext cx="10514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What We Already Know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731520" y="1920240"/>
            <a:ext cx="10514880" cy="24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Earth rotates on its axis once every 24 hours — that's day and night.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Earth revolves around the Sun once every 365¼ days — that's one year.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Today's two questions: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why do we have seasons, and why does the Moon always show us the same face?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731520" y="45720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A COMMON MYTH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731520" y="822960"/>
            <a:ext cx="1051488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“</a:t>
            </a: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It's Closer to the Sun in Summer” — True or False?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731520" y="1920240"/>
            <a:ext cx="10514880" cy="21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Sounds logical — but it's FALSE.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proof: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 amount of energy the Sun gives off is the same all year round, and Earth's distance from the Sun barely changes.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real clue: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when it's summer in the Northern Hemisphere, it's winter in the Southern Hemisphere — at the exact same distance from the Sun. Distance can't explain that.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731520" y="45720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REAL REASON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731520" y="822960"/>
            <a:ext cx="10514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Earth's Axial Tilt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1920240"/>
            <a:ext cx="9784080" cy="27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The tilt: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  Earth's axis is tilted 23.5° — and that tilt stays pointed the same direction in space all year, as Earth orbits the Sun.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The effect: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  for half the year, the Northern Hemisphere tilts toward the Sun (more direct sunlight = summer); for the other half, it tilts away (less direct sunlight = winter).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The 4 turning points: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  spring equinox , summer solstice, autumn equinox, winter solstice — mark the Earth's position in its yearly journey.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707480" y="5029200"/>
            <a:ext cx="789372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- 20 March — Spring begins; day and night are equal length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- 21 June — Summer begins; the longest day of the year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- 22/23 September — Autumn begins; day and night are equal length again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- 21/22 December — Winter begins; the shortest day of the year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seasons_diagram.png"/>
          <p:cNvPicPr/>
          <p:nvPr/>
        </p:nvPicPr>
        <p:blipFill>
          <a:blip r:embed="rId1"/>
          <a:stretch/>
        </p:blipFill>
        <p:spPr>
          <a:xfrm>
            <a:off x="1600200" y="252360"/>
            <a:ext cx="8686800" cy="614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2057400" y="941040"/>
            <a:ext cx="640116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5b6ee1"/>
                </a:solidFill>
                <a:latin typeface="Arial"/>
              </a:rPr>
              <a:t>Watch: What Causes the Seasons? (NASA)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6"/>
          <p:cNvSpPr/>
          <p:nvPr/>
        </p:nvSpPr>
        <p:spPr>
          <a:xfrm>
            <a:off x="1326240" y="3034440"/>
            <a:ext cx="9417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https://science.nasa.gov/eclips/videos/what-causes-seasons/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731520" y="45720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TRY IT YOURSELF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731520" y="822960"/>
            <a:ext cx="10514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6d6a0"/>
                </a:solidFill>
                <a:latin typeface="Verdana"/>
              </a:rPr>
              <a:t>A Live Home Demo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731520" y="1920240"/>
            <a:ext cx="10514880" cy="18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What you need: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globe (or a ball), a desk lamp or torch, and a darkened room.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What to do: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tilt the globe 23.5° the way Earth really is, shine the lamp at it from one side, and slowly walk it in a circle around the “Sun.”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What to notice: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watch how the Northern and Southern Hemispheres take turns facing the light — that's the whole mechanism, in your hands.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31520" y="45720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NOW, THE MOON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731520" y="822960"/>
            <a:ext cx="10514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Revolution = Rotation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4" descr="moon_diagram.png"/>
          <p:cNvPicPr/>
          <p:nvPr/>
        </p:nvPicPr>
        <p:blipFill>
          <a:blip r:embed="rId1"/>
          <a:stretch/>
        </p:blipFill>
        <p:spPr>
          <a:xfrm>
            <a:off x="6309360" y="1737360"/>
            <a:ext cx="5211360" cy="3163680"/>
          </a:xfrm>
          <a:prstGeom prst="rect">
            <a:avLst/>
          </a:prstGeom>
          <a:ln w="0">
            <a:noFill/>
          </a:ln>
        </p:spPr>
      </p:pic>
      <p:sp>
        <p:nvSpPr>
          <p:cNvPr id="78" name="TextBox 5"/>
          <p:cNvSpPr/>
          <p:nvPr/>
        </p:nvSpPr>
        <p:spPr>
          <a:xfrm>
            <a:off x="731520" y="1920240"/>
            <a:ext cx="5302800" cy="25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The Moon orbits Earth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  once every 27.3 days (its revolution).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The Moon also spins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  on its own axis — and it takes exactly the same 27.3 days to complete one spin (its rotation).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800" spc="-1" strike="noStrike">
                <a:solidFill>
                  <a:srgbClr val="5b6ee1"/>
                </a:solidFill>
                <a:latin typeface="Arial"/>
              </a:rPr>
              <a:t>The result: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  because these two times match exactly, the Moon always shows the same face to Earth — this is called tidal locking.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 txBox="1"/>
          <p:nvPr/>
        </p:nvSpPr>
        <p:spPr>
          <a:xfrm>
            <a:off x="0" y="83160"/>
            <a:ext cx="12133440" cy="60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side we see has big dark patches called maria ("seas") and lighter, bumpy areas full of craters. The dark patches are old, flat, hardened lava — that's why the Moon looks like it has a face!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743200" y="1108800"/>
            <a:ext cx="5257800" cy="529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ef47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45720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REVEAL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731520" y="822960"/>
            <a:ext cx="10514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ef476f"/>
                </a:solidFill>
                <a:latin typeface="Verdana"/>
              </a:rPr>
              <a:t>A Face You've Never Seen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4" descr="farside.jpg"/>
          <p:cNvPicPr/>
          <p:nvPr/>
        </p:nvPicPr>
        <p:blipFill>
          <a:blip r:embed="rId1"/>
          <a:stretch/>
        </p:blipFill>
        <p:spPr>
          <a:xfrm>
            <a:off x="6217920" y="1737360"/>
            <a:ext cx="5302800" cy="2982600"/>
          </a:xfrm>
          <a:prstGeom prst="rect">
            <a:avLst/>
          </a:prstGeom>
          <a:ln w="0">
            <a:noFill/>
          </a:ln>
        </p:spPr>
      </p:pic>
      <p:sp>
        <p:nvSpPr>
          <p:cNvPr id="85" name="TextBox 5"/>
          <p:cNvSpPr/>
          <p:nvPr/>
        </p:nvSpPr>
        <p:spPr>
          <a:xfrm>
            <a:off x="731520" y="1920240"/>
            <a:ext cx="5302800" cy="22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This is the Moon's far side — real photo, taken by NASA's Lunar Reconnaissance Orbiter.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No human has ever seen this view with their own eyes from Earth — only spacecraft have.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1800" spc="-1" strike="noStrike">
                <a:solidFill>
                  <a:srgbClr val="222233"/>
                </a:solidFill>
                <a:latin typeface="Arial"/>
              </a:rPr>
              <a:t>Notice it looks different from the familiar Moon: far fewer of the large dark patches (“maria”) that you can usually spot from your garden.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731520" y="457200"/>
            <a:ext cx="10514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BONUS FACTS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731520" y="822960"/>
            <a:ext cx="105148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6d6a0"/>
                </a:solidFill>
                <a:latin typeface="Verdana"/>
              </a:rPr>
              <a:t>The Moon Keeps Surprising Us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731520" y="1920240"/>
            <a:ext cx="10514880" cy="29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Moving away: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 Moon drifts about 3.8 cm farther from Earth every year — too slow to notice, but measurable using lasers bounced off mirrors astronauts left on the surface.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Moonquakes: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 Moon has its own version of earthquakes, caused by Earth's gravity pulling on it — weaker than ours, but some last up to half an hour.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More than ocean tides: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 Moon's gravity doesn't just pull on Earth's oceans — it very slightly stretches the solid ground too, in a tiny “rock tide.”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Water on the Moon: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there's frozen water hidden in craters near its poles, in spots so permanently shadowed that the ice never melts.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1828800" y="1188720"/>
            <a:ext cx="85032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1783440" y="914400"/>
            <a:ext cx="85032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5b6ee1"/>
                </a:solidFill>
                <a:latin typeface="Arial"/>
              </a:rPr>
              <a:t>Watch: Why Do We Always See the Same Side of the Moon?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2057400" y="2805840"/>
            <a:ext cx="9417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https://www.youtube.com/watch?v=6jUpX7J7ySo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b6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rgbClr val="ef47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31520" y="2377440"/>
            <a:ext cx="100576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Verdana"/>
              </a:rPr>
              <a:t>Next Time...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731520" y="3474720"/>
            <a:ext cx="100576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d166"/>
                </a:solidFill>
                <a:latin typeface="Arial"/>
              </a:rPr>
              <a:t>Light: how it travels, how shadows form, and how telescopes and microscopes let us see what our eyes alone can't.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2026-10-07T19:53:48Z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