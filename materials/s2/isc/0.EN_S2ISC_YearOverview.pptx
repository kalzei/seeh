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F476F"/>
                </a:solidFill>
                <a:latin typeface="Arial"/>
              </a:rPr>
              <a:t>S2 INTEGRATED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583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5B6EE1"/>
                </a:solidFill>
                <a:latin typeface="Verdana"/>
              </a:rPr>
              <a:t>Welcome to</a:t>
            </a:r>
          </a:p>
          <a:p>
            <a:pPr algn="l"/>
            <a:r>
              <a:rPr sz="4600" b="1" i="0">
                <a:solidFill>
                  <a:srgbClr val="5B6EE1"/>
                </a:solidFill>
                <a:latin typeface="Verdana"/>
              </a:rPr>
              <a:t>Your Science Year!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6400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555566"/>
                </a:solidFill>
                <a:latin typeface="Arial"/>
              </a:rPr>
              <a:t>Space. Your body. Your senses.</a:t>
            </a:r>
          </a:p>
          <a:p>
            <a:pPr algn="l"/>
            <a:r>
              <a:rPr sz="2200" b="0" i="0">
                <a:solidFill>
                  <a:srgbClr val="555566"/>
                </a:solidFill>
                <a:latin typeface="Arial"/>
              </a:rPr>
              <a:t>Let's go on an adventure. 🚀</a:t>
            </a:r>
          </a:p>
        </p:txBody>
      </p:sp>
      <p:pic>
        <p:nvPicPr>
          <p:cNvPr id="6" name="Picture 5" descr="cartoo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7315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EE1"/>
                </a:solidFill>
                <a:latin typeface="Verdana"/>
              </a:rPr>
              <a:t>This Year's Big Adventure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6324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5B6EE1"/>
                </a:solidFill>
                <a:latin typeface="Arial"/>
              </a:rPr>
              <a:t>1. Our Place</a:t>
            </a:r>
          </a:p>
          <a:p>
            <a:pPr algn="l"/>
            <a:r>
              <a:rPr sz="2000" b="1" i="0">
                <a:solidFill>
                  <a:srgbClr val="5B6EE1"/>
                </a:solidFill>
                <a:latin typeface="Arial"/>
              </a:rPr>
              <a:t>in the Universe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63240" cy="2697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233"/>
                </a:solidFill>
                <a:latin typeface="Arial"/>
              </a:rPr>
              <a:t>From planets to atoms — how big (and how small) does the universe get?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306324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F476F"/>
                </a:solidFill>
                <a:latin typeface="Arial"/>
              </a:rPr>
              <a:t>2. Mens Sana in</a:t>
            </a:r>
          </a:p>
          <a:p>
            <a:pPr algn="l"/>
            <a:r>
              <a:rPr sz="2000" b="1" i="0">
                <a:solidFill>
                  <a:srgbClr val="EF476F"/>
                </a:solidFill>
                <a:latin typeface="Arial"/>
              </a:rPr>
              <a:t>Corpore Sano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3063240" cy="2697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233"/>
                </a:solidFill>
                <a:latin typeface="Arial"/>
              </a:rPr>
              <a:t>A healthy mind in a healthy body — what keeps you well, and what doesn't?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Arial"/>
              </a:rPr>
              <a:t>3. The Senses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06324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233"/>
                </a:solidFill>
                <a:latin typeface="Arial"/>
              </a:rPr>
              <a:t>How do your eyes, ears and brain build the world you experience?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UNIT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EE1"/>
                </a:solidFill>
                <a:latin typeface="Verdana"/>
              </a:rPr>
              <a:t>Our Place in the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5B6EE1"/>
                </a:solidFill>
                <a:latin typeface="Arial"/>
              </a:rPr>
              <a:t>⬤  The Solar System</a:t>
            </a:r>
            <a:r>
              <a:rPr sz="2000">
                <a:solidFill>
                  <a:srgbClr val="222233"/>
                </a:solidFill>
                <a:latin typeface="Arial"/>
              </a:rPr>
              <a:t>  the sun, Earth, the moon, and our 7 planetary neighbours.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5B6EE1"/>
                </a:solidFill>
                <a:latin typeface="Arial"/>
              </a:rPr>
              <a:t>⬤  Light</a:t>
            </a:r>
            <a:r>
              <a:rPr sz="2000">
                <a:solidFill>
                  <a:srgbClr val="222233"/>
                </a:solidFill>
                <a:latin typeface="Arial"/>
              </a:rPr>
              <a:t>  how it travels, how telescopes &amp; microscopes work, and why the sky looks the way it does.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5B6EE1"/>
                </a:solidFill>
                <a:latin typeface="Arial"/>
              </a:rPr>
              <a:t>⬤  Life on Earth (and elsewhere?)</a:t>
            </a:r>
            <a:r>
              <a:rPr sz="2000">
                <a:solidFill>
                  <a:srgbClr val="222233"/>
                </a:solidFill>
                <a:latin typeface="Arial"/>
              </a:rPr>
              <a:t>  what Earth needed for life — and what it would take to live somewhere else.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5B6EE1"/>
                </a:solidFill>
                <a:latin typeface="Arial"/>
              </a:rPr>
              <a:t>⬤  Atoms, Elements &amp; Molecules</a:t>
            </a:r>
            <a:r>
              <a:rPr sz="2000">
                <a:solidFill>
                  <a:srgbClr val="222233"/>
                </a:solidFill>
                <a:latin typeface="Arial"/>
              </a:rPr>
              <a:t>  the tiny building blocks everything — including you — is made of.</a:t>
            </a:r>
          </a:p>
        </p:txBody>
      </p:sp>
      <p:pic>
        <p:nvPicPr>
          <p:cNvPr id="6" name="Picture 5" descr="cartoo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1031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F476F"/>
                </a:solidFill>
                <a:latin typeface="Verdana"/>
              </a:rPr>
              <a:t>Mens Sana in Corpore Sano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EF476F"/>
                </a:solidFill>
                <a:latin typeface="Arial"/>
              </a:rPr>
              <a:t>⬤  Healthy Living</a:t>
            </a:r>
            <a:r>
              <a:rPr sz="1800">
                <a:solidFill>
                  <a:srgbClr val="222233"/>
                </a:solidFill>
                <a:latin typeface="Arial"/>
              </a:rPr>
              <a:t>  diet, exercise, the microbiome, and relationships — what actually keeps you well.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EF476F"/>
                </a:solidFill>
                <a:latin typeface="Arial"/>
              </a:rPr>
              <a:t>⬤  Infectious Diseases</a:t>
            </a:r>
            <a:r>
              <a:rPr sz="1800">
                <a:solidFill>
                  <a:srgbClr val="222233"/>
                </a:solidFill>
                <a:latin typeface="Arial"/>
              </a:rPr>
              <a:t>  how germs spread, and how vaccines &amp; hygiene stop them.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EF476F"/>
                </a:solidFill>
                <a:latin typeface="Arial"/>
              </a:rPr>
              <a:t>⬤  Non-Infectious Diseases</a:t>
            </a:r>
            <a:r>
              <a:rPr sz="1800">
                <a:solidFill>
                  <a:srgbClr val="222233"/>
                </a:solidFill>
                <a:latin typeface="Arial"/>
              </a:rPr>
              <a:t>  diseases that aren't caused by germs at all.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EF476F"/>
                </a:solidFill>
                <a:latin typeface="Arial"/>
              </a:rPr>
              <a:t>⬤  Addiction</a:t>
            </a:r>
            <a:r>
              <a:rPr sz="1800">
                <a:solidFill>
                  <a:srgbClr val="222233"/>
                </a:solidFill>
                <a:latin typeface="Arial"/>
              </a:rPr>
              <a:t>  why habits and substances can be hard to quit.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EF476F"/>
                </a:solidFill>
                <a:latin typeface="Arial"/>
              </a:rPr>
              <a:t>⬤  Tobacco &amp; Smoking</a:t>
            </a:r>
            <a:r>
              <a:rPr sz="1800">
                <a:solidFill>
                  <a:srgbClr val="222233"/>
                </a:solidFill>
                <a:latin typeface="Arial"/>
              </a:rPr>
              <a:t>  the single most preventable cause of death — and why.</a:t>
            </a:r>
          </a:p>
        </p:txBody>
      </p:sp>
      <p:pic>
        <p:nvPicPr>
          <p:cNvPr id="6" name="Picture 5" descr="cartoon_g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860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UNIT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6D6A0"/>
                </a:solidFill>
                <a:latin typeface="Verdana"/>
              </a:rPr>
              <a:t>The Senses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Vision, Hearing, Touch, Smell, Taste, Proprioception, Interoception, and senses animals have that we don't.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We'll go deep on 3 of these</a:t>
            </a:r>
            <a:r>
              <a:rPr sz="2000">
                <a:solidFill>
                  <a:srgbClr val="222233"/>
                </a:solidFill>
                <a:latin typeface="Arial"/>
              </a:rPr>
              <a:t>  the rest we'll explore as a fun research rotation.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Expect dissections, illusions, blind-spot mapping, and building your own pinhole magnifier.</a:t>
            </a:r>
          </a:p>
        </p:txBody>
      </p:sp>
      <p:pic>
        <p:nvPicPr>
          <p:cNvPr id="6" name="Picture 5" descr="carto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7744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EE1"/>
                </a:solidFill>
                <a:latin typeface="Verdana"/>
              </a:rPr>
              <a:t>How We'll Get There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5B6EE1"/>
                </a:solidFill>
                <a:latin typeface="Arial"/>
              </a:rPr>
              <a:t>First Stretch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75488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Solar System &amp; the Universe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Light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Life on Earth (and elsewhere?)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Atoms, Elements &amp; Molecules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Healthy Living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Infectious Diseases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1206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F476F"/>
                </a:solidFill>
                <a:latin typeface="Arial"/>
              </a:rPr>
              <a:t>Second Stretch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Non-Infectious Diseases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Addiction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Tobacco &amp; Smoking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The Senses (3 in depth)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The Senses (research rotation)</a:t>
            </a:r>
          </a:p>
          <a:p>
            <a:pPr algn="l"/>
            <a:r>
              <a:rPr sz="1700" b="0" i="0">
                <a:solidFill>
                  <a:srgbClr val="222233"/>
                </a:solidFill>
                <a:latin typeface="Arial"/>
              </a:rPr>
              <a:t>• Review &amp; wrap-up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6D6A0"/>
                </a:solidFill>
                <a:latin typeface="Verdana"/>
              </a:rPr>
              <a:t>How You'll Be Graded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No single big exam decides everything — your grade comes from a mix of things across the year.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Experiments</a:t>
            </a:r>
            <a:r>
              <a:rPr sz="2000">
                <a:solidFill>
                  <a:srgbClr val="222233"/>
                </a:solidFill>
                <a:latin typeface="Arial"/>
              </a:rPr>
              <a:t>  with a real investigation you design yourself.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Projects &amp; presentations</a:t>
            </a:r>
            <a:r>
              <a:rPr sz="2000">
                <a:solidFill>
                  <a:srgbClr val="222233"/>
                </a:solidFill>
                <a:latin typeface="Arial"/>
              </a:rPr>
              <a:t>  sometimes solo, sometimes in teams.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Short quizzes &amp; written work</a:t>
            </a:r>
            <a:r>
              <a:rPr sz="2000">
                <a:solidFill>
                  <a:srgbClr val="222233"/>
                </a:solidFill>
                <a:latin typeface="Arial"/>
              </a:rPr>
              <a:t>  the usual, but not the only thing.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Creative work</a:t>
            </a:r>
            <a:r>
              <a:rPr sz="2000">
                <a:solidFill>
                  <a:srgbClr val="222233"/>
                </a:solidFill>
                <a:latin typeface="Arial"/>
              </a:rPr>
              <a:t>  yes, really — posters, comics, even a perfume or a letter to a scientist!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6E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Verdana"/>
              </a:rPr>
              <a:t>Let's Get Started!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FFD166"/>
                </a:solidFill>
                <a:latin typeface="Arial"/>
              </a:rPr>
              <a:t>First stop: Our Place in the Universe — starting with the Solar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