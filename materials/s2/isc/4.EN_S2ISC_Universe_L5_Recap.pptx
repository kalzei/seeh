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452C23B-C63E-45D2-A969-337553A75F0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0A3062F2-0862-47CC-ADBA-1660B3A7D12F}"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E22970FA-8D40-4CAC-8160-ECC83CC40C13}"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CBD8444A-C5B4-4522-8A57-5701FAC47A59}"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49FFFEC0-703E-4358-A147-7CF2E51666D2}"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10776D7B-5302-4A59-80B1-9D5CEE501E48}"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C9DAF274-92DC-4B47-909D-20E957444807}"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77D3F039-13F0-47EF-BCD0-4F225E103409}"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42305665-7D72-4428-B0D2-19614AC6C426}"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6B7AE484-EF5D-4D4E-80C5-486127EC0BDD}"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7402B45E-987B-4980-BF18-87C0EFD5DBB2}"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FA3D7C0-FA61-417D-BB46-70DCE1A78E2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51A2C06-9D9C-4188-803B-5DC0B14091A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DE823AB-3E1F-4069-A195-7757DB6F90F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609480" y="1604520"/>
            <a:ext cx="109717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C773167-2E0E-473A-913E-FC55E720E79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BA93815-A801-4FEC-A198-A4C56416258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C1ED9A9-781E-4241-A43E-970E60CDC2F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44FFFB8-6091-450E-A02F-0C0B8308A57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172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4215EA1-C14D-463D-8838-25A81461827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59D4D690-57A6-4D93-8E00-F2D30FA7E14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a:t>
            </a:r>
            <a:r>
              <a:rPr b="0" lang="en-US" sz="4400" spc="-1" strike="noStrike">
                <a:solidFill>
                  <a:srgbClr val="000000"/>
                </a:solidFill>
                <a:latin typeface="Arial"/>
              </a:rPr>
              <a:t>the title text </a:t>
            </a:r>
            <a:r>
              <a:rPr b="0" lang="en-US" sz="4400" spc="-1" strike="noStrike">
                <a:solidFill>
                  <a:srgbClr val="000000"/>
                </a:solidFill>
                <a:latin typeface="Arial"/>
              </a:rPr>
              <a:t>format</a:t>
            </a:r>
            <a:endParaRPr b="0" lang="en-US" sz="4400" spc="-1" strike="noStrike">
              <a:solidFill>
                <a:srgbClr val="000000"/>
              </a:solidFill>
              <a:latin typeface="Arial"/>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957EEBC-BAED-46EC-A471-C4858AE4AFA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300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0BF61438-6540-4DE1-A23F-67251F0EC5B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3000" cy="3643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50"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 name="TextBox 2"/>
          <p:cNvSpPr/>
          <p:nvPr/>
        </p:nvSpPr>
        <p:spPr>
          <a:xfrm>
            <a:off x="731520" y="1005840"/>
            <a:ext cx="65829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f476f"/>
                </a:solidFill>
                <a:latin typeface="Arial"/>
              </a:rPr>
              <a:t>UNIT 1 · OUR PLACE IN THE UNIVERSE · LESSON 5</a:t>
            </a:r>
            <a:endParaRPr b="0" lang="en-US" sz="1800" spc="-1" strike="noStrike">
              <a:solidFill>
                <a:srgbClr val="000000"/>
              </a:solidFill>
              <a:latin typeface="Arial"/>
            </a:endParaRPr>
          </a:p>
        </p:txBody>
      </p:sp>
      <p:sp>
        <p:nvSpPr>
          <p:cNvPr id="52" name="TextBox 3"/>
          <p:cNvSpPr/>
          <p:nvPr/>
        </p:nvSpPr>
        <p:spPr>
          <a:xfrm>
            <a:off x="731520" y="1508760"/>
            <a:ext cx="6582960" cy="1492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4600" spc="-1" strike="noStrike">
                <a:solidFill>
                  <a:srgbClr val="5b6ee1"/>
                </a:solidFill>
                <a:latin typeface="Verdana"/>
              </a:rPr>
              <a:t>Putting It All</a:t>
            </a:r>
            <a:endParaRPr b="0" lang="en-US" sz="4600" spc="-1" strike="noStrike">
              <a:solidFill>
                <a:srgbClr val="000000"/>
              </a:solidFill>
              <a:latin typeface="Arial"/>
            </a:endParaRPr>
          </a:p>
          <a:p>
            <a:pPr defTabSz="457200">
              <a:lnSpc>
                <a:spcPct val="100000"/>
              </a:lnSpc>
            </a:pPr>
            <a:r>
              <a:rPr b="1" lang="en-US" sz="4600" spc="-1" strike="noStrike">
                <a:solidFill>
                  <a:srgbClr val="5b6ee1"/>
                </a:solidFill>
                <a:latin typeface="Verdana"/>
              </a:rPr>
              <a:t>Together</a:t>
            </a:r>
            <a:endParaRPr b="0" lang="en-US" sz="4600" spc="-1" strike="noStrike">
              <a:solidFill>
                <a:srgbClr val="000000"/>
              </a:solidFill>
              <a:latin typeface="Arial"/>
            </a:endParaRPr>
          </a:p>
        </p:txBody>
      </p:sp>
      <p:sp>
        <p:nvSpPr>
          <p:cNvPr id="53" name="TextBox 4"/>
          <p:cNvSpPr/>
          <p:nvPr/>
        </p:nvSpPr>
        <p:spPr>
          <a:xfrm>
            <a:off x="731520" y="3840480"/>
            <a:ext cx="6400080" cy="109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200" spc="-1" strike="noStrike">
                <a:solidFill>
                  <a:srgbClr val="555566"/>
                </a:solidFill>
                <a:latin typeface="Arial"/>
              </a:rPr>
              <a:t>A recap day — no new facts, just games, maths, and discussion to make sure Lessons 1-3 have truly sunk in before we move on to Light.</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54"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QUICK RECAP</a:t>
            </a:r>
            <a:endParaRPr b="0" lang="en-US" sz="1700" spc="-1" strike="noStrike">
              <a:solidFill>
                <a:srgbClr val="000000"/>
              </a:solidFill>
              <a:latin typeface="Arial"/>
            </a:endParaRPr>
          </a:p>
        </p:txBody>
      </p:sp>
      <p:sp>
        <p:nvSpPr>
          <p:cNvPr id="56"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What We've Covered So Far</a:t>
            </a:r>
            <a:endParaRPr b="0" lang="en-US" sz="3400" spc="-1" strike="noStrike">
              <a:solidFill>
                <a:srgbClr val="000000"/>
              </a:solidFill>
              <a:latin typeface="Arial"/>
            </a:endParaRPr>
          </a:p>
        </p:txBody>
      </p:sp>
      <p:sp>
        <p:nvSpPr>
          <p:cNvPr id="57" name="TextBox 4"/>
          <p:cNvSpPr/>
          <p:nvPr/>
        </p:nvSpPr>
        <p:spPr>
          <a:xfrm>
            <a:off x="731520" y="1920240"/>
            <a:ext cx="6400080" cy="3825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1" lang="en-US" sz="2000" spc="-1" strike="noStrike">
                <a:solidFill>
                  <a:srgbClr val="5b6ee1"/>
                </a:solidFill>
                <a:latin typeface="Arial"/>
              </a:rPr>
              <a:t>⬤  </a:t>
            </a:r>
            <a:r>
              <a:rPr b="1" lang="en-US" sz="2000" spc="-1" strike="noStrike">
                <a:solidFill>
                  <a:srgbClr val="5b6ee1"/>
                </a:solidFill>
                <a:latin typeface="Arial"/>
              </a:rPr>
              <a:t>Lesson 1:</a:t>
            </a:r>
            <a:r>
              <a:rPr b="0" lang="en-US" sz="2000" spc="-1" strike="noStrike">
                <a:solidFill>
                  <a:srgbClr val="222233"/>
                </a:solidFill>
                <a:latin typeface="Arial"/>
              </a:rPr>
              <a:t>  our cosmic address — the Solar System, the 8 planets, star/planet/moon/asteroid/comet, the Sun as our energy source, the Milky Way, the expanding universe</a:t>
            </a:r>
            <a:endParaRPr b="0" lang="en-US" sz="2000" spc="-1" strike="noStrike">
              <a:solidFill>
                <a:srgbClr val="000000"/>
              </a:solidFill>
              <a:latin typeface="Arial"/>
            </a:endParaRPr>
          </a:p>
          <a:p>
            <a:pPr defTabSz="457200">
              <a:lnSpc>
                <a:spcPct val="100000"/>
              </a:lnSpc>
              <a:spcAft>
                <a:spcPts val="1001"/>
              </a:spcAft>
            </a:pPr>
            <a:r>
              <a:rPr b="1" lang="en-US" sz="2000" spc="-1" strike="noStrike">
                <a:solidFill>
                  <a:srgbClr val="5b6ee1"/>
                </a:solidFill>
                <a:latin typeface="Arial"/>
              </a:rPr>
              <a:t>⬤  </a:t>
            </a:r>
            <a:r>
              <a:rPr b="1" lang="en-US" sz="2000" spc="-1" strike="noStrike">
                <a:solidFill>
                  <a:srgbClr val="5b6ee1"/>
                </a:solidFill>
                <a:latin typeface="Arial"/>
              </a:rPr>
              <a:t>Lesson 2:</a:t>
            </a:r>
            <a:r>
              <a:rPr b="0" lang="en-US" sz="2000" spc="-1" strike="noStrike">
                <a:solidFill>
                  <a:srgbClr val="222233"/>
                </a:solidFill>
                <a:latin typeface="Arial"/>
              </a:rPr>
              <a:t>  why we have seasons (Earth's tilt) and why the Moon always shows us the same face</a:t>
            </a:r>
            <a:endParaRPr b="0" lang="en-US" sz="2000" spc="-1" strike="noStrike">
              <a:solidFill>
                <a:srgbClr val="000000"/>
              </a:solidFill>
              <a:latin typeface="Arial"/>
            </a:endParaRPr>
          </a:p>
          <a:p>
            <a:pPr defTabSz="457200">
              <a:lnSpc>
                <a:spcPct val="100000"/>
              </a:lnSpc>
              <a:spcAft>
                <a:spcPts val="1001"/>
              </a:spcAft>
            </a:pPr>
            <a:r>
              <a:rPr b="1" lang="en-US" sz="2000" spc="-1" strike="noStrike">
                <a:solidFill>
                  <a:srgbClr val="5b6ee1"/>
                </a:solidFill>
                <a:latin typeface="Arial"/>
              </a:rPr>
              <a:t>⬤  </a:t>
            </a:r>
            <a:r>
              <a:rPr b="1" lang="en-US" sz="2000" spc="-1" strike="noStrike">
                <a:solidFill>
                  <a:srgbClr val="5b6ee1"/>
                </a:solidFill>
                <a:latin typeface="Arial"/>
              </a:rPr>
              <a:t>Lesson 3:</a:t>
            </a:r>
            <a:r>
              <a:rPr b="0" lang="en-US" sz="2000" spc="-1" strike="noStrike">
                <a:solidFill>
                  <a:srgbClr val="222233"/>
                </a:solidFill>
                <a:latin typeface="Arial"/>
              </a:rPr>
              <a:t>  how Eratosthenes proved Earth is round AND measured its size — and how Galileo's telescope proved Earth is not the centre of everything</a:t>
            </a:r>
            <a:endParaRPr b="0" lang="en-US" sz="2000" spc="-1" strike="noStrike">
              <a:solidFill>
                <a:srgbClr val="000000"/>
              </a:solidFill>
              <a:latin typeface="Arial"/>
            </a:endParaRPr>
          </a:p>
          <a:p>
            <a:pPr defTabSz="457200">
              <a:lnSpc>
                <a:spcPct val="100000"/>
              </a:lnSpc>
              <a:spcAft>
                <a:spcPts val="1001"/>
              </a:spcAft>
            </a:pPr>
            <a:r>
              <a:rPr b="1" lang="en-US" sz="2000" spc="-1" strike="noStrike">
                <a:solidFill>
                  <a:srgbClr val="5b6ee1"/>
                </a:solidFill>
                <a:latin typeface="Arial"/>
              </a:rPr>
              <a:t>⬤  </a:t>
            </a:r>
            <a:r>
              <a:rPr b="1" lang="en-US" sz="2000" spc="-1" strike="noStrike">
                <a:solidFill>
                  <a:srgbClr val="5b6ee1"/>
                </a:solidFill>
                <a:latin typeface="Arial"/>
              </a:rPr>
              <a:t>Today:</a:t>
            </a:r>
            <a:r>
              <a:rPr b="0" lang="en-US" sz="2000" spc="-1" strike="noStrike">
                <a:solidFill>
                  <a:srgbClr val="222233"/>
                </a:solidFill>
                <a:latin typeface="Arial"/>
              </a:rPr>
              <a:t>  no new facts. Just making sure it is all locked in before we move 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58"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QUICK-FIRE ROUND</a:t>
            </a:r>
            <a:endParaRPr b="0" lang="en-US" sz="1700" spc="-1" strike="noStrike">
              <a:solidFill>
                <a:srgbClr val="000000"/>
              </a:solidFill>
              <a:latin typeface="Arial"/>
            </a:endParaRPr>
          </a:p>
        </p:txBody>
      </p:sp>
      <p:sp>
        <p:nvSpPr>
          <p:cNvPr id="60"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Test Your Memory (1/2)</a:t>
            </a:r>
            <a:endParaRPr b="0" lang="en-US" sz="3400" spc="-1" strike="noStrike">
              <a:solidFill>
                <a:srgbClr val="000000"/>
              </a:solidFill>
              <a:latin typeface="Arial"/>
            </a:endParaRPr>
          </a:p>
        </p:txBody>
      </p:sp>
      <p:sp>
        <p:nvSpPr>
          <p:cNvPr id="61" name="TextBox 4"/>
          <p:cNvSpPr/>
          <p:nvPr/>
        </p:nvSpPr>
        <p:spPr>
          <a:xfrm>
            <a:off x="731520" y="18288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1. What is a star?</a:t>
            </a:r>
            <a:endParaRPr b="0" lang="en-US" sz="1800" spc="-1" strike="noStrike">
              <a:solidFill>
                <a:srgbClr val="000000"/>
              </a:solidFill>
              <a:latin typeface="Arial"/>
            </a:endParaRPr>
          </a:p>
        </p:txBody>
      </p:sp>
      <p:sp>
        <p:nvSpPr>
          <p:cNvPr id="62" name="TextBox 6"/>
          <p:cNvSpPr/>
          <p:nvPr/>
        </p:nvSpPr>
        <p:spPr>
          <a:xfrm>
            <a:off x="731520" y="27432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2. Difference between an asteroid and a comet?</a:t>
            </a:r>
            <a:endParaRPr b="0" lang="en-US" sz="1800" spc="-1" strike="noStrike">
              <a:solidFill>
                <a:srgbClr val="000000"/>
              </a:solidFill>
              <a:latin typeface="Arial"/>
            </a:endParaRPr>
          </a:p>
        </p:txBody>
      </p:sp>
      <p:sp>
        <p:nvSpPr>
          <p:cNvPr id="63" name="TextBox 8"/>
          <p:cNvSpPr/>
          <p:nvPr/>
        </p:nvSpPr>
        <p:spPr>
          <a:xfrm>
            <a:off x="731520" y="36576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3. How many planets orbit the Sun?</a:t>
            </a:r>
            <a:endParaRPr b="0" lang="en-US" sz="1800" spc="-1" strike="noStrike">
              <a:solidFill>
                <a:srgbClr val="000000"/>
              </a:solidFill>
              <a:latin typeface="Arial"/>
            </a:endParaRPr>
          </a:p>
        </p:txBody>
      </p:sp>
      <p:sp>
        <p:nvSpPr>
          <p:cNvPr id="64" name="TextBox 10"/>
          <p:cNvSpPr/>
          <p:nvPr/>
        </p:nvSpPr>
        <p:spPr>
          <a:xfrm>
            <a:off x="731520" y="45720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4. True or False: almost all of Earth's energy comes from the Sun.</a:t>
            </a:r>
            <a:endParaRPr b="0" lang="en-US" sz="1800" spc="-1" strike="noStrike">
              <a:solidFill>
                <a:srgbClr val="000000"/>
              </a:solidFill>
              <a:latin typeface="Arial"/>
            </a:endParaRPr>
          </a:p>
        </p:txBody>
      </p:sp>
      <p:sp>
        <p:nvSpPr>
          <p:cNvPr id="65" name="TextBox 12"/>
          <p:cNvSpPr/>
          <p:nvPr/>
        </p:nvSpPr>
        <p:spPr>
          <a:xfrm>
            <a:off x="731520" y="54864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5. What galaxy is our Solar System part of?</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66" name="Rectangle 2"/>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67" name="TextBox 25"/>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QUICK-FIRE ROUND</a:t>
            </a:r>
            <a:endParaRPr b="0" lang="en-US" sz="1700" spc="-1" strike="noStrike">
              <a:solidFill>
                <a:srgbClr val="000000"/>
              </a:solidFill>
              <a:latin typeface="Arial"/>
            </a:endParaRPr>
          </a:p>
        </p:txBody>
      </p:sp>
      <p:sp>
        <p:nvSpPr>
          <p:cNvPr id="68" name="TextBox 26"/>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Test Your Memory (1/2)</a:t>
            </a:r>
            <a:endParaRPr b="0" lang="en-US" sz="3400" spc="-1" strike="noStrike">
              <a:solidFill>
                <a:srgbClr val="000000"/>
              </a:solidFill>
              <a:latin typeface="Arial"/>
            </a:endParaRPr>
          </a:p>
        </p:txBody>
      </p:sp>
      <p:sp>
        <p:nvSpPr>
          <p:cNvPr id="69" name="TextBox 27"/>
          <p:cNvSpPr/>
          <p:nvPr/>
        </p:nvSpPr>
        <p:spPr>
          <a:xfrm>
            <a:off x="731520" y="18288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1. What is a star?</a:t>
            </a:r>
            <a:endParaRPr b="0" lang="en-US" sz="1800" spc="-1" strike="noStrike">
              <a:solidFill>
                <a:srgbClr val="000000"/>
              </a:solidFill>
              <a:latin typeface="Arial"/>
            </a:endParaRPr>
          </a:p>
        </p:txBody>
      </p:sp>
      <p:sp>
        <p:nvSpPr>
          <p:cNvPr id="70" name="TextBox 28"/>
          <p:cNvSpPr/>
          <p:nvPr/>
        </p:nvSpPr>
        <p:spPr>
          <a:xfrm>
            <a:off x="731520" y="22129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A giant ball of burning gas that makes its own light.</a:t>
            </a:r>
            <a:endParaRPr b="0" lang="en-US" sz="1800" spc="-1" strike="noStrike">
              <a:solidFill>
                <a:srgbClr val="000000"/>
              </a:solidFill>
              <a:latin typeface="Arial"/>
            </a:endParaRPr>
          </a:p>
        </p:txBody>
      </p:sp>
      <p:sp>
        <p:nvSpPr>
          <p:cNvPr id="71" name="TextBox 29"/>
          <p:cNvSpPr/>
          <p:nvPr/>
        </p:nvSpPr>
        <p:spPr>
          <a:xfrm>
            <a:off x="731520" y="27432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2. Difference between an asteroid and a comet?</a:t>
            </a:r>
            <a:endParaRPr b="0" lang="en-US" sz="1800" spc="-1" strike="noStrike">
              <a:solidFill>
                <a:srgbClr val="000000"/>
              </a:solidFill>
              <a:latin typeface="Arial"/>
            </a:endParaRPr>
          </a:p>
        </p:txBody>
      </p:sp>
      <p:sp>
        <p:nvSpPr>
          <p:cNvPr id="72" name="TextBox 30"/>
          <p:cNvSpPr/>
          <p:nvPr/>
        </p:nvSpPr>
        <p:spPr>
          <a:xfrm>
            <a:off x="731520" y="31273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An asteroid is small and rocky; a comet is small and icy, and grows a glowing tail near the Sun.</a:t>
            </a:r>
            <a:endParaRPr b="0" lang="en-US" sz="1800" spc="-1" strike="noStrike">
              <a:solidFill>
                <a:srgbClr val="000000"/>
              </a:solidFill>
              <a:latin typeface="Arial"/>
            </a:endParaRPr>
          </a:p>
        </p:txBody>
      </p:sp>
      <p:sp>
        <p:nvSpPr>
          <p:cNvPr id="73" name="TextBox 31"/>
          <p:cNvSpPr/>
          <p:nvPr/>
        </p:nvSpPr>
        <p:spPr>
          <a:xfrm>
            <a:off x="731520" y="36576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3. How many planets orbit the Sun?</a:t>
            </a:r>
            <a:endParaRPr b="0" lang="en-US" sz="1800" spc="-1" strike="noStrike">
              <a:solidFill>
                <a:srgbClr val="000000"/>
              </a:solidFill>
              <a:latin typeface="Arial"/>
            </a:endParaRPr>
          </a:p>
        </p:txBody>
      </p:sp>
      <p:sp>
        <p:nvSpPr>
          <p:cNvPr id="74" name="TextBox 32"/>
          <p:cNvSpPr/>
          <p:nvPr/>
        </p:nvSpPr>
        <p:spPr>
          <a:xfrm>
            <a:off x="731520" y="40417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8.</a:t>
            </a:r>
            <a:endParaRPr b="0" lang="en-US" sz="1800" spc="-1" strike="noStrike">
              <a:solidFill>
                <a:srgbClr val="000000"/>
              </a:solidFill>
              <a:latin typeface="Arial"/>
            </a:endParaRPr>
          </a:p>
        </p:txBody>
      </p:sp>
      <p:sp>
        <p:nvSpPr>
          <p:cNvPr id="75" name="TextBox 33"/>
          <p:cNvSpPr/>
          <p:nvPr/>
        </p:nvSpPr>
        <p:spPr>
          <a:xfrm>
            <a:off x="731520" y="45720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4. True or False: almost all of Earth's energy comes from the Sun.</a:t>
            </a:r>
            <a:endParaRPr b="0" lang="en-US" sz="1800" spc="-1" strike="noStrike">
              <a:solidFill>
                <a:srgbClr val="000000"/>
              </a:solidFill>
              <a:latin typeface="Arial"/>
            </a:endParaRPr>
          </a:p>
        </p:txBody>
      </p:sp>
      <p:sp>
        <p:nvSpPr>
          <p:cNvPr id="76" name="TextBox 34"/>
          <p:cNvSpPr/>
          <p:nvPr/>
        </p:nvSpPr>
        <p:spPr>
          <a:xfrm>
            <a:off x="731520" y="49561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True.</a:t>
            </a:r>
            <a:endParaRPr b="0" lang="en-US" sz="1800" spc="-1" strike="noStrike">
              <a:solidFill>
                <a:srgbClr val="000000"/>
              </a:solidFill>
              <a:latin typeface="Arial"/>
            </a:endParaRPr>
          </a:p>
        </p:txBody>
      </p:sp>
      <p:sp>
        <p:nvSpPr>
          <p:cNvPr id="77" name="TextBox 35"/>
          <p:cNvSpPr/>
          <p:nvPr/>
        </p:nvSpPr>
        <p:spPr>
          <a:xfrm>
            <a:off x="731520" y="54864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5. What galaxy is our Solar System part of?</a:t>
            </a:r>
            <a:endParaRPr b="0" lang="en-US" sz="1800" spc="-1" strike="noStrike">
              <a:solidFill>
                <a:srgbClr val="000000"/>
              </a:solidFill>
              <a:latin typeface="Arial"/>
            </a:endParaRPr>
          </a:p>
        </p:txBody>
      </p:sp>
      <p:sp>
        <p:nvSpPr>
          <p:cNvPr id="78" name="TextBox 36"/>
          <p:cNvSpPr/>
          <p:nvPr/>
        </p:nvSpPr>
        <p:spPr>
          <a:xfrm>
            <a:off x="731520" y="58705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The Milky Way.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79"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QUICK-FIRE ROUND</a:t>
            </a:r>
            <a:endParaRPr b="0" lang="en-US" sz="1700" spc="-1" strike="noStrike">
              <a:solidFill>
                <a:srgbClr val="000000"/>
              </a:solidFill>
              <a:latin typeface="Arial"/>
            </a:endParaRPr>
          </a:p>
        </p:txBody>
      </p:sp>
      <p:sp>
        <p:nvSpPr>
          <p:cNvPr id="81"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Test Your Memory (2/2)</a:t>
            </a:r>
            <a:endParaRPr b="0" lang="en-US" sz="3400" spc="-1" strike="noStrike">
              <a:solidFill>
                <a:srgbClr val="000000"/>
              </a:solidFill>
              <a:latin typeface="Arial"/>
            </a:endParaRPr>
          </a:p>
        </p:txBody>
      </p:sp>
      <p:sp>
        <p:nvSpPr>
          <p:cNvPr id="82" name="TextBox 4"/>
          <p:cNvSpPr/>
          <p:nvPr/>
        </p:nvSpPr>
        <p:spPr>
          <a:xfrm>
            <a:off x="731520" y="18288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6. True or False: the universe stays exactly the same size forever.</a:t>
            </a:r>
            <a:endParaRPr b="0" lang="en-US" sz="1800" spc="-1" strike="noStrike">
              <a:solidFill>
                <a:srgbClr val="000000"/>
              </a:solidFill>
              <a:latin typeface="Arial"/>
            </a:endParaRPr>
          </a:p>
        </p:txBody>
      </p:sp>
      <p:sp>
        <p:nvSpPr>
          <p:cNvPr id="83" name="TextBox 6"/>
          <p:cNvSpPr/>
          <p:nvPr/>
        </p:nvSpPr>
        <p:spPr>
          <a:xfrm>
            <a:off x="731520" y="27432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7. What does rotation cause? What does revolution cause?</a:t>
            </a:r>
            <a:endParaRPr b="0" lang="en-US" sz="1800" spc="-1" strike="noStrike">
              <a:solidFill>
                <a:srgbClr val="000000"/>
              </a:solidFill>
              <a:latin typeface="Arial"/>
            </a:endParaRPr>
          </a:p>
        </p:txBody>
      </p:sp>
      <p:sp>
        <p:nvSpPr>
          <p:cNvPr id="84" name="TextBox 8"/>
          <p:cNvSpPr/>
          <p:nvPr/>
        </p:nvSpPr>
        <p:spPr>
          <a:xfrm>
            <a:off x="731520" y="36576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8. Who first measured the size of the Earth, and how?</a:t>
            </a:r>
            <a:endParaRPr b="0" lang="en-US" sz="1800" spc="-1" strike="noStrike">
              <a:solidFill>
                <a:srgbClr val="000000"/>
              </a:solidFill>
              <a:latin typeface="Arial"/>
            </a:endParaRPr>
          </a:p>
        </p:txBody>
      </p:sp>
      <p:sp>
        <p:nvSpPr>
          <p:cNvPr id="85" name="TextBox 10"/>
          <p:cNvSpPr/>
          <p:nvPr/>
        </p:nvSpPr>
        <p:spPr>
          <a:xfrm>
            <a:off x="731520" y="45720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9. Name one thing Galileo discovered with his telescope.</a:t>
            </a:r>
            <a:endParaRPr b="0" lang="en-US" sz="1800" spc="-1" strike="noStrike">
              <a:solidFill>
                <a:srgbClr val="000000"/>
              </a:solidFill>
              <a:latin typeface="Arial"/>
            </a:endParaRPr>
          </a:p>
        </p:txBody>
      </p:sp>
      <p:sp>
        <p:nvSpPr>
          <p:cNvPr id="86" name="TextBox 12"/>
          <p:cNvSpPr/>
          <p:nvPr/>
        </p:nvSpPr>
        <p:spPr>
          <a:xfrm>
            <a:off x="731520" y="54864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10. True or False: the Milky Way is the only galaxy in the universe.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87" name="Rectangle 3"/>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88" name="TextBox 37"/>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QUICK-FIRE ROUND</a:t>
            </a:r>
            <a:endParaRPr b="0" lang="en-US" sz="1700" spc="-1" strike="noStrike">
              <a:solidFill>
                <a:srgbClr val="000000"/>
              </a:solidFill>
              <a:latin typeface="Arial"/>
            </a:endParaRPr>
          </a:p>
        </p:txBody>
      </p:sp>
      <p:sp>
        <p:nvSpPr>
          <p:cNvPr id="89" name="TextBox 38"/>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Test Your Memory (2/2)</a:t>
            </a:r>
            <a:endParaRPr b="0" lang="en-US" sz="3400" spc="-1" strike="noStrike">
              <a:solidFill>
                <a:srgbClr val="000000"/>
              </a:solidFill>
              <a:latin typeface="Arial"/>
            </a:endParaRPr>
          </a:p>
        </p:txBody>
      </p:sp>
      <p:sp>
        <p:nvSpPr>
          <p:cNvPr id="90" name="TextBox 39"/>
          <p:cNvSpPr/>
          <p:nvPr/>
        </p:nvSpPr>
        <p:spPr>
          <a:xfrm>
            <a:off x="731520" y="18288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6. True or False: the universe stays exactly the same size forever.</a:t>
            </a:r>
            <a:endParaRPr b="0" lang="en-US" sz="1800" spc="-1" strike="noStrike">
              <a:solidFill>
                <a:srgbClr val="000000"/>
              </a:solidFill>
              <a:latin typeface="Arial"/>
            </a:endParaRPr>
          </a:p>
        </p:txBody>
      </p:sp>
      <p:sp>
        <p:nvSpPr>
          <p:cNvPr id="91" name="TextBox 40"/>
          <p:cNvSpPr/>
          <p:nvPr/>
        </p:nvSpPr>
        <p:spPr>
          <a:xfrm>
            <a:off x="731520" y="22129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False — it is expanding, right now, in every direction.</a:t>
            </a:r>
            <a:endParaRPr b="0" lang="en-US" sz="1800" spc="-1" strike="noStrike">
              <a:solidFill>
                <a:srgbClr val="000000"/>
              </a:solidFill>
              <a:latin typeface="Arial"/>
            </a:endParaRPr>
          </a:p>
        </p:txBody>
      </p:sp>
      <p:sp>
        <p:nvSpPr>
          <p:cNvPr id="92" name="TextBox 41"/>
          <p:cNvSpPr/>
          <p:nvPr/>
        </p:nvSpPr>
        <p:spPr>
          <a:xfrm>
            <a:off x="731520" y="27432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7. What does rotation cause? What does revolution cause?</a:t>
            </a:r>
            <a:endParaRPr b="0" lang="en-US" sz="1800" spc="-1" strike="noStrike">
              <a:solidFill>
                <a:srgbClr val="000000"/>
              </a:solidFill>
              <a:latin typeface="Arial"/>
            </a:endParaRPr>
          </a:p>
        </p:txBody>
      </p:sp>
      <p:sp>
        <p:nvSpPr>
          <p:cNvPr id="93" name="TextBox 42"/>
          <p:cNvSpPr/>
          <p:nvPr/>
        </p:nvSpPr>
        <p:spPr>
          <a:xfrm>
            <a:off x="731520" y="31273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Rotation (spin, every 24h) = day/night. Revolution (orbit the Sun, every 365¼ days) = one year.</a:t>
            </a:r>
            <a:endParaRPr b="0" lang="en-US" sz="1800" spc="-1" strike="noStrike">
              <a:solidFill>
                <a:srgbClr val="000000"/>
              </a:solidFill>
              <a:latin typeface="Arial"/>
            </a:endParaRPr>
          </a:p>
        </p:txBody>
      </p:sp>
      <p:sp>
        <p:nvSpPr>
          <p:cNvPr id="94" name="TextBox 43"/>
          <p:cNvSpPr/>
          <p:nvPr/>
        </p:nvSpPr>
        <p:spPr>
          <a:xfrm>
            <a:off x="731520" y="36576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8. Who first measured the size of the Earth, and how?</a:t>
            </a:r>
            <a:endParaRPr b="0" lang="en-US" sz="1800" spc="-1" strike="noStrike">
              <a:solidFill>
                <a:srgbClr val="000000"/>
              </a:solidFill>
              <a:latin typeface="Arial"/>
            </a:endParaRPr>
          </a:p>
        </p:txBody>
      </p:sp>
      <p:sp>
        <p:nvSpPr>
          <p:cNvPr id="95" name="TextBox 44"/>
          <p:cNvSpPr/>
          <p:nvPr/>
        </p:nvSpPr>
        <p:spPr>
          <a:xfrm>
            <a:off x="731520" y="40417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Eratosthenes — using shadows and geometry, comparing the same moment at two Egyptian cities.</a:t>
            </a:r>
            <a:endParaRPr b="0" lang="en-US" sz="1800" spc="-1" strike="noStrike">
              <a:solidFill>
                <a:srgbClr val="000000"/>
              </a:solidFill>
              <a:latin typeface="Arial"/>
            </a:endParaRPr>
          </a:p>
        </p:txBody>
      </p:sp>
      <p:sp>
        <p:nvSpPr>
          <p:cNvPr id="96" name="TextBox 45"/>
          <p:cNvSpPr/>
          <p:nvPr/>
        </p:nvSpPr>
        <p:spPr>
          <a:xfrm>
            <a:off x="731520" y="45720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9. Name one thing Galileo discovered with his telescope.</a:t>
            </a:r>
            <a:endParaRPr b="0" lang="en-US" sz="1800" spc="-1" strike="noStrike">
              <a:solidFill>
                <a:srgbClr val="000000"/>
              </a:solidFill>
              <a:latin typeface="Arial"/>
            </a:endParaRPr>
          </a:p>
        </p:txBody>
      </p:sp>
      <p:sp>
        <p:nvSpPr>
          <p:cNvPr id="97" name="TextBox 46"/>
          <p:cNvSpPr/>
          <p:nvPr/>
        </p:nvSpPr>
        <p:spPr>
          <a:xfrm>
            <a:off x="731520" y="49561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The Moon's mountains/craters, Jupiter's four moons, Venus's phases, or sunspots on the Sun.</a:t>
            </a:r>
            <a:endParaRPr b="0" lang="en-US" sz="1800" spc="-1" strike="noStrike">
              <a:solidFill>
                <a:srgbClr val="000000"/>
              </a:solidFill>
              <a:latin typeface="Arial"/>
            </a:endParaRPr>
          </a:p>
        </p:txBody>
      </p:sp>
      <p:sp>
        <p:nvSpPr>
          <p:cNvPr id="98" name="TextBox 47"/>
          <p:cNvSpPr/>
          <p:nvPr/>
        </p:nvSpPr>
        <p:spPr>
          <a:xfrm>
            <a:off x="731520" y="548640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222233"/>
                </a:solidFill>
                <a:latin typeface="Arial"/>
              </a:rPr>
              <a:t>10. True or False: the Milky Way is the only galaxy in the universe.</a:t>
            </a:r>
            <a:endParaRPr b="0" lang="en-US" sz="1800" spc="-1" strike="noStrike">
              <a:solidFill>
                <a:srgbClr val="000000"/>
              </a:solidFill>
              <a:latin typeface="Arial"/>
            </a:endParaRPr>
          </a:p>
        </p:txBody>
      </p:sp>
      <p:sp>
        <p:nvSpPr>
          <p:cNvPr id="99" name="TextBox 48"/>
          <p:cNvSpPr/>
          <p:nvPr/>
        </p:nvSpPr>
        <p:spPr>
          <a:xfrm>
            <a:off x="731520" y="5870520"/>
            <a:ext cx="1060632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i="1" lang="en-US" sz="1800" spc="-1" strike="noStrike">
                <a:solidFill>
                  <a:srgbClr val="06d6a0"/>
                </a:solidFill>
                <a:latin typeface="Arial"/>
              </a:rPr>
              <a:t>False — there are hundreds of billions of galaxies.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00"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HANDS-ON ACTIVITY</a:t>
            </a:r>
            <a:endParaRPr b="0" lang="en-US" sz="1700" spc="-1" strike="noStrike">
              <a:solidFill>
                <a:srgbClr val="000000"/>
              </a:solidFill>
              <a:latin typeface="Arial"/>
            </a:endParaRPr>
          </a:p>
        </p:txBody>
      </p:sp>
      <p:sp>
        <p:nvSpPr>
          <p:cNvPr id="102"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Shrinking the Solar System</a:t>
            </a:r>
            <a:endParaRPr b="0" lang="en-US" sz="3400" spc="-1" strike="noStrike">
              <a:solidFill>
                <a:srgbClr val="000000"/>
              </a:solidFill>
              <a:latin typeface="Arial"/>
            </a:endParaRPr>
          </a:p>
        </p:txBody>
      </p:sp>
      <p:sp>
        <p:nvSpPr>
          <p:cNvPr id="103" name="TextBox 4"/>
          <p:cNvSpPr/>
          <p:nvPr/>
        </p:nvSpPr>
        <p:spPr>
          <a:xfrm>
            <a:off x="731520" y="1920240"/>
            <a:ext cx="10606320" cy="1131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In Lesson 1 we imagined the Sun shrunk to the size of a basketball (24 cm across) — and on that scale, Earth is a tiny peppercorn sitting 24 metres away.</a:t>
            </a:r>
            <a:endParaRPr b="0" lang="en-US" sz="2000" spc="-1" strike="noStrike">
              <a:solidFill>
                <a:srgbClr val="000000"/>
              </a:solidFill>
              <a:latin typeface="Arial"/>
            </a:endParaRPr>
          </a:p>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Today, YOU calculate where the other planets would be.</a:t>
            </a:r>
            <a:endParaRPr b="0" lang="en-US" sz="2000" spc="-1" strike="noStrike">
              <a:solidFill>
                <a:srgbClr val="000000"/>
              </a:solidFill>
              <a:latin typeface="Arial"/>
            </a:endParaRPr>
          </a:p>
        </p:txBody>
      </p:sp>
      <p:sp>
        <p:nvSpPr>
          <p:cNvPr id="104" name="Rounded Rectangle 5"/>
          <p:cNvSpPr/>
          <p:nvPr/>
        </p:nvSpPr>
        <p:spPr>
          <a:xfrm>
            <a:off x="731520" y="3931920"/>
            <a:ext cx="10606320" cy="1370880"/>
          </a:xfrm>
          <a:prstGeom prst="roundRect">
            <a:avLst>
              <a:gd name="adj" fmla="val 16667"/>
            </a:avLst>
          </a:prstGeom>
          <a:solidFill>
            <a:srgbClr val="ffffff"/>
          </a:solidFill>
          <a:ln w="19050">
            <a:solidFill>
              <a:srgbClr val="ef476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5" name="TextBox 6"/>
          <p:cNvSpPr/>
          <p:nvPr/>
        </p:nvSpPr>
        <p:spPr>
          <a:xfrm>
            <a:off x="914400" y="4069080"/>
            <a:ext cx="102405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f476f"/>
                </a:solidFill>
                <a:latin typeface="Arial"/>
              </a:rPr>
              <a:t>The Method</a:t>
            </a:r>
            <a:endParaRPr b="0" lang="en-US" sz="1800" spc="-1" strike="noStrike">
              <a:solidFill>
                <a:srgbClr val="000000"/>
              </a:solidFill>
              <a:latin typeface="Arial"/>
            </a:endParaRPr>
          </a:p>
        </p:txBody>
      </p:sp>
      <p:sp>
        <p:nvSpPr>
          <p:cNvPr id="106" name="TextBox 7"/>
          <p:cNvSpPr/>
          <p:nvPr/>
        </p:nvSpPr>
        <p:spPr>
          <a:xfrm>
            <a:off x="914400" y="4480560"/>
            <a:ext cx="10240560" cy="699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000" spc="-1" strike="noStrike">
                <a:solidFill>
                  <a:srgbClr val="222233"/>
                </a:solidFill>
                <a:latin typeface="Arial"/>
              </a:rPr>
              <a:t>Scaled distance  =  (planet's real distance from Sun  ÷  Earth's real distance from Sun)  ×  24 m</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07"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HANDS-ON ACTIVITY</a:t>
            </a:r>
            <a:endParaRPr b="0" lang="en-US" sz="1700" spc="-1" strike="noStrike">
              <a:solidFill>
                <a:srgbClr val="000000"/>
              </a:solidFill>
              <a:latin typeface="Arial"/>
            </a:endParaRPr>
          </a:p>
        </p:txBody>
      </p:sp>
      <p:sp>
        <p:nvSpPr>
          <p:cNvPr id="109"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Real Distances From the Sun</a:t>
            </a:r>
            <a:endParaRPr b="0" lang="en-US" sz="3400" spc="-1" strike="noStrike">
              <a:solidFill>
                <a:srgbClr val="000000"/>
              </a:solidFill>
              <a:latin typeface="Arial"/>
            </a:endParaRPr>
          </a:p>
        </p:txBody>
      </p:sp>
      <p:graphicFrame>
        <p:nvGraphicFramePr>
          <p:cNvPr id="110" name="Table 4"/>
          <p:cNvGraphicFramePr/>
          <p:nvPr/>
        </p:nvGraphicFramePr>
        <p:xfrm>
          <a:off x="731520" y="1737360"/>
          <a:ext cx="5486040" cy="4205520"/>
        </p:xfrm>
        <a:graphic>
          <a:graphicData uri="http://schemas.openxmlformats.org/drawingml/2006/table">
            <a:tbl>
              <a:tblPr/>
              <a:tblGrid>
                <a:gridCol w="2743200"/>
                <a:gridCol w="2743200"/>
              </a:tblGrid>
              <a:tr h="467280">
                <a:tc>
                  <a:txBody>
                    <a:bodyPr anchor="ctr">
                      <a:noAutofit/>
                    </a:bodyPr>
                    <a:p>
                      <a:pPr algn="ctr" defTabSz="457200">
                        <a:lnSpc>
                          <a:spcPct val="100000"/>
                        </a:lnSpc>
                      </a:pPr>
                      <a:r>
                        <a:rPr b="1" lang="en-US" sz="1600" spc="-1" strike="noStrike">
                          <a:solidFill>
                            <a:srgbClr val="ffffff"/>
                          </a:solidFill>
                          <a:latin typeface="Arial"/>
                        </a:rPr>
                        <a:t>Planet</a:t>
                      </a:r>
                      <a:endParaRPr b="0" lang="en-US" sz="16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c>
                  <a:txBody>
                    <a:bodyPr anchor="ctr">
                      <a:noAutofit/>
                    </a:bodyPr>
                    <a:p>
                      <a:pPr algn="ctr" defTabSz="457200">
                        <a:lnSpc>
                          <a:spcPct val="100000"/>
                        </a:lnSpc>
                      </a:pPr>
                      <a:r>
                        <a:rPr b="1" lang="en-US" sz="1600" spc="-1" strike="noStrike">
                          <a:solidFill>
                            <a:srgbClr val="ffffff"/>
                          </a:solidFill>
                          <a:latin typeface="Arial"/>
                        </a:rPr>
                        <a:t>Real distance (million km)</a:t>
                      </a:r>
                      <a:endParaRPr b="0" lang="en-US" sz="16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r>
              <a:tr h="467280">
                <a:tc>
                  <a:txBody>
                    <a:bodyPr anchor="ctr">
                      <a:noAutofit/>
                    </a:bodyPr>
                    <a:p>
                      <a:pPr algn="ctr" defTabSz="457200">
                        <a:lnSpc>
                          <a:spcPct val="100000"/>
                        </a:lnSpc>
                      </a:pPr>
                      <a:r>
                        <a:rPr b="0" lang="en-US" sz="1500" spc="-1" strike="noStrike">
                          <a:solidFill>
                            <a:srgbClr val="222233"/>
                          </a:solidFill>
                          <a:latin typeface="Arial"/>
                        </a:rPr>
                        <a:t>Mercury</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57.9</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Venus</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108.2</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Earth</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149.6</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Mars</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227.9</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Jupiter</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778.3</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Saturn</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1,427</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Uranus</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2,871</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Neptune</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4,497</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11" name="Rounded Rectangle 5"/>
          <p:cNvSpPr/>
          <p:nvPr/>
        </p:nvSpPr>
        <p:spPr>
          <a:xfrm>
            <a:off x="6583680" y="1737360"/>
            <a:ext cx="4845600" cy="1828080"/>
          </a:xfrm>
          <a:prstGeom prst="roundRect">
            <a:avLst>
              <a:gd name="adj" fmla="val 16667"/>
            </a:avLst>
          </a:prstGeom>
          <a:solidFill>
            <a:srgbClr val="ffffff"/>
          </a:solidFill>
          <a:ln w="19050">
            <a:solidFill>
              <a:srgbClr val="06d6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2" name="TextBox 6"/>
          <p:cNvSpPr/>
          <p:nvPr/>
        </p:nvSpPr>
        <p:spPr>
          <a:xfrm>
            <a:off x="6766560" y="1874520"/>
            <a:ext cx="447984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06d6a0"/>
                </a:solidFill>
                <a:latin typeface="Arial"/>
              </a:rPr>
              <a:t>Worked Example: Mercury</a:t>
            </a:r>
            <a:endParaRPr b="0" lang="en-US" sz="1800" spc="-1" strike="noStrike">
              <a:solidFill>
                <a:srgbClr val="000000"/>
              </a:solidFill>
              <a:latin typeface="Arial"/>
            </a:endParaRPr>
          </a:p>
        </p:txBody>
      </p:sp>
      <p:sp>
        <p:nvSpPr>
          <p:cNvPr id="113" name="TextBox 7"/>
          <p:cNvSpPr/>
          <p:nvPr/>
        </p:nvSpPr>
        <p:spPr>
          <a:xfrm>
            <a:off x="6766560" y="2286000"/>
            <a:ext cx="4479840" cy="4248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200" spc="-1" strike="noStrike">
                <a:solidFill>
                  <a:srgbClr val="222233"/>
                </a:solidFill>
                <a:latin typeface="Arial"/>
              </a:rPr>
              <a:t>57.9 ÷ 149.6 × 24 m ≈ 9 metres</a:t>
            </a:r>
            <a:endParaRPr b="0" lang="en-US" sz="2200" spc="-1" strike="noStrike">
              <a:solidFill>
                <a:srgbClr val="000000"/>
              </a:solidFill>
              <a:latin typeface="Arial"/>
            </a:endParaRPr>
          </a:p>
        </p:txBody>
      </p:sp>
      <p:sp>
        <p:nvSpPr>
          <p:cNvPr id="114" name="Rounded Rectangle 8"/>
          <p:cNvSpPr/>
          <p:nvPr/>
        </p:nvSpPr>
        <p:spPr>
          <a:xfrm>
            <a:off x="6583680" y="3840480"/>
            <a:ext cx="4845600" cy="2102400"/>
          </a:xfrm>
          <a:prstGeom prst="roundRect">
            <a:avLst>
              <a:gd name="adj" fmla="val 16667"/>
            </a:avLst>
          </a:prstGeom>
          <a:solidFill>
            <a:srgbClr val="ffffff"/>
          </a:solidFill>
          <a:ln w="19050">
            <a:solidFill>
              <a:srgbClr val="ffd16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 name="TextBox 9"/>
          <p:cNvSpPr/>
          <p:nvPr/>
        </p:nvSpPr>
        <p:spPr>
          <a:xfrm>
            <a:off x="6766560" y="3977640"/>
            <a:ext cx="447984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ffd166"/>
                </a:solidFill>
                <a:latin typeface="Arial"/>
              </a:rPr>
              <a:t>Your Turn</a:t>
            </a:r>
            <a:endParaRPr b="0" lang="en-US" sz="1800" spc="-1" strike="noStrike">
              <a:solidFill>
                <a:srgbClr val="000000"/>
              </a:solidFill>
              <a:latin typeface="Arial"/>
            </a:endParaRPr>
          </a:p>
        </p:txBody>
      </p:sp>
      <p:sp>
        <p:nvSpPr>
          <p:cNvPr id="116" name="TextBox 10"/>
          <p:cNvSpPr/>
          <p:nvPr/>
        </p:nvSpPr>
        <p:spPr>
          <a:xfrm>
            <a:off x="6766560" y="4389120"/>
            <a:ext cx="4479840" cy="638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rgbClr val="222233"/>
                </a:solidFill>
                <a:latin typeface="Arial"/>
              </a:rPr>
              <a:t>Calculate the scaled distance for:</a:t>
            </a:r>
            <a:endParaRPr b="0" lang="en-US" sz="1800" spc="-1" strike="noStrike">
              <a:solidFill>
                <a:srgbClr val="000000"/>
              </a:solidFill>
              <a:latin typeface="Arial"/>
            </a:endParaRPr>
          </a:p>
          <a:p>
            <a:pPr defTabSz="457200">
              <a:lnSpc>
                <a:spcPct val="100000"/>
              </a:lnSpc>
            </a:pPr>
            <a:r>
              <a:rPr b="0" lang="en-US" sz="1800" spc="-1" strike="noStrike">
                <a:solidFill>
                  <a:srgbClr val="222233"/>
                </a:solidFill>
                <a:latin typeface="Arial"/>
              </a:rPr>
              <a:t>Jupiter, Saturn, Uranus, and Neptune.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17"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HANDS-ON ACTIVITY</a:t>
            </a:r>
            <a:endParaRPr b="0" lang="en-US" sz="1700" spc="-1" strike="noStrike">
              <a:solidFill>
                <a:srgbClr val="000000"/>
              </a:solidFill>
              <a:latin typeface="Arial"/>
            </a:endParaRPr>
          </a:p>
        </p:txBody>
      </p:sp>
      <p:sp>
        <p:nvSpPr>
          <p:cNvPr id="119"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The Big Reveal</a:t>
            </a:r>
            <a:endParaRPr b="0" lang="en-US" sz="3400" spc="-1" strike="noStrike">
              <a:solidFill>
                <a:srgbClr val="000000"/>
              </a:solidFill>
              <a:latin typeface="Arial"/>
            </a:endParaRPr>
          </a:p>
        </p:txBody>
      </p:sp>
      <p:graphicFrame>
        <p:nvGraphicFramePr>
          <p:cNvPr id="120" name="Table 4"/>
          <p:cNvGraphicFramePr/>
          <p:nvPr/>
        </p:nvGraphicFramePr>
        <p:xfrm>
          <a:off x="731520" y="1737360"/>
          <a:ext cx="5028840" cy="4205520"/>
        </p:xfrm>
        <a:graphic>
          <a:graphicData uri="http://schemas.openxmlformats.org/drawingml/2006/table">
            <a:tbl>
              <a:tblPr/>
              <a:tblGrid>
                <a:gridCol w="2514600"/>
                <a:gridCol w="2514600"/>
              </a:tblGrid>
              <a:tr h="467280">
                <a:tc>
                  <a:txBody>
                    <a:bodyPr anchor="ctr">
                      <a:noAutofit/>
                    </a:bodyPr>
                    <a:p>
                      <a:pPr algn="ctr" defTabSz="457200">
                        <a:lnSpc>
                          <a:spcPct val="100000"/>
                        </a:lnSpc>
                      </a:pPr>
                      <a:r>
                        <a:rPr b="1" lang="en-US" sz="1600" spc="-1" strike="noStrike">
                          <a:solidFill>
                            <a:srgbClr val="ffffff"/>
                          </a:solidFill>
                          <a:latin typeface="Arial"/>
                        </a:rPr>
                        <a:t>Planet</a:t>
                      </a:r>
                      <a:endParaRPr b="0" lang="en-US" sz="16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c>
                  <a:txBody>
                    <a:bodyPr anchor="ctr">
                      <a:noAutofit/>
                    </a:bodyPr>
                    <a:p>
                      <a:pPr algn="ctr" defTabSz="457200">
                        <a:lnSpc>
                          <a:spcPct val="100000"/>
                        </a:lnSpc>
                      </a:pPr>
                      <a:r>
                        <a:rPr b="1" lang="en-US" sz="1600" spc="-1" strike="noStrike">
                          <a:solidFill>
                            <a:srgbClr val="ffffff"/>
                          </a:solidFill>
                          <a:latin typeface="Arial"/>
                        </a:rPr>
                        <a:t>Scaled distance</a:t>
                      </a:r>
                      <a:endParaRPr b="0" lang="en-US" sz="16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r>
              <a:tr h="467280">
                <a:tc>
                  <a:txBody>
                    <a:bodyPr anchor="ctr">
                      <a:noAutofit/>
                    </a:bodyPr>
                    <a:p>
                      <a:pPr algn="ctr" defTabSz="457200">
                        <a:lnSpc>
                          <a:spcPct val="100000"/>
                        </a:lnSpc>
                      </a:pPr>
                      <a:r>
                        <a:rPr b="0" lang="en-US" sz="1500" spc="-1" strike="noStrike">
                          <a:solidFill>
                            <a:srgbClr val="222233"/>
                          </a:solidFill>
                          <a:latin typeface="Arial"/>
                        </a:rPr>
                        <a:t>Mercury</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9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Venus</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17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Earth</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24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Mars</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37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Jupiter</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125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Saturn</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230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Uranus</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460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7280">
                <a:tc>
                  <a:txBody>
                    <a:bodyPr anchor="ctr">
                      <a:noAutofit/>
                    </a:bodyPr>
                    <a:p>
                      <a:pPr algn="ctr" defTabSz="457200">
                        <a:lnSpc>
                          <a:spcPct val="100000"/>
                        </a:lnSpc>
                      </a:pPr>
                      <a:r>
                        <a:rPr b="0" lang="en-US" sz="1500" spc="-1" strike="noStrike">
                          <a:solidFill>
                            <a:srgbClr val="222233"/>
                          </a:solidFill>
                          <a:latin typeface="Arial"/>
                        </a:rPr>
                        <a:t>Neptune</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720 m</a:t>
                      </a:r>
                      <a:endParaRPr b="0" lang="en-US" sz="15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21" name="Rounded Rectangle 5"/>
          <p:cNvSpPr/>
          <p:nvPr/>
        </p:nvSpPr>
        <p:spPr>
          <a:xfrm>
            <a:off x="6126480" y="1737360"/>
            <a:ext cx="5302800" cy="4205520"/>
          </a:xfrm>
          <a:prstGeom prst="roundRect">
            <a:avLst>
              <a:gd name="adj" fmla="val 16667"/>
            </a:avLst>
          </a:prstGeom>
          <a:solidFill>
            <a:srgbClr val="ffffff"/>
          </a:solidFill>
          <a:ln w="19050">
            <a:solidFill>
              <a:srgbClr val="ef476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 name="TextBox 6"/>
          <p:cNvSpPr/>
          <p:nvPr/>
        </p:nvSpPr>
        <p:spPr>
          <a:xfrm>
            <a:off x="6309360" y="1874520"/>
            <a:ext cx="493704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ef476f"/>
                </a:solidFill>
                <a:latin typeface="Arial"/>
              </a:rPr>
              <a:t>Punchline</a:t>
            </a:r>
            <a:endParaRPr b="0" lang="en-US" sz="1800" spc="-1" strike="noStrike">
              <a:solidFill>
                <a:srgbClr val="000000"/>
              </a:solidFill>
              <a:latin typeface="Arial"/>
            </a:endParaRPr>
          </a:p>
        </p:txBody>
      </p:sp>
      <p:sp>
        <p:nvSpPr>
          <p:cNvPr id="123" name="TextBox 7"/>
          <p:cNvSpPr/>
          <p:nvPr/>
        </p:nvSpPr>
        <p:spPr>
          <a:xfrm>
            <a:off x="6309360" y="2286000"/>
            <a:ext cx="4937040" cy="2163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700" spc="-1" strike="noStrike">
                <a:solidFill>
                  <a:srgbClr val="222233"/>
                </a:solidFill>
                <a:latin typeface="Arial"/>
              </a:rPr>
              <a:t>If our basketball-Sun sat at the front of the classroom and Earth's peppercorn was 24 metres away, Neptune would be over 700 metres away — about seven football pitches end to end!</a:t>
            </a:r>
            <a:endParaRPr b="0" lang="en-US" sz="1700" spc="-1" strike="noStrike">
              <a:solidFill>
                <a:srgbClr val="000000"/>
              </a:solidFill>
              <a:latin typeface="Arial"/>
            </a:endParaRPr>
          </a:p>
          <a:p>
            <a:pPr defTabSz="457200">
              <a:lnSpc>
                <a:spcPct val="100000"/>
              </a:lnSpc>
            </a:pPr>
            <a:endParaRPr b="0" lang="en-US" sz="1700" spc="-1" strike="noStrike">
              <a:solidFill>
                <a:srgbClr val="000000"/>
              </a:solidFill>
              <a:latin typeface="Arial"/>
            </a:endParaRPr>
          </a:p>
          <a:p>
            <a:pPr defTabSz="457200">
              <a:lnSpc>
                <a:spcPct val="100000"/>
              </a:lnSpc>
            </a:pPr>
            <a:r>
              <a:rPr b="0" lang="en-US" sz="1700" spc="-1" strike="noStrike">
                <a:solidFill>
                  <a:srgbClr val="222233"/>
                </a:solidFill>
                <a:latin typeface="Arial"/>
              </a:rPr>
              <a:t>Even though Mercury, Venus, Earth, and Mars feel close together, the outer planets are spread across a huge, mostly empty distance.</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24"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DID YOU NOTICE?</a:t>
            </a:r>
            <a:endParaRPr b="0" lang="en-US" sz="1700" spc="-1" strike="noStrike">
              <a:solidFill>
                <a:srgbClr val="000000"/>
              </a:solidFill>
              <a:latin typeface="Arial"/>
            </a:endParaRPr>
          </a:p>
        </p:txBody>
      </p:sp>
      <p:sp>
        <p:nvSpPr>
          <p:cNvPr id="126"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Why This Matters</a:t>
            </a:r>
            <a:endParaRPr b="0" lang="en-US" sz="3400" spc="-1" strike="noStrike">
              <a:solidFill>
                <a:srgbClr val="000000"/>
              </a:solidFill>
              <a:latin typeface="Arial"/>
            </a:endParaRPr>
          </a:p>
        </p:txBody>
      </p:sp>
      <p:sp>
        <p:nvSpPr>
          <p:cNvPr id="127" name="TextBox 4"/>
          <p:cNvSpPr/>
          <p:nvPr/>
        </p:nvSpPr>
        <p:spPr>
          <a:xfrm>
            <a:off x="731520" y="1920240"/>
            <a:ext cx="10606320" cy="13492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200" spc="-1" strike="noStrike">
                <a:solidFill>
                  <a:srgbClr val="222233"/>
                </a:solidFill>
                <a:latin typeface="Arial"/>
              </a:rPr>
              <a:t>⬤  </a:t>
            </a:r>
            <a:r>
              <a:rPr b="0" lang="en-US" sz="2200" spc="-1" strike="noStrike">
                <a:solidFill>
                  <a:srgbClr val="222233"/>
                </a:solidFill>
                <a:latin typeface="Arial"/>
              </a:rPr>
              <a:t>The four rocky planets (Mercury-Mars) are all bunched close to the Sun.</a:t>
            </a:r>
            <a:endParaRPr b="0" lang="en-US" sz="2200" spc="-1" strike="noStrike">
              <a:solidFill>
                <a:srgbClr val="000000"/>
              </a:solidFill>
              <a:latin typeface="Arial"/>
            </a:endParaRPr>
          </a:p>
          <a:p>
            <a:pPr defTabSz="457200">
              <a:lnSpc>
                <a:spcPct val="100000"/>
              </a:lnSpc>
              <a:spcAft>
                <a:spcPts val="1001"/>
              </a:spcAft>
            </a:pPr>
            <a:r>
              <a:rPr b="0" lang="en-US" sz="2200" spc="-1" strike="noStrike">
                <a:solidFill>
                  <a:srgbClr val="222233"/>
                </a:solidFill>
                <a:latin typeface="Arial"/>
              </a:rPr>
              <a:t>⬤  </a:t>
            </a:r>
            <a:r>
              <a:rPr b="0" lang="en-US" sz="2200" spc="-1" strike="noStrike">
                <a:solidFill>
                  <a:srgbClr val="222233"/>
                </a:solidFill>
                <a:latin typeface="Arial"/>
              </a:rPr>
              <a:t>The four gas giants (Jupiter-Neptune) are spread across vastly bigger distances.</a:t>
            </a:r>
            <a:endParaRPr b="0" lang="en-US" sz="2200" spc="-1" strike="noStrike">
              <a:solidFill>
                <a:srgbClr val="000000"/>
              </a:solidFill>
              <a:latin typeface="Arial"/>
            </a:endParaRPr>
          </a:p>
          <a:p>
            <a:pPr defTabSz="457200">
              <a:lnSpc>
                <a:spcPct val="100000"/>
              </a:lnSpc>
              <a:spcAft>
                <a:spcPts val="1001"/>
              </a:spcAft>
            </a:pPr>
            <a:r>
              <a:rPr b="0" lang="en-US" sz="2200" spc="-1" strike="noStrike">
                <a:solidFill>
                  <a:srgbClr val="222233"/>
                </a:solidFill>
                <a:latin typeface="Arial"/>
              </a:rPr>
              <a:t>⬤  </a:t>
            </a:r>
            <a:r>
              <a:rPr b="0" lang="en-US" sz="2200" spc="-1" strike="noStrike">
                <a:solidFill>
                  <a:srgbClr val="222233"/>
                </a:solidFill>
                <a:latin typeface="Arial"/>
              </a:rPr>
              <a:t>Space is almost entirely empty — even within our own "small" Solar System.</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28"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HANDS-ON ACTIVITY</a:t>
            </a:r>
            <a:endParaRPr b="0" lang="en-US" sz="1700" spc="-1" strike="noStrike">
              <a:solidFill>
                <a:srgbClr val="000000"/>
              </a:solidFill>
              <a:latin typeface="Arial"/>
            </a:endParaRPr>
          </a:p>
        </p:txBody>
      </p:sp>
      <p:sp>
        <p:nvSpPr>
          <p:cNvPr id="130"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The Cosmic Calendar</a:t>
            </a:r>
            <a:endParaRPr b="0" lang="en-US" sz="3400" spc="-1" strike="noStrike">
              <a:solidFill>
                <a:srgbClr val="000000"/>
              </a:solidFill>
              <a:latin typeface="Arial"/>
            </a:endParaRPr>
          </a:p>
        </p:txBody>
      </p:sp>
      <p:sp>
        <p:nvSpPr>
          <p:cNvPr id="131" name="TextBox 4"/>
          <p:cNvSpPr/>
          <p:nvPr/>
        </p:nvSpPr>
        <p:spPr>
          <a:xfrm>
            <a:off x="731520" y="1920240"/>
            <a:ext cx="10606320" cy="109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200" spc="-1" strike="noStrike">
                <a:solidFill>
                  <a:srgbClr val="222233"/>
                </a:solidFill>
                <a:latin typeface="Arial"/>
              </a:rPr>
              <a:t>⬤  </a:t>
            </a:r>
            <a:r>
              <a:rPr b="0" lang="en-US" sz="2200" spc="-1" strike="noStrike">
                <a:solidFill>
                  <a:srgbClr val="222233"/>
                </a:solidFill>
                <a:latin typeface="Arial"/>
              </a:rPr>
              <a:t>The universe is 13.8 billion years old. That's such a huge number it's almost meaningless — so let's squeeze the ENTIRE history of the universe into a single calendar year and see where things land.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32"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HANDS-ON ACTIVITY</a:t>
            </a:r>
            <a:endParaRPr b="0" lang="en-US" sz="1700" spc="-1" strike="noStrike">
              <a:solidFill>
                <a:srgbClr val="000000"/>
              </a:solidFill>
              <a:latin typeface="Arial"/>
            </a:endParaRPr>
          </a:p>
        </p:txBody>
      </p:sp>
      <p:sp>
        <p:nvSpPr>
          <p:cNvPr id="134"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One Year, All of Time</a:t>
            </a:r>
            <a:endParaRPr b="0" lang="en-US" sz="3400" spc="-1" strike="noStrike">
              <a:solidFill>
                <a:srgbClr val="000000"/>
              </a:solidFill>
              <a:latin typeface="Arial"/>
            </a:endParaRPr>
          </a:p>
        </p:txBody>
      </p:sp>
      <p:graphicFrame>
        <p:nvGraphicFramePr>
          <p:cNvPr id="135" name="Table 4"/>
          <p:cNvGraphicFramePr/>
          <p:nvPr/>
        </p:nvGraphicFramePr>
        <p:xfrm>
          <a:off x="731520" y="1691640"/>
          <a:ext cx="10606680" cy="4572000"/>
        </p:xfrm>
        <a:graphic>
          <a:graphicData uri="http://schemas.openxmlformats.org/drawingml/2006/table">
            <a:tbl>
              <a:tblPr/>
              <a:tblGrid>
                <a:gridCol w="3840480"/>
                <a:gridCol w="2926080"/>
                <a:gridCol w="3840480"/>
              </a:tblGrid>
              <a:tr h="457200">
                <a:tc>
                  <a:txBody>
                    <a:bodyPr anchor="ctr">
                      <a:noAutofit/>
                    </a:bodyPr>
                    <a:p>
                      <a:pPr algn="ctr" defTabSz="457200">
                        <a:lnSpc>
                          <a:spcPct val="100000"/>
                        </a:lnSpc>
                      </a:pPr>
                      <a:r>
                        <a:rPr b="1" lang="en-US" sz="1400" spc="-1" strike="noStrike">
                          <a:solidFill>
                            <a:srgbClr val="ffffff"/>
                          </a:solidFill>
                          <a:latin typeface="Arial"/>
                        </a:rPr>
                        <a:t>Event</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c>
                  <a:txBody>
                    <a:bodyPr anchor="ctr">
                      <a:noAutofit/>
                    </a:bodyPr>
                    <a:p>
                      <a:pPr algn="ctr" defTabSz="457200">
                        <a:lnSpc>
                          <a:spcPct val="100000"/>
                        </a:lnSpc>
                      </a:pPr>
                      <a:r>
                        <a:rPr b="1" lang="en-US" sz="1400" spc="-1" strike="noStrike">
                          <a:solidFill>
                            <a:srgbClr val="ffffff"/>
                          </a:solidFill>
                          <a:latin typeface="Arial"/>
                        </a:rPr>
                        <a:t>Real time ago</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c>
                  <a:txBody>
                    <a:bodyPr anchor="ctr">
                      <a:noAutofit/>
                    </a:bodyPr>
                    <a:p>
                      <a:pPr algn="ctr" defTabSz="457200">
                        <a:lnSpc>
                          <a:spcPct val="100000"/>
                        </a:lnSpc>
                      </a:pPr>
                      <a:r>
                        <a:rPr b="1" lang="en-US" sz="1400" spc="-1" strike="noStrike">
                          <a:solidFill>
                            <a:srgbClr val="ffffff"/>
                          </a:solidFill>
                          <a:latin typeface="Arial"/>
                        </a:rPr>
                        <a:t>On the Cosmic Calendar</a:t>
                      </a:r>
                      <a:endParaRPr b="0" lang="en-US" sz="1400" spc="-1" strike="noStrike">
                        <a:solidFill>
                          <a:srgbClr val="ffffff"/>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5b6ee1"/>
                    </a:solidFill>
                  </a:tcPr>
                </a:tc>
              </a:tr>
              <a:tr h="457200">
                <a:tc>
                  <a:txBody>
                    <a:bodyPr anchor="ctr">
                      <a:noAutofit/>
                    </a:bodyPr>
                    <a:p>
                      <a:pPr algn="ctr" defTabSz="457200">
                        <a:lnSpc>
                          <a:spcPct val="100000"/>
                        </a:lnSpc>
                      </a:pPr>
                      <a:r>
                        <a:rPr b="0" lang="en-US" sz="1300" spc="-1" strike="noStrike">
                          <a:solidFill>
                            <a:srgbClr val="222233"/>
                          </a:solidFill>
                          <a:latin typeface="Arial"/>
                        </a:rPr>
                        <a:t>Big Bang</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13.8 billion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1 January, 00:00</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First stars &amp; galaxies form</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~13.4 billion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mid-January</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Milky Way takes shape</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~13 billion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March</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Our Sun &amp; Solar System form</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4.6 billion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31 August</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Earth forms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4.5 billion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1 September</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First simple life appears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~3.8 billion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21 September</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Dinosaurs go extinct</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66 million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30 December</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First humans appear</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~300,000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31 Dec, 11:52 pm</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anchor="ctr">
                      <a:noAutofit/>
                    </a:bodyPr>
                    <a:p>
                      <a:pPr algn="ctr" defTabSz="457200">
                        <a:lnSpc>
                          <a:spcPct val="100000"/>
                        </a:lnSpc>
                      </a:pPr>
                      <a:r>
                        <a:rPr b="0" lang="en-US" sz="1300" spc="-1" strike="noStrike">
                          <a:solidFill>
                            <a:srgbClr val="222233"/>
                          </a:solidFill>
                          <a:latin typeface="Arial"/>
                        </a:rPr>
                        <a:t>All of recorded human history</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a few thousand years</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nchor="ctr">
                      <a:noAutofit/>
                    </a:bodyPr>
                    <a:p>
                      <a:pPr algn="ctr" defTabSz="457200">
                        <a:lnSpc>
                          <a:spcPct val="100000"/>
                        </a:lnSpc>
                      </a:pPr>
                      <a:r>
                        <a:rPr b="0" lang="en-US" sz="1300" spc="-1" strike="noStrike">
                          <a:solidFill>
                            <a:srgbClr val="222233"/>
                          </a:solidFill>
                          <a:latin typeface="Arial"/>
                        </a:rPr>
                        <a:t>the last seconds of 31 Dec</a:t>
                      </a:r>
                      <a:endParaRPr b="0" lang="en-US" sz="13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
          <p:cNvSpPr txBox="1"/>
          <p:nvPr/>
        </p:nvSpPr>
        <p:spPr>
          <a:xfrm>
            <a:off x="685800" y="3263760"/>
            <a:ext cx="10515600" cy="883080"/>
          </a:xfrm>
          <a:prstGeom prst="rect">
            <a:avLst/>
          </a:prstGeom>
          <a:noFill/>
          <a:ln w="0">
            <a:noFill/>
          </a:ln>
        </p:spPr>
        <p:txBody>
          <a:bodyPr lIns="90000" rIns="90000" tIns="45000" bIns="45000" anchor="t">
            <a:noAutofit/>
          </a:bodyPr>
          <a:p>
            <a:r>
              <a:rPr b="0" lang="en-US" sz="2800" spc="-1" strike="noStrike">
                <a:solidFill>
                  <a:srgbClr val="000000"/>
                </a:solidFill>
                <a:latin typeface="Arial"/>
              </a:rPr>
              <a:t>https://www.youtube.com/watch?v=rXER39AEE9k</a:t>
            </a:r>
            <a:endParaRPr b="0" lang="en-US" sz="2800" spc="-1" strike="noStrike">
              <a:solidFill>
                <a:srgbClr val="000000"/>
              </a:solidFill>
              <a:latin typeface="Arial"/>
            </a:endParaRPr>
          </a:p>
        </p:txBody>
      </p:sp>
      <p:sp>
        <p:nvSpPr>
          <p:cNvPr id="137" name=""/>
          <p:cNvSpPr txBox="1"/>
          <p:nvPr/>
        </p:nvSpPr>
        <p:spPr>
          <a:xfrm>
            <a:off x="1143000" y="685800"/>
            <a:ext cx="7772400" cy="914400"/>
          </a:xfrm>
          <a:prstGeom prst="rect">
            <a:avLst/>
          </a:prstGeom>
          <a:noFill/>
          <a:ln w="0">
            <a:noFill/>
          </a:ln>
        </p:spPr>
        <p:txBody>
          <a:bodyPr lIns="90000" rIns="90000" tIns="45000" bIns="45000" anchor="t">
            <a:noAutofit/>
          </a:bodyPr>
          <a:p>
            <a:r>
              <a:rPr b="0" lang="en-US" sz="1800" spc="-1" strike="noStrike">
                <a:solidFill>
                  <a:srgbClr val="000000"/>
                </a:solidFill>
                <a:latin typeface="Arial"/>
              </a:rPr>
              <a:t>Let’s watch how it started: THE BIG BANG THEORY</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38"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9"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HANDS-ON ACTIVITY HOMEWORK</a:t>
            </a:r>
            <a:endParaRPr b="0" lang="en-US" sz="1700" spc="-1" strike="noStrike">
              <a:solidFill>
                <a:srgbClr val="000000"/>
              </a:solidFill>
              <a:latin typeface="Arial"/>
            </a:endParaRPr>
          </a:p>
        </p:txBody>
      </p:sp>
      <p:sp>
        <p:nvSpPr>
          <p:cNvPr id="140"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Your Timeline</a:t>
            </a:r>
            <a:endParaRPr b="0" lang="en-US" sz="3400" spc="-1" strike="noStrike">
              <a:solidFill>
                <a:srgbClr val="000000"/>
              </a:solidFill>
              <a:latin typeface="Arial"/>
            </a:endParaRPr>
          </a:p>
        </p:txBody>
      </p:sp>
      <p:sp>
        <p:nvSpPr>
          <p:cNvPr id="141" name="TextBox 4"/>
          <p:cNvSpPr/>
          <p:nvPr/>
        </p:nvSpPr>
        <p:spPr>
          <a:xfrm>
            <a:off x="731520" y="1920240"/>
            <a:ext cx="10606320" cy="1436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Draw a straight line across your page. Label the left end 'Big Bang — 13.8 billion years ago' and the right end 'Today.'</a:t>
            </a:r>
            <a:endParaRPr b="0" lang="en-US" sz="2000" spc="-1" strike="noStrike">
              <a:solidFill>
                <a:srgbClr val="000000"/>
              </a:solidFill>
              <a:latin typeface="Arial"/>
            </a:endParaRPr>
          </a:p>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Now mark where these four events belong: the Sun/Solar System forming, Earth forming, the first life appearing, and the first humans appearing.</a:t>
            </a:r>
            <a:endParaRPr b="0" lang="en-US" sz="2000" spc="-1" strike="noStrike">
              <a:solidFill>
                <a:srgbClr val="000000"/>
              </a:solidFill>
              <a:latin typeface="Arial"/>
            </a:endParaRPr>
          </a:p>
        </p:txBody>
      </p:sp>
      <p:sp>
        <p:nvSpPr>
          <p:cNvPr id="142" name="Rounded Rectangle 5"/>
          <p:cNvSpPr/>
          <p:nvPr/>
        </p:nvSpPr>
        <p:spPr>
          <a:xfrm>
            <a:off x="731520" y="4114800"/>
            <a:ext cx="10606320" cy="1462320"/>
          </a:xfrm>
          <a:prstGeom prst="roundRect">
            <a:avLst>
              <a:gd name="adj" fmla="val 16667"/>
            </a:avLst>
          </a:prstGeom>
          <a:solidFill>
            <a:srgbClr val="ffffff"/>
          </a:solidFill>
          <a:ln w="19050">
            <a:solidFill>
              <a:srgbClr val="06d6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3" name="TextBox 6"/>
          <p:cNvSpPr/>
          <p:nvPr/>
        </p:nvSpPr>
        <p:spPr>
          <a:xfrm>
            <a:off x="914400" y="4251960"/>
            <a:ext cx="10240560" cy="363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800" spc="-1" strike="noStrike">
                <a:solidFill>
                  <a:srgbClr val="06d6a0"/>
                </a:solidFill>
                <a:latin typeface="Arial"/>
              </a:rPr>
              <a:t>Punchline</a:t>
            </a:r>
            <a:endParaRPr b="0" lang="en-US" sz="1800" spc="-1" strike="noStrike">
              <a:solidFill>
                <a:srgbClr val="000000"/>
              </a:solidFill>
              <a:latin typeface="Arial"/>
            </a:endParaRPr>
          </a:p>
        </p:txBody>
      </p:sp>
      <p:sp>
        <p:nvSpPr>
          <p:cNvPr id="144" name="TextBox 7"/>
          <p:cNvSpPr/>
          <p:nvPr/>
        </p:nvSpPr>
        <p:spPr>
          <a:xfrm>
            <a:off x="914400" y="4663440"/>
            <a:ext cx="10240560" cy="6685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900" spc="-1" strike="noStrike">
                <a:solidFill>
                  <a:srgbClr val="222233"/>
                </a:solidFill>
                <a:latin typeface="Arial"/>
              </a:rPr>
              <a:t>Notice how almost nothing happens for most of the line — and then everything we would call 'history' is squeezed into a tiny sliver at the very end.</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45"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6"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CLASS DISCUSSION</a:t>
            </a:r>
            <a:endParaRPr b="0" lang="en-US" sz="1700" spc="-1" strike="noStrike">
              <a:solidFill>
                <a:srgbClr val="000000"/>
              </a:solidFill>
              <a:latin typeface="Arial"/>
            </a:endParaRPr>
          </a:p>
        </p:txBody>
      </p:sp>
      <p:sp>
        <p:nvSpPr>
          <p:cNvPr id="147"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Earth-Centred or Sun-Centred?</a:t>
            </a:r>
            <a:endParaRPr b="0" lang="en-US" sz="3400" spc="-1" strike="noStrike">
              <a:solidFill>
                <a:srgbClr val="000000"/>
              </a:solidFill>
              <a:latin typeface="Arial"/>
            </a:endParaRPr>
          </a:p>
        </p:txBody>
      </p:sp>
      <p:sp>
        <p:nvSpPr>
          <p:cNvPr id="148" name="TextBox 4"/>
          <p:cNvSpPr/>
          <p:nvPr/>
        </p:nvSpPr>
        <p:spPr>
          <a:xfrm>
            <a:off x="731520" y="1920240"/>
            <a:ext cx="10606320" cy="2173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For most of human history, almost everyone — including brilliant scientists — believed Earth was the centre of everything, with the Sun, Moon, and stars all circling around us. This was called the geocentric model.</a:t>
            </a: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We now know the heliocentric model is correct: Earth and the other planets orbit the Sun. Let's look at the evidence, the same way scientists had to.</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49" name="Rectangle 8"/>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0" name="TextBox 24"/>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CLASS DISCUSSION</a:t>
            </a:r>
            <a:endParaRPr b="0" lang="en-US" sz="1700" spc="-1" strike="noStrike">
              <a:solidFill>
                <a:srgbClr val="000000"/>
              </a:solidFill>
              <a:latin typeface="Arial"/>
            </a:endParaRPr>
          </a:p>
        </p:txBody>
      </p:sp>
      <p:sp>
        <p:nvSpPr>
          <p:cNvPr id="151" name="TextBox 49"/>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Talk It Through</a:t>
            </a:r>
            <a:endParaRPr b="0" lang="en-US" sz="3400" spc="-1" strike="noStrike">
              <a:solidFill>
                <a:srgbClr val="000000"/>
              </a:solidFill>
              <a:latin typeface="Arial"/>
            </a:endParaRPr>
          </a:p>
        </p:txBody>
      </p:sp>
      <p:sp>
        <p:nvSpPr>
          <p:cNvPr id="152" name="TextBox 50"/>
          <p:cNvSpPr/>
          <p:nvPr/>
        </p:nvSpPr>
        <p:spPr>
          <a:xfrm>
            <a:off x="731520" y="1920240"/>
            <a:ext cx="10606320" cy="2732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Before Galileo's telescope, was it unreasonable for people to believe in geocentrism? Why or why not?</a:t>
            </a: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Which of Galileo's four observations do you find the most convincing, and why?</a:t>
            </a: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Can you think of a modern example where something "looks" obviously true — the way the Sun circling us looked true — but turns out not to be?</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53"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 name="TextBox 3"/>
          <p:cNvSpPr/>
          <p:nvPr/>
        </p:nvSpPr>
        <p:spPr>
          <a:xfrm>
            <a:off x="731520" y="822960"/>
            <a:ext cx="10514880" cy="607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800" spc="-1" strike="noStrike">
              <a:solidFill>
                <a:srgbClr val="000000"/>
              </a:solidFill>
              <a:latin typeface="Arial"/>
            </a:endParaRPr>
          </a:p>
        </p:txBody>
      </p:sp>
      <p:sp>
        <p:nvSpPr>
          <p:cNvPr id="155" name="TextBox 4"/>
          <p:cNvSpPr/>
          <p:nvPr/>
        </p:nvSpPr>
        <p:spPr>
          <a:xfrm>
            <a:off x="228600" y="36000"/>
            <a:ext cx="10606320" cy="1563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Before Galileo's telescope, was it unreasonable for people to believe in geocentrism? Why or why not?</a:t>
            </a: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p:txBody>
      </p:sp>
      <p:sp>
        <p:nvSpPr>
          <p:cNvPr id="156" name=""/>
          <p:cNvSpPr/>
          <p:nvPr/>
        </p:nvSpPr>
        <p:spPr>
          <a:xfrm>
            <a:off x="228600" y="4002480"/>
            <a:ext cx="11201040" cy="2855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Arial"/>
              </a:rPr>
              <a:t>The Evidence of the Senses: To the naked eye, the Earth feels completely still while the Sun, Moon, and stars visibly move across the sky every day.</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The Lack of "Wind": People believed that if the Earth were spinning rapidly, objects thrown straight up would land far away, and we would feel a constant, violent rushing wind.</a:t>
            </a:r>
            <a:endParaRPr b="0" lang="en-US" sz="1800" spc="-1" strike="noStrike">
              <a:solidFill>
                <a:srgbClr val="000000"/>
              </a:solidFill>
              <a:latin typeface="Arial"/>
            </a:endParaRPr>
          </a:p>
          <a:p>
            <a:pPr>
              <a:lnSpc>
                <a:spcPct val="100000"/>
              </a:lnSpc>
            </a:pPr>
            <a:r>
              <a:rPr b="0" lang="en-US" sz="1800" spc="-1" strike="noStrike">
                <a:solidFill>
                  <a:srgbClr val="000000"/>
                </a:solidFill>
                <a:latin typeface="Arial"/>
              </a:rPr>
              <a:t>The Stellar Parallax Problem: If the Earth traveled around the Sun, the positions of the stars should visibly shift. Because the stars are too far away for the naked eye to see this shift, astronomers assumed the Earth wasn't moving.</a:t>
            </a:r>
            <a:endParaRPr b="0" lang="en-US" sz="18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157" name="" descr=""/>
          <p:cNvPicPr/>
          <p:nvPr/>
        </p:nvPicPr>
        <p:blipFill>
          <a:blip r:embed="rId1"/>
          <a:stretch/>
        </p:blipFill>
        <p:spPr>
          <a:xfrm>
            <a:off x="4114800" y="439560"/>
            <a:ext cx="2954160" cy="344628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58" name="Rectangle 7"/>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59" name="TextBox 23"/>
          <p:cNvSpPr/>
          <p:nvPr/>
        </p:nvSpPr>
        <p:spPr>
          <a:xfrm>
            <a:off x="457200" y="228600"/>
            <a:ext cx="10606320" cy="1258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Which of Galileo's four observations do you find the most convincing, and why?</a:t>
            </a: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a:p>
            <a:pPr defTabSz="457200">
              <a:lnSpc>
                <a:spcPct val="100000"/>
              </a:lnSpc>
              <a:spcAft>
                <a:spcPts val="1001"/>
              </a:spcAft>
            </a:pPr>
            <a:endParaRPr b="0" lang="en-US" sz="2000" spc="-1" strike="noStrike">
              <a:solidFill>
                <a:srgbClr val="000000"/>
              </a:solidFill>
              <a:latin typeface="Arial"/>
            </a:endParaRPr>
          </a:p>
        </p:txBody>
      </p:sp>
      <p:sp>
        <p:nvSpPr>
          <p:cNvPr id="160" name=""/>
          <p:cNvSpPr/>
          <p:nvPr/>
        </p:nvSpPr>
        <p:spPr>
          <a:xfrm>
            <a:off x="1143000" y="3886200"/>
            <a:ext cx="7984800" cy="2417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Arial"/>
              </a:rPr>
              <a:t>The Old Idea: People believed Venus always stayed between the Earth and the Sun, meaning we should only ever see it as a thin crescent.</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rPr>
              <a:t>Galileo's Discovery: He saw that Venus goes through a full set of phases—just like the Moon—including a "full" phase.</a:t>
            </a:r>
            <a:endParaRPr b="0" lang="en-US" sz="1600" spc="-1" strike="noStrike">
              <a:solidFill>
                <a:srgbClr val="000000"/>
              </a:solidFill>
              <a:latin typeface="Arial"/>
            </a:endParaRPr>
          </a:p>
          <a:p>
            <a:pPr>
              <a:lnSpc>
                <a:spcPct val="100000"/>
              </a:lnSpc>
            </a:pPr>
            <a:r>
              <a:rPr b="0" lang="en-US" sz="1600" spc="-1" strike="noStrike">
                <a:solidFill>
                  <a:srgbClr val="000000"/>
                </a:solidFill>
                <a:latin typeface="Arial"/>
              </a:rPr>
              <a:t>The Proof: Venus could only look "full" if it traveled completely behind the Sun, proving it orbits the Sun, not the Earth.</a:t>
            </a:r>
            <a:endParaRPr b="0" lang="en-US" sz="16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161" name="" descr=""/>
          <p:cNvPicPr/>
          <p:nvPr/>
        </p:nvPicPr>
        <p:blipFill>
          <a:blip r:embed="rId1"/>
          <a:stretch/>
        </p:blipFill>
        <p:spPr>
          <a:xfrm>
            <a:off x="3214800" y="914400"/>
            <a:ext cx="3642840" cy="204876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62" name="Rectangle 4"/>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3" name="TextBox 14"/>
          <p:cNvSpPr/>
          <p:nvPr/>
        </p:nvSpPr>
        <p:spPr>
          <a:xfrm>
            <a:off x="457200" y="214200"/>
            <a:ext cx="10606320" cy="699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1001"/>
              </a:spcAft>
            </a:pPr>
            <a:r>
              <a:rPr b="0" lang="en-US" sz="2000" spc="-1" strike="noStrike">
                <a:solidFill>
                  <a:srgbClr val="222233"/>
                </a:solidFill>
                <a:latin typeface="Arial"/>
              </a:rPr>
              <a:t>⬤  </a:t>
            </a:r>
            <a:r>
              <a:rPr b="0" lang="en-US" sz="2000" spc="-1" strike="noStrike">
                <a:solidFill>
                  <a:srgbClr val="222233"/>
                </a:solidFill>
                <a:latin typeface="Arial"/>
              </a:rPr>
              <a:t>Can you think of a modern example where something "looks" obviously true — the way the Sun circling us looked true — but turns out not to be?</a:t>
            </a:r>
            <a:endParaRPr b="0" lang="en-US" sz="2000" spc="-1" strike="noStrike">
              <a:solidFill>
                <a:srgbClr val="000000"/>
              </a:solidFill>
              <a:latin typeface="Arial"/>
            </a:endParaRPr>
          </a:p>
        </p:txBody>
      </p:sp>
      <p:sp>
        <p:nvSpPr>
          <p:cNvPr id="164" name=""/>
          <p:cNvSpPr/>
          <p:nvPr/>
        </p:nvSpPr>
        <p:spPr>
          <a:xfrm>
            <a:off x="311400" y="3781440"/>
            <a:ext cx="12032640" cy="28476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100" spc="-1" strike="noStrike">
                <a:solidFill>
                  <a:srgbClr val="000000"/>
                </a:solidFill>
                <a:latin typeface="Arial"/>
              </a:rPr>
              <a:t>A movie playing on a screen.</a:t>
            </a:r>
            <a:endParaRPr b="0" lang="en-US" sz="2100" spc="-1" strike="noStrike">
              <a:solidFill>
                <a:srgbClr val="000000"/>
              </a:solidFill>
              <a:latin typeface="Arial"/>
            </a:endParaRPr>
          </a:p>
          <a:p>
            <a:pPr>
              <a:lnSpc>
                <a:spcPct val="100000"/>
              </a:lnSpc>
            </a:pPr>
            <a:r>
              <a:rPr b="0" lang="en-US" sz="2100" spc="-1" strike="noStrike">
                <a:solidFill>
                  <a:srgbClr val="000000"/>
                </a:solidFill>
                <a:latin typeface="Arial"/>
              </a:rPr>
              <a:t>The Illusion: When you watch a movie, you see smooth, continuous motion—like a car driving or a person running.</a:t>
            </a:r>
            <a:endParaRPr b="0" lang="en-US" sz="2100" spc="-1" strike="noStrike">
              <a:solidFill>
                <a:srgbClr val="000000"/>
              </a:solidFill>
              <a:latin typeface="Arial"/>
            </a:endParaRPr>
          </a:p>
          <a:p>
            <a:pPr>
              <a:lnSpc>
                <a:spcPct val="100000"/>
              </a:lnSpc>
            </a:pPr>
            <a:r>
              <a:rPr b="0" lang="en-US" sz="2100" spc="-1" strike="noStrike">
                <a:solidFill>
                  <a:srgbClr val="000000"/>
                </a:solidFill>
                <a:latin typeface="Arial"/>
              </a:rPr>
              <a:t>The Reality: There is no actual movement on the screen. It is just a fast sequence of thousands of still, frozen photographs flashing before your eyes. It only looks alive because your brain cannot process the gaps between the frames.</a:t>
            </a:r>
            <a:endParaRPr b="0" lang="en-US" sz="21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pic>
        <p:nvPicPr>
          <p:cNvPr id="165" name="" descr=""/>
          <p:cNvPicPr/>
          <p:nvPr/>
        </p:nvPicPr>
        <p:blipFill>
          <a:blip r:embed="rId1"/>
          <a:stretch/>
        </p:blipFill>
        <p:spPr>
          <a:xfrm>
            <a:off x="3610440" y="914400"/>
            <a:ext cx="3704400" cy="26661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66" name="Rectangle 5"/>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67" name="TextBox 5"/>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CLASS DISCUSSION</a:t>
            </a:r>
            <a:endParaRPr b="0" lang="en-US" sz="1700" spc="-1" strike="noStrike">
              <a:solidFill>
                <a:srgbClr val="000000"/>
              </a:solidFill>
              <a:latin typeface="Arial"/>
            </a:endParaRPr>
          </a:p>
        </p:txBody>
      </p:sp>
      <p:sp>
        <p:nvSpPr>
          <p:cNvPr id="168" name="TextBox 1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5b6ee1"/>
                </a:solidFill>
                <a:latin typeface="Verdana"/>
              </a:rPr>
              <a:t>The Evidence, Side by Side</a:t>
            </a:r>
            <a:endParaRPr b="0" lang="en-US" sz="3400" spc="-1" strike="noStrike">
              <a:solidFill>
                <a:srgbClr val="000000"/>
              </a:solidFill>
              <a:latin typeface="Arial"/>
            </a:endParaRPr>
          </a:p>
        </p:txBody>
      </p:sp>
      <p:sp>
        <p:nvSpPr>
          <p:cNvPr id="169" name="Rounded Rectangle 3"/>
          <p:cNvSpPr/>
          <p:nvPr/>
        </p:nvSpPr>
        <p:spPr>
          <a:xfrm>
            <a:off x="731520" y="1737360"/>
            <a:ext cx="5211360" cy="4388400"/>
          </a:xfrm>
          <a:prstGeom prst="roundRect">
            <a:avLst>
              <a:gd name="adj" fmla="val 16667"/>
            </a:avLst>
          </a:prstGeom>
          <a:solidFill>
            <a:srgbClr val="ffffff"/>
          </a:solidFill>
          <a:ln w="19050">
            <a:solidFill>
              <a:srgbClr val="ef476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0" name="TextBox 15"/>
          <p:cNvSpPr/>
          <p:nvPr/>
        </p:nvSpPr>
        <p:spPr>
          <a:xfrm>
            <a:off x="914400" y="1874520"/>
            <a:ext cx="4845600" cy="60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A — Why People Believed Earth Was the Centre</a:t>
            </a:r>
            <a:endParaRPr b="0" lang="en-US" sz="1700" spc="-1" strike="noStrike">
              <a:solidFill>
                <a:srgbClr val="000000"/>
              </a:solidFill>
              <a:latin typeface="Arial"/>
            </a:endParaRPr>
          </a:p>
        </p:txBody>
      </p:sp>
      <p:sp>
        <p:nvSpPr>
          <p:cNvPr id="171" name="TextBox 16"/>
          <p:cNvSpPr/>
          <p:nvPr/>
        </p:nvSpPr>
        <p:spPr>
          <a:xfrm>
            <a:off x="914400" y="2971800"/>
            <a:ext cx="4845600" cy="1918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The ground feels completely still — we don't feel ourselves moving.</a:t>
            </a:r>
            <a:endParaRPr b="0" lang="en-US" sz="1500" spc="-1" strike="noStrike">
              <a:solidFill>
                <a:srgbClr val="000000"/>
              </a:solidFill>
              <a:latin typeface="Arial"/>
            </a:endParaRPr>
          </a:p>
          <a:p>
            <a:pPr defTabSz="457200">
              <a:lnSpc>
                <a:spcPct val="100000"/>
              </a:lnSpc>
            </a:pPr>
            <a:endParaRPr b="0" lang="en-US" sz="1500" spc="-1" strike="noStrike">
              <a:solidFill>
                <a:srgbClr val="000000"/>
              </a:solidFill>
              <a:latin typeface="Arial"/>
            </a:endParaRPr>
          </a:p>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Every day, the Sun, Moon, and stars rise in the east and cross the sky, exactly as if circling us.</a:t>
            </a:r>
            <a:endParaRPr b="0" lang="en-US" sz="1500" spc="-1" strike="noStrike">
              <a:solidFill>
                <a:srgbClr val="000000"/>
              </a:solidFill>
              <a:latin typeface="Arial"/>
            </a:endParaRPr>
          </a:p>
          <a:p>
            <a:pPr defTabSz="457200">
              <a:lnSpc>
                <a:spcPct val="100000"/>
              </a:lnSpc>
            </a:pPr>
            <a:endParaRPr b="0" lang="en-US" sz="1500" spc="-1" strike="noStrike">
              <a:solidFill>
                <a:srgbClr val="000000"/>
              </a:solidFill>
              <a:latin typeface="Arial"/>
            </a:endParaRPr>
          </a:p>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For thousands of years, nobody had evidence strong enough to prove otherwise.</a:t>
            </a:r>
            <a:endParaRPr b="0" lang="en-US" sz="1500" spc="-1" strike="noStrike">
              <a:solidFill>
                <a:srgbClr val="000000"/>
              </a:solidFill>
              <a:latin typeface="Arial"/>
            </a:endParaRPr>
          </a:p>
        </p:txBody>
      </p:sp>
      <p:sp>
        <p:nvSpPr>
          <p:cNvPr id="172" name="Rounded Rectangle 4"/>
          <p:cNvSpPr/>
          <p:nvPr/>
        </p:nvSpPr>
        <p:spPr>
          <a:xfrm>
            <a:off x="6309360" y="1737360"/>
            <a:ext cx="5119920" cy="4388400"/>
          </a:xfrm>
          <a:prstGeom prst="roundRect">
            <a:avLst>
              <a:gd name="adj" fmla="val 16667"/>
            </a:avLst>
          </a:prstGeom>
          <a:solidFill>
            <a:srgbClr val="ffffff"/>
          </a:solidFill>
          <a:ln w="19050">
            <a:solidFill>
              <a:srgbClr val="06d6a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nSpc>
                <a:spcPct val="100000"/>
              </a:lnSpc>
            </a:pPr>
            <a:endParaRPr b="0" lang="en-US" sz="1800" spc="-1" strike="noStrike">
              <a:solidFill>
                <a:schemeClr val="lt1"/>
              </a:solidFill>
              <a:latin typeface="Calibri"/>
            </a:endParaRPr>
          </a:p>
        </p:txBody>
      </p:sp>
      <p:sp>
        <p:nvSpPr>
          <p:cNvPr id="173" name="TextBox 17"/>
          <p:cNvSpPr/>
          <p:nvPr/>
        </p:nvSpPr>
        <p:spPr>
          <a:xfrm>
            <a:off x="6492240" y="1874520"/>
            <a:ext cx="4754160" cy="60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06d6a0"/>
                </a:solidFill>
                <a:latin typeface="Arial"/>
              </a:rPr>
              <a:t>B — Galileo's Evidence for the Sun-Centred Model</a:t>
            </a:r>
            <a:endParaRPr b="0" lang="en-US" sz="1700" spc="-1" strike="noStrike">
              <a:solidFill>
                <a:srgbClr val="000000"/>
              </a:solidFill>
              <a:latin typeface="Arial"/>
            </a:endParaRPr>
          </a:p>
        </p:txBody>
      </p:sp>
      <p:sp>
        <p:nvSpPr>
          <p:cNvPr id="174" name="TextBox 18"/>
          <p:cNvSpPr/>
          <p:nvPr/>
        </p:nvSpPr>
        <p:spPr>
          <a:xfrm>
            <a:off x="6629400" y="2743200"/>
            <a:ext cx="4754160" cy="2375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Venus's phases: only make sense if Venus orbits the Sun, not Earth.</a:t>
            </a:r>
            <a:endParaRPr b="0" lang="en-US" sz="1500" spc="-1" strike="noStrike">
              <a:solidFill>
                <a:srgbClr val="000000"/>
              </a:solidFill>
              <a:latin typeface="Arial"/>
            </a:endParaRPr>
          </a:p>
          <a:p>
            <a:pPr defTabSz="457200">
              <a:lnSpc>
                <a:spcPct val="100000"/>
              </a:lnSpc>
            </a:pPr>
            <a:endParaRPr b="0" lang="en-US" sz="1500" spc="-1" strike="noStrike">
              <a:solidFill>
                <a:srgbClr val="000000"/>
              </a:solidFill>
              <a:latin typeface="Arial"/>
            </a:endParaRPr>
          </a:p>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Jupiter's moons: four objects clearly orbiting Jupiter, not Earth.</a:t>
            </a:r>
            <a:endParaRPr b="0" lang="en-US" sz="1500" spc="-1" strike="noStrike">
              <a:solidFill>
                <a:srgbClr val="000000"/>
              </a:solidFill>
              <a:latin typeface="Arial"/>
            </a:endParaRPr>
          </a:p>
          <a:p>
            <a:pPr defTabSz="457200">
              <a:lnSpc>
                <a:spcPct val="100000"/>
              </a:lnSpc>
            </a:pPr>
            <a:endParaRPr b="0" lang="en-US" sz="1500" spc="-1" strike="noStrike">
              <a:solidFill>
                <a:srgbClr val="000000"/>
              </a:solidFill>
              <a:latin typeface="Arial"/>
            </a:endParaRPr>
          </a:p>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The Moon's mountains and craters: a rocky world like Earth.</a:t>
            </a:r>
            <a:endParaRPr b="0" lang="en-US" sz="1500" spc="-1" strike="noStrike">
              <a:solidFill>
                <a:srgbClr val="000000"/>
              </a:solidFill>
              <a:latin typeface="Arial"/>
            </a:endParaRPr>
          </a:p>
          <a:p>
            <a:pPr defTabSz="457200">
              <a:lnSpc>
                <a:spcPct val="100000"/>
              </a:lnSpc>
            </a:pPr>
            <a:endParaRPr b="0" lang="en-US" sz="1500" spc="-1" strike="noStrike">
              <a:solidFill>
                <a:srgbClr val="000000"/>
              </a:solidFill>
              <a:latin typeface="Arial"/>
            </a:endParaRPr>
          </a:p>
          <a:p>
            <a:pPr defTabSz="457200">
              <a:lnSpc>
                <a:spcPct val="100000"/>
              </a:lnSpc>
            </a:pPr>
            <a:r>
              <a:rPr b="0" lang="en-US" sz="1500" spc="-1" strike="noStrike">
                <a:solidFill>
                  <a:srgbClr val="222233"/>
                </a:solidFill>
                <a:latin typeface="Arial"/>
              </a:rPr>
              <a:t>• </a:t>
            </a:r>
            <a:r>
              <a:rPr b="0" lang="en-US" sz="1500" spc="-1" strike="noStrike">
                <a:solidFill>
                  <a:srgbClr val="222233"/>
                </a:solidFill>
                <a:latin typeface="Arial"/>
              </a:rPr>
              <a:t>Sunspots: even the "perfect" Sun has blemishes.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75" name="Rectangle 1"/>
          <p:cNvSpPr/>
          <p:nvPr/>
        </p:nvSpPr>
        <p:spPr>
          <a:xfrm>
            <a:off x="0" y="0"/>
            <a:ext cx="182160" cy="6857280"/>
          </a:xfrm>
          <a:prstGeom prst="rect">
            <a:avLst/>
          </a:prstGeom>
          <a:solidFill>
            <a:srgbClr val="ef47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6"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 </a:t>
            </a:r>
            <a:r>
              <a:rPr b="1" lang="en-US" sz="1700" spc="-1" strike="noStrike">
                <a:solidFill>
                  <a:srgbClr val="ef476f"/>
                </a:solidFill>
                <a:latin typeface="Arial"/>
              </a:rPr>
              <a:t>WE DON'T FORGET</a:t>
            </a:r>
            <a:endParaRPr b="0" lang="en-US" sz="1700" spc="-1" strike="noStrike">
              <a:solidFill>
                <a:srgbClr val="000000"/>
              </a:solidFill>
              <a:latin typeface="Arial"/>
            </a:endParaRPr>
          </a:p>
        </p:txBody>
      </p:sp>
      <p:sp>
        <p:nvSpPr>
          <p:cNvPr id="177"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ef476f"/>
                </a:solidFill>
                <a:latin typeface="Verdana"/>
              </a:rPr>
              <a:t>Our Place in the Universe (So Far)</a:t>
            </a:r>
            <a:endParaRPr b="0" lang="en-US" sz="3400" spc="-1" strike="noStrike">
              <a:solidFill>
                <a:srgbClr val="000000"/>
              </a:solidFill>
              <a:latin typeface="Arial"/>
            </a:endParaRPr>
          </a:p>
        </p:txBody>
      </p:sp>
      <p:sp>
        <p:nvSpPr>
          <p:cNvPr id="178" name="TextBox 4"/>
          <p:cNvSpPr/>
          <p:nvPr/>
        </p:nvSpPr>
        <p:spPr>
          <a:xfrm>
            <a:off x="731520" y="1920240"/>
            <a:ext cx="10606320" cy="3135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Our Solar System has 8 planets, all orbiting the Sun. The four closest (Mercury, Venus, Earth, Mars) are small and rocky; the four farthest (Jupiter, Saturn, Uranus, Neptune) are huge balls of gas.</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A star makes its own light (like our Sun); a planet orbits a star; a moon orbits a planet; an asteroid is a small rocky leftover; a comet is small, icy, and grows a glowing tail near the Sun.</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Earth's spin (rotation, every 24 hours) gives us day and night. Earth's orbit around the Sun (revolution, every 365¼ days) gives us one year.</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Almost all of Earth's energy — sunlight, wind, even the food we eat — ultimately comes from the Sun.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79" name="Rectangle 1"/>
          <p:cNvSpPr/>
          <p:nvPr/>
        </p:nvSpPr>
        <p:spPr>
          <a:xfrm>
            <a:off x="0" y="0"/>
            <a:ext cx="182160" cy="6857280"/>
          </a:xfrm>
          <a:prstGeom prst="rect">
            <a:avLst/>
          </a:prstGeom>
          <a:solidFill>
            <a:srgbClr val="ef476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 name="TextBox 2"/>
          <p:cNvSpPr/>
          <p:nvPr/>
        </p:nvSpPr>
        <p:spPr>
          <a:xfrm>
            <a:off x="731520" y="457200"/>
            <a:ext cx="10514880" cy="348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1700" spc="-1" strike="noStrike">
                <a:solidFill>
                  <a:srgbClr val="ef476f"/>
                </a:solidFill>
                <a:latin typeface="Arial"/>
              </a:rPr>
              <a:t>📌 </a:t>
            </a:r>
            <a:r>
              <a:rPr b="1" lang="en-US" sz="1700" spc="-1" strike="noStrike">
                <a:solidFill>
                  <a:srgbClr val="ef476f"/>
                </a:solidFill>
                <a:latin typeface="Arial"/>
              </a:rPr>
              <a:t>WE DON'T FORGET</a:t>
            </a:r>
            <a:endParaRPr b="0" lang="en-US" sz="1700" spc="-1" strike="noStrike">
              <a:solidFill>
                <a:srgbClr val="000000"/>
              </a:solidFill>
              <a:latin typeface="Arial"/>
            </a:endParaRPr>
          </a:p>
        </p:txBody>
      </p:sp>
      <p:sp>
        <p:nvSpPr>
          <p:cNvPr id="181" name="TextBox 3"/>
          <p:cNvSpPr/>
          <p:nvPr/>
        </p:nvSpPr>
        <p:spPr>
          <a:xfrm>
            <a:off x="731520" y="822960"/>
            <a:ext cx="10514880" cy="607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3400" spc="-1" strike="noStrike">
                <a:solidFill>
                  <a:srgbClr val="ef476f"/>
                </a:solidFill>
                <a:latin typeface="Verdana"/>
              </a:rPr>
              <a:t>Our Place in the Universe (Continued)</a:t>
            </a:r>
            <a:endParaRPr b="0" lang="en-US" sz="3400" spc="-1" strike="noStrike">
              <a:solidFill>
                <a:srgbClr val="000000"/>
              </a:solidFill>
              <a:latin typeface="Arial"/>
            </a:endParaRPr>
          </a:p>
        </p:txBody>
      </p:sp>
      <p:sp>
        <p:nvSpPr>
          <p:cNvPr id="182" name="TextBox 4"/>
          <p:cNvSpPr/>
          <p:nvPr/>
        </p:nvSpPr>
        <p:spPr>
          <a:xfrm>
            <a:off x="731520" y="1920240"/>
            <a:ext cx="10606320" cy="4557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Our Solar System is just one tiny part of the Milky Way galaxy (100+ billion stars), itself just one of hundreds of billions of galaxies in the universe.</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The universe is about 13.8 billion years old, and it is still expanding in every direction, right now.</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About 2,000 years ago, Eratosthenes proved Earth is round and calculated its circumference (about 40,000 km — astonishingly close to the real value of 40,075 km) using nothing but shadows, geometry, and the distance between two Egyptian cities.</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0" lang="en-US" sz="1600" spc="-1" strike="noStrike">
                <a:solidFill>
                  <a:srgbClr val="222233"/>
                </a:solidFill>
                <a:latin typeface="Arial"/>
              </a:rPr>
              <a:t>⬤  </a:t>
            </a:r>
            <a:r>
              <a:rPr b="0" lang="en-US" sz="1600" spc="-1" strike="noStrike">
                <a:solidFill>
                  <a:srgbClr val="222233"/>
                </a:solidFill>
                <a:latin typeface="Arial"/>
              </a:rPr>
              <a:t>In 1609, Galileo Galilei became the first person to study the sky through a telescope. What he saw — the Moon's mountains, Jupiter's four moons, Venus's phases, and sunspots — gave the first real evidence that Earth is NOT the centre of everything; the Sun-centred (heliocentric) model is the correct one.</a:t>
            </a:r>
            <a:endParaRPr b="0" lang="en-US" sz="1600" spc="-1" strike="noStrike">
              <a:solidFill>
                <a:srgbClr val="000000"/>
              </a:solidFill>
              <a:latin typeface="Arial"/>
            </a:endParaRPr>
          </a:p>
          <a:p>
            <a:pPr defTabSz="457200">
              <a:lnSpc>
                <a:spcPct val="100000"/>
              </a:lnSpc>
              <a:spcAft>
                <a:spcPts val="799"/>
              </a:spcAft>
            </a:pPr>
            <a:endParaRPr b="0" lang="en-US" sz="1600" spc="-1" strike="noStrike">
              <a:solidFill>
                <a:srgbClr val="000000"/>
              </a:solidFill>
              <a:latin typeface="Arial"/>
            </a:endParaRPr>
          </a:p>
          <a:p>
            <a:pPr defTabSz="457200">
              <a:lnSpc>
                <a:spcPct val="100000"/>
              </a:lnSpc>
              <a:spcAft>
                <a:spcPts val="799"/>
              </a:spcAft>
            </a:pPr>
            <a:r>
              <a:rPr b="1" lang="en-US" sz="1600" spc="-1" strike="noStrike">
                <a:solidFill>
                  <a:srgbClr val="ef476f"/>
                </a:solidFill>
                <a:latin typeface="Arial"/>
              </a:rPr>
              <a:t>⬤  </a:t>
            </a:r>
            <a:r>
              <a:rPr b="1" lang="en-US" sz="1600" spc="-1" strike="noStrike">
                <a:solidFill>
                  <a:srgbClr val="ef476f"/>
                </a:solidFill>
                <a:latin typeface="Arial"/>
              </a:rPr>
              <a:t>Common mix-up to avoid:</a:t>
            </a:r>
            <a:r>
              <a:rPr b="0" lang="en-US" sz="1600" spc="-1" strike="noStrike">
                <a:solidFill>
                  <a:srgbClr val="222233"/>
                </a:solidFill>
                <a:latin typeface="Arial"/>
              </a:rPr>
              <a:t>  "rotation" and "revolution" sound similar but mean different things — rotation is Earth spinning on itself (day/night); revolution is Earth travelling all the way around the Sun (the year).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df8"/>
        </a:solidFill>
      </p:bgPr>
    </p:bg>
    <p:spTree>
      <p:nvGrpSpPr>
        <p:cNvPr id="1" name=""/>
        <p:cNvGrpSpPr/>
        <p:nvPr/>
      </p:nvGrpSpPr>
      <p:grpSpPr>
        <a:xfrm>
          <a:off x="0" y="0"/>
          <a:ext cx="0" cy="0"/>
          <a:chOff x="0" y="0"/>
          <a:chExt cx="0" cy="0"/>
        </a:xfrm>
      </p:grpSpPr>
      <p:sp>
        <p:nvSpPr>
          <p:cNvPr id="183" name="Rectangle 1"/>
          <p:cNvSpPr/>
          <p:nvPr/>
        </p:nvSpPr>
        <p:spPr>
          <a:xfrm>
            <a:off x="0" y="0"/>
            <a:ext cx="182160" cy="6857280"/>
          </a:xfrm>
          <a:prstGeom prst="rect">
            <a:avLst/>
          </a:prstGeom>
          <a:solidFill>
            <a:srgbClr val="5b6ee1"/>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 name="TextBox 2"/>
          <p:cNvSpPr/>
          <p:nvPr/>
        </p:nvSpPr>
        <p:spPr>
          <a:xfrm>
            <a:off x="731520" y="2560320"/>
            <a:ext cx="10606320" cy="394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000" spc="-1" strike="noStrike">
                <a:solidFill>
                  <a:srgbClr val="ef476f"/>
                </a:solidFill>
                <a:latin typeface="Arial"/>
              </a:rPr>
              <a:t>NEXT TIME...</a:t>
            </a:r>
            <a:endParaRPr b="0" lang="en-US" sz="2000" spc="-1" strike="noStrike">
              <a:solidFill>
                <a:srgbClr val="000000"/>
              </a:solidFill>
              <a:latin typeface="Arial"/>
            </a:endParaRPr>
          </a:p>
        </p:txBody>
      </p:sp>
      <p:sp>
        <p:nvSpPr>
          <p:cNvPr id="185" name="TextBox 3"/>
          <p:cNvSpPr/>
          <p:nvPr/>
        </p:nvSpPr>
        <p:spPr>
          <a:xfrm>
            <a:off x="731520" y="3108960"/>
            <a:ext cx="10606320" cy="12776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1" lang="en-US" sz="2600" spc="-1" strike="noStrike">
                <a:solidFill>
                  <a:srgbClr val="5b6ee1"/>
                </a:solidFill>
                <a:latin typeface="Verdana"/>
              </a:rPr>
              <a:t>We leave the planets behind and dive into Light itself: how it bends when it hits water or glass, and what that has to do with a pencil that looks bent in a glass of water.</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27</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2026-10-19T15:10:18Z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