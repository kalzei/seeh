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A70B51-F628-4ED6-89FE-718A4DCC02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3B7FC7-0EEE-4D90-AE13-3017D2407B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CBE0FA3-C4E2-41C4-A3E9-B62DA3BA80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EF081F6-FAD6-49E7-B2DE-2147BA8C16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3EA2061-6C36-4E21-9E57-731EAC1A9A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9D0C754-3822-403A-BC19-FBAAAC7035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2D8C686-FFD9-45B4-9AFE-60F1C64B63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CE209ED-339C-4A79-A10B-97FDF676EE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39F83A7-36C6-4ADF-927D-D20C2C93DF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EBA166D-E676-46E1-A8ED-A2F517F01A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E91BDF9D-E11D-4D80-8001-AF99C83A57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C58234-3334-40C8-B045-AACDDE35B38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F53E69-9363-44E6-8C7F-98B988593E1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22754F-9866-48BF-9C0B-B82DCD400C2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1C551D-E50A-4779-9708-E0599A7EB69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1014A3-9300-4D6B-BF2C-C6C758C8E94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A35893-D6E7-4080-9836-4A7D2FCACAA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16E786-BD84-4C38-A114-38FB0F12970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B7651A-211F-4CE2-8C45-268CA1F1152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0E4FAE-7701-413C-87F9-BE27EAFFB41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2C5FED-5089-4100-BEB3-6272462E255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E690DF-0C55-426E-848E-66A69ADC4A7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731520" y="1005840"/>
            <a:ext cx="6583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f476f"/>
                </a:solidFill>
                <a:latin typeface="Arial"/>
              </a:rPr>
              <a:t>UNIT 1 · OUR PLACE IN THE UNIVERSE · LESSON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731520" y="1508760"/>
            <a:ext cx="6583320" cy="14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600" spc="-1" strike="noStrike">
                <a:solidFill>
                  <a:srgbClr val="5b6ee1"/>
                </a:solidFill>
                <a:latin typeface="Verdana"/>
              </a:rPr>
              <a:t>Our Cosmic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4600" spc="-1" strike="noStrike">
                <a:solidFill>
                  <a:srgbClr val="5b6ee1"/>
                </a:solidFill>
                <a:latin typeface="Verdana"/>
              </a:rPr>
              <a:t>Address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731520" y="3840480"/>
            <a:ext cx="64004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555566"/>
                </a:solidFill>
                <a:latin typeface="Arial"/>
              </a:rPr>
              <a:t>Planet Earth, Solar System, Milky Way, The Universe.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555566"/>
                </a:solidFill>
                <a:latin typeface="Arial"/>
              </a:rPr>
              <a:t>Where exactly do you live?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Picture 5" descr="cartoon_space.png"/>
          <p:cNvPicPr/>
          <p:nvPr/>
        </p:nvPicPr>
        <p:blipFill>
          <a:blip r:embed="rId1"/>
          <a:stretch/>
        </p:blipFill>
        <p:spPr>
          <a:xfrm>
            <a:off x="7863840" y="731520"/>
            <a:ext cx="3657240" cy="365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731520" y="457200"/>
            <a:ext cx="1051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THE HOOK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731520" y="822960"/>
            <a:ext cx="10515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How Big Is Space, Really?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731520" y="1920240"/>
            <a:ext cx="1051524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⬤  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Imagine the Sun shrunk down to the size of a basketball.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⬤  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On that scale, Earth would be a peppercorn — about 24 metres away.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⬤  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Neptune, the farthest planet, would be nearly three football fields away.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⬤  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And the nearest star beyond our Sun? On this same scale, it would be over 6,700 km away — roughly the distance from here to the other side of the world.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731520" y="457200"/>
            <a:ext cx="1051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THE SOLAR SYSTEM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731520" y="822960"/>
            <a:ext cx="10515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Meet Your Neighbourhood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Picture 4" descr="solar_system.png"/>
          <p:cNvPicPr/>
          <p:nvPr/>
        </p:nvPicPr>
        <p:blipFill>
          <a:blip r:embed="rId1"/>
          <a:stretch/>
        </p:blipFill>
        <p:spPr>
          <a:xfrm>
            <a:off x="274320" y="1828800"/>
            <a:ext cx="11612520" cy="3870720"/>
          </a:xfrm>
          <a:prstGeom prst="rect">
            <a:avLst/>
          </a:prstGeom>
          <a:ln w="0">
            <a:noFill/>
          </a:ln>
        </p:spPr>
      </p:pic>
      <p:sp>
        <p:nvSpPr>
          <p:cNvPr id="80" name="TextBox 5"/>
          <p:cNvSpPr/>
          <p:nvPr/>
        </p:nvSpPr>
        <p:spPr>
          <a:xfrm>
            <a:off x="731520" y="5760720"/>
            <a:ext cx="10515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22233"/>
                </a:solidFill>
                <a:latin typeface="Arial"/>
              </a:rPr>
              <a:t>8 planets orbit the Sun. The closer ones (Mercury–Mars) are small and rocky; the farther ones (Jupiter–Neptune) are huge balls of gas.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731520" y="457200"/>
            <a:ext cx="1051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DEFINITIONS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731520" y="822960"/>
            <a:ext cx="10515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What's a Planet, Anyway?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731520" y="1920240"/>
            <a:ext cx="10515240" cy="38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Star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a giant ball of burning gas that makes its own light. (Our Sun is a star.)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Planet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a large body that orbits a star, and has cleared its orbit of other debris.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Moon (satellite)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a body that orbits a planet, not the Sun directly.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Asteroid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a small, rocky body orbiting the Sun — too small to count as a planet.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Comet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a small, icy body that grows a glowing tail when it passes near the Sun.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731520" y="457200"/>
            <a:ext cx="1051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EARTH IN MOTION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731520" y="822960"/>
            <a:ext cx="10515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Why Do We Have Day and Night?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731520" y="1920240"/>
            <a:ext cx="10515240" cy="24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Rotation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Earth spins on its own axis once every 24 hours.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The result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whichever side faces the Sun has day; the other side has night.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Fun fact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you're moving at about 1,670 km/h right now, just from Earth's spin — you just can't feel it!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731520" y="457200"/>
            <a:ext cx="1051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EARTH IN MOTION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731520" y="822960"/>
            <a:ext cx="10515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Why Do We Have a Year?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731520" y="1920240"/>
            <a:ext cx="10515240" cy="27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Revolution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Earth orbits (travels all the way around) the Sun once every 365¼ days — that's one year.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That extra quarter-day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is why we add a leap day every 4 years (29 February).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Coming up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if Earth's axis is tilted while it orbits... what does that do to our seasons? We'll find out next lesson.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731520" y="457200"/>
            <a:ext cx="1051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POWERING IT ALL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731520" y="822960"/>
            <a:ext cx="10515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The Sun: Our Energy Source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731520" y="1920240"/>
            <a:ext cx="7131960" cy="30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⬤  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Almost all the energy on Earth — sunlight, wind, the food you eat — traces back to the Sun.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⬤  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The Sun is so large that about 1.3 million Earths could fit inside it.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⬤  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It's been shining for about 4.6 billion years, and has enough fuel left to keep going for billions more.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Picture 5" descr="sun_real.png"/>
          <p:cNvPicPr/>
          <p:nvPr/>
        </p:nvPicPr>
        <p:blipFill>
          <a:blip r:embed="rId1"/>
          <a:stretch/>
        </p:blipFill>
        <p:spPr>
          <a:xfrm>
            <a:off x="8229600" y="1737360"/>
            <a:ext cx="3291480" cy="298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731520" y="457200"/>
            <a:ext cx="1051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HOW DOES IT REACH US?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731520" y="822960"/>
            <a:ext cx="10515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From Fusion to Your Skin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731520" y="1920240"/>
            <a:ext cx="10515240" cy="334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Deep inside: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the Sun makes its energy through nuclear fusion — tiny particles smashing together under incredible heat and pressure, deep in its core.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The journey: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that energy takes about 8⅓ minutes to cross the 150 million km to Earth, travelling as light at the speed of light itself.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The solar wind: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besides light, the Sun also blasts out a stream of particles called the solar wind — it's what causes auroras (the “northern lights”) when it hits Earth's atmosphere.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06d6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731520" y="457200"/>
            <a:ext cx="1051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DID YOU KNOW?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731520" y="822960"/>
            <a:ext cx="10515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6d6a0"/>
                </a:solidFill>
                <a:latin typeface="Verdana"/>
              </a:rPr>
              <a:t>Zooming All the Way Out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731520" y="1920240"/>
            <a:ext cx="7406280" cy="30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⬤  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Our Solar System is just one tiny speck in the Milky Way galaxy, which has over 100 billion stars.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⬤  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And the Milky Way is just one of hundreds of billions of galaxies in the universe.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⬤  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The universe itself is about 13.8 billion years old — and it's still expanding, right now, in every direction.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Picture 5" descr="milkyway.png"/>
          <p:cNvPicPr/>
          <p:nvPr/>
        </p:nvPicPr>
        <p:blipFill>
          <a:blip r:embed="rId1"/>
          <a:stretch/>
        </p:blipFill>
        <p:spPr>
          <a:xfrm>
            <a:off x="8503920" y="1463040"/>
            <a:ext cx="3017160" cy="2431080"/>
          </a:xfrm>
          <a:prstGeom prst="rect">
            <a:avLst/>
          </a:prstGeom>
          <a:ln w="0">
            <a:noFill/>
          </a:ln>
        </p:spPr>
      </p:pic>
      <p:pic>
        <p:nvPicPr>
          <p:cNvPr id="107" name="Picture 6" descr="universe_hubble.png"/>
          <p:cNvPicPr/>
          <p:nvPr/>
        </p:nvPicPr>
        <p:blipFill>
          <a:blip r:embed="rId2"/>
          <a:stretch/>
        </p:blipFill>
        <p:spPr>
          <a:xfrm>
            <a:off x="8503920" y="3931920"/>
            <a:ext cx="3017160" cy="2431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ef476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731520" y="457200"/>
            <a:ext cx="1051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DID YOU KNOW? (PART 2)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731520" y="822960"/>
            <a:ext cx="10515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ef476f"/>
                </a:solidFill>
                <a:latin typeface="Verdana"/>
              </a:rPr>
              <a:t>Even More Mind-Blowing Facts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731520" y="1920240"/>
            <a:ext cx="10515240" cy="30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ef476f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ef476f"/>
                </a:solidFill>
                <a:latin typeface="Arial"/>
              </a:rPr>
              <a:t>Closer to home: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Greece is actually one of the best places in the world to see the Milky Way with your own eyes, thanks to its clear, dark skies.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ef476f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ef476f"/>
                </a:solidFill>
                <a:latin typeface="Arial"/>
              </a:rPr>
              <a:t>Looking into the past: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starlight takes so long to reach us that some stars you see tonight may have already died — you're looking at light that left thousands of years ago.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ef476f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ef476f"/>
                </a:solidFill>
                <a:latin typeface="Arial"/>
              </a:rPr>
              <a:t>Not a star at all: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a “shooting star” isn't a star — it's a tiny piece of space rock (a meteoroid) burning up as it falls through our atmosphere.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1828800" y="2103120"/>
            <a:ext cx="8503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5b6ee1"/>
                </a:solidFill>
                <a:latin typeface="Arial"/>
              </a:rPr>
              <a:t>Watch: How Big Is the Universe?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1371600" y="3017520"/>
            <a:ext cx="9417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https://www.youtube.com/watch?v=pSHVbLPWA28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b6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ef476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2"/>
          <p:cNvSpPr/>
          <p:nvPr/>
        </p:nvSpPr>
        <p:spPr>
          <a:xfrm>
            <a:off x="731520" y="2377440"/>
            <a:ext cx="100580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Verdana"/>
              </a:rPr>
              <a:t>Next Time...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Box 3"/>
          <p:cNvSpPr/>
          <p:nvPr/>
        </p:nvSpPr>
        <p:spPr>
          <a:xfrm>
            <a:off x="731520" y="3474720"/>
            <a:ext cx="100580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d166"/>
                </a:solidFill>
                <a:latin typeface="Arial"/>
              </a:rPr>
              <a:t>Why does Earth's tilt give us seasons? And why do we always see the same face of the Moon?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2026-10-07T09:30:49Z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