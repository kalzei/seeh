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5B6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6583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EF476F"/>
                </a:solidFill>
                <a:latin typeface="Arial"/>
              </a:rPr>
              <a:t>UNIT 1 · OUR PLACE IN THE UNIVERSE · LESSON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658368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 i="0">
                <a:solidFill>
                  <a:srgbClr val="5B6EE1"/>
                </a:solidFill>
                <a:latin typeface="Verdana"/>
              </a:rPr>
              <a:t>Light: Straight Lines</a:t>
            </a:r>
          </a:p>
          <a:p>
            <a:pPr algn="l"/>
            <a:r>
              <a:rPr sz="4600" b="1" i="0">
                <a:solidFill>
                  <a:srgbClr val="5B6EE1"/>
                </a:solidFill>
                <a:latin typeface="Verdana"/>
              </a:rPr>
              <a:t>&amp; Shadows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6400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 i="0">
                <a:solidFill>
                  <a:srgbClr val="555566"/>
                </a:solidFill>
                <a:latin typeface="Arial"/>
              </a:rPr>
              <a:t>A new topic, but it starts with something you already understand perfectly — your own shadow.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5B6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EF476F"/>
                </a:solidFill>
                <a:latin typeface="Arial"/>
              </a:rPr>
              <a:t>QUICK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5B6EE1"/>
                </a:solidFill>
                <a:latin typeface="Verdana"/>
              </a:rPr>
              <a:t>From Seasons to Light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233"/>
                </a:solidFill>
                <a:latin typeface="Arial"/>
              </a:rPr>
              <a:t>⬤  We've covered the Solar System, day/night, the year, the Sun, seasons, and the Moon's same-faced mystery.</a:t>
            </a:r>
          </a:p>
          <a:p>
            <a:pPr>
              <a:spcAft>
                <a:spcPts val="1000"/>
              </a:spcAft>
            </a:pPr>
            <a:r>
              <a:rPr b="1" sz="2000">
                <a:solidFill>
                  <a:srgbClr val="5B6EE1"/>
                </a:solidFill>
                <a:latin typeface="Arial"/>
              </a:rPr>
              <a:t>⬤  Today's new topic:</a:t>
            </a:r>
            <a:r>
              <a:rPr sz="2000">
                <a:solidFill>
                  <a:srgbClr val="222233"/>
                </a:solidFill>
                <a:latin typeface="Arial"/>
              </a:rPr>
              <a:t>  Light — how it travels, and how it creates the shadows you see every day.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5B6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EF476F"/>
                </a:solidFill>
                <a:latin typeface="Arial"/>
              </a:rPr>
              <a:t>THE BIG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5B6EE1"/>
                </a:solidFill>
                <a:latin typeface="Verdana"/>
              </a:rPr>
              <a:t>Light Travels in Straight Lines</a:t>
            </a:r>
          </a:p>
        </p:txBody>
      </p:sp>
      <p:pic>
        <p:nvPicPr>
          <p:cNvPr id="5" name="Picture 4" descr="light_shadows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737360"/>
            <a:ext cx="5486400" cy="354505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92024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900">
                <a:solidFill>
                  <a:srgbClr val="5B6EE1"/>
                </a:solidFill>
                <a:latin typeface="Arial"/>
              </a:rPr>
              <a:t>⬤  The rule:</a:t>
            </a:r>
            <a:r>
              <a:rPr sz="1900">
                <a:solidFill>
                  <a:srgbClr val="222233"/>
                </a:solidFill>
                <a:latin typeface="Arial"/>
              </a:rPr>
              <a:t>  light always travels in straight lines — it never bends or curves on its own.</a:t>
            </a:r>
          </a:p>
          <a:p>
            <a:pPr>
              <a:spcAft>
                <a:spcPts val="1000"/>
              </a:spcAft>
            </a:pPr>
            <a:r>
              <a:rPr b="1" sz="1900">
                <a:solidFill>
                  <a:srgbClr val="5B6EE1"/>
                </a:solidFill>
                <a:latin typeface="Arial"/>
              </a:rPr>
              <a:t>⬤  The result:</a:t>
            </a:r>
            <a:r>
              <a:rPr sz="1900">
                <a:solidFill>
                  <a:srgbClr val="222233"/>
                </a:solidFill>
                <a:latin typeface="Arial"/>
              </a:rPr>
              <a:t>  if something solid blocks those straight lines, the light can't get past it — and a shadow forms exactly where the light couldn't reach.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F47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EF476F"/>
                </a:solidFill>
                <a:latin typeface="Arial"/>
              </a:rPr>
              <a:t>REAL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EF476F"/>
                </a:solidFill>
                <a:latin typeface="Verdana"/>
              </a:rPr>
              <a:t>You Can Actually See It</a:t>
            </a:r>
          </a:p>
        </p:txBody>
      </p:sp>
      <p:pic>
        <p:nvPicPr>
          <p:cNvPr id="5" name="Picture 4" descr="crepuscul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737360"/>
            <a:ext cx="5486400" cy="365531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92024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222233"/>
                </a:solidFill>
                <a:latin typeface="Arial"/>
              </a:rPr>
              <a:t>⬤  This real photo was taken from the International Space Station.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22233"/>
                </a:solidFill>
                <a:latin typeface="Arial"/>
              </a:rPr>
              <a:t>⬤  Clouds are blocking sunlight, and you can clearly see the straight dark shadow-bands stretching out behind them — exactly like our diagram, but real and enormous.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6D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EF476F"/>
                </a:solidFill>
                <a:latin typeface="Arial"/>
              </a:rPr>
              <a:t>TRY IT YOURSELF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06D6A0"/>
                </a:solidFill>
                <a:latin typeface="Verdana"/>
              </a:rPr>
              <a:t>Track Your Own Shadow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2000">
                <a:solidFill>
                  <a:srgbClr val="06D6A0"/>
                </a:solidFill>
                <a:latin typeface="Arial"/>
              </a:rPr>
              <a:t>⬤  What you need:</a:t>
            </a:r>
            <a:r>
              <a:rPr sz="2000">
                <a:solidFill>
                  <a:srgbClr val="222233"/>
                </a:solidFill>
                <a:latin typeface="Arial"/>
              </a:rPr>
              <a:t>  a sunny day, a piece of chalk (or a small object and a ruler), and a friend.</a:t>
            </a:r>
          </a:p>
          <a:p>
            <a:pPr>
              <a:spcAft>
                <a:spcPts val="1000"/>
              </a:spcAft>
            </a:pPr>
            <a:r>
              <a:rPr b="1" sz="2000">
                <a:solidFill>
                  <a:srgbClr val="06D6A0"/>
                </a:solidFill>
                <a:latin typeface="Arial"/>
              </a:rPr>
              <a:t>⬤  What to do:</a:t>
            </a:r>
            <a:r>
              <a:rPr sz="2000">
                <a:solidFill>
                  <a:srgbClr val="222233"/>
                </a:solidFill>
                <a:latin typeface="Arial"/>
              </a:rPr>
              <a:t>  mark the tip of your shadow first thing in the morning, then again at midday, then again in the late afternoon.</a:t>
            </a:r>
          </a:p>
          <a:p>
            <a:pPr>
              <a:spcAft>
                <a:spcPts val="1000"/>
              </a:spcAft>
            </a:pPr>
            <a:r>
              <a:rPr b="1" sz="2000">
                <a:solidFill>
                  <a:srgbClr val="06D6A0"/>
                </a:solidFill>
                <a:latin typeface="Arial"/>
              </a:rPr>
              <a:t>⬤  What to notice:</a:t>
            </a:r>
            <a:r>
              <a:rPr sz="2000">
                <a:solidFill>
                  <a:srgbClr val="222233"/>
                </a:solidFill>
                <a:latin typeface="Arial"/>
              </a:rPr>
              <a:t>  your shadow is long in the morning and evening, but short around midday — can you connect this to Earth's rotation from Lesson 1?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F47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EF476F"/>
                </a:solidFill>
                <a:latin typeface="Arial"/>
              </a:rPr>
              <a:t>DID YOU KNOW?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EF476F"/>
                </a:solidFill>
                <a:latin typeface="Verdana"/>
              </a:rPr>
              <a:t>Shadow Facts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233"/>
                </a:solidFill>
                <a:latin typeface="Arial"/>
              </a:rPr>
              <a:t>⬤  At the Equator on certain days, the Sun can be almost directly overhead at noon — making your shadow nearly disappear underneath you.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33"/>
                </a:solidFill>
                <a:latin typeface="Arial"/>
              </a:rPr>
              <a:t>⬤  Sundials use exactly this idea — they tell the time just from the length and direction of a shadow.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233"/>
                </a:solidFill>
                <a:latin typeface="Arial"/>
              </a:rPr>
              <a:t>⬤  Shadow puppetry is an ancient art form, thousands of years old, that uses nothing but a light source, a screen, and this one simple rule of light.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B6E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F47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Verdana"/>
              </a:rPr>
              <a:t>Next Time...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 i="0">
                <a:solidFill>
                  <a:srgbClr val="FFD166"/>
                </a:solidFill>
                <a:latin typeface="Arial"/>
              </a:rPr>
              <a:t>What happens when light hits a mirror, or passes through water? Reflection and refraction — two more rules that explain a lot more than you'd think.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