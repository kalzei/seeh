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04C90-3663-4B66-9A30-AA1568B332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A52AF-FAA0-4A68-91CB-C90358F31E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88C691-9220-43E7-A0A2-A9E36C2069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5B0122B-A3C4-44FC-A012-E6CBE297B7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6EBF82D-6CE4-4350-9E2B-357D3CE6E0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18D62B1-3FD7-40A2-B58E-79B2848D58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BAE5FCE-3DD3-4E7C-98E2-BF91D7E918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D0936C8-C163-4185-8F85-DBE9FD2264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A347299-26F8-4688-B345-3C0486F8D4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6193067-EF71-4414-AC6D-0901CFA243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A7D710F-10F1-49DC-A343-C10BB14713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7CAEB7-44D9-475C-A5D6-90126B2BA6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99D0EB-FB7D-4B74-A3F1-43B2802640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E0B73D-FC73-45C9-80B2-F9BEFFD267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B3EC2A-82AD-4F8F-A02B-12D9C860AB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1932A2-EC04-4468-B810-FA67DB7040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979C1E-66A8-40AB-878F-4F8DAC6645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D0ED3A-9E89-404D-AD81-D124F47A11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33D164-4880-4D49-A8ED-A4CD021286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798878-EC92-402E-B6C9-0BDA6382FB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A50B97-A005-456A-9CF6-145D647340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068934-2A9D-4224-BB25-82F0F4F2C1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2286000"/>
            <a:ext cx="1051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S4 ΒΙΟΛΟΓΙΑ · ΕΝΟΤΗΤΑ 1 · ΜΑΘΗΜΑ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40080" y="2743200"/>
            <a:ext cx="105152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0f172a"/>
                </a:solidFill>
                <a:latin typeface="Verdana"/>
              </a:rPr>
              <a:t>Χαρακτηριστικά των Κυττάρων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640080" y="4160520"/>
            <a:ext cx="1005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45556c"/>
                </a:solidFill>
                <a:latin typeface="Arial"/>
              </a:rPr>
              <a:t>Πρόγραμμα σπουδών 4.2.1 — προκαρυωτικά και ευκαρυωτικά κύτταρα, και τα οργανίδια που επιτρέπουν σε ένα ευκαρυωτικό κύτταρο να κάνει ό,τι κάνει.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355080"/>
            <a:ext cx="10058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86160" y="12384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ΥΠΕΝΘYΜΙΣΗ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40080" y="685800"/>
            <a:ext cx="108810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Το Προηγούμενο Μάθημα: Κάθε Κύτταρο Προέρχεται Από Ένα Κύτταρο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685800" y="2735280"/>
            <a:ext cx="10606680" cy="21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κυτταρική θεωρία: τα κύτταρα είναι η βασική μονάδα της ζωής· κάθε οργανισμός αποτελείται από κύτταρα· κάθε κύτταρο προέρχεται από ένα προϋπάρχον κύτταρο.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Η ερώτηση για σήμερα: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αν κάθε κύτταρο ακολουθεί αυτή τη θεωρία, γιατί ένα βακτήριο και ένα ανθρώπινο κύτταρο φαίνονται τόσο διαφορετικά εσωτερικά;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ΔYΟ ΒΑΣΙΚA ΣΧEΔΙΑ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Προκαρυωτικά vs. Ευκαρυωτικά Κύτταρα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640080" y="1828800"/>
            <a:ext cx="532620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777240" y="1920240"/>
            <a:ext cx="50518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Προκαρυωτικά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777240" y="2331720"/>
            <a:ext cx="5051880" cy="13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Μικρότερα. Χωρίς πυρήνα με μεμβράνη. Χωρίς οργανίδια με μεμβράνη. Απαντώνται μόνο σε μονοκύτταρους οργανισμούς (π.χ. βακτήρια).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6195240" y="1828800"/>
            <a:ext cx="532620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6332400" y="1920240"/>
            <a:ext cx="50518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Ευκαρυωτικά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6332400" y="2331720"/>
            <a:ext cx="5051880" cy="16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Μεγαλύτερα. Πραγματικός πυρήνας με μεμβράνη. Οργανίδια με μεμβράνη. Αποτελούν τη βάση τόσο για μονοκύτταρους όσο και για πολυκύτταρους οργανισμούς.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640080" y="5349240"/>
            <a:ext cx="10881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45556c"/>
                </a:solidFill>
                <a:latin typeface="Arial"/>
              </a:rPr>
              <a:t>Ένα οργανίδιο είναι μια υποκυτταρική δομή με μία ή περισσότερες συγκεκριμένες λειτουργίες μέσα στο κύτταρο — όπως ακριβώς ένα όργανο μέσα στο σώμα.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ΜΙΑ ΣYΝΤΟΜΗ ΔΙΑΚΟΠH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Λίγο Χιούμορ με Κύτταρα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5" descr="slide50_1.png"/>
          <p:cNvPicPr/>
          <p:nvPr/>
        </p:nvPicPr>
        <p:blipFill>
          <a:blip r:embed="rId1"/>
          <a:stretch/>
        </p:blipFill>
        <p:spPr>
          <a:xfrm>
            <a:off x="2397960" y="1783080"/>
            <a:ext cx="1787400" cy="210276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6" descr="slide50_2.png"/>
          <p:cNvPicPr/>
          <p:nvPr/>
        </p:nvPicPr>
        <p:blipFill>
          <a:blip r:embed="rId2"/>
          <a:stretch/>
        </p:blipFill>
        <p:spPr>
          <a:xfrm>
            <a:off x="7883280" y="1783080"/>
            <a:ext cx="1972440" cy="210276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7" descr="slide50_3.png"/>
          <p:cNvPicPr/>
          <p:nvPr/>
        </p:nvPicPr>
        <p:blipFill>
          <a:blip r:embed="rId3"/>
          <a:stretch/>
        </p:blipFill>
        <p:spPr>
          <a:xfrm>
            <a:off x="1744920" y="4206240"/>
            <a:ext cx="3093480" cy="210276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8" descr="slide50_4.png"/>
          <p:cNvPicPr/>
          <p:nvPr/>
        </p:nvPicPr>
        <p:blipFill>
          <a:blip r:embed="rId4"/>
          <a:stretch/>
        </p:blipFill>
        <p:spPr>
          <a:xfrm>
            <a:off x="7389000" y="4206240"/>
            <a:ext cx="2961000" cy="210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ΧΑΡΑΚΤΗΡΙΣΤΙΚΆ ΚΥΤΤΆΡΩΝ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Προκαρυωτικά Κύτταρα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5" descr="slide51_2.png"/>
          <p:cNvPicPr/>
          <p:nvPr/>
        </p:nvPicPr>
        <p:blipFill>
          <a:blip r:embed="rId1"/>
          <a:stretch/>
        </p:blipFill>
        <p:spPr>
          <a:xfrm>
            <a:off x="1371960" y="1691640"/>
            <a:ext cx="5240880" cy="39315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6"/>
          <p:cNvSpPr/>
          <p:nvPr/>
        </p:nvSpPr>
        <p:spPr>
          <a:xfrm>
            <a:off x="1371960" y="5696640"/>
            <a:ext cx="524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Σαλμονέλα (αίτιο τροφικής δηλητηρίασης)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7" descr="slide51_1.png"/>
          <p:cNvPicPr/>
          <p:nvPr/>
        </p:nvPicPr>
        <p:blipFill>
          <a:blip r:embed="rId2"/>
          <a:stretch/>
        </p:blipFill>
        <p:spPr>
          <a:xfrm>
            <a:off x="6887520" y="1691640"/>
            <a:ext cx="3931560" cy="3931560"/>
          </a:xfrm>
          <a:prstGeom prst="rect">
            <a:avLst/>
          </a:prstGeom>
          <a:ln w="0">
            <a:noFill/>
          </a:ln>
        </p:spPr>
      </p:pic>
      <p:sp>
        <p:nvSpPr>
          <p:cNvPr id="103" name="TextBox 8"/>
          <p:cNvSpPr/>
          <p:nvPr/>
        </p:nvSpPr>
        <p:spPr>
          <a:xfrm>
            <a:off x="6887520" y="5696640"/>
            <a:ext cx="393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Δομή ενός τυπικού προκαρυωτικού κυττάρου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ΧΑΡΑΚΤΗΡΙΣΤΙΚΆ ΚΥΤΤΆΡΩΝ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Ευκαρυωτικά Κύτταρα — Ζωικό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5" descr="animal_micrograph.png"/>
          <p:cNvPicPr/>
          <p:nvPr/>
        </p:nvPicPr>
        <p:blipFill>
          <a:blip r:embed="rId1"/>
          <a:stretch/>
        </p:blipFill>
        <p:spPr>
          <a:xfrm>
            <a:off x="1220400" y="1691640"/>
            <a:ext cx="4289760" cy="3931560"/>
          </a:xfrm>
          <a:prstGeom prst="rect">
            <a:avLst/>
          </a:prstGeom>
          <a:ln w="0">
            <a:noFill/>
          </a:ln>
        </p:spPr>
      </p:pic>
      <p:sp>
        <p:nvSpPr>
          <p:cNvPr id="109" name="TextBox 6"/>
          <p:cNvSpPr/>
          <p:nvPr/>
        </p:nvSpPr>
        <p:spPr>
          <a:xfrm>
            <a:off x="1220400" y="5696640"/>
            <a:ext cx="4289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Ηλεκτρονική μικρογραφία ζωικού κυττάρου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7" descr="slide52_2.png"/>
          <p:cNvPicPr/>
          <p:nvPr/>
        </p:nvPicPr>
        <p:blipFill>
          <a:blip r:embed="rId2"/>
          <a:stretch/>
        </p:blipFill>
        <p:spPr>
          <a:xfrm>
            <a:off x="5784840" y="1691640"/>
            <a:ext cx="5186160" cy="3931560"/>
          </a:xfrm>
          <a:prstGeom prst="rect">
            <a:avLst/>
          </a:prstGeom>
          <a:ln w="0">
            <a:noFill/>
          </a:ln>
        </p:spPr>
      </p:pic>
      <p:sp>
        <p:nvSpPr>
          <p:cNvPr id="111" name="TextBox 8"/>
          <p:cNvSpPr/>
          <p:nvPr/>
        </p:nvSpPr>
        <p:spPr>
          <a:xfrm>
            <a:off x="5784840" y="5696640"/>
            <a:ext cx="518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Δομή ενός τυπικού ζωικού κυττάρου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ΧΑΡΑΚΤΗΡΙΣΤΙΚΆ ΚΥΤΤΆΡΩΝ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Ευκαρυωτικά Κύτταρα — Μύκητας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5" descr="slide53_1.png"/>
          <p:cNvPicPr/>
          <p:nvPr/>
        </p:nvPicPr>
        <p:blipFill>
          <a:blip r:embed="rId1"/>
          <a:stretch/>
        </p:blipFill>
        <p:spPr>
          <a:xfrm>
            <a:off x="2480400" y="1691640"/>
            <a:ext cx="3035520" cy="3931560"/>
          </a:xfrm>
          <a:prstGeom prst="rect">
            <a:avLst/>
          </a:prstGeom>
          <a:ln w="0">
            <a:noFill/>
          </a:ln>
        </p:spPr>
      </p:pic>
      <p:sp>
        <p:nvSpPr>
          <p:cNvPr id="117" name="TextBox 6"/>
          <p:cNvSpPr/>
          <p:nvPr/>
        </p:nvSpPr>
        <p:spPr>
          <a:xfrm>
            <a:off x="2480400" y="5696640"/>
            <a:ext cx="3035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Ένα μυκητιακό κύτταρο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7" descr="slide53_2.png"/>
          <p:cNvPicPr/>
          <p:nvPr/>
        </p:nvPicPr>
        <p:blipFill>
          <a:blip r:embed="rId2"/>
          <a:stretch/>
        </p:blipFill>
        <p:spPr>
          <a:xfrm>
            <a:off x="5790600" y="1691640"/>
            <a:ext cx="3920400" cy="3931560"/>
          </a:xfrm>
          <a:prstGeom prst="rect">
            <a:avLst/>
          </a:prstGeom>
          <a:ln w="0">
            <a:noFill/>
          </a:ln>
        </p:spPr>
      </p:pic>
      <p:sp>
        <p:nvSpPr>
          <p:cNvPr id="119" name="TextBox 8"/>
          <p:cNvSpPr/>
          <p:nvPr/>
        </p:nvSpPr>
        <p:spPr>
          <a:xfrm>
            <a:off x="5790600" y="5696640"/>
            <a:ext cx="3920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Ένα κύτταρο ζύμης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ΧΑΡΑΚΤΗΡΙΣΤΙΚΆ ΚΥΤΤΆΡΩΝ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Ευκαρυωτικά Κύτταρα — Φυτό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Picture 5" descr="plant_micrograph.png"/>
          <p:cNvPicPr/>
          <p:nvPr/>
        </p:nvPicPr>
        <p:blipFill>
          <a:blip r:embed="rId1"/>
          <a:stretch/>
        </p:blipFill>
        <p:spPr>
          <a:xfrm>
            <a:off x="1763280" y="1691640"/>
            <a:ext cx="4179600" cy="3931560"/>
          </a:xfrm>
          <a:prstGeom prst="rect">
            <a:avLst/>
          </a:prstGeom>
          <a:ln w="0">
            <a:noFill/>
          </a:ln>
        </p:spPr>
      </p:pic>
      <p:sp>
        <p:nvSpPr>
          <p:cNvPr id="125" name="TextBox 6"/>
          <p:cNvSpPr/>
          <p:nvPr/>
        </p:nvSpPr>
        <p:spPr>
          <a:xfrm>
            <a:off x="1763280" y="5696640"/>
            <a:ext cx="4179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Ηλεκτρονική μικρογραφία φυτικού κυττάρου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7" descr="slide54_1.png"/>
          <p:cNvPicPr/>
          <p:nvPr/>
        </p:nvPicPr>
        <p:blipFill>
          <a:blip r:embed="rId2"/>
          <a:stretch/>
        </p:blipFill>
        <p:spPr>
          <a:xfrm>
            <a:off x="6217560" y="1691640"/>
            <a:ext cx="4210560" cy="3931560"/>
          </a:xfrm>
          <a:prstGeom prst="rect">
            <a:avLst/>
          </a:prstGeom>
          <a:ln w="0">
            <a:noFill/>
          </a:ln>
        </p:spPr>
      </p:pic>
      <p:sp>
        <p:nvSpPr>
          <p:cNvPr id="127" name="TextBox 8"/>
          <p:cNvSpPr/>
          <p:nvPr/>
        </p:nvSpPr>
        <p:spPr>
          <a:xfrm>
            <a:off x="6217560" y="5696640"/>
            <a:ext cx="421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5556c"/>
                </a:solidFill>
                <a:latin typeface="Arial"/>
              </a:rPr>
              <a:t>Δομή ενός τυπικού φυτικού κυττάρου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ΑΠΌ ΤΗ ΔΟΜΉ ΣΤΗ ΛΕΙΤΟΥΡΓΊΑ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Τα Κύτταρα Επιτελούν Πολλές Λειτουργίες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640080" y="1600200"/>
            <a:ext cx="1060668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Τα κύτταρά μας κάνουν πολλά: συνθέτουν πρωτεΐνες, μετατρέπουν θρεπτικά συστατικά σε χρησιμοποιήσιμη ενέργεια, και αποτελούν κάθε ιστό και όργανο του σώματος.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Η βασική ιδέα: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τα ευκαρυωτικά κύτταρα περιέχουν μικρότερες δομές που ονομάζονται οργανίδια, καθένα από τα οποία βοηθά στην εκτέλεση μιας από αυτές τις λειτουργίες.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Έρχεται: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πέντε οργανίδια που θα αναγνωρίζετε σε σχεδόν κάθε ευκαρυωτικό κύτταρο που θα δείτε.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ΚΥΤΤΑΡΙΚΆ ΟΡΓΑΝΊΔΙΑ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Ο Πυρήνας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640080" y="1691640"/>
            <a:ext cx="548604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Κέντρο ελέγχου: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ο πυρήνας είναι ένα μεγάλο οργανίδιο που αποθηκεύει το DNA του κυττάρου (δεοξυριβονουκλεϊκό οξύ).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Τι ελέγχει: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όλες τις δραστηριότητες του κυττάρου — ανάπτυξη, μεταβολισμό, τα πάντα — χρησιμοποιώντας τις γενετικές πληροφορίες του DNA.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Μέσα στον πυρήνα: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υπάρχει μια μικρότερη δομή, ο πυρηνίσκος, όπου ξεκινάει η δημιουργία των ριβοσωμάτων.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6" descr="slide56_2.png"/>
          <p:cNvPicPr/>
          <p:nvPr/>
        </p:nvPicPr>
        <p:blipFill>
          <a:blip r:embed="rId1"/>
          <a:stretch/>
        </p:blipFill>
        <p:spPr>
          <a:xfrm>
            <a:off x="6451200" y="1691640"/>
            <a:ext cx="5100120" cy="393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ΚΥΤΤΑΡΙΚΆ ΟΡΓΑΝΊΔΙΑ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Τα Ριβοσώματα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640080" y="1691640"/>
            <a:ext cx="5486040" cy="43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Τα ριβοσώματα είναι τα εργοστάσια παραγωγής πρωτεϊνών του κυττάρου.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Δομή: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αποτελούνται από δύο υπομονάδες· επιπλέουν ελεύθερα στο κυτταρόπλασμα ή είναι ενσωματωμένα στο ενδοπλασματικό δίκτυο.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Λειτουργία: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χρησιμοποιώντας οδηγίες από δύο τύπους RNA, τα ριβοσώματα συνθέτουν τις πρωτεΐνες που είναι απαραίτητες για την επιβίωση του κυττάρου.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Μια ιδιαιτερότητα: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τα ριβοσώματα δεν περικλείονται από μεμβράνη, αλλά εξακολουθούν να ονομάζονται οργανίδια στα ευκαρυωτικά κύτταρα.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Picture 6" descr="slide52_2.png"/>
          <p:cNvPicPr/>
          <p:nvPr/>
        </p:nvPicPr>
        <p:blipFill>
          <a:blip r:embed="rId1"/>
          <a:stretch/>
        </p:blipFill>
        <p:spPr>
          <a:xfrm>
            <a:off x="6431040" y="1716480"/>
            <a:ext cx="5120280" cy="388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ΚΥΤΤΑΡΙΚΆ ΟΡΓΑΝΊΔΙΑ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Το Ενδοπλασματικό Δίκτυο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640080" y="1691640"/>
            <a:ext cx="5486040" cy="24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Το ενδοπλασματικό δίκτυο (ER) είναι ένα μεμβρανώδες οργανίδιο που μοιράζεται μέρος της μεμβράνης του με τον πυρήνα.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Αδρό ER: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γεμάτο με ριβοσώματα· συμμετέχει στην παραγωγή πρωτεϊνών.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Λείο ER: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το υπόλοιπο οργανίδιο· παράγει ζωτικά λιπίδια (λίπη).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Picture 6" descr="slide58_1.png"/>
          <p:cNvPicPr/>
          <p:nvPr/>
        </p:nvPicPr>
        <p:blipFill>
          <a:blip r:embed="rId1"/>
          <a:stretch/>
        </p:blipFill>
        <p:spPr>
          <a:xfrm>
            <a:off x="7345440" y="1691640"/>
            <a:ext cx="4205880" cy="420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ΚΥΤΤΑΡΙΚΆ ΟΡΓΑΝΊΔΙΑ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Οι Χλωροπλάστες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640080" y="1691640"/>
            <a:ext cx="5486040" cy="29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Στα φυτά και σε ορισμένα φύκια, οι χλωροπλάστες είναι ο τόπος της φωτοσύνθεσης.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Η χρωστική: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η χλωροφύλλη δεσμεύει την ενέργεια του ήλιου για να μετατρέψει νερό και διοξείδιο του άνθρακα σε γλυκόζη.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Γιατί έχει σημασία: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οι χλωροπλάστες επιτρέπουν στους αυτότροφους οργανισμούς να καλύπτουν τις ενεργειακές τους ανάγκες χωρίς να καταναλώνουν άλλους οργανισμούς.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6" descr="slide59_1.png"/>
          <p:cNvPicPr/>
          <p:nvPr/>
        </p:nvPicPr>
        <p:blipFill>
          <a:blip r:embed="rId1"/>
          <a:stretch/>
        </p:blipFill>
        <p:spPr>
          <a:xfrm>
            <a:off x="6593400" y="1691640"/>
            <a:ext cx="4957920" cy="393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ΚΥΤΤΑΡΙΚΆ ΟΡΓΑΝΊΔΙΑ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Τα Μιτοχόνδρια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640080" y="1691640"/>
            <a:ext cx="5486040" cy="43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Οι “γεννήτριες ενέργειας” του κυττάρου — οβάλ οργανίδια που βρίσκονται στα περισσότερα ευκαρυωτικά κύτταρα.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Λειτουργία: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ως τόπος της κυτταρικής αναπνοής, τα μιτοχόνδρια μετατρέπουν μόρια όπως η γλυκόζη σε ATP (τριφωσφορική αδενοσίνη).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Ο ρόλος του ATP: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τροφοδοτεί τις κυτταρικές διεργασίες σπάζοντας τους δεσμούς υψηλής ενέργειας του.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Πού είναι πιο άφθονα: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  σε κύτταρα που απαιτούν πολλή ενέργεια — κύτταρα του ήπατος, μυϊκά κύτταρα.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6" descr="slide60_1.png"/>
          <p:cNvPicPr/>
          <p:nvPr/>
        </p:nvPicPr>
        <p:blipFill>
          <a:blip r:embed="rId1"/>
          <a:stretch/>
        </p:blipFill>
        <p:spPr>
          <a:xfrm>
            <a:off x="6431040" y="1924920"/>
            <a:ext cx="5120280" cy="319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ΣΥΝΟΨIΖΟΝΤΑΣ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Συστατικά ενός Κυττάρου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5" descr="slide62_1.png"/>
          <p:cNvPicPr/>
          <p:nvPr/>
        </p:nvPicPr>
        <p:blipFill>
          <a:blip r:embed="rId1"/>
          <a:stretch/>
        </p:blipFill>
        <p:spPr>
          <a:xfrm>
            <a:off x="3023280" y="1600200"/>
            <a:ext cx="61448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640080" y="411480"/>
            <a:ext cx="1051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ΒΑΣΙΚA ΣΥΜΠΕΡAΣΜΑΤΑ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640080" y="749880"/>
            <a:ext cx="10881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Τι Πρέπει Να Θυμάστε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640080" y="6473880"/>
            <a:ext cx="548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Βιολογία S4 · Ενότητα 1, Μάθημα 3 · Χαρακτηριστικά των Κυττάρων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640080" y="1645920"/>
            <a:ext cx="10606680" cy="32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Τα προκαρυωτικά κύτταρα είναι μικρότερα και δεν έχουν πυρήνα ή οργανίδια με μεμβράνη· τα ευκαρυωτικά είναι μεγαλύτερα και έχουν και τα δύο.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Όλα τα ευκαρυωτικά κύτταρα (ζωικά, μυκητιακά, φυτικά) μοιράζονται το ίδιο βασικό σύνολο οργανιδίων, απλά διαφορετικά διατεταγμένο.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Ο πυρήνας αποθηκεύει το DNA· τα ριβοσώματα φτιάχνουν πρωτεΐνες· το ενδοπλασματικό δίκτυο παράγει πρωτεΐνες και λιπίδια· οι χλωροπλάστες (φυτά) δεσμεύουν το φως του ήλιου· τα μιτοχόνδρια φτιάχνουν ATP.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Δομή και λειτουργία συνδέονται — το σχήμα και η θέση κάθε οργανιδίου ταιριάζουν με τη συγκεκριμένη λειτουργία που επιτελεί.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6"/>
          <p:cNvSpPr/>
          <p:nvPr/>
        </p:nvSpPr>
        <p:spPr>
          <a:xfrm>
            <a:off x="640080" y="5577840"/>
            <a:ext cx="10881000" cy="776880"/>
          </a:xfrm>
          <a:prstGeom prst="rect">
            <a:avLst/>
          </a:prstGeom>
          <a:solidFill>
            <a:srgbClr val="fdece1"/>
          </a:solidFill>
          <a:ln w="15875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822960" y="5687640"/>
            <a:ext cx="2011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</a:rPr>
              <a:t>ΕΠΟΜΕΝΟ ΜΑΘΗΜΑ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2743200" y="5577840"/>
            <a:ext cx="8412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</a:rPr>
              <a:t>Μάθημα 4 — Κάθε ευκαρυωτικό κύτταρο που είδατε σήμερα προήλθε από τη διαίρεση ενός άλλου κυττάρου. Πώς γίνεται αυτό στην πραγματικότητα;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2026-10-03T20:25:16Z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