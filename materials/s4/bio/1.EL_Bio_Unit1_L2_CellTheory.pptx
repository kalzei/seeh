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</p:sld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3D2B25-21BD-4B0D-957D-6396306A949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EB9C4D-9F10-4191-8CE5-1B9EAF6FC5C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B95554C-AD9D-4349-A9B5-0754514E149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0CC2731-2FD0-4044-A7C1-53482446129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C4355BA2-BC65-421D-9FB1-2BCE2258290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7F1BE1F2-0389-43D4-8EE9-6C738DDDB2A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CD46B2BF-7D9E-4CBF-B81F-BFAB89D81BF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2DA90090-59A0-467A-8A98-7790F3810FB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B1C332D4-DF47-43EE-BDC6-A1B052556D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67D0F14E-6FE7-48CD-834A-B2E457033AE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DA429A9D-1D22-416F-8877-7B4778D64E8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971E32F8-FA4A-443E-8C78-2B1D3F5D9AB0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F4014CDF-65B5-47AA-A591-7A97B9318B9F}" type="slidenum">
              <a:t>&lt;#&gt;</a:t>
            </a:fld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15DEA6B-D237-45E0-BCFC-864A993457E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99892CD-7B69-49ED-94CD-5CE947680D2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AC4257D-E588-4EAF-B6E0-ACEDF4B4755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B5FC435-FAD1-4F7D-9E66-3B00EDE9F1A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B2EA799-F96B-40EC-93CA-78587B5A04E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B49E917-0562-4B85-85F5-CD1C368E35B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4439F91-8AA6-41B5-8A30-C1850C51B61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BD916B4-079E-4E25-A7D9-1C9968F4D38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368D6B2-238D-498A-94AA-B443A09F258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88472D7-2317-48CF-9EB6-68697F36F20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87C31EB-3BA5-40DB-94F8-9EE60941AEB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sldNum" idx="3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D66A309-0370-496C-88A7-9D1EF6302D86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sldNum" idx="3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CB39DEF-C915-4099-834D-CAC4A082BBA6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640080" y="2286000"/>
            <a:ext cx="10515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ea580c"/>
                </a:solidFill>
                <a:latin typeface="Arial"/>
              </a:rPr>
              <a:t>S4 ΒΙΟΛΟΓΙΑ · ΕΝΟΤΗΤΑ 1 · ΜΑΘΗΜΑ 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Box 3"/>
          <p:cNvSpPr/>
          <p:nvPr/>
        </p:nvSpPr>
        <p:spPr>
          <a:xfrm>
            <a:off x="640080" y="2743200"/>
            <a:ext cx="10515240" cy="7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600" spc="-1" strike="noStrike">
                <a:solidFill>
                  <a:srgbClr val="0f172a"/>
                </a:solidFill>
                <a:latin typeface="Verdana"/>
              </a:rPr>
              <a:t>Η Κυτταρική Θεωρία</a:t>
            </a:r>
            <a:endParaRPr b="0" lang="en-US" sz="4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4"/>
          <p:cNvSpPr/>
          <p:nvPr/>
        </p:nvSpPr>
        <p:spPr>
          <a:xfrm>
            <a:off x="640080" y="4160520"/>
            <a:ext cx="100580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45556c"/>
                </a:solidFill>
                <a:latin typeface="Arial"/>
              </a:rPr>
              <a:t>Πρόγραμμα σπουδών 4.2.1 — τα κύτταρα ως η βασική μονάδα της ζωής, και τα τέσσερα χαρακτηριστικά που μοιράζεται κάθε κύτταρο.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5"/>
          <p:cNvSpPr/>
          <p:nvPr/>
        </p:nvSpPr>
        <p:spPr>
          <a:xfrm>
            <a:off x="640080" y="6355080"/>
            <a:ext cx="10058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45556c"/>
                </a:solidFill>
                <a:latin typeface="Arial"/>
              </a:rPr>
              <a:t>Βιολογία S4 · Ενότητα 1, Μάθημα 2 · Η Κυτταρική Θεωρία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640080" y="411480"/>
            <a:ext cx="10515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ΥΠΕΝΘΥΜΙΣΗ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3"/>
          <p:cNvSpPr/>
          <p:nvPr/>
        </p:nvSpPr>
        <p:spPr>
          <a:xfrm>
            <a:off x="640080" y="749880"/>
            <a:ext cx="108810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Το προηγούμενο μάθημα: οι μεγάλες ομάδες της ζωής έχουν έναν κοινό πρόγονο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4"/>
          <p:cNvSpPr/>
          <p:nvPr/>
        </p:nvSpPr>
        <p:spPr>
          <a:xfrm>
            <a:off x="640080" y="6473880"/>
            <a:ext cx="5486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5556c"/>
                </a:solidFill>
                <a:latin typeface="Arial"/>
              </a:rPr>
              <a:t>Βιολογία S4 · Ενότητα 1, Μάθημα 2 · Η Κυτταρική Θεωρία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5"/>
          <p:cNvSpPr/>
          <p:nvPr/>
        </p:nvSpPr>
        <p:spPr>
          <a:xfrm>
            <a:off x="640080" y="1600200"/>
            <a:ext cx="10606680" cy="12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• 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Βακτήρια, αρχαία, πρώτιστα, μύκητες, φυτά, ζώα — όλα διαφορετικά, όλα συγγενικά.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• 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Αλλά από τι είναι φτιαγμένα στην πραγματικότητα; Ποιο είναι το βασικό «τούβλο» κάθε έμβιου όντος;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640080" y="411480"/>
            <a:ext cx="10515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ΛΙΓΗ ΙΣΤΟΡΙΑ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3"/>
          <p:cNvSpPr/>
          <p:nvPr/>
        </p:nvSpPr>
        <p:spPr>
          <a:xfrm>
            <a:off x="640080" y="749880"/>
            <a:ext cx="108810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Πρωτοπόροι της Μικροσκοπίας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4"/>
          <p:cNvSpPr/>
          <p:nvPr/>
        </p:nvSpPr>
        <p:spPr>
          <a:xfrm>
            <a:off x="640080" y="1417320"/>
            <a:ext cx="1088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800" spc="-1" strike="noStrike">
                <a:solidFill>
                  <a:srgbClr val="45556c"/>
                </a:solidFill>
                <a:latin typeface="Arial"/>
              </a:rPr>
              <a:t>Τρεις εφευρέσεις, μέσα σε 83 χρόνια, έκαναν το κύτταρο ορατό για πρώτη φορά.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5"/>
          <p:cNvSpPr/>
          <p:nvPr/>
        </p:nvSpPr>
        <p:spPr>
          <a:xfrm>
            <a:off x="640080" y="6473880"/>
            <a:ext cx="5486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5556c"/>
                </a:solidFill>
                <a:latin typeface="Arial"/>
              </a:rPr>
              <a:t>Βιολογία S4 · Ενότητα 1, Μάθημα 2 · Η Κυτταρική Θεωρία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Rounded Rectangle 6"/>
          <p:cNvSpPr/>
          <p:nvPr/>
        </p:nvSpPr>
        <p:spPr>
          <a:xfrm>
            <a:off x="640080" y="2331720"/>
            <a:ext cx="3492720" cy="3840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Rounded Rectangle 7"/>
          <p:cNvSpPr/>
          <p:nvPr/>
        </p:nvSpPr>
        <p:spPr>
          <a:xfrm>
            <a:off x="1792080" y="2057400"/>
            <a:ext cx="1188360" cy="502560"/>
          </a:xfrm>
          <a:prstGeom prst="roundRect">
            <a:avLst>
              <a:gd name="adj" fmla="val 16667"/>
            </a:avLst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" name="TextBox 8"/>
          <p:cNvSpPr/>
          <p:nvPr/>
        </p:nvSpPr>
        <p:spPr>
          <a:xfrm>
            <a:off x="1792080" y="2094120"/>
            <a:ext cx="1188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1590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Box 9"/>
          <p:cNvSpPr/>
          <p:nvPr/>
        </p:nvSpPr>
        <p:spPr>
          <a:xfrm>
            <a:off x="822960" y="2697480"/>
            <a:ext cx="31269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0f172a"/>
                </a:solidFill>
                <a:latin typeface="Arial"/>
              </a:rPr>
              <a:t>Ζαχαρίας Γιάνσεν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10"/>
          <p:cNvSpPr/>
          <p:nvPr/>
        </p:nvSpPr>
        <p:spPr>
          <a:xfrm>
            <a:off x="822960" y="3246120"/>
            <a:ext cx="3126960" cy="11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1600" spc="-1" strike="noStrike">
                <a:solidFill>
                  <a:srgbClr val="1e293b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1e293b"/>
                </a:solidFill>
                <a:latin typeface="Arial"/>
              </a:rPr>
              <a:t>Εφηύρε το πρώτο σύνθετο μικροσκόπιο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</a:pPr>
            <a:r>
              <a:rPr b="0" lang="en-US" sz="1600" spc="-1" strike="noStrike">
                <a:solidFill>
                  <a:srgbClr val="1e293b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1e293b"/>
                </a:solidFill>
                <a:latin typeface="Arial"/>
              </a:rPr>
              <a:t>Τα αντικείμενα φαίνονταν μεγεθυμένα μέσα από αυτό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Rectangle 11"/>
          <p:cNvSpPr/>
          <p:nvPr/>
        </p:nvSpPr>
        <p:spPr>
          <a:xfrm>
            <a:off x="4133160" y="2651760"/>
            <a:ext cx="200880" cy="3132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3320" bIns="-13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" name="Rounded Rectangle 12"/>
          <p:cNvSpPr/>
          <p:nvPr/>
        </p:nvSpPr>
        <p:spPr>
          <a:xfrm>
            <a:off x="4334400" y="2331720"/>
            <a:ext cx="3492720" cy="3840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" name="Rounded Rectangle 13"/>
          <p:cNvSpPr/>
          <p:nvPr/>
        </p:nvSpPr>
        <p:spPr>
          <a:xfrm>
            <a:off x="5486400" y="2057400"/>
            <a:ext cx="1188360" cy="502560"/>
          </a:xfrm>
          <a:prstGeom prst="roundRect">
            <a:avLst>
              <a:gd name="adj" fmla="val 16667"/>
            </a:avLst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TextBox 14"/>
          <p:cNvSpPr/>
          <p:nvPr/>
        </p:nvSpPr>
        <p:spPr>
          <a:xfrm>
            <a:off x="5486400" y="2094120"/>
            <a:ext cx="1188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1665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15"/>
          <p:cNvSpPr/>
          <p:nvPr/>
        </p:nvSpPr>
        <p:spPr>
          <a:xfrm>
            <a:off x="4517280" y="2697480"/>
            <a:ext cx="31269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0f172a"/>
                </a:solidFill>
                <a:latin typeface="Arial"/>
              </a:rPr>
              <a:t>Ρόμπερτ Χουκ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16"/>
          <p:cNvSpPr/>
          <p:nvPr/>
        </p:nvSpPr>
        <p:spPr>
          <a:xfrm>
            <a:off x="4517280" y="3246120"/>
            <a:ext cx="3126960" cy="11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1600" spc="-1" strike="noStrike">
                <a:solidFill>
                  <a:srgbClr val="1e293b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1e293b"/>
                </a:solidFill>
                <a:latin typeface="Arial"/>
              </a:rPr>
              <a:t>Χρησιμοποίησε μικροσκόπιο σε λεπτές φέτες φελλού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</a:pPr>
            <a:r>
              <a:rPr b="0" lang="en-US" sz="1600" spc="-1" strike="noStrike">
                <a:solidFill>
                  <a:srgbClr val="1e293b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1e293b"/>
                </a:solidFill>
                <a:latin typeface="Arial"/>
              </a:rPr>
              <a:t>Είδε μικρές, κουτί-σχήματος δομές και επινόησε τον όρο «κύτταρο»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Rectangle 17"/>
          <p:cNvSpPr/>
          <p:nvPr/>
        </p:nvSpPr>
        <p:spPr>
          <a:xfrm>
            <a:off x="7827120" y="2651760"/>
            <a:ext cx="200880" cy="3132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3320" bIns="-13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Rounded Rectangle 18"/>
          <p:cNvSpPr/>
          <p:nvPr/>
        </p:nvSpPr>
        <p:spPr>
          <a:xfrm>
            <a:off x="8028360" y="2331720"/>
            <a:ext cx="3492720" cy="3840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" name="Rounded Rectangle 19"/>
          <p:cNvSpPr/>
          <p:nvPr/>
        </p:nvSpPr>
        <p:spPr>
          <a:xfrm>
            <a:off x="9180720" y="2057400"/>
            <a:ext cx="1188360" cy="502560"/>
          </a:xfrm>
          <a:prstGeom prst="roundRect">
            <a:avLst>
              <a:gd name="adj" fmla="val 16667"/>
            </a:avLst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TextBox 20"/>
          <p:cNvSpPr/>
          <p:nvPr/>
        </p:nvSpPr>
        <p:spPr>
          <a:xfrm>
            <a:off x="9180720" y="2094120"/>
            <a:ext cx="1188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1673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21"/>
          <p:cNvSpPr/>
          <p:nvPr/>
        </p:nvSpPr>
        <p:spPr>
          <a:xfrm>
            <a:off x="8211240" y="2697480"/>
            <a:ext cx="312696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0f172a"/>
                </a:solidFill>
                <a:latin typeface="Arial"/>
              </a:rPr>
              <a:t>Άντον φαν Λέβενχουκ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22"/>
          <p:cNvSpPr/>
          <p:nvPr/>
        </p:nvSpPr>
        <p:spPr>
          <a:xfrm>
            <a:off x="8211240" y="3246120"/>
            <a:ext cx="3126960" cy="89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1600" spc="-1" strike="noStrike">
                <a:solidFill>
                  <a:srgbClr val="1e293b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1e293b"/>
                </a:solidFill>
                <a:latin typeface="Arial"/>
              </a:rPr>
              <a:t>Πρώτος είδε ζωντανούς οργανισμούς κάτω από μικροσκόπιο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</a:pPr>
            <a:r>
              <a:rPr b="0" lang="en-US" sz="1600" spc="-1" strike="noStrike">
                <a:solidFill>
                  <a:srgbClr val="1e293b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1e293b"/>
                </a:solidFill>
                <a:latin typeface="Arial"/>
              </a:rPr>
              <a:t>Τους ονόμασε «ζωύφια»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TextBox 2"/>
          <p:cNvSpPr/>
          <p:nvPr/>
        </p:nvSpPr>
        <p:spPr>
          <a:xfrm>
            <a:off x="640080" y="411480"/>
            <a:ext cx="10515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ΛΙΓΗ ΙΣΤΟΡΙΑ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Box 3"/>
          <p:cNvSpPr/>
          <p:nvPr/>
        </p:nvSpPr>
        <p:spPr>
          <a:xfrm>
            <a:off x="640080" y="749880"/>
            <a:ext cx="108810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Χτίζοντας την Κυτταρική Θεωρία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Box 4"/>
          <p:cNvSpPr/>
          <p:nvPr/>
        </p:nvSpPr>
        <p:spPr>
          <a:xfrm>
            <a:off x="640080" y="1417320"/>
            <a:ext cx="1088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800" spc="-1" strike="noStrike">
                <a:solidFill>
                  <a:srgbClr val="45556c"/>
                </a:solidFill>
                <a:latin typeface="Arial"/>
              </a:rPr>
              <a:t>Τρεις επιστήμονες, μέσα σε 17 χρόνια, μετέτρεψαν παρατηρήσεις σε θεωρία.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5"/>
          <p:cNvSpPr/>
          <p:nvPr/>
        </p:nvSpPr>
        <p:spPr>
          <a:xfrm>
            <a:off x="640080" y="6473880"/>
            <a:ext cx="5486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5556c"/>
                </a:solidFill>
                <a:latin typeface="Arial"/>
              </a:rPr>
              <a:t>Βιολογία S4 · Ενότητα 1, Μάθημα 2 · Η Κυτταρική Θεωρία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Rounded Rectangle 6"/>
          <p:cNvSpPr/>
          <p:nvPr/>
        </p:nvSpPr>
        <p:spPr>
          <a:xfrm>
            <a:off x="640080" y="2331720"/>
            <a:ext cx="3492720" cy="3840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" name="Rounded Rectangle 7"/>
          <p:cNvSpPr/>
          <p:nvPr/>
        </p:nvSpPr>
        <p:spPr>
          <a:xfrm>
            <a:off x="1792080" y="2057400"/>
            <a:ext cx="1188360" cy="502560"/>
          </a:xfrm>
          <a:prstGeom prst="roundRect">
            <a:avLst>
              <a:gd name="adj" fmla="val 16667"/>
            </a:avLst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" name="TextBox 8"/>
          <p:cNvSpPr/>
          <p:nvPr/>
        </p:nvSpPr>
        <p:spPr>
          <a:xfrm>
            <a:off x="1792080" y="2094120"/>
            <a:ext cx="1188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1838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Box 9"/>
          <p:cNvSpPr/>
          <p:nvPr/>
        </p:nvSpPr>
        <p:spPr>
          <a:xfrm>
            <a:off x="822960" y="2697480"/>
            <a:ext cx="31269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0f172a"/>
                </a:solidFill>
                <a:latin typeface="Arial"/>
              </a:rPr>
              <a:t>Μάθιας Σλάιντεν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10"/>
          <p:cNvSpPr/>
          <p:nvPr/>
        </p:nvSpPr>
        <p:spPr>
          <a:xfrm>
            <a:off x="822960" y="3246120"/>
            <a:ext cx="3126960" cy="11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1600" spc="-1" strike="noStrike">
                <a:solidFill>
                  <a:srgbClr val="1e293b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1e293b"/>
                </a:solidFill>
                <a:latin typeface="Arial"/>
              </a:rPr>
              <a:t>Δήλωσε: «Όλα τα φυτά αποτελούνται από κύτταρα»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</a:pPr>
            <a:r>
              <a:rPr b="0" lang="en-US" sz="1600" spc="-1" strike="noStrike">
                <a:solidFill>
                  <a:srgbClr val="1e293b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1e293b"/>
                </a:solidFill>
                <a:latin typeface="Arial"/>
              </a:rPr>
              <a:t>Ανέπτυξε τις πρώτες 2 αρχές της κυτταρικής θεωρίας (με τον Σβαν)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Rectangle 11"/>
          <p:cNvSpPr/>
          <p:nvPr/>
        </p:nvSpPr>
        <p:spPr>
          <a:xfrm>
            <a:off x="4133160" y="2651760"/>
            <a:ext cx="200880" cy="3132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3320" bIns="-13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" name="Rounded Rectangle 12"/>
          <p:cNvSpPr/>
          <p:nvPr/>
        </p:nvSpPr>
        <p:spPr>
          <a:xfrm>
            <a:off x="4334400" y="2331720"/>
            <a:ext cx="3492720" cy="3840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Rounded Rectangle 13"/>
          <p:cNvSpPr/>
          <p:nvPr/>
        </p:nvSpPr>
        <p:spPr>
          <a:xfrm>
            <a:off x="5486400" y="2057400"/>
            <a:ext cx="1188360" cy="502560"/>
          </a:xfrm>
          <a:prstGeom prst="roundRect">
            <a:avLst>
              <a:gd name="adj" fmla="val 16667"/>
            </a:avLst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" name="TextBox 14"/>
          <p:cNvSpPr/>
          <p:nvPr/>
        </p:nvSpPr>
        <p:spPr>
          <a:xfrm>
            <a:off x="5486400" y="2094120"/>
            <a:ext cx="1188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1839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15"/>
          <p:cNvSpPr/>
          <p:nvPr/>
        </p:nvSpPr>
        <p:spPr>
          <a:xfrm>
            <a:off x="4517280" y="2697480"/>
            <a:ext cx="31269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0f172a"/>
                </a:solidFill>
                <a:latin typeface="Arial"/>
              </a:rPr>
              <a:t>Θέοντορ Σβαν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16"/>
          <p:cNvSpPr/>
          <p:nvPr/>
        </p:nvSpPr>
        <p:spPr>
          <a:xfrm>
            <a:off x="4517280" y="3246120"/>
            <a:ext cx="3126960" cy="11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1600" spc="-1" strike="noStrike">
                <a:solidFill>
                  <a:srgbClr val="1e293b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1e293b"/>
                </a:solidFill>
                <a:latin typeface="Arial"/>
              </a:rPr>
              <a:t>Δήλωσε: «Όλα τα ζώα αποτελούνται από κύτταρα»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</a:pPr>
            <a:r>
              <a:rPr b="0" lang="en-US" sz="1600" spc="-1" strike="noStrike">
                <a:solidFill>
                  <a:srgbClr val="1e293b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1e293b"/>
                </a:solidFill>
                <a:latin typeface="Arial"/>
              </a:rPr>
              <a:t>Ανέπτυξε τις πρώτες 2 αρχές της κυτταρικής θεωρίας (με τον Σλάιντεν)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Rectangle 17"/>
          <p:cNvSpPr/>
          <p:nvPr/>
        </p:nvSpPr>
        <p:spPr>
          <a:xfrm>
            <a:off x="7827120" y="2651760"/>
            <a:ext cx="200880" cy="3132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3320" bIns="-13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" name="Rounded Rectangle 18"/>
          <p:cNvSpPr/>
          <p:nvPr/>
        </p:nvSpPr>
        <p:spPr>
          <a:xfrm>
            <a:off x="8028360" y="2331720"/>
            <a:ext cx="3492720" cy="3840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Rounded Rectangle 19"/>
          <p:cNvSpPr/>
          <p:nvPr/>
        </p:nvSpPr>
        <p:spPr>
          <a:xfrm>
            <a:off x="9180720" y="2057400"/>
            <a:ext cx="1188360" cy="502560"/>
          </a:xfrm>
          <a:prstGeom prst="roundRect">
            <a:avLst>
              <a:gd name="adj" fmla="val 16667"/>
            </a:avLst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" name="TextBox 20"/>
          <p:cNvSpPr/>
          <p:nvPr/>
        </p:nvSpPr>
        <p:spPr>
          <a:xfrm>
            <a:off x="9180720" y="2094120"/>
            <a:ext cx="1188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1855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21"/>
          <p:cNvSpPr/>
          <p:nvPr/>
        </p:nvSpPr>
        <p:spPr>
          <a:xfrm>
            <a:off x="8211240" y="2697480"/>
            <a:ext cx="31269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0f172a"/>
                </a:solidFill>
                <a:latin typeface="Arial"/>
              </a:rPr>
              <a:t>Ρούντολφ Βίρχοου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22"/>
          <p:cNvSpPr/>
          <p:nvPr/>
        </p:nvSpPr>
        <p:spPr>
          <a:xfrm>
            <a:off x="8211240" y="3246120"/>
            <a:ext cx="3126960" cy="14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1600" spc="-1" strike="noStrike">
                <a:solidFill>
                  <a:srgbClr val="1e293b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1e293b"/>
                </a:solidFill>
                <a:latin typeface="Arial"/>
              </a:rPr>
              <a:t>Δήλωσε: «Όπου υπάρχει κύτταρο, πρέπει να προϋπήρχε κύτταρο»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</a:pPr>
            <a:r>
              <a:rPr b="0" lang="en-US" sz="1600" spc="-1" strike="noStrike">
                <a:solidFill>
                  <a:srgbClr val="1e293b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1e293b"/>
                </a:solidFill>
                <a:latin typeface="Arial"/>
              </a:rPr>
              <a:t>Ανέπτυξε την 3η αρχή: Omnis cellula e cellula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343;p47" descr=""/>
          <p:cNvPicPr/>
          <p:nvPr/>
        </p:nvPicPr>
        <p:blipFill>
          <a:blip r:embed="rId1"/>
          <a:stretch/>
        </p:blipFill>
        <p:spPr>
          <a:xfrm>
            <a:off x="2057400" y="228600"/>
            <a:ext cx="8001000" cy="3200400"/>
          </a:xfrm>
          <a:prstGeom prst="rect">
            <a:avLst/>
          </a:prstGeom>
          <a:ln w="0">
            <a:noFill/>
          </a:ln>
        </p:spPr>
      </p:pic>
      <p:pic>
        <p:nvPicPr>
          <p:cNvPr id="134" name="Google Shape;352;p48" descr=""/>
          <p:cNvPicPr/>
          <p:nvPr/>
        </p:nvPicPr>
        <p:blipFill>
          <a:blip r:embed="rId2"/>
          <a:stretch/>
        </p:blipFill>
        <p:spPr>
          <a:xfrm>
            <a:off x="2057400" y="3429000"/>
            <a:ext cx="8001000" cy="3476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" name="TextBox 2"/>
          <p:cNvSpPr/>
          <p:nvPr/>
        </p:nvSpPr>
        <p:spPr>
          <a:xfrm>
            <a:off x="640080" y="411480"/>
            <a:ext cx="10515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ΣΥΝΟΨΙΖΟΝΤΑΣ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Box 3"/>
          <p:cNvSpPr/>
          <p:nvPr/>
        </p:nvSpPr>
        <p:spPr>
          <a:xfrm>
            <a:off x="640080" y="749880"/>
            <a:ext cx="108810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Η Κυτταρική Θεωρία — 3 βασικές ιδέες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4"/>
          <p:cNvSpPr/>
          <p:nvPr/>
        </p:nvSpPr>
        <p:spPr>
          <a:xfrm>
            <a:off x="640080" y="6473880"/>
            <a:ext cx="5486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5556c"/>
                </a:solidFill>
                <a:latin typeface="Arial"/>
              </a:rPr>
              <a:t>Βιολογία S4 · Ενότητα 1, Μάθημα 2 · Η Κυτταρική Θεωρία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5"/>
          <p:cNvSpPr/>
          <p:nvPr/>
        </p:nvSpPr>
        <p:spPr>
          <a:xfrm>
            <a:off x="640080" y="1600200"/>
            <a:ext cx="10606680" cy="220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1.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  Τα κύτταρα είναι η βασική μονάδα δομής, οργάνωσης και λειτουργίας κάθε έμβιου όντος. (Σλάιντεν &amp; Σβαν, 1838-39)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2.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  Κάθε οργανισμός αποτελείται από ένα ή περισσότερα κύτταρα. (Σλάιντεν &amp; Σβαν, 1838-39)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3.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  Κάθε κύτταρο προέρχεται από ένα προϋπάρχον κύτταρο (Omnis cellula e cellula). (Βίρχοου, 1855)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Εξαίρεση: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  οι ιοί — έχουν γενετικό υλικό αλλά όχι κύτταρα, γι’ αυτό οι περισσότεροι βιολόγοι δεν τους θεωρούν πλήρως «ζωντανούς».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353;p48" descr=""/>
          <p:cNvPicPr/>
          <p:nvPr/>
        </p:nvPicPr>
        <p:blipFill>
          <a:blip r:embed="rId1"/>
          <a:stretch/>
        </p:blipFill>
        <p:spPr>
          <a:xfrm>
            <a:off x="2369160" y="228600"/>
            <a:ext cx="7232040" cy="6400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2" name="TextBox 2"/>
          <p:cNvSpPr/>
          <p:nvPr/>
        </p:nvSpPr>
        <p:spPr>
          <a:xfrm>
            <a:off x="640080" y="411480"/>
            <a:ext cx="10515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ΕΝΑ ΚΥΤΤΑΡΟ, ΠΟΛΛΟΙ ΔΡΟΜΟΙ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Box 3"/>
          <p:cNvSpPr/>
          <p:nvPr/>
        </p:nvSpPr>
        <p:spPr>
          <a:xfrm>
            <a:off x="640080" y="749880"/>
            <a:ext cx="108810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Από ένα κύτταρο σε έναν ολόκληρο οργανισμό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4"/>
          <p:cNvSpPr/>
          <p:nvPr/>
        </p:nvSpPr>
        <p:spPr>
          <a:xfrm>
            <a:off x="640080" y="6473880"/>
            <a:ext cx="5486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5556c"/>
                </a:solidFill>
                <a:latin typeface="Arial"/>
              </a:rPr>
              <a:t>Βιολογία S4 · Ενότητα 1, Μάθημα 2 · Η Κυτταρική Θεωρία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Rectangle 5"/>
          <p:cNvSpPr/>
          <p:nvPr/>
        </p:nvSpPr>
        <p:spPr>
          <a:xfrm>
            <a:off x="640080" y="1737360"/>
            <a:ext cx="3474360" cy="393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6" name="TextBox 6"/>
          <p:cNvSpPr/>
          <p:nvPr/>
        </p:nvSpPr>
        <p:spPr>
          <a:xfrm>
            <a:off x="777240" y="1828800"/>
            <a:ext cx="32000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Μονοκύτταροι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Box 7"/>
          <p:cNvSpPr/>
          <p:nvPr/>
        </p:nvSpPr>
        <p:spPr>
          <a:xfrm>
            <a:off x="777240" y="2240280"/>
            <a:ext cx="3200040" cy="10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293b"/>
                </a:solidFill>
                <a:latin typeface="Arial"/>
              </a:rPr>
              <a:t>Όλα τα βακτήρια, όλα τα αρχαία, όλα τα πρωτόζωα, κάποιοι μύκητες, κάποια φύκια — παραμένουν ένα κύτταρο όλη τους τη ζωή.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8" name="Google Shape;374;p51" descr=""/>
          <p:cNvPicPr/>
          <p:nvPr/>
        </p:nvPicPr>
        <p:blipFill>
          <a:blip r:embed="rId1"/>
          <a:srcRect l="0" t="10085" r="0" b="0"/>
          <a:stretch/>
        </p:blipFill>
        <p:spPr>
          <a:xfrm>
            <a:off x="4800600" y="1371600"/>
            <a:ext cx="6350400" cy="5486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ctangle 8"/>
          <p:cNvSpPr/>
          <p:nvPr/>
        </p:nvSpPr>
        <p:spPr>
          <a:xfrm>
            <a:off x="685800" y="1143000"/>
            <a:ext cx="3474360" cy="393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TextBox 1"/>
          <p:cNvSpPr/>
          <p:nvPr/>
        </p:nvSpPr>
        <p:spPr>
          <a:xfrm>
            <a:off x="914400" y="1371600"/>
            <a:ext cx="32000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Πολυκύτταροι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Box 11"/>
          <p:cNvSpPr/>
          <p:nvPr/>
        </p:nvSpPr>
        <p:spPr>
          <a:xfrm>
            <a:off x="914400" y="2514600"/>
            <a:ext cx="320004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293b"/>
                </a:solidFill>
                <a:latin typeface="Arial"/>
              </a:rPr>
              <a:t>Όλα τα φυτά, όλα τα ζώα, κάποιοι μύκητες — ένα αρχικό κύτταρο διαιρείται και πολλαπλασιάζεται σε τρισεκατομμύρια.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2" name="Google Shape;381;p52" descr=""/>
          <p:cNvPicPr/>
          <p:nvPr/>
        </p:nvPicPr>
        <p:blipFill>
          <a:blip r:embed="rId1"/>
          <a:stretch/>
        </p:blipFill>
        <p:spPr>
          <a:xfrm>
            <a:off x="5715000" y="265320"/>
            <a:ext cx="4343400" cy="613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2"/>
          <p:cNvSpPr/>
          <p:nvPr/>
        </p:nvSpPr>
        <p:spPr>
          <a:xfrm>
            <a:off x="685800" y="1097640"/>
            <a:ext cx="3474360" cy="393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" name="TextBox 12"/>
          <p:cNvSpPr/>
          <p:nvPr/>
        </p:nvSpPr>
        <p:spPr>
          <a:xfrm>
            <a:off x="914400" y="1221120"/>
            <a:ext cx="32000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Εσύ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Box 13"/>
          <p:cNvSpPr/>
          <p:nvPr/>
        </p:nvSpPr>
        <p:spPr>
          <a:xfrm>
            <a:off x="914400" y="2151000"/>
            <a:ext cx="320004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293b"/>
                </a:solidFill>
                <a:latin typeface="Arial"/>
              </a:rPr>
              <a:t>ξεκίνησες τη ζωή σου ως ένα γονιμοποιημένο κύτταρο. Το σώμα σου σήμερα αποτελείται από περίπου 100 τρισεκατομμύρια κύτταρα.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" name="TextBox 2"/>
          <p:cNvSpPr/>
          <p:nvPr/>
        </p:nvSpPr>
        <p:spPr>
          <a:xfrm>
            <a:off x="640080" y="411480"/>
            <a:ext cx="10515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ΔΕΝ ΜΟΙΑΖΟΥΝ ΟΛΑ ΤΑ ΚΥΤΤΑΡΑ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Box 3"/>
          <p:cNvSpPr/>
          <p:nvPr/>
        </p:nvSpPr>
        <p:spPr>
          <a:xfrm>
            <a:off x="640080" y="749880"/>
            <a:ext cx="108810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Όλα τα Κύτταρα Δεν Είναι Ίδια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Box 4"/>
          <p:cNvSpPr/>
          <p:nvPr/>
        </p:nvSpPr>
        <p:spPr>
          <a:xfrm>
            <a:off x="640080" y="6473880"/>
            <a:ext cx="5486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5556c"/>
                </a:solidFill>
                <a:latin typeface="Arial"/>
              </a:rPr>
              <a:t>Βιολογία S4 · Ενότητα 1, Μάθημα 2 · Η Κυτταρική Θεωρία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Box 5"/>
          <p:cNvSpPr/>
          <p:nvPr/>
        </p:nvSpPr>
        <p:spPr>
          <a:xfrm>
            <a:off x="640080" y="1600200"/>
            <a:ext cx="10606680" cy="21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Μικροσκοπικά μονοκύτταρα: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  Το βακτήριο E. coli, μια Αμοιβάδα (μονοκύτταρο πρωτόζωο) — ολόκληροι οργανισμοί, το καθένα ένα μόνο κύτταρο.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Μόνο μέσα στο ΔΙΚΟ ΣΟΥ σώμα: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  οστικά κύτταρα, βλαστικά κύτταρα, μυϊκά κύτταρα, ερυθρά και λευκά αιμοσφαίρια, λιποκύτταρα, κύτταρα δέρματος, γεννητικά κύτταρα, νευρικά κύτταρα — εντελώς διαφορετικά σχήματα και λειτουργίες.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Το αίνιγμα: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  ένα νευρικό κύτταρο μπορεί να ξεπερνά το ένα μέτρο σε μήκος· ένα ερυθρό αιμοσφαίριο δεν έχει καθόλου πυρήνα. Δεν μοιάζουν καθόλου μεταξύ τους — και όμως είναι όλα «κύτταρα».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387;p53" descr=""/>
          <p:cNvPicPr/>
          <p:nvPr/>
        </p:nvPicPr>
        <p:blipFill>
          <a:blip r:embed="rId1"/>
          <a:stretch/>
        </p:blipFill>
        <p:spPr>
          <a:xfrm>
            <a:off x="228600" y="457200"/>
            <a:ext cx="10744200" cy="617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3381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chemeClr val="dk1"/>
                </a:solidFill>
                <a:latin typeface="Arial"/>
                <a:ea typeface="Arial"/>
              </a:rPr>
              <a:t>Βακτήριο E.Coli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chemeClr val="dk2"/>
              </a:solidFill>
              <a:latin typeface="Arial"/>
              <a:ea typeface="Arial"/>
            </a:endParaRPr>
          </a:p>
        </p:txBody>
      </p:sp>
      <p:pic>
        <p:nvPicPr>
          <p:cNvPr id="164" name="Google Shape;394;p 2" descr=""/>
          <p:cNvPicPr/>
          <p:nvPr/>
        </p:nvPicPr>
        <p:blipFill>
          <a:blip r:embed="rId1"/>
          <a:stretch/>
        </p:blipFill>
        <p:spPr>
          <a:xfrm>
            <a:off x="311760" y="1152360"/>
            <a:ext cx="4062960" cy="3416040"/>
          </a:xfrm>
          <a:prstGeom prst="rect">
            <a:avLst/>
          </a:prstGeom>
          <a:ln w="0">
            <a:noFill/>
          </a:ln>
        </p:spPr>
      </p:pic>
      <p:pic>
        <p:nvPicPr>
          <p:cNvPr id="165" name="Google Shape;395;p 2" descr=""/>
          <p:cNvPicPr/>
          <p:nvPr/>
        </p:nvPicPr>
        <p:blipFill>
          <a:blip r:embed="rId2"/>
          <a:stretch/>
        </p:blipFill>
        <p:spPr>
          <a:xfrm>
            <a:off x="4480200" y="1152360"/>
            <a:ext cx="4351680" cy="3278160"/>
          </a:xfrm>
          <a:prstGeom prst="rect">
            <a:avLst/>
          </a:prstGeom>
          <a:ln w="0">
            <a:noFill/>
          </a:ln>
        </p:spPr>
      </p:pic>
      <p:sp>
        <p:nvSpPr>
          <p:cNvPr id="166" name="Google Shape;396;p 2"/>
          <p:cNvSpPr/>
          <p:nvPr/>
        </p:nvSpPr>
        <p:spPr>
          <a:xfrm>
            <a:off x="4480200" y="446760"/>
            <a:ext cx="2957760" cy="56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2500" spc="-1" strike="noStrike">
                <a:solidFill>
                  <a:srgbClr val="000000"/>
                </a:solidFill>
                <a:latin typeface="Arial"/>
                <a:ea typeface="Arial"/>
              </a:rPr>
              <a:t>Πρωτόζωο (Αμοιβάδα)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4572000" y="444960"/>
            <a:ext cx="425988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chemeClr val="dk1"/>
                </a:solidFill>
                <a:latin typeface="Arial"/>
                <a:ea typeface="Arial"/>
              </a:rPr>
              <a:t>Οστικό κύτταρο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chemeClr val="dk2"/>
              </a:solidFill>
              <a:latin typeface="Arial"/>
              <a:ea typeface="Arial"/>
            </a:endParaRPr>
          </a:p>
        </p:txBody>
      </p:sp>
      <p:pic>
        <p:nvPicPr>
          <p:cNvPr id="169" name="Google Shape;403;p 2" descr=""/>
          <p:cNvPicPr/>
          <p:nvPr/>
        </p:nvPicPr>
        <p:blipFill>
          <a:blip r:embed="rId1"/>
          <a:stretch/>
        </p:blipFill>
        <p:spPr>
          <a:xfrm>
            <a:off x="4509000" y="1226880"/>
            <a:ext cx="4433040" cy="3416040"/>
          </a:xfrm>
          <a:prstGeom prst="rect">
            <a:avLst/>
          </a:prstGeom>
          <a:ln w="0">
            <a:noFill/>
          </a:ln>
        </p:spPr>
      </p:pic>
      <p:pic>
        <p:nvPicPr>
          <p:cNvPr id="170" name="Google Shape;404;p 2" descr=""/>
          <p:cNvPicPr/>
          <p:nvPr/>
        </p:nvPicPr>
        <p:blipFill>
          <a:blip r:embed="rId2"/>
          <a:stretch/>
        </p:blipFill>
        <p:spPr>
          <a:xfrm>
            <a:off x="73800" y="1226880"/>
            <a:ext cx="3922560" cy="3416040"/>
          </a:xfrm>
          <a:prstGeom prst="rect">
            <a:avLst/>
          </a:prstGeom>
          <a:ln w="0">
            <a:noFill/>
          </a:ln>
        </p:spPr>
      </p:pic>
      <p:sp>
        <p:nvSpPr>
          <p:cNvPr id="171" name="Google Shape;405;p 2"/>
          <p:cNvSpPr/>
          <p:nvPr/>
        </p:nvSpPr>
        <p:spPr>
          <a:xfrm>
            <a:off x="249480" y="531360"/>
            <a:ext cx="3148920" cy="56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2500" spc="-1" strike="noStrike">
                <a:solidFill>
                  <a:srgbClr val="000000"/>
                </a:solidFill>
                <a:latin typeface="Arial"/>
                <a:ea typeface="Arial"/>
              </a:rPr>
              <a:t>Βλαστικό κύτταρο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34135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chemeClr val="dk1"/>
                </a:solidFill>
                <a:latin typeface="Arial"/>
                <a:ea typeface="Arial"/>
              </a:rPr>
              <a:t>Μυϊκό κύτταρο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chemeClr val="dk2"/>
              </a:solidFill>
              <a:latin typeface="Arial"/>
              <a:ea typeface="Arial"/>
            </a:endParaRPr>
          </a:p>
        </p:txBody>
      </p:sp>
      <p:pic>
        <p:nvPicPr>
          <p:cNvPr id="174" name="Google Shape;412;p 2" descr=""/>
          <p:cNvPicPr/>
          <p:nvPr/>
        </p:nvPicPr>
        <p:blipFill>
          <a:blip r:embed="rId1"/>
          <a:stretch/>
        </p:blipFill>
        <p:spPr>
          <a:xfrm>
            <a:off x="4826520" y="1152360"/>
            <a:ext cx="4114440" cy="3115440"/>
          </a:xfrm>
          <a:prstGeom prst="rect">
            <a:avLst/>
          </a:prstGeom>
          <a:ln w="0">
            <a:noFill/>
          </a:ln>
        </p:spPr>
      </p:pic>
      <p:pic>
        <p:nvPicPr>
          <p:cNvPr id="175" name="Google Shape;413;p 2" descr=""/>
          <p:cNvPicPr/>
          <p:nvPr/>
        </p:nvPicPr>
        <p:blipFill>
          <a:blip r:embed="rId2"/>
          <a:srcRect l="0" t="0" r="3468" b="0"/>
          <a:stretch/>
        </p:blipFill>
        <p:spPr>
          <a:xfrm>
            <a:off x="202680" y="1117080"/>
            <a:ext cx="4623480" cy="3486600"/>
          </a:xfrm>
          <a:prstGeom prst="rect">
            <a:avLst/>
          </a:prstGeom>
          <a:ln w="0">
            <a:noFill/>
          </a:ln>
        </p:spPr>
      </p:pic>
      <p:sp>
        <p:nvSpPr>
          <p:cNvPr id="176" name="PlaceHolder 3"/>
          <p:cNvSpPr>
            <a:spLocks noGrp="1"/>
          </p:cNvSpPr>
          <p:nvPr>
            <p:ph type="title"/>
          </p:nvPr>
        </p:nvSpPr>
        <p:spPr>
          <a:xfrm>
            <a:off x="4826520" y="444960"/>
            <a:ext cx="41144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chemeClr val="dk1"/>
                </a:solidFill>
                <a:latin typeface="Arial"/>
                <a:ea typeface="Arial"/>
              </a:rPr>
              <a:t>Ερυθρά και λευκά αιμοσφαίρια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426600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chemeClr val="dk1"/>
                </a:solidFill>
                <a:latin typeface="Arial"/>
                <a:ea typeface="Arial"/>
              </a:rPr>
              <a:t>Λιποκύτταρα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chemeClr val="dk2"/>
              </a:solidFill>
              <a:latin typeface="Arial"/>
              <a:ea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chemeClr val="dk2"/>
              </a:solidFill>
              <a:latin typeface="Arial"/>
              <a:ea typeface="Arial"/>
            </a:endParaRPr>
          </a:p>
        </p:txBody>
      </p:sp>
      <p:pic>
        <p:nvPicPr>
          <p:cNvPr id="180" name="Google Shape;422;p 2" descr=""/>
          <p:cNvPicPr/>
          <p:nvPr/>
        </p:nvPicPr>
        <p:blipFill>
          <a:blip r:embed="rId1"/>
          <a:stretch/>
        </p:blipFill>
        <p:spPr>
          <a:xfrm>
            <a:off x="311760" y="1205280"/>
            <a:ext cx="4266000" cy="3310200"/>
          </a:xfrm>
          <a:prstGeom prst="rect">
            <a:avLst/>
          </a:prstGeom>
          <a:ln w="0">
            <a:noFill/>
          </a:ln>
        </p:spPr>
      </p:pic>
      <p:pic>
        <p:nvPicPr>
          <p:cNvPr id="181" name="Google Shape;423;p 2" descr=""/>
          <p:cNvPicPr/>
          <p:nvPr/>
        </p:nvPicPr>
        <p:blipFill>
          <a:blip r:embed="rId2"/>
          <a:stretch/>
        </p:blipFill>
        <p:spPr>
          <a:xfrm>
            <a:off x="4663440" y="1258200"/>
            <a:ext cx="4338000" cy="3310200"/>
          </a:xfrm>
          <a:prstGeom prst="rect">
            <a:avLst/>
          </a:prstGeom>
          <a:ln w="0">
            <a:noFill/>
          </a:ln>
        </p:spPr>
      </p:pic>
      <p:sp>
        <p:nvSpPr>
          <p:cNvPr id="182" name="Google Shape;424;p 2"/>
          <p:cNvSpPr/>
          <p:nvPr/>
        </p:nvSpPr>
        <p:spPr>
          <a:xfrm>
            <a:off x="4663440" y="446760"/>
            <a:ext cx="4512240" cy="56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2500" spc="-1" strike="noStrike">
                <a:solidFill>
                  <a:srgbClr val="000000"/>
                </a:solidFill>
                <a:latin typeface="Arial"/>
                <a:ea typeface="Arial"/>
              </a:rPr>
              <a:t>Κύτταρα δέρματος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303228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chemeClr val="dk1"/>
                </a:solidFill>
                <a:latin typeface="Arial"/>
                <a:ea typeface="Arial"/>
              </a:rPr>
              <a:t>Γεννητικά κύτταρα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4" name="Google Shape;430;p 2" descr=""/>
          <p:cNvPicPr/>
          <p:nvPr/>
        </p:nvPicPr>
        <p:blipFill>
          <a:blip r:embed="rId1"/>
          <a:stretch/>
        </p:blipFill>
        <p:spPr>
          <a:xfrm>
            <a:off x="311760" y="1152360"/>
            <a:ext cx="4211640" cy="3179880"/>
          </a:xfrm>
          <a:prstGeom prst="rect">
            <a:avLst/>
          </a:prstGeom>
          <a:ln w="0">
            <a:noFill/>
          </a:ln>
        </p:spPr>
      </p:pic>
      <p:pic>
        <p:nvPicPr>
          <p:cNvPr id="185" name="Google Shape;431;p 2" descr=""/>
          <p:cNvPicPr/>
          <p:nvPr/>
        </p:nvPicPr>
        <p:blipFill>
          <a:blip r:embed="rId2"/>
          <a:stretch/>
        </p:blipFill>
        <p:spPr>
          <a:xfrm>
            <a:off x="4669200" y="1195920"/>
            <a:ext cx="3999600" cy="2250360"/>
          </a:xfrm>
          <a:prstGeom prst="rect">
            <a:avLst/>
          </a:prstGeom>
          <a:ln w="0">
            <a:noFill/>
          </a:ln>
        </p:spPr>
      </p:pic>
      <p:sp>
        <p:nvSpPr>
          <p:cNvPr id="186" name="Google Shape;432;p 2"/>
          <p:cNvSpPr/>
          <p:nvPr/>
        </p:nvSpPr>
        <p:spPr>
          <a:xfrm>
            <a:off x="4690800" y="446760"/>
            <a:ext cx="3956400" cy="56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2500" spc="-1" strike="noStrike">
                <a:solidFill>
                  <a:srgbClr val="000000"/>
                </a:solidFill>
                <a:latin typeface="Arial"/>
                <a:ea typeface="Arial"/>
              </a:rPr>
              <a:t>Νευρικά κύτταρα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8" name="TextBox 2"/>
          <p:cNvSpPr/>
          <p:nvPr/>
        </p:nvSpPr>
        <p:spPr>
          <a:xfrm>
            <a:off x="640080" y="1188720"/>
            <a:ext cx="108810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ΣΚΕΨΟΥ ΠΡΩΤΑ, ΜΕΤΑ ΕΛΕΓΞΕ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Box 3"/>
          <p:cNvSpPr/>
          <p:nvPr/>
        </p:nvSpPr>
        <p:spPr>
          <a:xfrm>
            <a:off x="640080" y="2561400"/>
            <a:ext cx="10881000" cy="164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0f172a"/>
                </a:solidFill>
                <a:latin typeface="Verdana"/>
              </a:rPr>
              <a:t>Αν τα κύτταρα φαίνονται τόσο διαφορετικά — βακτήριο, αιμοσφαίριο, φυτικό κύτταρο, νευρικό κύτταρο — τι θα μπορούσαν να έχουν ΟΛΑ κοινό;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Box 4"/>
          <p:cNvSpPr/>
          <p:nvPr/>
        </p:nvSpPr>
        <p:spPr>
          <a:xfrm>
            <a:off x="640080" y="4846320"/>
            <a:ext cx="105152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700" spc="-1" strike="noStrike">
                <a:solidFill>
                  <a:srgbClr val="45556c"/>
                </a:solidFill>
                <a:latin typeface="Arial"/>
              </a:rPr>
              <a:t>Σκεφτείτε τουλάχιστον 2 ιδέες με τον διπλανό σας πριν την επόμενη διαφάνεια.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Box 5"/>
          <p:cNvSpPr/>
          <p:nvPr/>
        </p:nvSpPr>
        <p:spPr>
          <a:xfrm>
            <a:off x="640080" y="6355080"/>
            <a:ext cx="10058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45556c"/>
                </a:solidFill>
                <a:latin typeface="Arial"/>
              </a:rPr>
              <a:t>Βιολογία S4 · Ενότητα 1, Μάθημα 2 · Η Κυτταρική Θεωρία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3" name="TextBox 2"/>
          <p:cNvSpPr/>
          <p:nvPr/>
        </p:nvSpPr>
        <p:spPr>
          <a:xfrm>
            <a:off x="640080" y="411480"/>
            <a:ext cx="10515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Η ΑΠΑΝΤΗΣΗ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Box 3"/>
          <p:cNvSpPr/>
          <p:nvPr/>
        </p:nvSpPr>
        <p:spPr>
          <a:xfrm>
            <a:off x="640080" y="749880"/>
            <a:ext cx="108810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4 χαρακτηριστικά που έχει κάθε κύτταρο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Box 4"/>
          <p:cNvSpPr/>
          <p:nvPr/>
        </p:nvSpPr>
        <p:spPr>
          <a:xfrm>
            <a:off x="640080" y="6473880"/>
            <a:ext cx="5486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5556c"/>
                </a:solidFill>
                <a:latin typeface="Arial"/>
              </a:rPr>
              <a:t>Βιολογία S4 · Ενότητα 1, Μάθημα 2 · Η Κυτταρική Θεωρία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Box 5"/>
          <p:cNvSpPr/>
          <p:nvPr/>
        </p:nvSpPr>
        <p:spPr>
          <a:xfrm>
            <a:off x="640080" y="1600200"/>
            <a:ext cx="10606680" cy="32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Όλα τα κύτταρα περικλείονται από μία </a:t>
            </a: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πλασματική μεμβράνη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Μέσα σε αυτό το όριο, κάθε κύτταρο είναι γεμάτο με μια ζελατινοειδή ουσία που ονομάζεται κυτταρόπλασμα — το υγρό μέσα στο οποίο επιπλέουν και λειτουργούν όλες οι εσωτερικές δομές του κυττάρου. Μέσα σε αυτόν τον χώρο, κάθε κύτταρο έχει: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Οδηγίες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  για να χτίσει και να συντηρήσει τον εαυτό του — </a:t>
            </a: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το γενετικό υλικό (DNA)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Μηχανισμό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  για να εκτελέσει αυτές τις οδηγίες — π.χ.</a:t>
            </a: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 τα ριβοσώματα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, που φτιάχνουν πρωτεΐνες.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Έναν τρόπο μετατροπής ενέργειας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  σε χρησιμοποιήσιμη μορφή, για να τροφοδοτήσει όλες τις λειτουργίες του κυττάρου.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8" name="TextBox 2"/>
          <p:cNvSpPr/>
          <p:nvPr/>
        </p:nvSpPr>
        <p:spPr>
          <a:xfrm>
            <a:off x="640080" y="1188720"/>
            <a:ext cx="108810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ΕΛΕΓΞΕ ΤΗΝ ΚΑΤΑΝΟΗΣΗ ΣΟΥ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Box 3"/>
          <p:cNvSpPr/>
          <p:nvPr/>
        </p:nvSpPr>
        <p:spPr>
          <a:xfrm>
            <a:off x="640080" y="2820240"/>
            <a:ext cx="10881000" cy="11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0f172a"/>
                </a:solidFill>
                <a:latin typeface="Verdana"/>
              </a:rPr>
              <a:t>Ένα απλό βακτηριακό κύτταρο — χωρίς πυρήνα — έχει και αυτό τα 4 χαρακτηριστικά;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Box 4"/>
          <p:cNvSpPr/>
          <p:nvPr/>
        </p:nvSpPr>
        <p:spPr>
          <a:xfrm>
            <a:off x="640080" y="4846320"/>
            <a:ext cx="105152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700" spc="-1" strike="noStrike">
                <a:solidFill>
                  <a:srgbClr val="45556c"/>
                </a:solidFill>
                <a:latin typeface="Arial"/>
              </a:rPr>
              <a:t>Ναι. Το «χωρίς πυρήνα» αλλάζει ΠΩΣ αποθηκεύονται οι οδηγίες, όχι αν υπάρχουν.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Box 5"/>
          <p:cNvSpPr/>
          <p:nvPr/>
        </p:nvSpPr>
        <p:spPr>
          <a:xfrm>
            <a:off x="640080" y="6355080"/>
            <a:ext cx="10058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45556c"/>
                </a:solidFill>
                <a:latin typeface="Arial"/>
              </a:rPr>
              <a:t>Βιολογία S4 · Ενότητα 1, Μάθημα 2 · Η Κυτταρική Θεωρία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3" name="TextBox 2"/>
          <p:cNvSpPr/>
          <p:nvPr/>
        </p:nvSpPr>
        <p:spPr>
          <a:xfrm>
            <a:off x="640080" y="411480"/>
            <a:ext cx="10515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ΒΑΣΙΚΑ ΣΥΜΠΕΡΑΣΜΑΤΑ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Box 3"/>
          <p:cNvSpPr/>
          <p:nvPr/>
        </p:nvSpPr>
        <p:spPr>
          <a:xfrm>
            <a:off x="640080" y="749880"/>
            <a:ext cx="108810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Τι πρέπει να θυμάσαι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Box 4"/>
          <p:cNvSpPr/>
          <p:nvPr/>
        </p:nvSpPr>
        <p:spPr>
          <a:xfrm>
            <a:off x="640080" y="6473880"/>
            <a:ext cx="5486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5556c"/>
                </a:solidFill>
                <a:latin typeface="Arial"/>
              </a:rPr>
              <a:t>Βιολογία S4 · Ενότητα 1, Μάθημα 2 · Η Κυτταρική Θεωρία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Box 5"/>
          <p:cNvSpPr/>
          <p:nvPr/>
        </p:nvSpPr>
        <p:spPr>
          <a:xfrm>
            <a:off x="640080" y="1645920"/>
            <a:ext cx="10606680" cy="30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Η κυτταρική θεωρία: τα κύτταρα είναι η βασική μονάδα της ζωής· όλοι οι οργανισμοί αποτελούνται από κύτταρα· κάθε κύτταρο προέρχεται από προϋπάρχον κύτταρο.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Χρειάστηκαν 6 επιστήμονες, μέσα σε 265 χρόνια — από το πρώτο μικροσκόπιο του Γιάνσεν (1590) έως την 3η αρχή του Βίρχοου (1855) — για να χτιστεί αυτή η θεωρία.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Οι ιοί είναι η εξαίρεση — χωρίς κύτταρα, άρα όχι πλήρως «ζωντανοί» με αυτόν τον ορισμό.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Οι οργανισμοί μπορεί να είναι μονοκύτταροι (ένα κύτταρο, όλη τη ζωή) ή πολυκύτταροι (ένα κύτταρο → τρισεκατομμύρια).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Όσο διαφορετικά και να φαίνονται (από βακτήρια μέχρι νευρικά κύτταρα), κάθε κύτταρο μοιράζεται 4 χαρακτηριστικά: όριο, οδηγίες, μηχανισμό, μετατροπή ενέργειας, όλα μέσα στο κυτταρόπλασμα.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Rectangle 6"/>
          <p:cNvSpPr/>
          <p:nvPr/>
        </p:nvSpPr>
        <p:spPr>
          <a:xfrm>
            <a:off x="640080" y="5577840"/>
            <a:ext cx="10881000" cy="776880"/>
          </a:xfrm>
          <a:prstGeom prst="rect">
            <a:avLst/>
          </a:prstGeom>
          <a:solidFill>
            <a:srgbClr val="fdece1"/>
          </a:solidFill>
          <a:ln w="15875">
            <a:solidFill>
              <a:srgbClr val="ea580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8" name="TextBox 7"/>
          <p:cNvSpPr/>
          <p:nvPr/>
        </p:nvSpPr>
        <p:spPr>
          <a:xfrm>
            <a:off x="822960" y="5687640"/>
            <a:ext cx="20113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ea580c"/>
                </a:solidFill>
                <a:latin typeface="Arial"/>
              </a:rPr>
              <a:t>ΕΠΟΜΕΝΟ ΜΑΘΗΜΑ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Box 8"/>
          <p:cNvSpPr/>
          <p:nvPr/>
        </p:nvSpPr>
        <p:spPr>
          <a:xfrm>
            <a:off x="2743200" y="5687640"/>
            <a:ext cx="84121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0f172a"/>
                </a:solidFill>
                <a:latin typeface="Arial"/>
              </a:rPr>
              <a:t>Μάθημα 3 — Προκαρυωτικά vs. ευκαρυωτικά κύτταρα, και τι υπάρχει στην πραγματικότητα μέσα τους.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2026-09-26T22:33:03Z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