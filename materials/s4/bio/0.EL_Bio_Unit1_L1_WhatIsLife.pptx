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2.xml.rels" ContentType="application/vnd.openxmlformats-package.relationships+xml"/>
  <Override PartName="/ppt/slideMasters/_rels/slideMaster6.xml.rels" ContentType="application/vnd.openxmlformats-package.relationships+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13.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Masters/slideMaster13.xml" ContentType="application/vnd.openxmlformats-officedocument.presentationml.slideMaster+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s/_rels/slide10.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17.xml.rels" ContentType="application/vnd.openxmlformats-package.relationships+xml"/>
  <Override PartName="/ppt/slides/_rels/slide3.xml.rels" ContentType="application/vnd.openxmlformats-package.relationships+xml"/>
  <Override PartName="/ppt/slides/_rels/slide18.xml.rels" ContentType="application/vnd.openxmlformats-package.relationships+xml"/>
  <Override PartName="/ppt/slides/_rels/slide4.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10.png" ContentType="image/png"/>
  <Override PartName="/ppt/media/image7.png" ContentType="image/png"/>
  <Override PartName="/ppt/media/image11.png" ContentType="image/png"/>
  <Override PartName="/ppt/media/image8.png" ContentType="image/png"/>
  <Override PartName="/ppt/media/image12.png" ContentType="image/png"/>
  <Override PartName="/ppt/media/image9.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Lst>
  <p:sldIdLst>
    <p:sldId id="256" r:id="rId15"/>
    <p:sldId id="257" r:id="rId16"/>
    <p:sldId id="258" r:id="rId17"/>
    <p:sldId id="259" r:id="rId18"/>
    <p:sldId id="260" r:id="rId19"/>
    <p:sldId id="261" r:id="rId20"/>
    <p:sldId id="262" r:id="rId21"/>
    <p:sldId id="263" r:id="rId22"/>
    <p:sldId id="264" r:id="rId23"/>
    <p:sldId id="265" r:id="rId24"/>
    <p:sldId id="266" r:id="rId25"/>
    <p:sldId id="267" r:id="rId26"/>
    <p:sldId id="268" r:id="rId27"/>
    <p:sldId id="269" r:id="rId28"/>
    <p:sldId id="270" r:id="rId29"/>
    <p:sldId id="271" r:id="rId30"/>
    <p:sldId id="272" r:id="rId31"/>
    <p:sldId id="273" r:id="rId32"/>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 Target="slides/slide1.xml"/><Relationship Id="rId16" Type="http://schemas.openxmlformats.org/officeDocument/2006/relationships/slide" Target="slides/slide2.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9.xml"/><Relationship Id="rId24" Type="http://schemas.openxmlformats.org/officeDocument/2006/relationships/slide" Target="slides/slide10.xml"/><Relationship Id="rId25" Type="http://schemas.openxmlformats.org/officeDocument/2006/relationships/slide" Target="slides/slide11.xml"/><Relationship Id="rId26" Type="http://schemas.openxmlformats.org/officeDocument/2006/relationships/slide" Target="slides/slide12.xml"/><Relationship Id="rId27" Type="http://schemas.openxmlformats.org/officeDocument/2006/relationships/slide" Target="slides/slide13.xml"/><Relationship Id="rId28" Type="http://schemas.openxmlformats.org/officeDocument/2006/relationships/slide" Target="slides/slide14.xml"/><Relationship Id="rId29" Type="http://schemas.openxmlformats.org/officeDocument/2006/relationships/slide" Target="slides/slide15.xml"/><Relationship Id="rId30" Type="http://schemas.openxmlformats.org/officeDocument/2006/relationships/slide" Target="slides/slide16.xml"/><Relationship Id="rId31" Type="http://schemas.openxmlformats.org/officeDocument/2006/relationships/slide" Target="slides/slide17.xml"/><Relationship Id="rId32" Type="http://schemas.openxmlformats.org/officeDocument/2006/relationships/slide" Target="slides/slide18.xml"/><Relationship Id="rId3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5" name="PlaceHolder 2"/>
          <p:cNvSpPr>
            <a:spLocks noGrp="1"/>
          </p:cNvSpPr>
          <p:nvPr>
            <p:ph type="subTitle"/>
          </p:nvPr>
        </p:nvSpPr>
        <p:spPr>
          <a:xfrm>
            <a:off x="609480" y="1604520"/>
            <a:ext cx="1097208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6E17B358-4277-450B-922C-9B6230326A3B}"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4E423CC2-1862-4AF0-AA87-2E2C6024C96D}"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5D49667E-A239-497D-A541-1C2239A158A8}"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2" name="PlaceHolder 2"/>
          <p:cNvSpPr>
            <a:spLocks noGrp="1"/>
          </p:cNvSpPr>
          <p:nvPr>
            <p:ph/>
          </p:nvPr>
        </p:nvSpPr>
        <p:spPr>
          <a:xfrm>
            <a:off x="609480" y="1604520"/>
            <a:ext cx="109720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D3EA9A0E-7FA3-4086-8CC9-E2DEB1DCFD3B}"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F4E20A08-65A4-4706-8C60-E4BDD5E6B732}"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AE5C98FE-DE9E-4B33-8006-B92543DDD772}" type="slidenum">
              <a:t>&lt;#&gt;</a:t>
            </a:fld>
          </a:p>
        </p:txBody>
      </p:sp>
      <p:sp>
        <p:nvSpPr>
          <p:cNvPr id="7" name="PlaceHolder 6"/>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984BFE93-AA79-4940-946B-482BB7CC55A7}"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4E7869F2-AAA0-46CB-8D02-C03DD20921FC}" type="slidenum">
              <a:t>&lt;#&gt;</a:t>
            </a:fld>
          </a:p>
        </p:txBody>
      </p:sp>
      <p:sp>
        <p:nvSpPr>
          <p:cNvPr id="5" name="PlaceHolder 4"/>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980BCB3E-9A47-4A81-9DBB-540FDDCF46B5}"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6F0A9C6D-A4CE-4E8A-AD75-3660BEB177F2}" type="slidenum">
              <a:t>&lt;#&gt;</a:t>
            </a:fld>
          </a:p>
        </p:txBody>
      </p:sp>
      <p:sp>
        <p:nvSpPr>
          <p:cNvPr id="4" name="PlaceHolder 3"/>
          <p:cNvSpPr>
            <a:spLocks noGrp="1"/>
          </p:cNvSpPr>
          <p:nvPr>
            <p:ph type="dt" idx="28"/>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F1B38BD0-6C07-48E3-B2BA-B01880BE6DE4}" type="slidenum">
              <a:t>&lt;#&gt;</a:t>
            </a:fld>
          </a:p>
        </p:txBody>
      </p:sp>
      <p:sp>
        <p:nvSpPr>
          <p:cNvPr id="4" name="PlaceHolder 3"/>
          <p:cNvSpPr>
            <a:spLocks noGrp="1"/>
          </p:cNvSpPr>
          <p:nvPr>
            <p:ph type="dt" idx="31"/>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spTree>
      <p:nvGrpSpPr>
        <p:cNvPr id="1" name=""/>
        <p:cNvGrpSpPr/>
        <p:nvPr/>
      </p:nvGrpSpPr>
      <p:grpSpPr>
        <a:xfrm>
          <a:off x="0" y="0"/>
          <a:ext cx="0" cy="0"/>
          <a:chOff x="0" y="0"/>
          <a:chExt cx="0" cy="0"/>
        </a:xfrm>
      </p:grpSpPr>
      <p:sp>
        <p:nvSpPr>
          <p:cNvPr id="70"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71" name="PlaceHolder 2"/>
          <p:cNvSpPr>
            <a:spLocks noGrp="1"/>
          </p:cNvSpPr>
          <p:nvPr>
            <p:ph/>
          </p:nvPr>
        </p:nvSpPr>
        <p:spPr>
          <a:xfrm>
            <a:off x="609480" y="1604520"/>
            <a:ext cx="109720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4" name="PlaceHolder 3"/>
          <p:cNvSpPr>
            <a:spLocks noGrp="1"/>
          </p:cNvSpPr>
          <p:nvPr>
            <p:ph type="sldNum" idx="34"/>
          </p:nvPr>
        </p:nvSpPr>
        <p:spPr/>
        <p:txBody>
          <a:bodyPr/>
          <a:p>
            <a:fld id="{6FC53F44-DAF6-41FA-8222-A1A2781ABD4E}" type="slidenum">
              <a:t>&lt;#&gt;</a:t>
            </a:fld>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spTree>
      <p:nvGrpSpPr>
        <p:cNvPr id="1" name=""/>
        <p:cNvGrpSpPr/>
        <p:nvPr/>
      </p:nvGrpSpPr>
      <p:grpSpPr>
        <a:xfrm>
          <a:off x="0" y="0"/>
          <a:ext cx="0" cy="0"/>
          <a:chOff x="0" y="0"/>
          <a:chExt cx="0" cy="0"/>
        </a:xfrm>
      </p:grpSpPr>
      <p:sp>
        <p:nvSpPr>
          <p:cNvPr id="76"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7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7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5" name="PlaceHolder 4"/>
          <p:cNvSpPr>
            <a:spLocks noGrp="1"/>
          </p:cNvSpPr>
          <p:nvPr>
            <p:ph type="sldNum" idx="35"/>
          </p:nvPr>
        </p:nvSpPr>
        <p:spPr/>
        <p:txBody>
          <a:bodyPr/>
          <a:p>
            <a:fld id="{A284C03F-569E-4E05-AE04-0BDD9FFAB143}"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B59CBC3D-3C06-4B1B-8E33-366AF42C6D43}"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44C9067E-6300-4D7E-BBB5-46D4A02BE6BD}"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rIns="91440" tIns="45720" bIns="45720" anchor="ctr" vert="eaVert">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A2D25E3E-2857-42AB-9C59-ABBEE24A1D9B}"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BC815106-D903-436B-8C34-8051ABA546F0}"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Autofit/>
          </a:bodyPr>
          <a:p>
            <a:pPr indent="0" defTabSz="457200">
              <a:lnSpc>
                <a:spcPct val="100000"/>
              </a:lnSpc>
              <a:buNone/>
            </a:pPr>
            <a:r>
              <a:rPr b="1" lang="en-US" sz="4000" spc="-1" strike="noStrike" cap="all">
                <a:solidFill>
                  <a:schemeClr val="dk1"/>
                </a:solidFill>
                <a:latin typeface="Calibri"/>
              </a:rPr>
              <a:t>Click to edit </a:t>
            </a:r>
            <a:r>
              <a:rPr b="1" lang="en-US" sz="4000" spc="-1" strike="noStrike" cap="all">
                <a:solidFill>
                  <a:schemeClr val="dk1"/>
                </a:solidFill>
                <a:latin typeface="Calibri"/>
              </a:rPr>
              <a:t>Master title </a:t>
            </a:r>
            <a:r>
              <a:rPr b="1" lang="en-US" sz="4000" spc="-1" strike="noStrike" cap="all">
                <a:solidFill>
                  <a:schemeClr val="dk1"/>
                </a:solidFill>
                <a:latin typeface="Calibri"/>
              </a:rPr>
              <a:t>style</a:t>
            </a:r>
            <a:endParaRPr b="0" lang="en-US" sz="4000" spc="-1" strike="noStrike">
              <a:solidFill>
                <a:schemeClr val="dk1"/>
              </a:solidFill>
              <a:latin typeface="Calibri"/>
            </a:endParaRPr>
          </a:p>
        </p:txBody>
      </p:sp>
      <p:sp>
        <p:nvSpPr>
          <p:cNvPr id="24"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Autofit/>
          </a:bodyPr>
          <a:p>
            <a:pPr indent="0" defTabSz="457200">
              <a:lnSpc>
                <a:spcPct val="100000"/>
              </a:lnSpc>
              <a:spcBef>
                <a:spcPts val="400"/>
              </a:spcBef>
              <a:buNone/>
              <a:tabLst>
                <a:tab algn="l" pos="0"/>
              </a:tabLst>
            </a:pPr>
            <a:r>
              <a:rPr b="0" lang="en-US" sz="2000" spc="-1" strike="noStrike">
                <a:solidFill>
                  <a:schemeClr val="dk1">
                    <a:tint val="75000"/>
                  </a:schemeClr>
                </a:solidFill>
                <a:latin typeface="Calibri"/>
              </a:rPr>
              <a:t>Click to edit Master text styles</a:t>
            </a:r>
            <a:endParaRPr b="0" lang="en-US" sz="2000" spc="-1" strike="noStrike">
              <a:solidFill>
                <a:schemeClr val="dk1"/>
              </a:solidFill>
              <a:latin typeface="Calibri"/>
            </a:endParaRPr>
          </a:p>
        </p:txBody>
      </p:sp>
      <p:sp>
        <p:nvSpPr>
          <p:cNvPr id="25"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6"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7"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435E5DDF-B224-4CAC-AEA2-86B3BBFE20C5}"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a:t>
            </a:r>
            <a:r>
              <a:rPr b="0" lang="en-US" sz="4400" spc="-1" strike="noStrike">
                <a:solidFill>
                  <a:schemeClr val="dk1"/>
                </a:solidFill>
                <a:latin typeface="Calibri"/>
              </a:rPr>
              <a:t>Master title </a:t>
            </a:r>
            <a:r>
              <a:rPr b="0" lang="en-US" sz="4400" spc="-1" strike="noStrike">
                <a:solidFill>
                  <a:schemeClr val="dk1"/>
                </a:solidFill>
                <a:latin typeface="Calibri"/>
              </a:rPr>
              <a:t>style</a:t>
            </a:r>
            <a:endParaRPr b="0" lang="en-US" sz="4400" spc="-1" strike="noStrike">
              <a:solidFill>
                <a:schemeClr val="dk1"/>
              </a:solidFill>
              <a:latin typeface="Calibri"/>
            </a:endParaRPr>
          </a:p>
        </p:txBody>
      </p:sp>
      <p:sp>
        <p:nvSpPr>
          <p:cNvPr id="29"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0"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1" name="PlaceHolder 4"/>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32" name="PlaceHolder 5"/>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 name="PlaceHolder 6"/>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261B2A13-F430-4603-99DF-ABE8314BDEF6}"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38"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39"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0"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41"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2" name="PlaceHolder 6"/>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3" name="PlaceHolder 7"/>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 name="PlaceHolder 8"/>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B3FAA3AE-875B-4A66-BA87-180DE43D9B5C}"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46"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7"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FA9C5CF8-410E-47F9-8C77-A27300D17908}"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1" name="PlaceHolder 2"/>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2" name="PlaceHolder 3"/>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AEFCCF8D-9924-45B1-BE35-25B506951756}"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3" name="PlaceHolder 4"/>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54" name="PlaceHolder 5"/>
          <p:cNvSpPr>
            <a:spLocks noGrp="1"/>
          </p:cNvSpPr>
          <p:nvPr>
            <p:ph type="body"/>
          </p:nvPr>
        </p:nvSpPr>
        <p:spPr>
          <a:xfrm>
            <a:off x="609480" y="1604520"/>
            <a:ext cx="1097208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56"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57"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58"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9"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0"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7FBEA797-D573-4498-BB98-950A92449C73}"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62"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3200" spc="-1" strike="noStrike">
                <a:solidFill>
                  <a:schemeClr val="dk1"/>
                </a:solidFill>
                <a:latin typeface="Calibri"/>
              </a:rPr>
              <a:t>Second Outline Level</a:t>
            </a:r>
            <a:endParaRPr b="0" lang="en-US" sz="32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3200" spc="-1" strike="noStrike">
                <a:solidFill>
                  <a:schemeClr val="dk1"/>
                </a:solidFill>
                <a:latin typeface="Calibri"/>
              </a:rPr>
              <a:t>Third Outline Level</a:t>
            </a:r>
            <a:endParaRPr b="0" lang="en-US" sz="32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3200" spc="-1" strike="noStrike">
                <a:solidFill>
                  <a:schemeClr val="dk1"/>
                </a:solidFill>
                <a:latin typeface="Calibri"/>
              </a:rPr>
              <a:t>Fourth Outline Level</a:t>
            </a:r>
            <a:endParaRPr b="0" lang="en-US" sz="32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3200" spc="-1" strike="noStrike">
                <a:solidFill>
                  <a:schemeClr val="dk1"/>
                </a:solidFill>
                <a:latin typeface="Calibri"/>
              </a:rPr>
              <a:t>Fifth Outline Level</a:t>
            </a:r>
            <a:endParaRPr b="0" lang="en-US" sz="32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3200" spc="-1" strike="noStrike">
                <a:solidFill>
                  <a:schemeClr val="dk1"/>
                </a:solidFill>
                <a:latin typeface="Calibri"/>
              </a:rPr>
              <a:t>Sixth Outline Level</a:t>
            </a:r>
            <a:endParaRPr b="0" lang="en-US" sz="32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3200" spc="-1" strike="noStrike">
                <a:solidFill>
                  <a:schemeClr val="dk1"/>
                </a:solidFill>
                <a:latin typeface="Calibri"/>
              </a:rPr>
              <a:t>Seventh Outline Level</a:t>
            </a:r>
            <a:endParaRPr b="0" lang="en-US" sz="3200" spc="-1" strike="noStrike">
              <a:solidFill>
                <a:schemeClr val="dk1"/>
              </a:solidFill>
              <a:latin typeface="Calibri"/>
            </a:endParaRPr>
          </a:p>
        </p:txBody>
      </p:sp>
      <p:sp>
        <p:nvSpPr>
          <p:cNvPr id="63"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64"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65"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6"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9A8B9F2B-EE4C-45FA-B754-6FB320D45D36}"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7" name="PlaceHolder 1"/>
          <p:cNvSpPr>
            <a:spLocks noGrp="1"/>
          </p:cNvSpPr>
          <p:nvPr>
            <p:ph type="title"/>
          </p:nvPr>
        </p:nvSpPr>
        <p:spPr>
          <a:xfrm>
            <a:off x="415440" y="592920"/>
            <a:ext cx="11359800" cy="763200"/>
          </a:xfrm>
          <a:prstGeom prst="rect">
            <a:avLst/>
          </a:prstGeom>
          <a:noFill/>
          <a:ln w="0">
            <a:noFill/>
          </a:ln>
        </p:spPr>
        <p:txBody>
          <a:bodyPr lIns="91440" rIns="91440" tIns="91440" bIns="91440" anchor="t">
            <a:normAutofit/>
          </a:bodyPr>
          <a:p>
            <a:pPr indent="0">
              <a:buNone/>
            </a:pPr>
            <a:r>
              <a:rPr b="0" lang="en-US" sz="2800" spc="-1" strike="noStrike">
                <a:solidFill>
                  <a:srgbClr val="000000"/>
                </a:solidFill>
                <a:latin typeface="Arial"/>
              </a:rPr>
              <a:t>Click to edit the title text format</a:t>
            </a:r>
            <a:endParaRPr b="0" lang="en-US" sz="2800" spc="-1" strike="noStrike">
              <a:solidFill>
                <a:srgbClr val="000000"/>
              </a:solidFill>
              <a:latin typeface="Arial"/>
            </a:endParaRPr>
          </a:p>
        </p:txBody>
      </p:sp>
      <p:sp>
        <p:nvSpPr>
          <p:cNvPr id="68" name="PlaceHolder 2"/>
          <p:cNvSpPr>
            <a:spLocks noGrp="1"/>
          </p:cNvSpPr>
          <p:nvPr>
            <p:ph type="body"/>
          </p:nvPr>
        </p:nvSpPr>
        <p:spPr>
          <a:xfrm>
            <a:off x="415440" y="1536120"/>
            <a:ext cx="11359800" cy="4554720"/>
          </a:xfrm>
          <a:prstGeom prst="rect">
            <a:avLst/>
          </a:prstGeom>
          <a:noFill/>
          <a:ln w="0">
            <a:noFill/>
          </a:ln>
        </p:spPr>
        <p:txBody>
          <a:bodyPr lIns="91440" rIns="91440" tIns="91440" bIns="91440" anchor="t">
            <a:normAutofit/>
          </a:bodyPr>
          <a:p>
            <a:pPr marL="432000" indent="-324000">
              <a:spcBef>
                <a:spcPts val="1885"/>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508"/>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1131"/>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754"/>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377"/>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377"/>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377"/>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9" name="PlaceHolder 3"/>
          <p:cNvSpPr>
            <a:spLocks noGrp="1"/>
          </p:cNvSpPr>
          <p:nvPr>
            <p:ph type="sldNum" idx="34"/>
          </p:nvPr>
        </p:nvSpPr>
        <p:spPr>
          <a:xfrm>
            <a:off x="11296440" y="6217200"/>
            <a:ext cx="731160" cy="52416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dk2"/>
                </a:solidFill>
                <a:latin typeface="Arial"/>
                <a:ea typeface="Arial"/>
              </a:defRPr>
            </a:lvl1pPr>
          </a:lstStyle>
          <a:p>
            <a:pPr indent="0" algn="r">
              <a:lnSpc>
                <a:spcPct val="100000"/>
              </a:lnSpc>
              <a:buNone/>
              <a:tabLst>
                <a:tab algn="l" pos="0"/>
              </a:tabLst>
            </a:pPr>
            <a:fld id="{7271F53E-2824-4B9A-BD18-DCD2C675DAF9}" type="slidenum">
              <a:rPr b="0" lang="en"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72"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buNone/>
            </a:pPr>
            <a:r>
              <a:rPr b="0" lang="en-US" sz="2800" spc="-1" strike="noStrike">
                <a:solidFill>
                  <a:srgbClr val="000000"/>
                </a:solidFill>
                <a:latin typeface="Arial"/>
              </a:rPr>
              <a:t>Click to edit the title text format</a:t>
            </a:r>
            <a:endParaRPr b="0" lang="en-US" sz="2800" spc="-1" strike="noStrike">
              <a:solidFill>
                <a:srgbClr val="000000"/>
              </a:solidFill>
              <a:latin typeface="Arial"/>
            </a:endParaRPr>
          </a:p>
        </p:txBody>
      </p:sp>
      <p:sp>
        <p:nvSpPr>
          <p:cNvPr id="73" name="PlaceHolder 2"/>
          <p:cNvSpPr>
            <a:spLocks noGrp="1"/>
          </p:cNvSpPr>
          <p:nvPr>
            <p:ph type="body"/>
          </p:nvPr>
        </p:nvSpPr>
        <p:spPr>
          <a:xfrm>
            <a:off x="311760" y="1152360"/>
            <a:ext cx="3999600" cy="3416040"/>
          </a:xfrm>
          <a:prstGeom prst="rect">
            <a:avLst/>
          </a:prstGeom>
          <a:noFill/>
          <a:ln w="0">
            <a:noFill/>
          </a:ln>
        </p:spPr>
        <p:txBody>
          <a:bodyPr lIns="91440" rIns="91440" tIns="91440" bIns="9144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400" spc="-1" strike="noStrike">
                <a:solidFill>
                  <a:srgbClr val="000000"/>
                </a:solidFill>
                <a:latin typeface="Arial"/>
              </a:rPr>
              <a:t>Fifth Outline Level</a:t>
            </a:r>
            <a:endParaRPr b="0" lang="en-US"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400" spc="-1" strike="noStrike">
                <a:solidFill>
                  <a:srgbClr val="000000"/>
                </a:solidFill>
                <a:latin typeface="Arial"/>
              </a:rPr>
              <a:t>Sixth Outline Level</a:t>
            </a:r>
            <a:endParaRPr b="0" lang="en-US"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400" spc="-1" strike="noStrike">
                <a:solidFill>
                  <a:srgbClr val="000000"/>
                </a:solidFill>
                <a:latin typeface="Arial"/>
              </a:rPr>
              <a:t>Seventh Outline Level</a:t>
            </a:r>
            <a:endParaRPr b="0" lang="en-US" sz="1400" spc="-1" strike="noStrike">
              <a:solidFill>
                <a:srgbClr val="000000"/>
              </a:solidFill>
              <a:latin typeface="Arial"/>
            </a:endParaRPr>
          </a:p>
        </p:txBody>
      </p:sp>
      <p:sp>
        <p:nvSpPr>
          <p:cNvPr id="74" name="PlaceHolder 3"/>
          <p:cNvSpPr>
            <a:spLocks noGrp="1"/>
          </p:cNvSpPr>
          <p:nvPr>
            <p:ph type="body"/>
          </p:nvPr>
        </p:nvSpPr>
        <p:spPr>
          <a:xfrm>
            <a:off x="4832280" y="1152360"/>
            <a:ext cx="3999600" cy="3416040"/>
          </a:xfrm>
          <a:prstGeom prst="rect">
            <a:avLst/>
          </a:prstGeom>
          <a:noFill/>
          <a:ln w="0">
            <a:noFill/>
          </a:ln>
        </p:spPr>
        <p:txBody>
          <a:bodyPr lIns="91440" rIns="91440" tIns="91440" bIns="9144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400" spc="-1" strike="noStrike">
                <a:solidFill>
                  <a:srgbClr val="000000"/>
                </a:solidFill>
                <a:latin typeface="Arial"/>
              </a:rPr>
              <a:t>Fifth Outline Level</a:t>
            </a:r>
            <a:endParaRPr b="0" lang="en-US"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400" spc="-1" strike="noStrike">
                <a:solidFill>
                  <a:srgbClr val="000000"/>
                </a:solidFill>
                <a:latin typeface="Arial"/>
              </a:rPr>
              <a:t>Sixth Outline Level</a:t>
            </a:r>
            <a:endParaRPr b="0" lang="en-US"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400" spc="-1" strike="noStrike">
                <a:solidFill>
                  <a:srgbClr val="000000"/>
                </a:solidFill>
                <a:latin typeface="Arial"/>
              </a:rPr>
              <a:t>Seventh Outline Level</a:t>
            </a:r>
            <a:endParaRPr b="0" lang="en-US" sz="1400" spc="-1" strike="noStrike">
              <a:solidFill>
                <a:srgbClr val="000000"/>
              </a:solidFill>
              <a:latin typeface="Arial"/>
            </a:endParaRPr>
          </a:p>
        </p:txBody>
      </p:sp>
      <p:sp>
        <p:nvSpPr>
          <p:cNvPr id="75" name="PlaceHolder 4"/>
          <p:cNvSpPr>
            <a:spLocks noGrp="1"/>
          </p:cNvSpPr>
          <p:nvPr>
            <p:ph type="sldNum" idx="35"/>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dk2"/>
                </a:solidFill>
                <a:latin typeface="Arial"/>
                <a:ea typeface="Arial"/>
              </a:defRPr>
            </a:lvl1pPr>
          </a:lstStyle>
          <a:p>
            <a:pPr indent="0" algn="r">
              <a:lnSpc>
                <a:spcPct val="100000"/>
              </a:lnSpc>
              <a:buNone/>
              <a:tabLst>
                <a:tab algn="l" pos="0"/>
              </a:tabLst>
            </a:pPr>
            <a:fld id="{B6A4E2D2-10CD-458F-A8D3-C43D9F46F80F}" type="slidenum">
              <a:rPr b="0" lang="en"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1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2.xml"/>
</Relationships>
</file>

<file path=ppt/slides/_rels/slide14.xml.rels><?xml version="1.0" encoding="UTF-8"?>
<Relationships xmlns="http://schemas.openxmlformats.org/package/2006/relationships"><Relationship Id="rId1" Type="http://schemas.openxmlformats.org/officeDocument/2006/relationships/hyperlink" Target="https://www.examplesof.net/2017/07/20-examples-of-fungi.html" TargetMode="External"/><Relationship Id="rId2" Type="http://schemas.openxmlformats.org/officeDocument/2006/relationships/image" Target="../media/image6.png"/><Relationship Id="rId3" Type="http://schemas.openxmlformats.org/officeDocument/2006/relationships/slideLayout" Target="../slideLayouts/slideLayout12.xml"/>
</Relationships>
</file>

<file path=ppt/slides/_rels/slide15.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slideLayout" Target="../slideLayouts/slideLayout12.xml"/>
</Relationships>
</file>

<file path=ppt/slides/_rels/slide16.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2.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79" name="Rectangle 1"/>
          <p:cNvSpPr/>
          <p:nvPr/>
        </p:nvSpPr>
        <p:spPr>
          <a:xfrm>
            <a:off x="0" y="0"/>
            <a:ext cx="164160" cy="6857640"/>
          </a:xfrm>
          <a:prstGeom prst="rect">
            <a:avLst/>
          </a:prstGeom>
          <a:solidFill>
            <a:srgbClr val="ea580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0" name="TextBox 2"/>
          <p:cNvSpPr/>
          <p:nvPr/>
        </p:nvSpPr>
        <p:spPr>
          <a:xfrm>
            <a:off x="640080" y="2286000"/>
            <a:ext cx="10515240" cy="318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pc="-1" strike="noStrike">
                <a:solidFill>
                  <a:srgbClr val="ea580c"/>
                </a:solidFill>
                <a:latin typeface="Arial"/>
              </a:rPr>
              <a:t>ΒΙΟΛΟΓΙΑ S4 · ΕΝΟΤΗΤΑ 1 · ΜΑΘΗΜΑ 1</a:t>
            </a:r>
            <a:endParaRPr b="0" lang="en-US" sz="1500" spc="-1" strike="noStrike">
              <a:solidFill>
                <a:srgbClr val="ffffff"/>
              </a:solidFill>
              <a:latin typeface="Arial"/>
            </a:endParaRPr>
          </a:p>
        </p:txBody>
      </p:sp>
      <p:sp>
        <p:nvSpPr>
          <p:cNvPr id="81" name="TextBox 3"/>
          <p:cNvSpPr/>
          <p:nvPr/>
        </p:nvSpPr>
        <p:spPr>
          <a:xfrm>
            <a:off x="640080" y="2743200"/>
            <a:ext cx="10515240" cy="1308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4000" spc="-1" strike="noStrike">
                <a:solidFill>
                  <a:srgbClr val="ffffff"/>
                </a:solidFill>
                <a:latin typeface="Verdana"/>
              </a:rPr>
              <a:t>Τι Είναι η Βιολογία;</a:t>
            </a:r>
            <a:endParaRPr b="0" lang="en-US" sz="4000" spc="-1" strike="noStrike">
              <a:solidFill>
                <a:srgbClr val="ffffff"/>
              </a:solidFill>
              <a:latin typeface="Arial"/>
            </a:endParaRPr>
          </a:p>
          <a:p>
            <a:pPr defTabSz="457200">
              <a:lnSpc>
                <a:spcPct val="100000"/>
              </a:lnSpc>
            </a:pPr>
            <a:r>
              <a:rPr b="1" lang="en-US" sz="4000" spc="-1" strike="noStrike">
                <a:solidFill>
                  <a:srgbClr val="ffffff"/>
                </a:solidFill>
                <a:latin typeface="Verdana"/>
              </a:rPr>
              <a:t>Τι Είναι «Ζωή»;</a:t>
            </a:r>
            <a:endParaRPr b="0" lang="en-US" sz="4000" spc="-1" strike="noStrike">
              <a:solidFill>
                <a:srgbClr val="ffffff"/>
              </a:solidFill>
              <a:latin typeface="Arial"/>
            </a:endParaRPr>
          </a:p>
        </p:txBody>
      </p:sp>
      <p:sp>
        <p:nvSpPr>
          <p:cNvPr id="82" name="TextBox 4"/>
          <p:cNvSpPr/>
          <p:nvPr/>
        </p:nvSpPr>
        <p:spPr>
          <a:xfrm>
            <a:off x="640080" y="4160520"/>
            <a:ext cx="10058040" cy="6080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700" spc="-1" strike="noStrike">
                <a:solidFill>
                  <a:srgbClr val="94a3b8"/>
                </a:solidFill>
                <a:latin typeface="Arial"/>
              </a:rPr>
              <a:t>— </a:t>
            </a:r>
            <a:r>
              <a:rPr b="0" lang="en-US" sz="1700" spc="-1" strike="noStrike">
                <a:solidFill>
                  <a:srgbClr val="94a3b8"/>
                </a:solidFill>
                <a:latin typeface="Arial"/>
              </a:rPr>
              <a:t>το επιστημονικό πεδίο της βιολογίας, ανταγωνιστικοί ορισμοί της «ζωής», και η κοινή καταγωγή όλων των έμβιων όντων</a:t>
            </a:r>
            <a:endParaRPr b="0" lang="en-US" sz="1700" spc="-1" strike="noStrike">
              <a:solidFill>
                <a:srgbClr val="ffffff"/>
              </a:solidFill>
              <a:latin typeface="Arial"/>
            </a:endParaRPr>
          </a:p>
        </p:txBody>
      </p:sp>
      <p:sp>
        <p:nvSpPr>
          <p:cNvPr id="83" name="TextBox 5"/>
          <p:cNvSpPr/>
          <p:nvPr/>
        </p:nvSpPr>
        <p:spPr>
          <a:xfrm>
            <a:off x="640080" y="6355080"/>
            <a:ext cx="10058040" cy="257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00" spc="-1" strike="noStrike">
                <a:solidFill>
                  <a:srgbClr val="94a3b8"/>
                </a:solidFill>
                <a:latin typeface="Arial"/>
              </a:rPr>
              <a:t>Βιολογία S4 · Ενότητα 1, Μάθημα 1 · Τι Είναι Ζωή; ΖΕΙΝΑΚΗ ΚΑΛΛΙΟΠΗ </a:t>
            </a:r>
            <a:endParaRPr b="0" lang="en-US"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84" name="Rectangle 1"/>
          <p:cNvSpPr/>
          <p:nvPr/>
        </p:nvSpPr>
        <p:spPr>
          <a:xfrm>
            <a:off x="0" y="0"/>
            <a:ext cx="164160" cy="6857640"/>
          </a:xfrm>
          <a:prstGeom prst="rect">
            <a:avLst/>
          </a:prstGeom>
          <a:solidFill>
            <a:srgbClr val="ea580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5" name="TextBox 2"/>
          <p:cNvSpPr/>
          <p:nvPr/>
        </p:nvSpPr>
        <p:spPr>
          <a:xfrm>
            <a:off x="640080" y="1188720"/>
            <a:ext cx="1088100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ea580c"/>
                </a:solidFill>
                <a:latin typeface="Arial"/>
              </a:rPr>
              <a:t>ΠΡΟΘΈΡΜΑΝΣΗ</a:t>
            </a:r>
            <a:endParaRPr b="0" lang="en-US" sz="1400" spc="-1" strike="noStrike">
              <a:solidFill>
                <a:srgbClr val="ffffff"/>
              </a:solidFill>
              <a:latin typeface="Arial"/>
            </a:endParaRPr>
          </a:p>
        </p:txBody>
      </p:sp>
      <p:sp>
        <p:nvSpPr>
          <p:cNvPr id="86" name="TextBox 3"/>
          <p:cNvSpPr/>
          <p:nvPr/>
        </p:nvSpPr>
        <p:spPr>
          <a:xfrm>
            <a:off x="640080" y="2652480"/>
            <a:ext cx="10881000" cy="1460880"/>
          </a:xfrm>
          <a:prstGeom prst="rect">
            <a:avLst/>
          </a:prstGeom>
          <a:noFill/>
          <a:ln w="0">
            <a:noFill/>
          </a:ln>
        </p:spPr>
        <p:style>
          <a:lnRef idx="0"/>
          <a:fillRef idx="0"/>
          <a:effectRef idx="0"/>
          <a:fontRef idx="minor"/>
        </p:style>
        <p:txBody>
          <a:bodyPr lIns="90000" rIns="90000" tIns="45000" bIns="45000" anchor="ctr">
            <a:spAutoFit/>
          </a:bodyPr>
          <a:p>
            <a:pPr defTabSz="457200">
              <a:lnSpc>
                <a:spcPct val="100000"/>
              </a:lnSpc>
            </a:pPr>
            <a:r>
              <a:rPr b="1" lang="en-US" sz="3000" spc="-1" strike="noStrike">
                <a:solidFill>
                  <a:srgbClr val="ffffff"/>
                </a:solidFill>
                <a:latin typeface="Verdana"/>
              </a:rPr>
              <a:t>Ένας βράχος δεν είναι ζωντανός. Ένας σκύλος είναι.</a:t>
            </a:r>
            <a:endParaRPr b="0" lang="en-US" sz="3000" spc="-1" strike="noStrike">
              <a:solidFill>
                <a:srgbClr val="ffffff"/>
              </a:solidFill>
              <a:latin typeface="Arial"/>
            </a:endParaRPr>
          </a:p>
          <a:p>
            <a:pPr defTabSz="457200">
              <a:lnSpc>
                <a:spcPct val="100000"/>
              </a:lnSpc>
            </a:pPr>
            <a:endParaRPr b="0" lang="en-US" sz="3000" spc="-1" strike="noStrike">
              <a:solidFill>
                <a:srgbClr val="ffffff"/>
              </a:solidFill>
              <a:latin typeface="Arial"/>
            </a:endParaRPr>
          </a:p>
          <a:p>
            <a:pPr defTabSz="457200">
              <a:lnSpc>
                <a:spcPct val="100000"/>
              </a:lnSpc>
            </a:pPr>
            <a:r>
              <a:rPr b="1" lang="en-US" sz="3000" spc="-1" strike="noStrike">
                <a:solidFill>
                  <a:srgbClr val="ffffff"/>
                </a:solidFill>
                <a:latin typeface="Verdana"/>
              </a:rPr>
              <a:t>Τι ακριβώς κάνει κάτι «ΖΩΝΤΑΝΟ»;</a:t>
            </a:r>
            <a:endParaRPr b="0" lang="en-US" sz="3000" spc="-1" strike="noStrike">
              <a:solidFill>
                <a:srgbClr val="ffffff"/>
              </a:solidFill>
              <a:latin typeface="Arial"/>
            </a:endParaRPr>
          </a:p>
        </p:txBody>
      </p:sp>
      <p:sp>
        <p:nvSpPr>
          <p:cNvPr id="87" name="TextBox 4"/>
          <p:cNvSpPr/>
          <p:nvPr/>
        </p:nvSpPr>
        <p:spPr>
          <a:xfrm>
            <a:off x="640080" y="4846320"/>
            <a:ext cx="1051524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i="1" lang="en-US" sz="1400" spc="-1" strike="noStrike">
                <a:solidFill>
                  <a:srgbClr val="94a3b8"/>
                </a:solidFill>
                <a:latin typeface="Arial"/>
              </a:rPr>
              <a:t>Σκέψου 3 πράγματα που μπορεί να κάνει ένα έμβιο ον και ποτέ ένας βράχος.</a:t>
            </a:r>
            <a:endParaRPr b="0" lang="en-US" sz="1400" spc="-1" strike="noStrike">
              <a:solidFill>
                <a:srgbClr val="ffffff"/>
              </a:solidFill>
              <a:latin typeface="Arial"/>
            </a:endParaRPr>
          </a:p>
        </p:txBody>
      </p:sp>
      <p:sp>
        <p:nvSpPr>
          <p:cNvPr id="88" name="TextBox 5"/>
          <p:cNvSpPr/>
          <p:nvPr/>
        </p:nvSpPr>
        <p:spPr>
          <a:xfrm>
            <a:off x="640080" y="6355080"/>
            <a:ext cx="10058040" cy="257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00" spc="-1" strike="noStrike">
                <a:solidFill>
                  <a:srgbClr val="94a3b8"/>
                </a:solidFill>
                <a:latin typeface="Arial"/>
              </a:rPr>
              <a:t>Βιολογία S4 · Ενότητα 1, Μάθημα 1 · Τι Είναι Ζωή;</a:t>
            </a:r>
            <a:endParaRPr b="0" lang="en-US"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89" name="Rectangle 1"/>
          <p:cNvSpPr/>
          <p:nvPr/>
        </p:nvSpPr>
        <p:spPr>
          <a:xfrm>
            <a:off x="0" y="0"/>
            <a:ext cx="164160" cy="6857640"/>
          </a:xfrm>
          <a:prstGeom prst="rect">
            <a:avLst/>
          </a:prstGeom>
          <a:solidFill>
            <a:srgbClr val="ea580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0" name="TextBox 2"/>
          <p:cNvSpPr/>
          <p:nvPr/>
        </p:nvSpPr>
        <p:spPr>
          <a:xfrm>
            <a:off x="640080" y="411480"/>
            <a:ext cx="10515240" cy="2880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300" spc="-1" strike="noStrike">
                <a:solidFill>
                  <a:srgbClr val="ea580c"/>
                </a:solidFill>
                <a:latin typeface="Arial"/>
              </a:rPr>
              <a:t>ΞΕΚΙΝΏΝΤΑΣ</a:t>
            </a:r>
            <a:endParaRPr b="0" lang="en-US" sz="1300" spc="-1" strike="noStrike">
              <a:solidFill>
                <a:srgbClr val="000000"/>
              </a:solidFill>
              <a:latin typeface="Arial"/>
            </a:endParaRPr>
          </a:p>
        </p:txBody>
      </p:sp>
      <p:sp>
        <p:nvSpPr>
          <p:cNvPr id="91" name="TextBox 3"/>
          <p:cNvSpPr/>
          <p:nvPr/>
        </p:nvSpPr>
        <p:spPr>
          <a:xfrm>
            <a:off x="640080" y="749880"/>
            <a:ext cx="10881000" cy="5014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pc="-1" strike="noStrike">
                <a:solidFill>
                  <a:srgbClr val="0f172a"/>
                </a:solidFill>
                <a:latin typeface="Verdana"/>
              </a:rPr>
              <a:t>Βιολογία: η επιστήμη των έμβιων όντων</a:t>
            </a:r>
            <a:endParaRPr b="0" lang="en-US" sz="2700" spc="-1" strike="noStrike">
              <a:solidFill>
                <a:srgbClr val="000000"/>
              </a:solidFill>
              <a:latin typeface="Arial"/>
            </a:endParaRPr>
          </a:p>
        </p:txBody>
      </p:sp>
      <p:sp>
        <p:nvSpPr>
          <p:cNvPr id="92" name="TextBox 4"/>
          <p:cNvSpPr/>
          <p:nvPr/>
        </p:nvSpPr>
        <p:spPr>
          <a:xfrm>
            <a:off x="640080" y="1600200"/>
            <a:ext cx="10606680" cy="16398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1" lang="en-US" sz="1700" spc="-1" strike="noStrike">
                <a:solidFill>
                  <a:srgbClr val="0f172a"/>
                </a:solidFill>
                <a:latin typeface="Arial"/>
              </a:rPr>
              <a:t>• </a:t>
            </a:r>
            <a:r>
              <a:rPr b="1" lang="en-US" sz="1700" spc="-1" strike="noStrike">
                <a:solidFill>
                  <a:srgbClr val="0f172a"/>
                </a:solidFill>
                <a:latin typeface="Arial"/>
              </a:rPr>
              <a:t>Η Βιολογία</a:t>
            </a:r>
            <a:r>
              <a:rPr b="0" lang="en-US" sz="1700" spc="-1" strike="noStrike">
                <a:solidFill>
                  <a:srgbClr val="1e293b"/>
                </a:solidFill>
                <a:latin typeface="Arial"/>
              </a:rPr>
              <a:t>  είναι το επιστημονικό πεδίο που μελετά τα έμβια όντα — από τα βακτήρια μέχρι τις γαλάζιες φάλαινες.</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0f172a"/>
                </a:solidFill>
                <a:latin typeface="Arial"/>
              </a:rPr>
              <a:t>• </a:t>
            </a:r>
            <a:r>
              <a:rPr b="1" lang="en-US" sz="1700" spc="-1" strike="noStrike">
                <a:solidFill>
                  <a:srgbClr val="0f172a"/>
                </a:solidFill>
                <a:latin typeface="Arial"/>
              </a:rPr>
              <a:t>Έχεις ήδη τα βασικά εργαλεία.</a:t>
            </a:r>
            <a:r>
              <a:rPr b="0" lang="en-US" sz="1700" spc="-1" strike="noStrike">
                <a:solidFill>
                  <a:srgbClr val="1e293b"/>
                </a:solidFill>
                <a:latin typeface="Arial"/>
              </a:rPr>
              <a:t>  Στην Γενικευμένη Επιστήμη (S1–S3) γνώρισες τις βασικές ιδιότητες της ζωής: αναπνοή, θρέψη, ανάπτυξη, ερεθιστικότητα, αναπαραγωγή, απέκκριση, κυτταρική οργάνωση.</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0f172a"/>
                </a:solidFill>
                <a:latin typeface="Arial"/>
              </a:rPr>
              <a:t>• </a:t>
            </a:r>
            <a:r>
              <a:rPr b="1" lang="en-US" sz="1700" spc="-1" strike="noStrike">
                <a:solidFill>
                  <a:srgbClr val="0f172a"/>
                </a:solidFill>
                <a:latin typeface="Arial"/>
              </a:rPr>
              <a:t>Σύντομη υπενθύμιση,</a:t>
            </a:r>
            <a:r>
              <a:rPr b="0" lang="en-US" sz="1700" spc="-1" strike="noStrike">
                <a:solidFill>
                  <a:srgbClr val="1e293b"/>
                </a:solidFill>
                <a:latin typeface="Arial"/>
              </a:rPr>
              <a:t>  όχι νέο περιεχόμενο — θα το αναπτύξουμε.</a:t>
            </a:r>
            <a:endParaRPr b="0" lang="en-US" sz="1700" spc="-1" strike="noStrike">
              <a:solidFill>
                <a:srgbClr val="000000"/>
              </a:solidFill>
              <a:latin typeface="Arial"/>
            </a:endParaRPr>
          </a:p>
        </p:txBody>
      </p:sp>
      <p:sp>
        <p:nvSpPr>
          <p:cNvPr id="93" name="TextBox 5"/>
          <p:cNvSpPr/>
          <p:nvPr/>
        </p:nvSpPr>
        <p:spPr>
          <a:xfrm>
            <a:off x="640080" y="6473880"/>
            <a:ext cx="5486040" cy="242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000" spc="-1" strike="noStrike">
                <a:solidFill>
                  <a:srgbClr val="45556c"/>
                </a:solidFill>
                <a:latin typeface="Arial"/>
              </a:rPr>
              <a:t>Βιολογία S4 · Ενότητα 1, Μάθημα 1 · Τι Είναι Ζωή;</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311760" y="444960"/>
            <a:ext cx="8520120" cy="572400"/>
          </a:xfrm>
          <a:prstGeom prst="rect">
            <a:avLst/>
          </a:prstGeom>
          <a:noFill/>
          <a:ln w="9360">
            <a:solidFill>
              <a:srgbClr val="000000"/>
            </a:solidFill>
            <a:round/>
          </a:ln>
        </p:spPr>
        <p:txBody>
          <a:bodyPr lIns="91440" rIns="91440" tIns="91440" bIns="91440" anchor="t">
            <a:noAutofit/>
          </a:bodyPr>
          <a:p>
            <a:pPr indent="0">
              <a:lnSpc>
                <a:spcPct val="100000"/>
              </a:lnSpc>
              <a:buNone/>
              <a:tabLst>
                <a:tab algn="l" pos="0"/>
              </a:tabLst>
            </a:pPr>
            <a:r>
              <a:rPr b="1" lang="en" sz="2820" spc="-1" strike="noStrike">
                <a:solidFill>
                  <a:schemeClr val="dk1"/>
                </a:solidFill>
                <a:latin typeface="Arial"/>
                <a:ea typeface="Arial"/>
              </a:rPr>
              <a:t>Βασικές Ιδιότητες της Ζωής</a:t>
            </a:r>
            <a:endParaRPr b="0" lang="en-US" sz="2820" spc="-1" strike="noStrike">
              <a:solidFill>
                <a:srgbClr val="000000"/>
              </a:solidFill>
              <a:latin typeface="Arial"/>
            </a:endParaRPr>
          </a:p>
        </p:txBody>
      </p:sp>
      <p:sp>
        <p:nvSpPr>
          <p:cNvPr id="95" name="Google Shape;61;p 2"/>
          <p:cNvSpPr/>
          <p:nvPr/>
        </p:nvSpPr>
        <p:spPr>
          <a:xfrm>
            <a:off x="3304800" y="2506680"/>
            <a:ext cx="2534400" cy="707760"/>
          </a:xfrm>
          <a:prstGeom prst="rect">
            <a:avLst/>
          </a:prstGeom>
          <a:noFill/>
          <a:ln w="0">
            <a:noFill/>
          </a:ln>
        </p:spPr>
        <p:style>
          <a:lnRef idx="0"/>
          <a:fillRef idx="0"/>
          <a:effectRef idx="0"/>
          <a:fontRef idx="minor"/>
        </p:style>
        <p:txBody>
          <a:bodyPr tIns="91440" bIns="91440" anchor="t">
            <a:spAutoFit/>
          </a:bodyPr>
          <a:p>
            <a:endParaRPr b="0" lang="en-US" sz="1400" spc="-1" strike="noStrike">
              <a:solidFill>
                <a:srgbClr val="000000"/>
              </a:solidFill>
              <a:latin typeface="Arial"/>
            </a:endParaRPr>
          </a:p>
        </p:txBody>
      </p:sp>
      <p:sp>
        <p:nvSpPr>
          <p:cNvPr id="96" name="Google Shape;62;p 2"/>
          <p:cNvSpPr/>
          <p:nvPr/>
        </p:nvSpPr>
        <p:spPr>
          <a:xfrm>
            <a:off x="3845520" y="2351520"/>
            <a:ext cx="1699560" cy="1017720"/>
          </a:xfrm>
          <a:prstGeom prst="roundRect">
            <a:avLst>
              <a:gd name="adj" fmla="val 16667"/>
            </a:avLst>
          </a:prstGeom>
          <a:solidFill>
            <a:schemeClr val="lt2"/>
          </a:solidFill>
          <a:ln w="9525">
            <a:solidFill>
              <a:srgbClr val="595959"/>
            </a:solidFill>
            <a:round/>
          </a:ln>
        </p:spPr>
        <p:style>
          <a:lnRef idx="0"/>
          <a:fillRef idx="0"/>
          <a:effectRef idx="0"/>
          <a:fontRef idx="minor"/>
        </p:style>
        <p:txBody>
          <a:bodyPr tIns="91440" bIns="91440" anchor="ctr">
            <a:noAutofit/>
          </a:bodyPr>
          <a:p>
            <a:pPr algn="ctr">
              <a:lnSpc>
                <a:spcPct val="100000"/>
              </a:lnSpc>
              <a:tabLst>
                <a:tab algn="l" pos="0"/>
              </a:tabLst>
            </a:pPr>
            <a:r>
              <a:rPr b="1" lang="en" sz="2000" spc="-1" strike="noStrike">
                <a:solidFill>
                  <a:schemeClr val="dk1"/>
                </a:solidFill>
                <a:latin typeface="Arial"/>
                <a:ea typeface="Arial"/>
              </a:rPr>
              <a:t>Ιδιότητες της Ζωής</a:t>
            </a:r>
            <a:endParaRPr b="0" lang="en-US" sz="2000" spc="-1" strike="noStrike">
              <a:solidFill>
                <a:srgbClr val="000000"/>
              </a:solidFill>
              <a:latin typeface="Arial"/>
            </a:endParaRPr>
          </a:p>
        </p:txBody>
      </p:sp>
      <p:sp>
        <p:nvSpPr>
          <p:cNvPr id="97" name="Google Shape;63;p 2"/>
          <p:cNvSpPr/>
          <p:nvPr/>
        </p:nvSpPr>
        <p:spPr>
          <a:xfrm>
            <a:off x="6219000" y="1356120"/>
            <a:ext cx="1358640" cy="707760"/>
          </a:xfrm>
          <a:prstGeom prst="rect">
            <a:avLst/>
          </a:prstGeom>
          <a:solidFill>
            <a:schemeClr val="lt1"/>
          </a:solidFill>
          <a:ln w="9525">
            <a:solidFill>
              <a:srgbClr val="595959"/>
            </a:solidFill>
            <a:round/>
          </a:ln>
        </p:spPr>
        <p:style>
          <a:lnRef idx="0"/>
          <a:fillRef idx="0"/>
          <a:effectRef idx="0"/>
          <a:fontRef idx="minor"/>
        </p:style>
        <p:txBody>
          <a:bodyPr tIns="91440" bIns="91440" anchor="ctr">
            <a:noAutofit/>
          </a:bodyPr>
          <a:p>
            <a:pPr>
              <a:lnSpc>
                <a:spcPct val="115000"/>
              </a:lnSpc>
              <a:spcAft>
                <a:spcPts val="1199"/>
              </a:spcAft>
              <a:tabLst>
                <a:tab algn="l" pos="0"/>
              </a:tabLst>
            </a:pPr>
            <a:r>
              <a:rPr b="1" lang="en" sz="1300" spc="-1" strike="noStrike">
                <a:solidFill>
                  <a:schemeClr val="dk1"/>
                </a:solidFill>
                <a:highlight>
                  <a:srgbClr val="ffffff"/>
                </a:highlight>
                <a:latin typeface="Arial"/>
                <a:ea typeface="Arial"/>
              </a:rPr>
              <a:t>Αναπνοή</a:t>
            </a:r>
            <a:endParaRPr b="0" lang="en-US" sz="1300" spc="-1" strike="noStrike">
              <a:solidFill>
                <a:srgbClr val="000000"/>
              </a:solidFill>
              <a:latin typeface="Arial"/>
            </a:endParaRPr>
          </a:p>
        </p:txBody>
      </p:sp>
      <p:sp>
        <p:nvSpPr>
          <p:cNvPr id="98" name="Google Shape;64;p 2"/>
          <p:cNvSpPr/>
          <p:nvPr/>
        </p:nvSpPr>
        <p:spPr>
          <a:xfrm>
            <a:off x="4186440" y="1220400"/>
            <a:ext cx="1017720" cy="815040"/>
          </a:xfrm>
          <a:prstGeom prst="rect">
            <a:avLst/>
          </a:prstGeom>
          <a:solidFill>
            <a:schemeClr val="lt1"/>
          </a:solidFill>
          <a:ln w="9525">
            <a:solidFill>
              <a:srgbClr val="595959"/>
            </a:solidFill>
            <a:round/>
          </a:ln>
        </p:spPr>
        <p:style>
          <a:lnRef idx="0"/>
          <a:fillRef idx="0"/>
          <a:effectRef idx="0"/>
          <a:fontRef idx="minor"/>
        </p:style>
        <p:txBody>
          <a:bodyPr tIns="91440" bIns="91440" anchor="ctr">
            <a:noAutofit/>
          </a:bodyPr>
          <a:p>
            <a:pPr algn="ctr">
              <a:lnSpc>
                <a:spcPct val="100000"/>
              </a:lnSpc>
              <a:tabLst>
                <a:tab algn="l" pos="0"/>
              </a:tabLst>
            </a:pPr>
            <a:r>
              <a:rPr b="1" lang="en" sz="1400" spc="-1" strike="noStrike">
                <a:solidFill>
                  <a:srgbClr val="000000"/>
                </a:solidFill>
                <a:latin typeface="Arial"/>
                <a:ea typeface="Arial"/>
              </a:rPr>
              <a:t>Εξέλιξη</a:t>
            </a:r>
            <a:endParaRPr b="0" lang="en-US" sz="1400" spc="-1" strike="noStrike">
              <a:solidFill>
                <a:srgbClr val="000000"/>
              </a:solidFill>
              <a:latin typeface="Arial"/>
            </a:endParaRPr>
          </a:p>
        </p:txBody>
      </p:sp>
      <p:sp>
        <p:nvSpPr>
          <p:cNvPr id="99" name="Google Shape;65;p 2"/>
          <p:cNvSpPr/>
          <p:nvPr/>
        </p:nvSpPr>
        <p:spPr>
          <a:xfrm>
            <a:off x="975960" y="3198600"/>
            <a:ext cx="802800" cy="551160"/>
          </a:xfrm>
          <a:prstGeom prst="rect">
            <a:avLst/>
          </a:prstGeom>
          <a:solidFill>
            <a:schemeClr val="lt1"/>
          </a:solidFill>
          <a:ln w="9525">
            <a:solidFill>
              <a:srgbClr val="595959"/>
            </a:solidFill>
            <a:round/>
          </a:ln>
        </p:spPr>
        <p:style>
          <a:lnRef idx="0"/>
          <a:fillRef idx="0"/>
          <a:effectRef idx="0"/>
          <a:fontRef idx="minor"/>
        </p:style>
        <p:txBody>
          <a:bodyPr tIns="91440" bIns="91440" anchor="ctr">
            <a:noAutofit/>
          </a:bodyPr>
          <a:p>
            <a:pPr>
              <a:lnSpc>
                <a:spcPct val="115000"/>
              </a:lnSpc>
              <a:spcAft>
                <a:spcPts val="1199"/>
              </a:spcAft>
              <a:tabLst>
                <a:tab algn="l" pos="0"/>
              </a:tabLst>
            </a:pPr>
            <a:r>
              <a:rPr b="1" lang="en" sz="1300" spc="-1" strike="noStrike">
                <a:solidFill>
                  <a:schemeClr val="dk1"/>
                </a:solidFill>
                <a:highlight>
                  <a:srgbClr val="ffffff"/>
                </a:highlight>
                <a:latin typeface="Arial"/>
                <a:ea typeface="Arial"/>
              </a:rPr>
              <a:t>θρέψη</a:t>
            </a:r>
            <a:endParaRPr b="0" lang="en-US" sz="1300" spc="-1" strike="noStrike">
              <a:solidFill>
                <a:srgbClr val="000000"/>
              </a:solidFill>
              <a:latin typeface="Arial"/>
            </a:endParaRPr>
          </a:p>
        </p:txBody>
      </p:sp>
      <p:sp>
        <p:nvSpPr>
          <p:cNvPr id="100" name="Google Shape;66;p 2"/>
          <p:cNvSpPr/>
          <p:nvPr/>
        </p:nvSpPr>
        <p:spPr>
          <a:xfrm>
            <a:off x="4695480" y="4117320"/>
            <a:ext cx="1335600" cy="474840"/>
          </a:xfrm>
          <a:prstGeom prst="rect">
            <a:avLst/>
          </a:prstGeom>
          <a:solidFill>
            <a:schemeClr val="lt1"/>
          </a:solidFill>
          <a:ln w="9525">
            <a:solidFill>
              <a:srgbClr val="595959"/>
            </a:solidFill>
            <a:round/>
          </a:ln>
        </p:spPr>
        <p:style>
          <a:lnRef idx="0"/>
          <a:fillRef idx="0"/>
          <a:effectRef idx="0"/>
          <a:fontRef idx="minor"/>
        </p:style>
        <p:txBody>
          <a:bodyPr tIns="91440" bIns="91440" anchor="ctr">
            <a:noAutofit/>
          </a:bodyPr>
          <a:p>
            <a:pPr>
              <a:lnSpc>
                <a:spcPct val="115000"/>
              </a:lnSpc>
              <a:spcAft>
                <a:spcPts val="1199"/>
              </a:spcAft>
              <a:tabLst>
                <a:tab algn="l" pos="0"/>
              </a:tabLst>
            </a:pPr>
            <a:r>
              <a:rPr b="1" lang="en" sz="1300" spc="-1" strike="noStrike">
                <a:solidFill>
                  <a:schemeClr val="dk1"/>
                </a:solidFill>
                <a:highlight>
                  <a:srgbClr val="ffffff"/>
                </a:highlight>
                <a:latin typeface="Arial"/>
                <a:ea typeface="Arial"/>
              </a:rPr>
              <a:t>Απέκκριση</a:t>
            </a:r>
            <a:endParaRPr b="0" lang="en-US" sz="1300" spc="-1" strike="noStrike">
              <a:solidFill>
                <a:srgbClr val="000000"/>
              </a:solidFill>
              <a:latin typeface="Arial"/>
            </a:endParaRPr>
          </a:p>
        </p:txBody>
      </p:sp>
      <p:sp>
        <p:nvSpPr>
          <p:cNvPr id="101" name="Google Shape;67;p 2"/>
          <p:cNvSpPr/>
          <p:nvPr/>
        </p:nvSpPr>
        <p:spPr>
          <a:xfrm>
            <a:off x="1779120" y="1356120"/>
            <a:ext cx="1358640" cy="474840"/>
          </a:xfrm>
          <a:prstGeom prst="rect">
            <a:avLst/>
          </a:prstGeom>
          <a:solidFill>
            <a:schemeClr val="lt1"/>
          </a:solidFill>
          <a:ln w="9525">
            <a:solidFill>
              <a:srgbClr val="595959"/>
            </a:solidFill>
            <a:round/>
          </a:ln>
        </p:spPr>
        <p:style>
          <a:lnRef idx="0"/>
          <a:fillRef idx="0"/>
          <a:effectRef idx="0"/>
          <a:fontRef idx="minor"/>
        </p:style>
        <p:txBody>
          <a:bodyPr tIns="91440" bIns="91440" anchor="ctr">
            <a:noAutofit/>
          </a:bodyPr>
          <a:p>
            <a:pPr>
              <a:lnSpc>
                <a:spcPct val="115000"/>
              </a:lnSpc>
              <a:spcAft>
                <a:spcPts val="1199"/>
              </a:spcAft>
              <a:tabLst>
                <a:tab algn="l" pos="0"/>
              </a:tabLst>
            </a:pPr>
            <a:r>
              <a:rPr b="1" lang="en" sz="1300" spc="-1" strike="noStrike">
                <a:solidFill>
                  <a:schemeClr val="dk1"/>
                </a:solidFill>
                <a:highlight>
                  <a:srgbClr val="ffffff"/>
                </a:highlight>
                <a:latin typeface="Arial"/>
                <a:ea typeface="Arial"/>
              </a:rPr>
              <a:t>Ανάπτυξη</a:t>
            </a:r>
            <a:endParaRPr b="0" lang="en-US" sz="1300" spc="-1" strike="noStrike">
              <a:solidFill>
                <a:srgbClr val="000000"/>
              </a:solidFill>
              <a:latin typeface="Arial"/>
            </a:endParaRPr>
          </a:p>
        </p:txBody>
      </p:sp>
      <p:sp>
        <p:nvSpPr>
          <p:cNvPr id="102" name="Google Shape;68;p 2"/>
          <p:cNvSpPr/>
          <p:nvPr/>
        </p:nvSpPr>
        <p:spPr>
          <a:xfrm>
            <a:off x="7284240" y="2571840"/>
            <a:ext cx="1859400" cy="926640"/>
          </a:xfrm>
          <a:prstGeom prst="rect">
            <a:avLst/>
          </a:prstGeom>
          <a:solidFill>
            <a:schemeClr val="lt1"/>
          </a:solidFill>
          <a:ln w="9525">
            <a:solidFill>
              <a:srgbClr val="595959"/>
            </a:solidFill>
            <a:round/>
          </a:ln>
        </p:spPr>
        <p:style>
          <a:lnRef idx="0"/>
          <a:fillRef idx="0"/>
          <a:effectRef idx="0"/>
          <a:fontRef idx="minor"/>
        </p:style>
        <p:txBody>
          <a:bodyPr tIns="91440" bIns="91440" anchor="ctr">
            <a:noAutofit/>
          </a:bodyPr>
          <a:p>
            <a:pPr>
              <a:lnSpc>
                <a:spcPct val="115000"/>
              </a:lnSpc>
              <a:spcAft>
                <a:spcPts val="1199"/>
              </a:spcAft>
              <a:tabLst>
                <a:tab algn="l" pos="0"/>
              </a:tabLst>
            </a:pPr>
            <a:r>
              <a:rPr b="1" lang="en" sz="1300" spc="-1" strike="noStrike">
                <a:solidFill>
                  <a:schemeClr val="dk1"/>
                </a:solidFill>
                <a:highlight>
                  <a:srgbClr val="ffffff"/>
                </a:highlight>
                <a:latin typeface="Arial"/>
                <a:ea typeface="Arial"/>
              </a:rPr>
              <a:t>Αλληλεπίδραση με το περιβάλλον (ερεθιστικότητα)</a:t>
            </a:r>
            <a:endParaRPr b="0" lang="en-US" sz="1300" spc="-1" strike="noStrike">
              <a:solidFill>
                <a:srgbClr val="000000"/>
              </a:solidFill>
              <a:latin typeface="Arial"/>
            </a:endParaRPr>
          </a:p>
        </p:txBody>
      </p:sp>
      <p:sp>
        <p:nvSpPr>
          <p:cNvPr id="103" name="Google Shape;69;p 2"/>
          <p:cNvSpPr/>
          <p:nvPr/>
        </p:nvSpPr>
        <p:spPr>
          <a:xfrm>
            <a:off x="2540880" y="3790080"/>
            <a:ext cx="1358640" cy="747360"/>
          </a:xfrm>
          <a:prstGeom prst="rect">
            <a:avLst/>
          </a:prstGeom>
          <a:solidFill>
            <a:schemeClr val="lt1"/>
          </a:solidFill>
          <a:ln w="9525">
            <a:solidFill>
              <a:srgbClr val="595959"/>
            </a:solidFill>
            <a:round/>
          </a:ln>
        </p:spPr>
        <p:style>
          <a:lnRef idx="0"/>
          <a:fillRef idx="0"/>
          <a:effectRef idx="0"/>
          <a:fontRef idx="minor"/>
        </p:style>
        <p:txBody>
          <a:bodyPr tIns="91440" bIns="91440" anchor="ctr">
            <a:noAutofit/>
          </a:bodyPr>
          <a:p>
            <a:pPr>
              <a:lnSpc>
                <a:spcPct val="115000"/>
              </a:lnSpc>
              <a:spcAft>
                <a:spcPts val="1199"/>
              </a:spcAft>
              <a:tabLst>
                <a:tab algn="l" pos="0"/>
              </a:tabLst>
            </a:pPr>
            <a:r>
              <a:rPr b="1" lang="en" sz="1300" spc="-1" strike="noStrike">
                <a:solidFill>
                  <a:schemeClr val="dk1"/>
                </a:solidFill>
                <a:highlight>
                  <a:srgbClr val="ffffff"/>
                </a:highlight>
                <a:latin typeface="Arial"/>
                <a:ea typeface="Arial"/>
              </a:rPr>
              <a:t>Αναπαραγωγή </a:t>
            </a:r>
            <a:endParaRPr b="0" lang="en-US" sz="1300" spc="-1" strike="noStrike">
              <a:solidFill>
                <a:srgbClr val="000000"/>
              </a:solidFill>
              <a:latin typeface="Arial"/>
            </a:endParaRPr>
          </a:p>
        </p:txBody>
      </p:sp>
      <p:sp>
        <p:nvSpPr>
          <p:cNvPr id="104" name="Google Shape;70;p 2"/>
          <p:cNvSpPr/>
          <p:nvPr/>
        </p:nvSpPr>
        <p:spPr>
          <a:xfrm>
            <a:off x="410040" y="2206440"/>
            <a:ext cx="1296360" cy="619200"/>
          </a:xfrm>
          <a:prstGeom prst="rect">
            <a:avLst/>
          </a:prstGeom>
          <a:solidFill>
            <a:schemeClr val="lt1"/>
          </a:solidFill>
          <a:ln w="9525">
            <a:solidFill>
              <a:srgbClr val="595959"/>
            </a:solidFill>
            <a:round/>
          </a:ln>
        </p:spPr>
        <p:style>
          <a:lnRef idx="0"/>
          <a:fillRef idx="0"/>
          <a:effectRef idx="0"/>
          <a:fontRef idx="minor"/>
        </p:style>
        <p:txBody>
          <a:bodyPr tIns="91440" bIns="91440" anchor="ctr">
            <a:noAutofit/>
          </a:bodyPr>
          <a:p>
            <a:pPr>
              <a:lnSpc>
                <a:spcPct val="115000"/>
              </a:lnSpc>
              <a:spcAft>
                <a:spcPts val="1199"/>
              </a:spcAft>
              <a:tabLst>
                <a:tab algn="l" pos="0"/>
              </a:tabLst>
            </a:pPr>
            <a:r>
              <a:rPr b="1" lang="en" sz="1300" spc="-1" strike="noStrike">
                <a:solidFill>
                  <a:schemeClr val="dk1"/>
                </a:solidFill>
                <a:highlight>
                  <a:srgbClr val="ffffff"/>
                </a:highlight>
                <a:latin typeface="Arial"/>
                <a:ea typeface="Arial"/>
              </a:rPr>
              <a:t>Ιεραρχική οργάνωση</a:t>
            </a:r>
            <a:endParaRPr b="0" lang="en-US" sz="1300" spc="-1" strike="noStrike">
              <a:solidFill>
                <a:srgbClr val="000000"/>
              </a:solidFill>
              <a:latin typeface="Arial"/>
            </a:endParaRPr>
          </a:p>
        </p:txBody>
      </p:sp>
      <p:sp>
        <p:nvSpPr>
          <p:cNvPr id="105" name="Google Shape;71;p 2"/>
          <p:cNvSpPr/>
          <p:nvPr/>
        </p:nvSpPr>
        <p:spPr>
          <a:xfrm>
            <a:off x="6715440" y="3890880"/>
            <a:ext cx="1358640" cy="652320"/>
          </a:xfrm>
          <a:prstGeom prst="rect">
            <a:avLst/>
          </a:prstGeom>
          <a:solidFill>
            <a:schemeClr val="lt1"/>
          </a:solidFill>
          <a:ln w="9525">
            <a:solidFill>
              <a:srgbClr val="595959"/>
            </a:solidFill>
            <a:round/>
          </a:ln>
        </p:spPr>
        <p:style>
          <a:lnRef idx="0"/>
          <a:fillRef idx="0"/>
          <a:effectRef idx="0"/>
          <a:fontRef idx="minor"/>
        </p:style>
        <p:txBody>
          <a:bodyPr tIns="91440" bIns="91440" anchor="ctr">
            <a:noAutofit/>
          </a:bodyPr>
          <a:p>
            <a:pPr>
              <a:lnSpc>
                <a:spcPct val="115000"/>
              </a:lnSpc>
              <a:spcAft>
                <a:spcPts val="1199"/>
              </a:spcAft>
              <a:tabLst>
                <a:tab algn="l" pos="0"/>
              </a:tabLst>
            </a:pPr>
            <a:r>
              <a:rPr b="1" lang="en" sz="1300" spc="-1" strike="noStrike">
                <a:solidFill>
                  <a:schemeClr val="dk1"/>
                </a:solidFill>
                <a:highlight>
                  <a:srgbClr val="ffffff"/>
                </a:highlight>
                <a:latin typeface="Arial"/>
                <a:ea typeface="Arial"/>
              </a:rPr>
              <a:t>Κίνηση;;;</a:t>
            </a:r>
            <a:endParaRPr b="0" lang="en-US" sz="1300" spc="-1" strike="noStrike">
              <a:solidFill>
                <a:srgbClr val="000000"/>
              </a:solidFill>
              <a:latin typeface="Arial"/>
            </a:endParaRPr>
          </a:p>
        </p:txBody>
      </p:sp>
      <p:cxnSp>
        <p:nvCxnSpPr>
          <p:cNvPr id="106" name="Google Shape;72;p 2"/>
          <p:cNvCxnSpPr/>
          <p:nvPr/>
        </p:nvCxnSpPr>
        <p:spPr>
          <a:xfrm flipV="1">
            <a:off x="5524200" y="2061720"/>
            <a:ext cx="707760" cy="331560"/>
          </a:xfrm>
          <a:prstGeom prst="straightConnector1">
            <a:avLst/>
          </a:prstGeom>
          <a:ln w="9525">
            <a:solidFill>
              <a:srgbClr val="595959"/>
            </a:solidFill>
            <a:round/>
          </a:ln>
        </p:spPr>
      </p:cxnSp>
      <p:cxnSp>
        <p:nvCxnSpPr>
          <p:cNvPr id="107" name="Google Shape;73;p 2"/>
          <p:cNvCxnSpPr>
            <a:stCxn id="104" idx="3"/>
            <a:endCxn id="96" idx="1"/>
          </p:cNvCxnSpPr>
          <p:nvPr/>
        </p:nvCxnSpPr>
        <p:spPr>
          <a:xfrm>
            <a:off x="1706400" y="2516040"/>
            <a:ext cx="2139480" cy="344520"/>
          </a:xfrm>
          <a:prstGeom prst="straightConnector1">
            <a:avLst/>
          </a:prstGeom>
          <a:ln w="9525">
            <a:solidFill>
              <a:srgbClr val="595959"/>
            </a:solidFill>
            <a:round/>
          </a:ln>
        </p:spPr>
      </p:cxnSp>
      <p:cxnSp>
        <p:nvCxnSpPr>
          <p:cNvPr id="108" name="Google Shape;74;p 2"/>
          <p:cNvCxnSpPr>
            <a:stCxn id="99" idx="3"/>
          </p:cNvCxnSpPr>
          <p:nvPr/>
        </p:nvCxnSpPr>
        <p:spPr>
          <a:xfrm flipV="1">
            <a:off x="1778760" y="3310920"/>
            <a:ext cx="2074680" cy="163440"/>
          </a:xfrm>
          <a:prstGeom prst="straightConnector1">
            <a:avLst/>
          </a:prstGeom>
          <a:ln w="9525">
            <a:solidFill>
              <a:srgbClr val="595959"/>
            </a:solidFill>
            <a:round/>
          </a:ln>
        </p:spPr>
      </p:cxnSp>
      <p:cxnSp>
        <p:nvCxnSpPr>
          <p:cNvPr id="109" name="Google Shape;75;p 2"/>
          <p:cNvCxnSpPr/>
          <p:nvPr/>
        </p:nvCxnSpPr>
        <p:spPr>
          <a:xfrm>
            <a:off x="3150360" y="1823040"/>
            <a:ext cx="753480" cy="569880"/>
          </a:xfrm>
          <a:prstGeom prst="straightConnector1">
            <a:avLst/>
          </a:prstGeom>
          <a:ln w="9525">
            <a:solidFill>
              <a:srgbClr val="595959"/>
            </a:solidFill>
            <a:round/>
          </a:ln>
        </p:spPr>
      </p:cxnSp>
      <p:cxnSp>
        <p:nvCxnSpPr>
          <p:cNvPr id="110" name="Google Shape;76;p 2"/>
          <p:cNvCxnSpPr>
            <a:stCxn id="96" idx="0"/>
            <a:endCxn id="98" idx="2"/>
          </p:cNvCxnSpPr>
          <p:nvPr/>
        </p:nvCxnSpPr>
        <p:spPr>
          <a:xfrm flipV="1">
            <a:off x="4695120" y="2035440"/>
            <a:ext cx="360" cy="316440"/>
          </a:xfrm>
          <a:prstGeom prst="straightConnector1">
            <a:avLst/>
          </a:prstGeom>
          <a:ln w="9525">
            <a:solidFill>
              <a:srgbClr val="595959"/>
            </a:solidFill>
            <a:round/>
          </a:ln>
        </p:spPr>
      </p:cxnSp>
      <p:cxnSp>
        <p:nvCxnSpPr>
          <p:cNvPr id="111" name="Google Shape;77;p 2"/>
          <p:cNvCxnSpPr>
            <a:stCxn id="96" idx="3"/>
            <a:endCxn id="102" idx="1"/>
          </p:cNvCxnSpPr>
          <p:nvPr/>
        </p:nvCxnSpPr>
        <p:spPr>
          <a:xfrm>
            <a:off x="5545080" y="2860200"/>
            <a:ext cx="1739520" cy="175320"/>
          </a:xfrm>
          <a:prstGeom prst="straightConnector1">
            <a:avLst/>
          </a:prstGeom>
          <a:ln w="9525">
            <a:solidFill>
              <a:srgbClr val="595959"/>
            </a:solidFill>
            <a:round/>
          </a:ln>
        </p:spPr>
      </p:cxnSp>
      <p:cxnSp>
        <p:nvCxnSpPr>
          <p:cNvPr id="112" name="Google Shape;78;p 2"/>
          <p:cNvCxnSpPr>
            <a:stCxn id="96" idx="2"/>
            <a:endCxn id="100" idx="0"/>
          </p:cNvCxnSpPr>
          <p:nvPr/>
        </p:nvCxnSpPr>
        <p:spPr>
          <a:xfrm>
            <a:off x="4695120" y="3369240"/>
            <a:ext cx="668520" cy="748440"/>
          </a:xfrm>
          <a:prstGeom prst="straightConnector1">
            <a:avLst/>
          </a:prstGeom>
          <a:ln w="9525">
            <a:solidFill>
              <a:srgbClr val="595959"/>
            </a:solidFill>
            <a:round/>
          </a:ln>
        </p:spPr>
      </p:cxnSp>
      <p:cxnSp>
        <p:nvCxnSpPr>
          <p:cNvPr id="113" name="Google Shape;79;p 2"/>
          <p:cNvCxnSpPr>
            <a:stCxn id="103" idx="0"/>
          </p:cNvCxnSpPr>
          <p:nvPr/>
        </p:nvCxnSpPr>
        <p:spPr>
          <a:xfrm flipV="1">
            <a:off x="3220200" y="3384720"/>
            <a:ext cx="1143000" cy="405720"/>
          </a:xfrm>
          <a:prstGeom prst="straightConnector1">
            <a:avLst/>
          </a:prstGeom>
          <a:ln w="9525">
            <a:solidFill>
              <a:srgbClr val="595959"/>
            </a:solidFill>
            <a:round/>
          </a:ln>
        </p:spPr>
      </p:cxnSp>
      <p:cxnSp>
        <p:nvCxnSpPr>
          <p:cNvPr id="114" name="Google Shape;80;p 2"/>
          <p:cNvCxnSpPr>
            <a:endCxn id="105" idx="0"/>
          </p:cNvCxnSpPr>
          <p:nvPr/>
        </p:nvCxnSpPr>
        <p:spPr>
          <a:xfrm>
            <a:off x="5556600" y="3094920"/>
            <a:ext cx="1838520" cy="796320"/>
          </a:xfrm>
          <a:prstGeom prst="straightConnector1">
            <a:avLst/>
          </a:prstGeom>
          <a:ln w="9525">
            <a:solidFill>
              <a:srgbClr val="595959"/>
            </a:solidFill>
            <a:round/>
          </a:ln>
        </p:spPr>
      </p:cxn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15" name="Rectangle 1"/>
          <p:cNvSpPr/>
          <p:nvPr/>
        </p:nvSpPr>
        <p:spPr>
          <a:xfrm>
            <a:off x="0" y="0"/>
            <a:ext cx="164160" cy="6857640"/>
          </a:xfrm>
          <a:prstGeom prst="rect">
            <a:avLst/>
          </a:prstGeom>
          <a:solidFill>
            <a:srgbClr val="ea580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6" name="TextBox 2"/>
          <p:cNvSpPr/>
          <p:nvPr/>
        </p:nvSpPr>
        <p:spPr>
          <a:xfrm>
            <a:off x="640080" y="411480"/>
            <a:ext cx="10515240" cy="2880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300" spc="-1" strike="noStrike">
                <a:solidFill>
                  <a:srgbClr val="ea580c"/>
                </a:solidFill>
                <a:latin typeface="Arial"/>
              </a:rPr>
              <a:t>ΕΔΏ ΕΊΝΑΙ Η ΑΝΑΤΡΟΠΉ</a:t>
            </a:r>
            <a:endParaRPr b="0" lang="en-US" sz="1300" spc="-1" strike="noStrike">
              <a:solidFill>
                <a:srgbClr val="000000"/>
              </a:solidFill>
              <a:latin typeface="Arial"/>
            </a:endParaRPr>
          </a:p>
        </p:txBody>
      </p:sp>
      <p:sp>
        <p:nvSpPr>
          <p:cNvPr id="117" name="TextBox 3"/>
          <p:cNvSpPr/>
          <p:nvPr/>
        </p:nvSpPr>
        <p:spPr>
          <a:xfrm>
            <a:off x="640080" y="749880"/>
            <a:ext cx="10881000" cy="5014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pc="-1" strike="noStrike">
                <a:solidFill>
                  <a:srgbClr val="0f172a"/>
                </a:solidFill>
                <a:latin typeface="Verdana"/>
              </a:rPr>
              <a:t>Οι επιστήμονες δεν συμφωνούν τι είναι «ζωή»</a:t>
            </a:r>
            <a:endParaRPr b="0" lang="en-US" sz="2700" spc="-1" strike="noStrike">
              <a:solidFill>
                <a:srgbClr val="000000"/>
              </a:solidFill>
              <a:latin typeface="Arial"/>
            </a:endParaRPr>
          </a:p>
        </p:txBody>
      </p:sp>
      <p:sp>
        <p:nvSpPr>
          <p:cNvPr id="118" name="TextBox 4"/>
          <p:cNvSpPr/>
          <p:nvPr/>
        </p:nvSpPr>
        <p:spPr>
          <a:xfrm>
            <a:off x="640080" y="1600200"/>
            <a:ext cx="10606680" cy="1380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0" lang="en-US" sz="1700" spc="-1" strike="noStrike">
                <a:solidFill>
                  <a:srgbClr val="1e293b"/>
                </a:solidFill>
                <a:latin typeface="Arial"/>
              </a:rPr>
              <a:t>• </a:t>
            </a:r>
            <a:r>
              <a:rPr b="0" lang="en-US" sz="1700" spc="-1" strike="noStrike">
                <a:solidFill>
                  <a:srgbClr val="1e293b"/>
                </a:solidFill>
                <a:latin typeface="Arial"/>
              </a:rPr>
              <a:t>Δεν υπάρχει ένας μοναδικός, καθολικά αποδεκτός ορισμός της «ζωής».</a:t>
            </a:r>
            <a:endParaRPr b="0" lang="en-US" sz="1700" spc="-1" strike="noStrike">
              <a:solidFill>
                <a:srgbClr val="000000"/>
              </a:solidFill>
              <a:latin typeface="Arial"/>
            </a:endParaRPr>
          </a:p>
          <a:p>
            <a:pPr defTabSz="457200">
              <a:lnSpc>
                <a:spcPct val="100000"/>
              </a:lnSpc>
              <a:spcAft>
                <a:spcPts val="1001"/>
              </a:spcAft>
            </a:pPr>
            <a:r>
              <a:rPr b="0" lang="en-US" sz="1700" spc="-1" strike="noStrike">
                <a:solidFill>
                  <a:srgbClr val="1e293b"/>
                </a:solidFill>
                <a:latin typeface="Arial"/>
              </a:rPr>
              <a:t>• </a:t>
            </a:r>
            <a:r>
              <a:rPr b="0" lang="en-US" sz="1700" spc="-1" strike="noStrike">
                <a:solidFill>
                  <a:srgbClr val="1e293b"/>
                </a:solidFill>
                <a:latin typeface="Arial"/>
              </a:rPr>
              <a:t>Διαφορετικοί επιστήμονες έχουν προτείνει διαφορετικούς ορισμούς — ο καθένας τονίζει διαφορετική ιδιότητα.</a:t>
            </a:r>
            <a:endParaRPr b="0" lang="en-US" sz="1700" spc="-1" strike="noStrike">
              <a:solidFill>
                <a:srgbClr val="000000"/>
              </a:solidFill>
              <a:latin typeface="Arial"/>
            </a:endParaRPr>
          </a:p>
          <a:p>
            <a:pPr defTabSz="457200">
              <a:lnSpc>
                <a:spcPct val="100000"/>
              </a:lnSpc>
              <a:spcAft>
                <a:spcPts val="1001"/>
              </a:spcAft>
            </a:pPr>
            <a:r>
              <a:rPr b="0" lang="en-US" sz="1700" spc="-1" strike="noStrike">
                <a:solidFill>
                  <a:srgbClr val="1e293b"/>
                </a:solidFill>
                <a:latin typeface="Arial"/>
              </a:rPr>
              <a:t>• </a:t>
            </a:r>
            <a:r>
              <a:rPr b="0" lang="en-US" sz="1700" spc="-1" strike="noStrike">
                <a:solidFill>
                  <a:srgbClr val="1e293b"/>
                </a:solidFill>
                <a:latin typeface="Arial"/>
              </a:rPr>
              <a:t>Δεν είναι κενό στην ύλη. Είναι ένα πραγματικό, ανοιχτό ερώτημα στη βιολογία.</a:t>
            </a:r>
            <a:endParaRPr b="0" lang="en-US" sz="1700" spc="-1" strike="noStrike">
              <a:solidFill>
                <a:srgbClr val="000000"/>
              </a:solidFill>
              <a:latin typeface="Arial"/>
            </a:endParaRPr>
          </a:p>
        </p:txBody>
      </p:sp>
      <p:sp>
        <p:nvSpPr>
          <p:cNvPr id="119" name="TextBox 5"/>
          <p:cNvSpPr/>
          <p:nvPr/>
        </p:nvSpPr>
        <p:spPr>
          <a:xfrm>
            <a:off x="640080" y="6473880"/>
            <a:ext cx="5486040" cy="242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000" spc="-1" strike="noStrike">
                <a:solidFill>
                  <a:srgbClr val="45556c"/>
                </a:solidFill>
                <a:latin typeface="Arial"/>
              </a:rPr>
              <a:t>Βιολογία S4 · Ενότητα 1, Μάθημα 1 · Τι Είναι Ζωή;</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20" name="Rectangle 1"/>
          <p:cNvSpPr/>
          <p:nvPr/>
        </p:nvSpPr>
        <p:spPr>
          <a:xfrm>
            <a:off x="0" y="0"/>
            <a:ext cx="164160" cy="6857640"/>
          </a:xfrm>
          <a:prstGeom prst="rect">
            <a:avLst/>
          </a:prstGeom>
          <a:solidFill>
            <a:srgbClr val="ea580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1" name="TextBox 2"/>
          <p:cNvSpPr/>
          <p:nvPr/>
        </p:nvSpPr>
        <p:spPr>
          <a:xfrm>
            <a:off x="640080" y="411480"/>
            <a:ext cx="10515240" cy="2880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300" spc="-1" strike="noStrike">
                <a:solidFill>
                  <a:srgbClr val="ea580c"/>
                </a:solidFill>
                <a:latin typeface="Arial"/>
              </a:rPr>
              <a:t>ΣΎΓΚΡΙΝΕ ΤΟΥΣ ΟΡΙΣΜΟΎΣ</a:t>
            </a:r>
            <a:endParaRPr b="0" lang="en-US" sz="1300" spc="-1" strike="noStrike">
              <a:solidFill>
                <a:srgbClr val="000000"/>
              </a:solidFill>
              <a:latin typeface="Arial"/>
            </a:endParaRPr>
          </a:p>
        </p:txBody>
      </p:sp>
      <p:sp>
        <p:nvSpPr>
          <p:cNvPr id="122" name="TextBox 3"/>
          <p:cNvSpPr/>
          <p:nvPr/>
        </p:nvSpPr>
        <p:spPr>
          <a:xfrm>
            <a:off x="640080" y="749880"/>
            <a:ext cx="10881000" cy="5014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pc="-1" strike="noStrike">
                <a:solidFill>
                  <a:srgbClr val="0f172a"/>
                </a:solidFill>
                <a:latin typeface="Verdana"/>
              </a:rPr>
              <a:t>Λίγοι επιστήμονες, λίγοι ορισμοί της «ζωής»</a:t>
            </a:r>
            <a:endParaRPr b="0" lang="en-US" sz="2700" spc="-1" strike="noStrike">
              <a:solidFill>
                <a:srgbClr val="000000"/>
              </a:solidFill>
              <a:latin typeface="Arial"/>
            </a:endParaRPr>
          </a:p>
        </p:txBody>
      </p:sp>
      <p:sp>
        <p:nvSpPr>
          <p:cNvPr id="123" name="Rectangle 4"/>
          <p:cNvSpPr/>
          <p:nvPr/>
        </p:nvSpPr>
        <p:spPr>
          <a:xfrm>
            <a:off x="640080" y="1691640"/>
            <a:ext cx="3474360" cy="2377080"/>
          </a:xfrm>
          <a:prstGeom prst="rect">
            <a:avLst/>
          </a:prstGeom>
          <a:solidFill>
            <a:srgbClr val="ffff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4" name="TextBox 5"/>
          <p:cNvSpPr/>
          <p:nvPr/>
        </p:nvSpPr>
        <p:spPr>
          <a:xfrm>
            <a:off x="777240" y="1783080"/>
            <a:ext cx="3200040" cy="318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pc="-1" strike="noStrike">
                <a:solidFill>
                  <a:srgbClr val="0f172a"/>
                </a:solidFill>
                <a:latin typeface="Arial"/>
              </a:rPr>
              <a:t>Erwin Schrödinger</a:t>
            </a:r>
            <a:endParaRPr b="0" lang="en-US" sz="1500" spc="-1" strike="noStrike">
              <a:solidFill>
                <a:srgbClr val="000000"/>
              </a:solidFill>
              <a:latin typeface="Arial"/>
            </a:endParaRPr>
          </a:p>
        </p:txBody>
      </p:sp>
      <p:sp>
        <p:nvSpPr>
          <p:cNvPr id="125" name="TextBox 6"/>
          <p:cNvSpPr/>
          <p:nvPr/>
        </p:nvSpPr>
        <p:spPr>
          <a:xfrm>
            <a:off x="777240" y="2148840"/>
            <a:ext cx="3200040" cy="1041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50" spc="-1" strike="noStrike">
                <a:solidFill>
                  <a:srgbClr val="1e293b"/>
                </a:solidFill>
                <a:latin typeface="Arial"/>
              </a:rPr>
              <a:t>Η ζωή είναι αυτό που αντιστέκεται στη φθορά — ένας οργανισμός διατηρεί την τάξη του προσλαμβάνοντας ενέργεια, αντιστεκόμενος στη φυσική τάση προς την αταξία.</a:t>
            </a:r>
            <a:endParaRPr b="0" lang="en-US" sz="1250" spc="-1" strike="noStrike">
              <a:solidFill>
                <a:srgbClr val="000000"/>
              </a:solidFill>
              <a:latin typeface="Arial"/>
            </a:endParaRPr>
          </a:p>
        </p:txBody>
      </p:sp>
      <p:sp>
        <p:nvSpPr>
          <p:cNvPr id="126" name="Rectangle 7"/>
          <p:cNvSpPr/>
          <p:nvPr/>
        </p:nvSpPr>
        <p:spPr>
          <a:xfrm>
            <a:off x="4343400" y="1691640"/>
            <a:ext cx="3474360" cy="2377080"/>
          </a:xfrm>
          <a:prstGeom prst="rect">
            <a:avLst/>
          </a:prstGeom>
          <a:solidFill>
            <a:srgbClr val="ffff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7" name="TextBox 8"/>
          <p:cNvSpPr/>
          <p:nvPr/>
        </p:nvSpPr>
        <p:spPr>
          <a:xfrm>
            <a:off x="4480560" y="1783080"/>
            <a:ext cx="3200040" cy="318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pc="-1" strike="noStrike">
                <a:solidFill>
                  <a:srgbClr val="0f172a"/>
                </a:solidFill>
                <a:latin typeface="Arial"/>
              </a:rPr>
              <a:t>Lynn Margulis</a:t>
            </a:r>
            <a:endParaRPr b="0" lang="en-US" sz="1500" spc="-1" strike="noStrike">
              <a:solidFill>
                <a:srgbClr val="000000"/>
              </a:solidFill>
              <a:latin typeface="Arial"/>
            </a:endParaRPr>
          </a:p>
        </p:txBody>
      </p:sp>
      <p:sp>
        <p:nvSpPr>
          <p:cNvPr id="128" name="TextBox 9"/>
          <p:cNvSpPr/>
          <p:nvPr/>
        </p:nvSpPr>
        <p:spPr>
          <a:xfrm>
            <a:off x="4480560" y="2148840"/>
            <a:ext cx="3200040" cy="851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50" spc="-1" strike="noStrike">
                <a:solidFill>
                  <a:srgbClr val="1e293b"/>
                </a:solidFill>
                <a:latin typeface="Arial"/>
              </a:rPr>
              <a:t>Η ζωή είναι ένα πρότυπο στην ύλη που συνεχώς αναπαράγει τον εαυτό του — χημικά συστήματα που αυτοσυντηρούνται και κατάγονται από έναν κοινό πρόγονο.</a:t>
            </a:r>
            <a:endParaRPr b="0" lang="en-US" sz="1250" spc="-1" strike="noStrike">
              <a:solidFill>
                <a:srgbClr val="000000"/>
              </a:solidFill>
              <a:latin typeface="Arial"/>
            </a:endParaRPr>
          </a:p>
        </p:txBody>
      </p:sp>
      <p:sp>
        <p:nvSpPr>
          <p:cNvPr id="129" name="Rectangle 10"/>
          <p:cNvSpPr/>
          <p:nvPr/>
        </p:nvSpPr>
        <p:spPr>
          <a:xfrm>
            <a:off x="8046720" y="1691640"/>
            <a:ext cx="3474360" cy="2377080"/>
          </a:xfrm>
          <a:prstGeom prst="rect">
            <a:avLst/>
          </a:prstGeom>
          <a:solidFill>
            <a:srgbClr val="ffff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0" name="TextBox 11"/>
          <p:cNvSpPr/>
          <p:nvPr/>
        </p:nvSpPr>
        <p:spPr>
          <a:xfrm>
            <a:off x="8183880" y="1783080"/>
            <a:ext cx="3200040" cy="318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pc="-1" strike="noStrike">
                <a:solidFill>
                  <a:srgbClr val="0f172a"/>
                </a:solidFill>
                <a:latin typeface="Arial"/>
              </a:rPr>
              <a:t>Daniel Koshland</a:t>
            </a:r>
            <a:endParaRPr b="0" lang="en-US" sz="1500" spc="-1" strike="noStrike">
              <a:solidFill>
                <a:srgbClr val="000000"/>
              </a:solidFill>
              <a:latin typeface="Arial"/>
            </a:endParaRPr>
          </a:p>
        </p:txBody>
      </p:sp>
      <p:sp>
        <p:nvSpPr>
          <p:cNvPr id="131" name="TextBox 12"/>
          <p:cNvSpPr/>
          <p:nvPr/>
        </p:nvSpPr>
        <p:spPr>
          <a:xfrm>
            <a:off x="8183880" y="2148840"/>
            <a:ext cx="3200040" cy="851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50" spc="-1" strike="noStrike">
                <a:solidFill>
                  <a:srgbClr val="1e293b"/>
                </a:solidFill>
                <a:latin typeface="Arial"/>
              </a:rPr>
              <a:t>Πρότεινε 7 «πυλώνες» που χρειάζεται ένα σύστημα για να είναι ζωντανό, όπως ένα «πρόγραμμα» (γενετικό υλικό), προσαρμοστικότητα και μεταβολισμό.</a:t>
            </a:r>
            <a:endParaRPr b="0" lang="en-US" sz="1250" spc="-1" strike="noStrike">
              <a:solidFill>
                <a:srgbClr val="000000"/>
              </a:solidFill>
              <a:latin typeface="Arial"/>
            </a:endParaRPr>
          </a:p>
        </p:txBody>
      </p:sp>
      <p:sp>
        <p:nvSpPr>
          <p:cNvPr id="132" name="TextBox 13"/>
          <p:cNvSpPr/>
          <p:nvPr/>
        </p:nvSpPr>
        <p:spPr>
          <a:xfrm>
            <a:off x="640080" y="6473880"/>
            <a:ext cx="5486040" cy="242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000" spc="-1" strike="noStrike">
                <a:solidFill>
                  <a:srgbClr val="45556c"/>
                </a:solidFill>
                <a:latin typeface="Arial"/>
              </a:rPr>
              <a:t>Βιολογία S4 · Ενότητα 1, Μάθημα 1 · Τι Είναι Ζωή;</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133" name="Rectangle 1"/>
          <p:cNvSpPr/>
          <p:nvPr/>
        </p:nvSpPr>
        <p:spPr>
          <a:xfrm>
            <a:off x="0" y="0"/>
            <a:ext cx="164160" cy="6857640"/>
          </a:xfrm>
          <a:prstGeom prst="rect">
            <a:avLst/>
          </a:prstGeom>
          <a:solidFill>
            <a:srgbClr val="ea580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4" name="TextBox 2"/>
          <p:cNvSpPr/>
          <p:nvPr/>
        </p:nvSpPr>
        <p:spPr>
          <a:xfrm>
            <a:off x="640080" y="1188720"/>
            <a:ext cx="1088100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pc="-1" strike="noStrike">
                <a:solidFill>
                  <a:srgbClr val="ea580c"/>
                </a:solidFill>
                <a:latin typeface="Arial"/>
              </a:rPr>
              <a:t>ΔΟΚΊΜΑΣΕ ΤΟΥΣ ΟΡΙΣΜΟΎΣ</a:t>
            </a:r>
            <a:endParaRPr b="0" lang="en-US" sz="1400" spc="-1" strike="noStrike">
              <a:solidFill>
                <a:srgbClr val="ffffff"/>
              </a:solidFill>
              <a:latin typeface="Arial"/>
            </a:endParaRPr>
          </a:p>
        </p:txBody>
      </p:sp>
      <p:sp>
        <p:nvSpPr>
          <p:cNvPr id="135" name="TextBox 3"/>
          <p:cNvSpPr/>
          <p:nvPr/>
        </p:nvSpPr>
        <p:spPr>
          <a:xfrm>
            <a:off x="640080" y="3109680"/>
            <a:ext cx="10881000" cy="546480"/>
          </a:xfrm>
          <a:prstGeom prst="rect">
            <a:avLst/>
          </a:prstGeom>
          <a:noFill/>
          <a:ln w="0">
            <a:noFill/>
          </a:ln>
        </p:spPr>
        <p:style>
          <a:lnRef idx="0"/>
          <a:fillRef idx="0"/>
          <a:effectRef idx="0"/>
          <a:fontRef idx="minor"/>
        </p:style>
        <p:txBody>
          <a:bodyPr lIns="90000" rIns="90000" tIns="45000" bIns="45000" anchor="ctr">
            <a:spAutoFit/>
          </a:bodyPr>
          <a:p>
            <a:pPr defTabSz="457200">
              <a:lnSpc>
                <a:spcPct val="100000"/>
              </a:lnSpc>
            </a:pPr>
            <a:r>
              <a:rPr b="1" lang="en-US" sz="3000" spc="-1" strike="noStrike">
                <a:solidFill>
                  <a:srgbClr val="ffffff"/>
                </a:solidFill>
                <a:latin typeface="Verdana"/>
              </a:rPr>
              <a:t>Μετράει ένας ιός ως «ζωντανός»;</a:t>
            </a:r>
            <a:endParaRPr b="0" lang="en-US" sz="3000" spc="-1" strike="noStrike">
              <a:solidFill>
                <a:srgbClr val="ffffff"/>
              </a:solidFill>
              <a:latin typeface="Arial"/>
            </a:endParaRPr>
          </a:p>
        </p:txBody>
      </p:sp>
      <p:sp>
        <p:nvSpPr>
          <p:cNvPr id="136" name="TextBox 4"/>
          <p:cNvSpPr/>
          <p:nvPr/>
        </p:nvSpPr>
        <p:spPr>
          <a:xfrm>
            <a:off x="640080" y="4846320"/>
            <a:ext cx="1051524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i="1" lang="en-US" sz="1400" spc="-1" strike="noStrike">
                <a:solidFill>
                  <a:srgbClr val="94a3b8"/>
                </a:solidFill>
                <a:latin typeface="Arial"/>
              </a:rPr>
              <a:t>Έχει γενετικό υλικό και εξελίσσεται — αλλά δεν μπορεί να αναπαραχθεί ή να κάνει μεταβολισμό μόνος του.</a:t>
            </a:r>
            <a:endParaRPr b="0" lang="en-US" sz="1400" spc="-1" strike="noStrike">
              <a:solidFill>
                <a:srgbClr val="ffffff"/>
              </a:solidFill>
              <a:latin typeface="Arial"/>
            </a:endParaRPr>
          </a:p>
        </p:txBody>
      </p:sp>
      <p:sp>
        <p:nvSpPr>
          <p:cNvPr id="137" name="TextBox 5"/>
          <p:cNvSpPr/>
          <p:nvPr/>
        </p:nvSpPr>
        <p:spPr>
          <a:xfrm>
            <a:off x="640080" y="6355080"/>
            <a:ext cx="10058040" cy="257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00" spc="-1" strike="noStrike">
                <a:solidFill>
                  <a:srgbClr val="94a3b8"/>
                </a:solidFill>
                <a:latin typeface="Arial"/>
              </a:rPr>
              <a:t>Βιολογία S4 · Ενότητα 1, Μάθημα 1 · Τι Είναι Ζωή;</a:t>
            </a:r>
            <a:endParaRPr b="0" lang="en-US"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1" lang="en" sz="2800" spc="-1" strike="noStrike">
                <a:solidFill>
                  <a:schemeClr val="dk1"/>
                </a:solidFill>
                <a:latin typeface="Arial"/>
                <a:ea typeface="Arial"/>
              </a:rPr>
              <a:t>Κοινή καταγωγή-εξέλιξη</a:t>
            </a:r>
            <a:endParaRPr b="0" lang="en-US" sz="2800" spc="-1" strike="noStrike">
              <a:solidFill>
                <a:srgbClr val="000000"/>
              </a:solidFill>
              <a:latin typeface="Arial"/>
            </a:endParaRPr>
          </a:p>
        </p:txBody>
      </p:sp>
      <p:sp>
        <p:nvSpPr>
          <p:cNvPr id="139" name="PlaceHolder 2"/>
          <p:cNvSpPr>
            <a:spLocks noGrp="1"/>
          </p:cNvSpPr>
          <p:nvPr>
            <p:ph/>
          </p:nvPr>
        </p:nvSpPr>
        <p:spPr>
          <a:xfrm>
            <a:off x="311760" y="1094400"/>
            <a:ext cx="8520120" cy="3416040"/>
          </a:xfrm>
          <a:prstGeom prst="rect">
            <a:avLst/>
          </a:prstGeom>
          <a:noFill/>
          <a:ln w="0">
            <a:noFill/>
          </a:ln>
        </p:spPr>
        <p:txBody>
          <a:bodyPr lIns="91440" rIns="91440" tIns="91440" bIns="91440" anchor="t">
            <a:normAutofit/>
          </a:bodyPr>
          <a:p>
            <a:pPr indent="0">
              <a:lnSpc>
                <a:spcPct val="115000"/>
              </a:lnSpc>
              <a:buNone/>
              <a:tabLst>
                <a:tab algn="l" pos="0"/>
              </a:tabLst>
            </a:pPr>
            <a:r>
              <a:rPr b="0" lang="en" sz="1900" spc="-1" strike="noStrike">
                <a:solidFill>
                  <a:srgbClr val="202124"/>
                </a:solidFill>
                <a:highlight>
                  <a:srgbClr val="ffffff"/>
                </a:highlight>
                <a:latin typeface="Arial"/>
                <a:ea typeface="Arial"/>
              </a:rPr>
              <a:t>Ο τελευταίος παγκόσμιος κοινός πρόγονος (LUCA) είναι το υποθετικό κοινό προγονικό κύτταρο από το οποίο προήλθαν οι τρεις τομείς της ζωής, τα Βακτήρια, τα Αρχαία και ευκαρυωτικοί οργανισμοί.</a:t>
            </a:r>
            <a:endParaRPr b="0" lang="en-US" sz="1900" spc="-1" strike="noStrike">
              <a:solidFill>
                <a:srgbClr val="000000"/>
              </a:solidFill>
              <a:latin typeface="Arial"/>
            </a:endParaRPr>
          </a:p>
          <a:p>
            <a:pPr indent="0">
              <a:lnSpc>
                <a:spcPct val="115000"/>
              </a:lnSpc>
              <a:spcBef>
                <a:spcPts val="1199"/>
              </a:spcBef>
              <a:spcAft>
                <a:spcPts val="1199"/>
              </a:spcAft>
              <a:buNone/>
              <a:tabLst>
                <a:tab algn="l" pos="0"/>
              </a:tabLst>
            </a:pPr>
            <a:endParaRPr b="0" lang="en-US" sz="1900" spc="-1" strike="noStrike">
              <a:solidFill>
                <a:srgbClr val="000000"/>
              </a:solidFill>
              <a:latin typeface="Arial"/>
            </a:endParaRPr>
          </a:p>
        </p:txBody>
      </p:sp>
      <p:pic>
        <p:nvPicPr>
          <p:cNvPr id="140" name="Google Shape;169;p 2" descr=""/>
          <p:cNvPicPr/>
          <p:nvPr/>
        </p:nvPicPr>
        <p:blipFill>
          <a:blip r:embed="rId1"/>
          <a:stretch/>
        </p:blipFill>
        <p:spPr>
          <a:xfrm>
            <a:off x="3356640" y="2167920"/>
            <a:ext cx="5609160" cy="304740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41" name="Rectangle 1"/>
          <p:cNvSpPr/>
          <p:nvPr/>
        </p:nvSpPr>
        <p:spPr>
          <a:xfrm>
            <a:off x="0" y="0"/>
            <a:ext cx="164160" cy="6857640"/>
          </a:xfrm>
          <a:prstGeom prst="rect">
            <a:avLst/>
          </a:prstGeom>
          <a:solidFill>
            <a:srgbClr val="ea580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2" name="TextBox 2"/>
          <p:cNvSpPr/>
          <p:nvPr/>
        </p:nvSpPr>
        <p:spPr>
          <a:xfrm>
            <a:off x="640080" y="411480"/>
            <a:ext cx="10515240" cy="2880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300" spc="-1" strike="noStrike">
                <a:solidFill>
                  <a:srgbClr val="ea580c"/>
                </a:solidFill>
                <a:latin typeface="Arial"/>
              </a:rPr>
              <a:t>ΤΟ ΈΝΑ ΠΡΆΓΜΑ ΠΟΥ ΌΛΟΙ ΣΥΜΦΩΝΟΎΝ</a:t>
            </a:r>
            <a:endParaRPr b="0" lang="en-US" sz="1300" spc="-1" strike="noStrike">
              <a:solidFill>
                <a:srgbClr val="000000"/>
              </a:solidFill>
              <a:latin typeface="Arial"/>
            </a:endParaRPr>
          </a:p>
        </p:txBody>
      </p:sp>
      <p:sp>
        <p:nvSpPr>
          <p:cNvPr id="143" name="TextBox 3"/>
          <p:cNvSpPr/>
          <p:nvPr/>
        </p:nvSpPr>
        <p:spPr>
          <a:xfrm>
            <a:off x="640080" y="749880"/>
            <a:ext cx="10881000" cy="5014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pc="-1" strike="noStrike">
                <a:solidFill>
                  <a:srgbClr val="0f172a"/>
                </a:solidFill>
                <a:latin typeface="Verdana"/>
              </a:rPr>
              <a:t>Όλη η ζωή έχει έναν κοινό πρόγονο</a:t>
            </a:r>
            <a:endParaRPr b="0" lang="en-US" sz="2700" spc="-1" strike="noStrike">
              <a:solidFill>
                <a:srgbClr val="000000"/>
              </a:solidFill>
              <a:latin typeface="Arial"/>
            </a:endParaRPr>
          </a:p>
        </p:txBody>
      </p:sp>
      <p:sp>
        <p:nvSpPr>
          <p:cNvPr id="144" name="TextBox 4"/>
          <p:cNvSpPr/>
          <p:nvPr/>
        </p:nvSpPr>
        <p:spPr>
          <a:xfrm>
            <a:off x="640080" y="1600200"/>
            <a:ext cx="10606680" cy="16398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1" lang="en-US" sz="1700" spc="-1" strike="noStrike">
                <a:solidFill>
                  <a:srgbClr val="0f172a"/>
                </a:solidFill>
                <a:latin typeface="Arial"/>
              </a:rPr>
              <a:t>• </a:t>
            </a:r>
            <a:r>
              <a:rPr b="1" lang="en-US" sz="1700" spc="-1" strike="noStrike">
                <a:solidFill>
                  <a:srgbClr val="0f172a"/>
                </a:solidFill>
                <a:latin typeface="Arial"/>
              </a:rPr>
              <a:t>LUCA</a:t>
            </a:r>
            <a:r>
              <a:rPr b="0" lang="en-US" sz="1700" spc="-1" strike="noStrike">
                <a:solidFill>
                  <a:srgbClr val="1e293b"/>
                </a:solidFill>
                <a:latin typeface="Arial"/>
              </a:rPr>
              <a:t>  — ο Τελευταίος Παγκόσμιος Κοινός Πρόγονος — είναι το υποθετικό, μοναδικό προγονικό κύτταρο από το οποίο κατάγονται όλα τα έμβια όντα στη Γη.</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0f172a"/>
                </a:solidFill>
                <a:latin typeface="Arial"/>
              </a:rPr>
              <a:t>• </a:t>
            </a:r>
            <a:r>
              <a:rPr b="1" lang="en-US" sz="1700" spc="-1" strike="noStrike">
                <a:solidFill>
                  <a:srgbClr val="0f172a"/>
                </a:solidFill>
                <a:latin typeface="Arial"/>
              </a:rPr>
              <a:t>Απόδειξη:</a:t>
            </a:r>
            <a:r>
              <a:rPr b="0" lang="en-US" sz="1700" spc="-1" strike="noStrike">
                <a:solidFill>
                  <a:srgbClr val="1e293b"/>
                </a:solidFill>
                <a:latin typeface="Arial"/>
              </a:rPr>
              <a:t>  κάθε τομέας της ζωής μοιράζεται την ίδια βασική κυτταρική χημεία, τον ίδιο γενετικό κώδικα και τους ίδιους μοριακούς μηχανισμούς — πολύ όμοιοι για να έχουν εμφανιστεί ανεξάρτητα.</a:t>
            </a:r>
            <a:endParaRPr b="0" lang="en-US" sz="1700" spc="-1" strike="noStrike">
              <a:solidFill>
                <a:srgbClr val="000000"/>
              </a:solidFill>
              <a:latin typeface="Arial"/>
            </a:endParaRPr>
          </a:p>
          <a:p>
            <a:pPr defTabSz="457200">
              <a:lnSpc>
                <a:spcPct val="100000"/>
              </a:lnSpc>
              <a:spcAft>
                <a:spcPts val="1001"/>
              </a:spcAft>
            </a:pPr>
            <a:r>
              <a:rPr b="1" lang="en-US" sz="1700" spc="-1" strike="noStrike">
                <a:solidFill>
                  <a:srgbClr val="0f172a"/>
                </a:solidFill>
                <a:latin typeface="Arial"/>
              </a:rPr>
              <a:t>• </a:t>
            </a:r>
            <a:r>
              <a:rPr b="1" lang="en-US" sz="1700" spc="-1" strike="noStrike">
                <a:solidFill>
                  <a:srgbClr val="0f172a"/>
                </a:solidFill>
                <a:latin typeface="Arial"/>
              </a:rPr>
              <a:t>Άρα όσο διαφορετικά και να φαίνονται,</a:t>
            </a:r>
            <a:r>
              <a:rPr b="0" lang="en-US" sz="1700" spc="-1" strike="noStrike">
                <a:solidFill>
                  <a:srgbClr val="1e293b"/>
                </a:solidFill>
                <a:latin typeface="Arial"/>
              </a:rPr>
              <a:t>  ένα μανιτάρι, μια τσούχτρα και εσύ είστε, τελικά, ξαδέρφια.</a:t>
            </a:r>
            <a:endParaRPr b="0" lang="en-US" sz="1700" spc="-1" strike="noStrike">
              <a:solidFill>
                <a:srgbClr val="000000"/>
              </a:solidFill>
              <a:latin typeface="Arial"/>
            </a:endParaRPr>
          </a:p>
        </p:txBody>
      </p:sp>
      <p:sp>
        <p:nvSpPr>
          <p:cNvPr id="145" name="TextBox 5"/>
          <p:cNvSpPr/>
          <p:nvPr/>
        </p:nvSpPr>
        <p:spPr>
          <a:xfrm>
            <a:off x="640080" y="6473880"/>
            <a:ext cx="5486040" cy="242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000" spc="-1" strike="noStrike">
                <a:solidFill>
                  <a:srgbClr val="45556c"/>
                </a:solidFill>
                <a:latin typeface="Arial"/>
              </a:rPr>
              <a:t>Βιολογία S4 · Ενότητα 1, Μάθημα 1 · Τι Είναι Ζωή;</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title"/>
          </p:nvPr>
        </p:nvSpPr>
        <p:spPr>
          <a:xfrm>
            <a:off x="311760" y="444960"/>
            <a:ext cx="8520120" cy="572400"/>
          </a:xfrm>
          <a:prstGeom prst="rect">
            <a:avLst/>
          </a:prstGeom>
          <a:noFill/>
          <a:ln w="9360">
            <a:solidFill>
              <a:srgbClr val="000000"/>
            </a:solidFill>
            <a:round/>
          </a:ln>
        </p:spPr>
        <p:txBody>
          <a:bodyPr lIns="91440" rIns="91440" tIns="91440" bIns="91440" anchor="t">
            <a:normAutofit fontScale="93550"/>
          </a:bodyPr>
          <a:p>
            <a:pPr indent="0">
              <a:lnSpc>
                <a:spcPct val="100000"/>
              </a:lnSpc>
              <a:buNone/>
              <a:tabLst>
                <a:tab algn="l" pos="0"/>
              </a:tabLst>
            </a:pPr>
            <a:r>
              <a:rPr b="0" lang="en" sz="2800" spc="-1" strike="noStrike">
                <a:solidFill>
                  <a:schemeClr val="dk1"/>
                </a:solidFill>
                <a:latin typeface="Arial"/>
                <a:ea typeface="Arial"/>
              </a:rPr>
              <a:t>Ποικιλομορφία της Ζωής</a:t>
            </a:r>
            <a:endParaRPr b="0" lang="en-US" sz="2800" spc="-1" strike="noStrike">
              <a:solidFill>
                <a:srgbClr val="000000"/>
              </a:solidFill>
              <a:latin typeface="Arial"/>
            </a:endParaRPr>
          </a:p>
        </p:txBody>
      </p:sp>
      <p:sp>
        <p:nvSpPr>
          <p:cNvPr id="147" name="PlaceHolder 2"/>
          <p:cNvSpPr>
            <a:spLocks noGrp="1"/>
          </p:cNvSpPr>
          <p:nvPr>
            <p:ph/>
          </p:nvPr>
        </p:nvSpPr>
        <p:spPr>
          <a:xfrm>
            <a:off x="311760" y="1152360"/>
            <a:ext cx="8520120" cy="3416040"/>
          </a:xfrm>
          <a:prstGeom prst="rect">
            <a:avLst/>
          </a:prstGeom>
          <a:noFill/>
          <a:ln w="9360">
            <a:solidFill>
              <a:srgbClr val="000000"/>
            </a:solidFill>
            <a:round/>
          </a:ln>
        </p:spPr>
        <p:txBody>
          <a:bodyPr lIns="91440" rIns="91440" tIns="91440" bIns="91440" anchor="t">
            <a:normAutofit/>
          </a:bodyPr>
          <a:p>
            <a:pPr indent="0">
              <a:lnSpc>
                <a:spcPct val="115000"/>
              </a:lnSpc>
              <a:buNone/>
              <a:tabLst>
                <a:tab algn="l" pos="0"/>
              </a:tabLst>
            </a:pPr>
            <a:r>
              <a:rPr b="0" lang="en" sz="1800" spc="-1" strike="noStrike">
                <a:solidFill>
                  <a:schemeClr val="dk2"/>
                </a:solidFill>
                <a:latin typeface="Arial"/>
                <a:ea typeface="Arial"/>
              </a:rPr>
              <a:t>Υπάρχει τεράστια ποικιλομορφία στους ζωντανούς οργανισμούς (βιοποικιλότητα).  </a:t>
            </a:r>
            <a:endParaRPr b="0" lang="en-US" sz="1800" spc="-1" strike="noStrike">
              <a:solidFill>
                <a:srgbClr val="000000"/>
              </a:solidFill>
              <a:latin typeface="Arial"/>
            </a:endParaRPr>
          </a:p>
          <a:p>
            <a:pPr indent="0">
              <a:lnSpc>
                <a:spcPct val="115000"/>
              </a:lnSpc>
              <a:spcBef>
                <a:spcPts val="1199"/>
              </a:spcBef>
              <a:buNone/>
              <a:tabLst>
                <a:tab algn="l" pos="0"/>
              </a:tabLst>
            </a:pPr>
            <a:r>
              <a:rPr b="1" lang="en" sz="1800" spc="-1" strike="noStrike">
                <a:solidFill>
                  <a:schemeClr val="dk2"/>
                </a:solidFill>
                <a:latin typeface="Arial"/>
                <a:ea typeface="Arial"/>
              </a:rPr>
              <a:t>Τουλάχιστον 10 εκατομμύρια διαφορετικών ειδών οργανισμών ζουν σήμερα στον πλανήτη μας.</a:t>
            </a: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a:solidFill>
                  <a:schemeClr val="dk2"/>
                </a:solidFill>
                <a:latin typeface="Arial"/>
                <a:ea typeface="Arial"/>
              </a:rPr>
              <a:t>Οι επιστήμονες τους έχουν κατατάξεις σε </a:t>
            </a:r>
            <a:r>
              <a:rPr b="1" lang="en" sz="1800" spc="-1" strike="noStrike">
                <a:solidFill>
                  <a:schemeClr val="dk2"/>
                </a:solidFill>
                <a:latin typeface="Arial"/>
                <a:ea typeface="Arial"/>
              </a:rPr>
              <a:t>7 διαφορετικά βασίλεια</a:t>
            </a: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a:solidFill>
                  <a:schemeClr val="dk2"/>
                </a:solidFill>
                <a:latin typeface="Arial"/>
                <a:ea typeface="Arial"/>
              </a:rPr>
              <a:t>Αρχαία-Βακτήρια-Πρώτιστα-Χρωμιστά-Μύκητες-Φυτά-Ζώα</a:t>
            </a:r>
            <a:endParaRPr b="0" lang="en-US" sz="1800" spc="-1" strike="noStrike">
              <a:solidFill>
                <a:srgbClr val="000000"/>
              </a:solidFill>
              <a:latin typeface="Arial"/>
            </a:endParaRPr>
          </a:p>
          <a:p>
            <a:pPr indent="0">
              <a:lnSpc>
                <a:spcPct val="115000"/>
              </a:lnSpc>
              <a:spcBef>
                <a:spcPts val="1199"/>
              </a:spcBef>
              <a:spcAft>
                <a:spcPts val="1199"/>
              </a:spcAft>
              <a:buNone/>
              <a:tabLst>
                <a:tab algn="l" pos="0"/>
              </a:tabLst>
            </a:pPr>
            <a:endParaRPr b="0" lang="en-US" sz="1800" spc="-1" strike="noStrike">
              <a:solidFill>
                <a:srgbClr val="000000"/>
              </a:solidFill>
              <a:latin typeface="Arial"/>
            </a:endParaRPr>
          </a:p>
        </p:txBody>
      </p:sp>
      <p:sp>
        <p:nvSpPr>
          <p:cNvPr id="148" name="Google Shape;176;p 2"/>
          <p:cNvSpPr/>
          <p:nvPr/>
        </p:nvSpPr>
        <p:spPr>
          <a:xfrm>
            <a:off x="0" y="0"/>
            <a:ext cx="2999520" cy="39600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 sz="1400" spc="-1" strike="noStrike">
                <a:solidFill>
                  <a:srgbClr val="000000"/>
                </a:solidFill>
                <a:latin typeface="Arial"/>
                <a:ea typeface="Arial"/>
              </a:rPr>
              <a:t> </a:t>
            </a:r>
            <a:endParaRPr b="0" lang="en-US" sz="1400" spc="-1" strike="noStrike">
              <a:solidFill>
                <a:srgbClr val="000000"/>
              </a:solidFill>
              <a:latin typeface="Arial"/>
            </a:endParaRPr>
          </a:p>
        </p:txBody>
      </p:sp>
      <p:sp>
        <p:nvSpPr>
          <p:cNvPr id="149" name="Google Shape;177;p 2"/>
          <p:cNvSpPr/>
          <p:nvPr/>
        </p:nvSpPr>
        <p:spPr>
          <a:xfrm>
            <a:off x="152280" y="152280"/>
            <a:ext cx="2999520" cy="39600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 sz="1400" spc="-1" strike="noStrike">
                <a:solidFill>
                  <a:srgbClr val="000000"/>
                </a:solidFill>
                <a:latin typeface="Arial"/>
                <a:ea typeface="Arial"/>
              </a:rPr>
              <a:t> </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1" lang="en" sz="2800" spc="-1" strike="noStrike">
                <a:solidFill>
                  <a:schemeClr val="dk1"/>
                </a:solidFill>
                <a:latin typeface="Arial"/>
                <a:ea typeface="Arial"/>
              </a:rPr>
              <a:t>Βακτήρια</a:t>
            </a:r>
            <a:endParaRPr b="0" lang="en-US" sz="2800" spc="-1" strike="noStrike">
              <a:solidFill>
                <a:srgbClr val="000000"/>
              </a:solidFill>
              <a:latin typeface="Arial"/>
            </a:endParaRPr>
          </a:p>
        </p:txBody>
      </p:sp>
      <p:sp>
        <p:nvSpPr>
          <p:cNvPr id="151" name="PlaceHolder 2"/>
          <p:cNvSpPr>
            <a:spLocks noGrp="1"/>
          </p:cNvSpPr>
          <p:nvPr>
            <p:ph/>
          </p:nvPr>
        </p:nvSpPr>
        <p:spPr>
          <a:xfrm>
            <a:off x="137520" y="1017720"/>
            <a:ext cx="5268600" cy="3416040"/>
          </a:xfrm>
          <a:prstGeom prst="rect">
            <a:avLst/>
          </a:prstGeom>
          <a:noFill/>
          <a:ln w="0">
            <a:noFill/>
          </a:ln>
        </p:spPr>
        <p:txBody>
          <a:bodyPr lIns="91440" rIns="91440" tIns="91440" bIns="91440" anchor="t">
            <a:normAutofit fontScale="87123" lnSpcReduction="10000"/>
          </a:bodyPr>
          <a:p>
            <a:pPr indent="0">
              <a:lnSpc>
                <a:spcPct val="115000"/>
              </a:lnSpc>
              <a:buNone/>
              <a:tabLst>
                <a:tab algn="l" pos="0"/>
              </a:tabLst>
            </a:pPr>
            <a:r>
              <a:rPr b="0" lang="en" sz="1700" spc="-1" strike="noStrike">
                <a:solidFill>
                  <a:schemeClr val="dk2"/>
                </a:solidFill>
                <a:latin typeface="Arial"/>
                <a:ea typeface="Arial"/>
              </a:rPr>
              <a:t>Τα βακτήρια είναι μικροί μονοκύτταροι οργανισμοί. Αυτοί οι μικροοργανισμοί </a:t>
            </a:r>
            <a:r>
              <a:rPr b="1" lang="en" sz="1700" spc="-1" strike="noStrike">
                <a:solidFill>
                  <a:srgbClr val="ff0000"/>
                </a:solidFill>
                <a:latin typeface="Arial"/>
                <a:ea typeface="Arial"/>
              </a:rPr>
              <a:t>δεν έχουν πυρήνα και ως εκ τούτου είναι προκαρυωτικοί</a:t>
            </a:r>
            <a:r>
              <a:rPr b="0" lang="en" sz="1700" spc="-1" strike="noStrike">
                <a:solidFill>
                  <a:schemeClr val="dk2"/>
                </a:solidFill>
                <a:latin typeface="Arial"/>
                <a:ea typeface="Arial"/>
              </a:rPr>
              <a:t>. Τα βακτήρια βρίσκονται σχεδόν παντού στη Γη και είναι ζωτικής σημασίας για τα οικοσυστήματα του πλανήτη. Ορισμένα είδη μπορούν να ζήσουν κάτω από ακραίες συνθήκες θερμοκρασίας και πίεσης. </a:t>
            </a:r>
            <a:endParaRPr b="0" lang="en-US" sz="1700" spc="-1" strike="noStrike">
              <a:solidFill>
                <a:srgbClr val="000000"/>
              </a:solidFill>
              <a:latin typeface="Arial"/>
            </a:endParaRPr>
          </a:p>
          <a:p>
            <a:pPr indent="0">
              <a:lnSpc>
                <a:spcPct val="115000"/>
              </a:lnSpc>
              <a:spcBef>
                <a:spcPts val="1199"/>
              </a:spcBef>
              <a:spcAft>
                <a:spcPts val="1199"/>
              </a:spcAft>
              <a:buNone/>
              <a:tabLst>
                <a:tab algn="l" pos="0"/>
              </a:tabLst>
            </a:pPr>
            <a:r>
              <a:rPr b="0" lang="en" sz="1700" spc="-1" strike="noStrike">
                <a:solidFill>
                  <a:schemeClr val="dk2"/>
                </a:solidFill>
                <a:latin typeface="Arial"/>
                <a:ea typeface="Arial"/>
              </a:rPr>
              <a:t>Το ανθρώπινο σώμα είναι γεμάτο βακτήρια, και μάλιστα εκτιμάται ότι περιέχει περισσότερα βακτηριακά κύτταρα από τα ανθρώπινα κύτταρα. Τα περισσότερα βακτήρια στο σώμα είναι αβλαβή, και μερικά είναι ακόμη και χρήσιμα. Ένας σχετικά μικρός αριθμός ειδών προκαλεί ασθένειες.</a:t>
            </a:r>
            <a:endParaRPr b="0" lang="en-US" sz="1700" spc="-1" strike="noStrike">
              <a:solidFill>
                <a:srgbClr val="000000"/>
              </a:solidFill>
              <a:latin typeface="Arial"/>
            </a:endParaRPr>
          </a:p>
        </p:txBody>
      </p:sp>
      <p:pic>
        <p:nvPicPr>
          <p:cNvPr id="152" name="Google Shape;184;p 2" descr=""/>
          <p:cNvPicPr/>
          <p:nvPr/>
        </p:nvPicPr>
        <p:blipFill>
          <a:blip r:embed="rId1"/>
          <a:srcRect l="0" t="0" r="49540" b="31444"/>
          <a:stretch/>
        </p:blipFill>
        <p:spPr>
          <a:xfrm>
            <a:off x="7216560" y="0"/>
            <a:ext cx="1778040" cy="1810080"/>
          </a:xfrm>
          <a:prstGeom prst="rect">
            <a:avLst/>
          </a:prstGeom>
          <a:ln w="0">
            <a:noFill/>
          </a:ln>
        </p:spPr>
      </p:pic>
      <p:sp>
        <p:nvSpPr>
          <p:cNvPr id="153" name="Google Shape;185;p 2"/>
          <p:cNvSpPr/>
          <p:nvPr/>
        </p:nvSpPr>
        <p:spPr>
          <a:xfrm>
            <a:off x="4002120" y="4789440"/>
            <a:ext cx="4992480" cy="335880"/>
          </a:xfrm>
          <a:prstGeom prst="rect">
            <a:avLst/>
          </a:prstGeom>
          <a:noFill/>
          <a:ln w="0">
            <a:noFill/>
          </a:ln>
        </p:spPr>
        <p:style>
          <a:lnRef idx="0"/>
          <a:fillRef idx="0"/>
          <a:effectRef idx="0"/>
          <a:fontRef idx="minor"/>
        </p:style>
        <p:txBody>
          <a:bodyPr tIns="84240" bIns="84240" anchor="t">
            <a:spAutoFit/>
          </a:bodyPr>
          <a:p>
            <a:pPr>
              <a:lnSpc>
                <a:spcPct val="100000"/>
              </a:lnSpc>
              <a:tabLst>
                <a:tab algn="l" pos="0"/>
              </a:tabLst>
            </a:pPr>
            <a:r>
              <a:rPr b="0" lang="en" sz="1100" spc="-1" strike="noStrike">
                <a:solidFill>
                  <a:srgbClr val="000000"/>
                </a:solidFill>
                <a:latin typeface="Arial"/>
                <a:ea typeface="Arial"/>
              </a:rPr>
              <a:t>https://www.genome.gov/genetics-glossary/Bacteria</a:t>
            </a:r>
            <a:endParaRPr b="0" lang="en-US" sz="1100" spc="-1" strike="noStrike">
              <a:solidFill>
                <a:srgbClr val="000000"/>
              </a:solidFill>
              <a:latin typeface="Arial"/>
            </a:endParaRPr>
          </a:p>
        </p:txBody>
      </p:sp>
      <p:pic>
        <p:nvPicPr>
          <p:cNvPr id="154" name="Google Shape;186;p 2" descr=""/>
          <p:cNvPicPr/>
          <p:nvPr/>
        </p:nvPicPr>
        <p:blipFill>
          <a:blip r:embed="rId2"/>
          <a:stretch/>
        </p:blipFill>
        <p:spPr>
          <a:xfrm>
            <a:off x="5290200" y="1738080"/>
            <a:ext cx="3786840" cy="2695680"/>
          </a:xfrm>
          <a:prstGeom prst="rect">
            <a:avLst/>
          </a:prstGeom>
          <a:ln w="0">
            <a:noFill/>
          </a:ln>
        </p:spPr>
      </p:pic>
      <p:sp>
        <p:nvSpPr>
          <p:cNvPr id="155" name="Google Shape;187;p 2"/>
          <p:cNvSpPr/>
          <p:nvPr/>
        </p:nvSpPr>
        <p:spPr>
          <a:xfrm>
            <a:off x="137520" y="4320360"/>
            <a:ext cx="8236800" cy="73116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 sz="1800" spc="-1" strike="noStrike">
                <a:solidFill>
                  <a:srgbClr val="0000ff"/>
                </a:solidFill>
                <a:latin typeface="Arial"/>
                <a:ea typeface="Arial"/>
              </a:rPr>
              <a:t>Κάντε τη δική σας έρευνα! Βρείτε μερικά βακτήρια που είναι επιβλαβή και μερικά χρήσιμα για τον άνθρωπο!</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1" lang="en" sz="2800" spc="-1" strike="noStrike">
                <a:solidFill>
                  <a:schemeClr val="dk1"/>
                </a:solidFill>
                <a:latin typeface="Arial"/>
                <a:ea typeface="Arial"/>
              </a:rPr>
              <a:t>Αρχαία</a:t>
            </a:r>
            <a:endParaRPr b="0" lang="en-US" sz="2800" spc="-1" strike="noStrike">
              <a:solidFill>
                <a:srgbClr val="000000"/>
              </a:solidFill>
              <a:latin typeface="Arial"/>
            </a:endParaRPr>
          </a:p>
        </p:txBody>
      </p:sp>
      <p:sp>
        <p:nvSpPr>
          <p:cNvPr id="157" name="PlaceHolder 2"/>
          <p:cNvSpPr>
            <a:spLocks noGrp="1"/>
          </p:cNvSpPr>
          <p:nvPr>
            <p:ph/>
          </p:nvPr>
        </p:nvSpPr>
        <p:spPr>
          <a:xfrm>
            <a:off x="311760" y="1152360"/>
            <a:ext cx="5806080" cy="3732120"/>
          </a:xfrm>
          <a:prstGeom prst="rect">
            <a:avLst/>
          </a:prstGeom>
          <a:noFill/>
          <a:ln w="0">
            <a:noFill/>
          </a:ln>
        </p:spPr>
        <p:txBody>
          <a:bodyPr lIns="91440" rIns="91440" tIns="91440" bIns="91440" anchor="t">
            <a:normAutofit fontScale="93550" lnSpcReduction="10000"/>
          </a:bodyPr>
          <a:p>
            <a:pPr indent="0">
              <a:lnSpc>
                <a:spcPct val="115000"/>
              </a:lnSpc>
              <a:buNone/>
              <a:tabLst>
                <a:tab algn="l" pos="0"/>
              </a:tabLst>
            </a:pPr>
            <a:r>
              <a:rPr b="0" lang="en" sz="1800" spc="-1" strike="noStrike">
                <a:solidFill>
                  <a:schemeClr val="dk2"/>
                </a:solidFill>
                <a:latin typeface="Arial"/>
                <a:ea typeface="Arial"/>
              </a:rPr>
              <a:t>Τα Αρχαία είναι μονοκύτταροι οργανισμοι. </a:t>
            </a:r>
            <a:r>
              <a:rPr b="0" lang="en" sz="1700" spc="-1" strike="noStrike">
                <a:solidFill>
                  <a:schemeClr val="dk2"/>
                </a:solidFill>
                <a:latin typeface="Arial"/>
                <a:ea typeface="Arial"/>
              </a:rPr>
              <a:t>Αυτοί οι μικροοργανισμοί </a:t>
            </a:r>
            <a:r>
              <a:rPr b="1" lang="en" sz="1700" spc="-1" strike="noStrike">
                <a:solidFill>
                  <a:srgbClr val="ff0000"/>
                </a:solidFill>
                <a:latin typeface="Arial"/>
                <a:ea typeface="Arial"/>
              </a:rPr>
              <a:t>δεν έχουν πυρήνα και ως εκ τούτου είναι προκαρυωτικοί</a:t>
            </a:r>
            <a:r>
              <a:rPr b="0" lang="en" sz="1700" spc="-1" strike="noStrike">
                <a:solidFill>
                  <a:schemeClr val="dk2"/>
                </a:solidFill>
                <a:latin typeface="Arial"/>
                <a:ea typeface="Arial"/>
              </a:rPr>
              <a:t>.</a:t>
            </a:r>
            <a:r>
              <a:rPr b="0" lang="en" sz="1800" spc="-1" strike="noStrike">
                <a:solidFill>
                  <a:schemeClr val="dk2"/>
                </a:solidFill>
                <a:latin typeface="Arial"/>
                <a:ea typeface="Arial"/>
              </a:rPr>
              <a:t> Τα Archaea ταξινομήθηκαν αρχικά ως βακτήρια, λαμβάνοντας το όνομα archaebacteria, στο βασίλειο των Archaebacteria), αλλά αυτός ο όρος δεν χρησιμοποιείται πλέον.</a:t>
            </a:r>
            <a:endParaRPr b="0" lang="en-US" sz="1800" spc="-1" strike="noStrike">
              <a:solidFill>
                <a:srgbClr val="000000"/>
              </a:solidFill>
              <a:latin typeface="Arial"/>
            </a:endParaRPr>
          </a:p>
          <a:p>
            <a:pPr indent="0">
              <a:lnSpc>
                <a:spcPct val="115000"/>
              </a:lnSpc>
              <a:spcBef>
                <a:spcPts val="1199"/>
              </a:spcBef>
              <a:spcAft>
                <a:spcPts val="1199"/>
              </a:spcAft>
              <a:buNone/>
              <a:tabLst>
                <a:tab algn="l" pos="0"/>
              </a:tabLst>
            </a:pPr>
            <a:r>
              <a:rPr b="0" lang="en" sz="1800" spc="-1" strike="noStrike">
                <a:solidFill>
                  <a:schemeClr val="dk2"/>
                </a:solidFill>
                <a:latin typeface="Arial"/>
                <a:ea typeface="Arial"/>
              </a:rPr>
              <a:t>Τα αρχαία είναι μικροοργανισμοί που καθορίζουν τα όρια της ζωής στη Γη. Αρχικά ανακαλύφθηκαν και περιγράφηκαν σε </a:t>
            </a:r>
            <a:r>
              <a:rPr b="1" lang="en" sz="1800" spc="-1" strike="noStrike">
                <a:solidFill>
                  <a:schemeClr val="dk2"/>
                </a:solidFill>
                <a:latin typeface="Arial"/>
                <a:ea typeface="Arial"/>
              </a:rPr>
              <a:t>ακραία περιβάλλοντα</a:t>
            </a:r>
            <a:r>
              <a:rPr b="0" lang="en" sz="1800" spc="-1" strike="noStrike">
                <a:solidFill>
                  <a:schemeClr val="dk2"/>
                </a:solidFill>
                <a:latin typeface="Arial"/>
                <a:ea typeface="Arial"/>
              </a:rPr>
              <a:t>, όπως  υδροθερµικές αναβλύσεις και επίγειες θερμοπηγές. Βρέθηκαν επίσης σε ένα ευρύ φάσμα υψηλά αλατούχων, όξινων και αναερόβιων περιβαλλόντων.</a:t>
            </a:r>
            <a:endParaRPr b="0" lang="en-US" sz="1800" spc="-1" strike="noStrike">
              <a:solidFill>
                <a:srgbClr val="000000"/>
              </a:solidFill>
              <a:latin typeface="Arial"/>
            </a:endParaRPr>
          </a:p>
        </p:txBody>
      </p:sp>
      <p:pic>
        <p:nvPicPr>
          <p:cNvPr id="158" name="Google Shape;194;p 2" descr=""/>
          <p:cNvPicPr/>
          <p:nvPr/>
        </p:nvPicPr>
        <p:blipFill>
          <a:blip r:embed="rId1"/>
          <a:stretch/>
        </p:blipFill>
        <p:spPr>
          <a:xfrm>
            <a:off x="6271560" y="1153800"/>
            <a:ext cx="2560320" cy="3514680"/>
          </a:xfrm>
          <a:prstGeom prst="rect">
            <a:avLst/>
          </a:prstGeom>
          <a:ln w="0">
            <a:noFill/>
          </a:ln>
        </p:spPr>
      </p:pic>
      <p:sp>
        <p:nvSpPr>
          <p:cNvPr id="159" name="Google Shape;195;p 2"/>
          <p:cNvSpPr/>
          <p:nvPr/>
        </p:nvSpPr>
        <p:spPr>
          <a:xfrm>
            <a:off x="311760" y="4668840"/>
            <a:ext cx="8831880" cy="45684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 sz="1800" spc="-1" strike="noStrike">
                <a:solidFill>
                  <a:srgbClr val="0000ff"/>
                </a:solidFill>
                <a:latin typeface="Arial"/>
                <a:ea typeface="Arial"/>
              </a:rPr>
              <a:t>Κάντε τη δική σας έρευνα! Βρείτε μερικά αρχαία που ζουν σε extreme συνθήκες! </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1" lang="en" sz="2800" spc="-1" strike="noStrike">
                <a:solidFill>
                  <a:schemeClr val="dk1"/>
                </a:solidFill>
                <a:latin typeface="Arial"/>
                <a:ea typeface="Arial"/>
              </a:rPr>
              <a:t>Πρώτιστα</a:t>
            </a:r>
            <a:endParaRPr b="0" lang="en-US" sz="2800" spc="-1" strike="noStrike">
              <a:solidFill>
                <a:srgbClr val="000000"/>
              </a:solidFill>
              <a:latin typeface="Arial"/>
            </a:endParaRPr>
          </a:p>
        </p:txBody>
      </p:sp>
      <p:sp>
        <p:nvSpPr>
          <p:cNvPr id="161" name="PlaceHolder 2"/>
          <p:cNvSpPr>
            <a:spLocks noGrp="1"/>
          </p:cNvSpPr>
          <p:nvPr>
            <p:ph/>
          </p:nvPr>
        </p:nvSpPr>
        <p:spPr>
          <a:xfrm>
            <a:off x="311760" y="1152360"/>
            <a:ext cx="5709960" cy="3933720"/>
          </a:xfrm>
          <a:prstGeom prst="rect">
            <a:avLst/>
          </a:prstGeom>
          <a:noFill/>
          <a:ln w="0">
            <a:noFill/>
          </a:ln>
        </p:spPr>
        <p:txBody>
          <a:bodyPr lIns="91440" rIns="91440" tIns="91440" bIns="91440" anchor="t">
            <a:normAutofit fontScale="25000" lnSpcReduction="10000"/>
          </a:bodyPr>
          <a:p>
            <a:pPr indent="0">
              <a:lnSpc>
                <a:spcPct val="115000"/>
              </a:lnSpc>
              <a:buNone/>
              <a:tabLst>
                <a:tab algn="l" pos="0"/>
              </a:tabLst>
            </a:pPr>
            <a:r>
              <a:rPr b="0" lang="en" sz="6800" spc="-1" strike="noStrike">
                <a:solidFill>
                  <a:schemeClr val="dk2"/>
                </a:solidFill>
                <a:latin typeface="Arial"/>
                <a:ea typeface="Arial"/>
              </a:rPr>
              <a:t>Τα πρώτιστα είναι απλοί μικροοργανισμοί που δεν είναι ούτε φυτά ούτε ζώα ούτε μύκητες. Είναι ευκαρυωτικοί οργανισμοί που σημαίνει ότι έχουν πυρήνα.  Τα πρώτιστα είναι μονοκύτταροι στη φύση, αλλά μπορούν επίσης να βρεθούν και ως αποικία κυττάρων. Τα περισσότερα πρώτιστα ζουν στο νερό, υγρά χερσαία περιβάλλοντα ή ακόμα και ως παράσιτα (μέσα σε άλλους οργανισμούς).</a:t>
            </a:r>
            <a:endParaRPr b="0" lang="en-US" sz="6800" spc="-1" strike="noStrike">
              <a:solidFill>
                <a:srgbClr val="000000"/>
              </a:solidFill>
              <a:latin typeface="Arial"/>
            </a:endParaRPr>
          </a:p>
          <a:p>
            <a:pPr indent="0">
              <a:lnSpc>
                <a:spcPct val="115000"/>
              </a:lnSpc>
              <a:spcBef>
                <a:spcPts val="1199"/>
              </a:spcBef>
              <a:buNone/>
              <a:tabLst>
                <a:tab algn="l" pos="0"/>
              </a:tabLst>
            </a:pPr>
            <a:r>
              <a:rPr b="0" lang="en" sz="6800" spc="-1" strike="noStrike">
                <a:solidFill>
                  <a:schemeClr val="dk2"/>
                </a:solidFill>
                <a:latin typeface="Arial"/>
                <a:ea typeface="Arial"/>
              </a:rPr>
              <a:t>Μερικά πρώτιστα είναι ετερότροφα, που σημαίνει ότι τρώνε μικροσκοπικούς οργανισμούς για να επιβιώσουν, όπως και τα ζώα. Άλλα είναι αυτότροφα, έχουν χλωροπλάστες και παράγουν τη δική τους τροφή από το φως του ήλιου, όπως και τα φυτά</a:t>
            </a:r>
            <a:endParaRPr b="0" lang="en-US" sz="6800" spc="-1" strike="noStrike">
              <a:solidFill>
                <a:srgbClr val="000000"/>
              </a:solidFill>
              <a:latin typeface="Arial"/>
            </a:endParaRPr>
          </a:p>
          <a:p>
            <a:pPr indent="0">
              <a:lnSpc>
                <a:spcPct val="115000"/>
              </a:lnSpc>
              <a:spcBef>
                <a:spcPts val="1199"/>
              </a:spcBef>
              <a:buNone/>
              <a:tabLst>
                <a:tab algn="l" pos="0"/>
              </a:tabLst>
            </a:pPr>
            <a:r>
              <a:rPr b="0" lang="en" sz="6800" spc="-1" strike="noStrike">
                <a:solidFill>
                  <a:schemeClr val="dk2"/>
                </a:solidFill>
                <a:latin typeface="Arial"/>
                <a:ea typeface="Arial"/>
              </a:rPr>
              <a:t>.</a:t>
            </a:r>
            <a:endParaRPr b="0" lang="en-US" sz="6800" spc="-1" strike="noStrike">
              <a:solidFill>
                <a:srgbClr val="000000"/>
              </a:solidFill>
              <a:latin typeface="Arial"/>
            </a:endParaRPr>
          </a:p>
          <a:p>
            <a:pPr indent="0">
              <a:lnSpc>
                <a:spcPct val="115000"/>
              </a:lnSpc>
              <a:spcBef>
                <a:spcPts val="1199"/>
              </a:spcBef>
              <a:buNone/>
              <a:tabLst>
                <a:tab algn="l" pos="0"/>
              </a:tabLst>
            </a:pPr>
            <a:endParaRPr b="0" lang="en-US" sz="66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00000"/>
              </a:lnSpc>
              <a:spcBef>
                <a:spcPts val="1199"/>
              </a:spcBef>
              <a:buNone/>
              <a:tabLst>
                <a:tab algn="l" pos="0"/>
              </a:tabLst>
            </a:pPr>
            <a:endParaRPr b="0" lang="en-US" sz="1800" spc="-1" strike="noStrike">
              <a:solidFill>
                <a:srgbClr val="000000"/>
              </a:solidFill>
              <a:latin typeface="Arial"/>
            </a:endParaRPr>
          </a:p>
        </p:txBody>
      </p:sp>
      <p:pic>
        <p:nvPicPr>
          <p:cNvPr id="162" name="Google Shape;202;p 2" descr=""/>
          <p:cNvPicPr/>
          <p:nvPr/>
        </p:nvPicPr>
        <p:blipFill>
          <a:blip r:embed="rId1"/>
          <a:stretch/>
        </p:blipFill>
        <p:spPr>
          <a:xfrm>
            <a:off x="6021720" y="1017720"/>
            <a:ext cx="2921400" cy="3368880"/>
          </a:xfrm>
          <a:prstGeom prst="rect">
            <a:avLst/>
          </a:prstGeom>
          <a:ln w="0">
            <a:noFill/>
          </a:ln>
        </p:spPr>
      </p:pic>
      <p:sp>
        <p:nvSpPr>
          <p:cNvPr id="163" name="Google Shape;203;p 2"/>
          <p:cNvSpPr/>
          <p:nvPr/>
        </p:nvSpPr>
        <p:spPr>
          <a:xfrm>
            <a:off x="137520" y="4386960"/>
            <a:ext cx="8236800" cy="127980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 sz="1800" spc="-1" strike="noStrike">
                <a:solidFill>
                  <a:srgbClr val="0000ff"/>
                </a:solidFill>
                <a:latin typeface="Arial"/>
                <a:ea typeface="Arial"/>
              </a:rPr>
              <a:t>Κάντε τη δική σας έρευνα! Βρείτε μερικά πρώτιστα που είναι επιβλαβή και μερικά χρήσιμα για τον άνθρωπο!</a:t>
            </a:r>
            <a:endParaRPr b="0" lang="en-US" sz="1800" spc="-1" strike="noStrike">
              <a:solidFill>
                <a:srgbClr val="000000"/>
              </a:solidFill>
              <a:latin typeface="Arial"/>
            </a:endParaRPr>
          </a:p>
          <a:p>
            <a:pPr>
              <a:lnSpc>
                <a:spcPct val="100000"/>
              </a:lnSpc>
              <a:tabLst>
                <a:tab algn="l" pos="0"/>
              </a:tabLst>
            </a:pPr>
            <a:endParaRPr b="0" lang="en-US" sz="1800" spc="-1" strike="noStrike">
              <a:solidFill>
                <a:srgbClr val="000000"/>
              </a:solidFill>
              <a:latin typeface="Arial"/>
            </a:endParaRPr>
          </a:p>
          <a:p>
            <a:pPr>
              <a:lnSpc>
                <a:spcPct val="100000"/>
              </a:lnSpc>
              <a:tabLst>
                <a:tab algn="l" pos="0"/>
              </a:tabLst>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0" lang="en" sz="2800" spc="-1" strike="noStrike">
                <a:solidFill>
                  <a:schemeClr val="dk1"/>
                </a:solidFill>
                <a:latin typeface="Arial"/>
                <a:ea typeface="Arial"/>
              </a:rPr>
              <a:t>Μύκητες (fungi)</a:t>
            </a:r>
            <a:endParaRPr b="0" lang="en-US" sz="2800" spc="-1" strike="noStrike">
              <a:solidFill>
                <a:srgbClr val="000000"/>
              </a:solidFill>
              <a:latin typeface="Arial"/>
            </a:endParaRPr>
          </a:p>
        </p:txBody>
      </p:sp>
      <p:sp>
        <p:nvSpPr>
          <p:cNvPr id="165"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fontScale="81111"/>
          </a:bodyPr>
          <a:p>
            <a:pPr indent="0">
              <a:lnSpc>
                <a:spcPct val="115000"/>
              </a:lnSpc>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a:solidFill>
                  <a:schemeClr val="dk2"/>
                </a:solidFill>
                <a:latin typeface="Arial"/>
                <a:ea typeface="Arial"/>
              </a:rPr>
              <a:t>                                                  </a:t>
            </a:r>
            <a:r>
              <a:rPr b="0" lang="en" sz="1560" spc="-1" strike="noStrike" u="sng">
                <a:solidFill>
                  <a:schemeClr val="hlink"/>
                </a:solidFill>
                <a:uFillTx/>
                <a:latin typeface="Arial"/>
                <a:ea typeface="Arial"/>
                <a:hlinkClick r:id="rId1"/>
              </a:rPr>
              <a:t>https://www.examplesof.net/2017/07/20-examples-of-fungi.html</a:t>
            </a:r>
            <a:endParaRPr b="0" lang="en-US" sz="1560" spc="-1" strike="noStrike">
              <a:solidFill>
                <a:srgbClr val="000000"/>
              </a:solidFill>
              <a:latin typeface="Arial"/>
            </a:endParaRPr>
          </a:p>
          <a:p>
            <a:pPr indent="0">
              <a:lnSpc>
                <a:spcPct val="115000"/>
              </a:lnSpc>
              <a:spcBef>
                <a:spcPts val="1199"/>
              </a:spcBef>
              <a:spcAft>
                <a:spcPts val="1199"/>
              </a:spcAft>
              <a:buNone/>
              <a:tabLst>
                <a:tab algn="l" pos="0"/>
              </a:tabLst>
            </a:pPr>
            <a:endParaRPr b="0" lang="en-US" sz="1800" spc="-1" strike="noStrike">
              <a:solidFill>
                <a:srgbClr val="000000"/>
              </a:solidFill>
              <a:latin typeface="Arial"/>
            </a:endParaRPr>
          </a:p>
        </p:txBody>
      </p:sp>
      <p:pic>
        <p:nvPicPr>
          <p:cNvPr id="166" name="Google Shape;217;p 2" descr=""/>
          <p:cNvPicPr/>
          <p:nvPr/>
        </p:nvPicPr>
        <p:blipFill>
          <a:blip r:embed="rId2"/>
          <a:stretch/>
        </p:blipFill>
        <p:spPr>
          <a:xfrm>
            <a:off x="311760" y="1152360"/>
            <a:ext cx="2628720" cy="3416040"/>
          </a:xfrm>
          <a:prstGeom prst="rect">
            <a:avLst/>
          </a:prstGeom>
          <a:ln w="0">
            <a:noFill/>
          </a:ln>
        </p:spPr>
      </p:pic>
      <p:sp>
        <p:nvSpPr>
          <p:cNvPr id="167" name="Google Shape;218;p 2"/>
          <p:cNvSpPr/>
          <p:nvPr/>
        </p:nvSpPr>
        <p:spPr>
          <a:xfrm>
            <a:off x="3110760" y="933120"/>
            <a:ext cx="5403240" cy="292572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n" sz="1800" spc="-1" strike="noStrike">
                <a:solidFill>
                  <a:schemeClr val="dk2"/>
                </a:solidFill>
                <a:latin typeface="Arial"/>
                <a:ea typeface="Arial"/>
              </a:rPr>
              <a:t>Οι μύκητες είναι οποιοδήποτε μέλος της ομάδας των ευκαρυωτικών οργανισμών που περιλαμβάνει μικροοργανισμούς όπως ζυμομύκητες και μούχλα, καθώς και τα πιο γνωστά μανιτάρια.</a:t>
            </a:r>
            <a:endParaRPr b="0" lang="en-US" sz="1800" spc="-1" strike="noStrike">
              <a:solidFill>
                <a:srgbClr val="000000"/>
              </a:solidFill>
              <a:latin typeface="Arial"/>
            </a:endParaRPr>
          </a:p>
          <a:p>
            <a:pPr>
              <a:lnSpc>
                <a:spcPct val="100000"/>
              </a:lnSpc>
              <a:tabLst>
                <a:tab algn="l" pos="0"/>
              </a:tabLst>
            </a:pPr>
            <a:r>
              <a:rPr b="0" lang="en" sz="1800" spc="-1" strike="noStrike">
                <a:solidFill>
                  <a:schemeClr val="dk2"/>
                </a:solidFill>
                <a:latin typeface="Arial"/>
                <a:ea typeface="Arial"/>
              </a:rPr>
              <a:t>Οι οργανισμοί που βρίσκονται στους μύκητες Kingdom είναι πανταχού παρόντες (υπάρχουν παντού). Ταξινομούνται ως ετερότροφα που σημαίνει ότι παίρνουν την ενέργεια που χρειάζονται για να ζήσουν από άλλους οργανισμούς.</a:t>
            </a:r>
            <a:endParaRPr b="0" lang="en-US" sz="1800" spc="-1" strike="noStrike">
              <a:solidFill>
                <a:srgbClr val="000000"/>
              </a:solidFill>
              <a:latin typeface="Arial"/>
            </a:endParaRPr>
          </a:p>
          <a:p>
            <a:pPr>
              <a:lnSpc>
                <a:spcPct val="100000"/>
              </a:lnSpc>
              <a:tabLst>
                <a:tab algn="l" pos="0"/>
              </a:tabLst>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0" lang="en" sz="2800" spc="-1" strike="noStrike">
                <a:solidFill>
                  <a:schemeClr val="dk1"/>
                </a:solidFill>
                <a:latin typeface="Arial"/>
                <a:ea typeface="Arial"/>
              </a:rPr>
              <a:t>Φυτά</a:t>
            </a:r>
            <a:endParaRPr b="0" lang="en-US" sz="2800" spc="-1" strike="noStrike">
              <a:solidFill>
                <a:srgbClr val="000000"/>
              </a:solidFill>
              <a:latin typeface="Arial"/>
            </a:endParaRPr>
          </a:p>
        </p:txBody>
      </p:sp>
      <p:sp>
        <p:nvSpPr>
          <p:cNvPr id="169"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indent="0">
              <a:spcBef>
                <a:spcPts val="1885"/>
              </a:spcBef>
              <a:buNone/>
            </a:pPr>
            <a:endParaRPr b="0" lang="en-US" sz="1800" spc="-1" strike="noStrike">
              <a:solidFill>
                <a:schemeClr val="dk2"/>
              </a:solidFill>
              <a:latin typeface="Arial"/>
              <a:ea typeface="Arial"/>
            </a:endParaRPr>
          </a:p>
        </p:txBody>
      </p:sp>
      <p:pic>
        <p:nvPicPr>
          <p:cNvPr id="170" name="Google Shape;225;p 2" descr=""/>
          <p:cNvPicPr/>
          <p:nvPr/>
        </p:nvPicPr>
        <p:blipFill>
          <a:blip r:embed="rId1"/>
          <a:stretch/>
        </p:blipFill>
        <p:spPr>
          <a:xfrm>
            <a:off x="311760" y="1152360"/>
            <a:ext cx="2857320" cy="1895040"/>
          </a:xfrm>
          <a:prstGeom prst="rect">
            <a:avLst/>
          </a:prstGeom>
          <a:ln w="0">
            <a:noFill/>
          </a:ln>
        </p:spPr>
      </p:pic>
      <p:pic>
        <p:nvPicPr>
          <p:cNvPr id="171" name="Google Shape;226;p 2" descr=""/>
          <p:cNvPicPr/>
          <p:nvPr/>
        </p:nvPicPr>
        <p:blipFill>
          <a:blip r:embed="rId2"/>
          <a:stretch/>
        </p:blipFill>
        <p:spPr>
          <a:xfrm>
            <a:off x="3445560" y="1152360"/>
            <a:ext cx="2377800" cy="1783440"/>
          </a:xfrm>
          <a:prstGeom prst="rect">
            <a:avLst/>
          </a:prstGeom>
          <a:ln w="0">
            <a:noFill/>
          </a:ln>
        </p:spPr>
      </p:pic>
      <p:pic>
        <p:nvPicPr>
          <p:cNvPr id="172" name="Google Shape;227;p 2" descr=""/>
          <p:cNvPicPr/>
          <p:nvPr/>
        </p:nvPicPr>
        <p:blipFill>
          <a:blip r:embed="rId3"/>
          <a:stretch/>
        </p:blipFill>
        <p:spPr>
          <a:xfrm>
            <a:off x="1902600" y="3070800"/>
            <a:ext cx="3133440" cy="1456920"/>
          </a:xfrm>
          <a:prstGeom prst="rect">
            <a:avLst/>
          </a:prstGeom>
          <a:ln w="0">
            <a:noFill/>
          </a:ln>
        </p:spPr>
      </p:pic>
      <p:pic>
        <p:nvPicPr>
          <p:cNvPr id="173" name="Google Shape;228;p 2" descr=""/>
          <p:cNvPicPr/>
          <p:nvPr/>
        </p:nvPicPr>
        <p:blipFill>
          <a:blip r:embed="rId4"/>
          <a:stretch/>
        </p:blipFill>
        <p:spPr>
          <a:xfrm>
            <a:off x="6103800" y="1208520"/>
            <a:ext cx="2163600" cy="1599840"/>
          </a:xfrm>
          <a:prstGeom prst="rect">
            <a:avLst/>
          </a:prstGeom>
          <a:ln w="0">
            <a:noFill/>
          </a:ln>
        </p:spPr>
      </p:pic>
      <p:pic>
        <p:nvPicPr>
          <p:cNvPr id="174" name="Google Shape;229;p 2" descr=""/>
          <p:cNvPicPr/>
          <p:nvPr/>
        </p:nvPicPr>
        <p:blipFill>
          <a:blip r:embed="rId5"/>
          <a:stretch/>
        </p:blipFill>
        <p:spPr>
          <a:xfrm>
            <a:off x="5410080" y="2999160"/>
            <a:ext cx="2857320" cy="159984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lnSpc>
                <a:spcPct val="100000"/>
              </a:lnSpc>
              <a:buNone/>
              <a:tabLst>
                <a:tab algn="l" pos="0"/>
              </a:tabLst>
            </a:pPr>
            <a:r>
              <a:rPr b="0" lang="en" sz="2800" spc="-1" strike="noStrike">
                <a:solidFill>
                  <a:schemeClr val="dk1"/>
                </a:solidFill>
                <a:latin typeface="Arial"/>
                <a:ea typeface="Arial"/>
              </a:rPr>
              <a:t>Ζώα</a:t>
            </a:r>
            <a:endParaRPr b="0" lang="en-US" sz="2800" spc="-1" strike="noStrike">
              <a:solidFill>
                <a:srgbClr val="000000"/>
              </a:solidFill>
              <a:latin typeface="Arial"/>
            </a:endParaRPr>
          </a:p>
        </p:txBody>
      </p:sp>
      <p:pic>
        <p:nvPicPr>
          <p:cNvPr id="176" name="Google Shape;235;p 2" descr=""/>
          <p:cNvPicPr/>
          <p:nvPr/>
        </p:nvPicPr>
        <p:blipFill>
          <a:blip r:embed="rId1"/>
          <a:srcRect l="0" t="13323" r="0" b="0"/>
          <a:stretch/>
        </p:blipFill>
        <p:spPr>
          <a:xfrm>
            <a:off x="2100960" y="959760"/>
            <a:ext cx="4942080" cy="406944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77" name="Rectangle 1"/>
          <p:cNvSpPr/>
          <p:nvPr/>
        </p:nvSpPr>
        <p:spPr>
          <a:xfrm>
            <a:off x="0" y="0"/>
            <a:ext cx="164160" cy="6857640"/>
          </a:xfrm>
          <a:prstGeom prst="rect">
            <a:avLst/>
          </a:prstGeom>
          <a:solidFill>
            <a:srgbClr val="ea580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8" name="TextBox 2"/>
          <p:cNvSpPr/>
          <p:nvPr/>
        </p:nvSpPr>
        <p:spPr>
          <a:xfrm>
            <a:off x="640080" y="411480"/>
            <a:ext cx="10515240" cy="2880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300" spc="-1" strike="noStrike">
                <a:solidFill>
                  <a:srgbClr val="ea580c"/>
                </a:solidFill>
                <a:latin typeface="Arial"/>
              </a:rPr>
              <a:t>ΤΑΞΙΝΟΜΏΝΤΑΣ ΤΗ ΖΩΉ</a:t>
            </a:r>
            <a:endParaRPr b="0" lang="en-US" sz="1300" spc="-1" strike="noStrike">
              <a:solidFill>
                <a:srgbClr val="000000"/>
              </a:solidFill>
              <a:latin typeface="Arial"/>
            </a:endParaRPr>
          </a:p>
        </p:txBody>
      </p:sp>
      <p:sp>
        <p:nvSpPr>
          <p:cNvPr id="179" name="TextBox 3"/>
          <p:cNvSpPr/>
          <p:nvPr/>
        </p:nvSpPr>
        <p:spPr>
          <a:xfrm>
            <a:off x="640080" y="749880"/>
            <a:ext cx="10881000" cy="5014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pc="-1" strike="noStrike">
                <a:solidFill>
                  <a:srgbClr val="0f172a"/>
                </a:solidFill>
                <a:latin typeface="Verdana"/>
              </a:rPr>
              <a:t>Οι μεγάλες ομάδες των έμβιων όντων</a:t>
            </a:r>
            <a:endParaRPr b="0" lang="en-US" sz="2700" spc="-1" strike="noStrike">
              <a:solidFill>
                <a:srgbClr val="000000"/>
              </a:solidFill>
              <a:latin typeface="Arial"/>
            </a:endParaRPr>
          </a:p>
        </p:txBody>
      </p:sp>
      <p:graphicFrame>
        <p:nvGraphicFramePr>
          <p:cNvPr id="180" name="Table 4"/>
          <p:cNvGraphicFramePr/>
          <p:nvPr/>
        </p:nvGraphicFramePr>
        <p:xfrm>
          <a:off x="640080" y="1691640"/>
          <a:ext cx="10881000" cy="4297320"/>
        </p:xfrm>
        <a:graphic>
          <a:graphicData uri="http://schemas.openxmlformats.org/drawingml/2006/table">
            <a:tbl>
              <a:tblPr/>
              <a:tblGrid>
                <a:gridCol w="3627000"/>
                <a:gridCol w="3627000"/>
                <a:gridCol w="3627000"/>
              </a:tblGrid>
              <a:tr h="613800">
                <a:tc>
                  <a:txBody>
                    <a:bodyPr anchor="t">
                      <a:noAutofit/>
                    </a:bodyPr>
                    <a:p>
                      <a:pPr defTabSz="457200">
                        <a:lnSpc>
                          <a:spcPct val="100000"/>
                        </a:lnSpc>
                      </a:pPr>
                      <a:r>
                        <a:rPr b="1" lang="en-US" sz="1300" spc="-1" strike="noStrike">
                          <a:solidFill>
                            <a:srgbClr val="ffffff"/>
                          </a:solidFill>
                          <a:latin typeface="Arial"/>
                        </a:rPr>
                        <a:t>Ομάδα</a:t>
                      </a:r>
                      <a:endParaRPr b="0" lang="en-US" sz="13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f172a"/>
                    </a:solidFill>
                  </a:tcPr>
                </a:tc>
                <a:tc>
                  <a:txBody>
                    <a:bodyPr anchor="t">
                      <a:noAutofit/>
                    </a:bodyPr>
                    <a:p>
                      <a:pPr defTabSz="457200">
                        <a:lnSpc>
                          <a:spcPct val="100000"/>
                        </a:lnSpc>
                      </a:pPr>
                      <a:r>
                        <a:rPr b="1" lang="en-US" sz="1300" spc="-1" strike="noStrike">
                          <a:solidFill>
                            <a:srgbClr val="ffffff"/>
                          </a:solidFill>
                          <a:latin typeface="Arial"/>
                        </a:rPr>
                        <a:t>Τύπος κυττάρου</a:t>
                      </a:r>
                      <a:endParaRPr b="0" lang="en-US" sz="13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f172a"/>
                    </a:solidFill>
                  </a:tcPr>
                </a:tc>
                <a:tc>
                  <a:txBody>
                    <a:bodyPr anchor="t">
                      <a:noAutofit/>
                    </a:bodyPr>
                    <a:p>
                      <a:pPr defTabSz="457200">
                        <a:lnSpc>
                          <a:spcPct val="100000"/>
                        </a:lnSpc>
                      </a:pPr>
                      <a:r>
                        <a:rPr b="1" lang="en-US" sz="1300" spc="-1" strike="noStrike">
                          <a:solidFill>
                            <a:srgbClr val="ffffff"/>
                          </a:solidFill>
                          <a:latin typeface="Arial"/>
                        </a:rPr>
                        <a:t>Βασικό χαρακτηριστικό</a:t>
                      </a:r>
                      <a:endParaRPr b="0" lang="en-US" sz="13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f172a"/>
                    </a:solidFill>
                  </a:tcPr>
                </a:tc>
              </a:tr>
              <a:tr h="613800">
                <a:tc>
                  <a:txBody>
                    <a:bodyPr anchor="t">
                      <a:noAutofit/>
                    </a:bodyPr>
                    <a:p>
                      <a:pPr defTabSz="457200">
                        <a:lnSpc>
                          <a:spcPct val="100000"/>
                        </a:lnSpc>
                      </a:pPr>
                      <a:r>
                        <a:rPr b="0" lang="en-US" sz="1200" spc="-1" strike="noStrike">
                          <a:solidFill>
                            <a:srgbClr val="1e293b"/>
                          </a:solidFill>
                          <a:latin typeface="Arial"/>
                        </a:rPr>
                        <a:t>Βακτήρια</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b="0" lang="en-US" sz="1200" spc="-1" strike="noStrike">
                          <a:solidFill>
                            <a:srgbClr val="1e293b"/>
                          </a:solidFill>
                          <a:latin typeface="Arial"/>
                        </a:rPr>
                        <a:t>Προκαρυωτικό</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b="0" lang="en-US" sz="1200" spc="-1" strike="noStrike">
                          <a:solidFill>
                            <a:srgbClr val="1e293b"/>
                          </a:solidFill>
                          <a:latin typeface="Arial"/>
                        </a:rPr>
                        <a:t>Χωρίς πυρήνα· βρίσκονται σχεδόν παντού, ακόμη και μέσα μας</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613800">
                <a:tc>
                  <a:txBody>
                    <a:bodyPr anchor="t">
                      <a:noAutofit/>
                    </a:bodyPr>
                    <a:p>
                      <a:pPr defTabSz="457200">
                        <a:lnSpc>
                          <a:spcPct val="100000"/>
                        </a:lnSpc>
                      </a:pPr>
                      <a:r>
                        <a:rPr b="0" lang="en-US" sz="1200" spc="-1" strike="noStrike">
                          <a:solidFill>
                            <a:srgbClr val="1e293b"/>
                          </a:solidFill>
                          <a:latin typeface="Arial"/>
                        </a:rPr>
                        <a:t>Αρχαία</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anchor="t">
                      <a:noAutofit/>
                    </a:bodyPr>
                    <a:p>
                      <a:pPr defTabSz="457200">
                        <a:lnSpc>
                          <a:spcPct val="100000"/>
                        </a:lnSpc>
                      </a:pPr>
                      <a:r>
                        <a:rPr b="0" lang="en-US" sz="1200" spc="-1" strike="noStrike">
                          <a:solidFill>
                            <a:srgbClr val="1e293b"/>
                          </a:solidFill>
                          <a:latin typeface="Arial"/>
                        </a:rPr>
                        <a:t>Προκαρυωτικό</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anchor="t">
                      <a:noAutofit/>
                    </a:bodyPr>
                    <a:p>
                      <a:pPr defTabSz="457200">
                        <a:lnSpc>
                          <a:spcPct val="100000"/>
                        </a:lnSpc>
                      </a:pPr>
                      <a:r>
                        <a:rPr b="0" lang="en-US" sz="1200" spc="-1" strike="noStrike">
                          <a:solidFill>
                            <a:srgbClr val="1e293b"/>
                          </a:solidFill>
                          <a:latin typeface="Arial"/>
                        </a:rPr>
                        <a:t>Χωρίς πυρήνα· συχνά ζουν σε ακραία περιβάλλοντα</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613800">
                <a:tc>
                  <a:txBody>
                    <a:bodyPr anchor="t">
                      <a:noAutofit/>
                    </a:bodyPr>
                    <a:p>
                      <a:pPr defTabSz="457200">
                        <a:lnSpc>
                          <a:spcPct val="100000"/>
                        </a:lnSpc>
                      </a:pPr>
                      <a:r>
                        <a:rPr b="0" lang="en-US" sz="1200" spc="-1" strike="noStrike">
                          <a:solidFill>
                            <a:srgbClr val="1e293b"/>
                          </a:solidFill>
                          <a:latin typeface="Arial"/>
                        </a:rPr>
                        <a:t>Πρώτιστα</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b="0" lang="en-US" sz="1200" spc="-1" strike="noStrike">
                          <a:solidFill>
                            <a:srgbClr val="1e293b"/>
                          </a:solidFill>
                          <a:latin typeface="Arial"/>
                        </a:rPr>
                        <a:t>Ευκαρυωτικό</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b="0" lang="en-US" sz="1200" spc="-1" strike="noStrike">
                          <a:solidFill>
                            <a:srgbClr val="1e293b"/>
                          </a:solidFill>
                          <a:latin typeface="Arial"/>
                        </a:rPr>
                        <a:t>Κυρίως μονοκύτταρα· ζουν στο νερό ή ως παράσιτα</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613800">
                <a:tc>
                  <a:txBody>
                    <a:bodyPr anchor="t">
                      <a:noAutofit/>
                    </a:bodyPr>
                    <a:p>
                      <a:pPr defTabSz="457200">
                        <a:lnSpc>
                          <a:spcPct val="100000"/>
                        </a:lnSpc>
                      </a:pPr>
                      <a:r>
                        <a:rPr b="0" lang="en-US" sz="1200" spc="-1" strike="noStrike">
                          <a:solidFill>
                            <a:srgbClr val="1e293b"/>
                          </a:solidFill>
                          <a:latin typeface="Arial"/>
                        </a:rPr>
                        <a:t>Μύκητες</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anchor="t">
                      <a:noAutofit/>
                    </a:bodyPr>
                    <a:p>
                      <a:pPr defTabSz="457200">
                        <a:lnSpc>
                          <a:spcPct val="100000"/>
                        </a:lnSpc>
                      </a:pPr>
                      <a:r>
                        <a:rPr b="0" lang="en-US" sz="1200" spc="-1" strike="noStrike">
                          <a:solidFill>
                            <a:srgbClr val="1e293b"/>
                          </a:solidFill>
                          <a:latin typeface="Arial"/>
                        </a:rPr>
                        <a:t>Ευκαρυωτικό</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anchor="t">
                      <a:noAutofit/>
                    </a:bodyPr>
                    <a:p>
                      <a:pPr defTabSz="457200">
                        <a:lnSpc>
                          <a:spcPct val="100000"/>
                        </a:lnSpc>
                      </a:pPr>
                      <a:r>
                        <a:rPr b="0" lang="en-US" sz="1200" spc="-1" strike="noStrike">
                          <a:solidFill>
                            <a:srgbClr val="1e293b"/>
                          </a:solidFill>
                          <a:latin typeface="Arial"/>
                        </a:rPr>
                        <a:t>Ετερότροφα· ζυμομύκητες, μούχλα, μανιτάρια</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613800">
                <a:tc>
                  <a:txBody>
                    <a:bodyPr anchor="t">
                      <a:noAutofit/>
                    </a:bodyPr>
                    <a:p>
                      <a:pPr defTabSz="457200">
                        <a:lnSpc>
                          <a:spcPct val="100000"/>
                        </a:lnSpc>
                      </a:pPr>
                      <a:r>
                        <a:rPr b="0" lang="en-US" sz="1200" spc="-1" strike="noStrike">
                          <a:solidFill>
                            <a:srgbClr val="1e293b"/>
                          </a:solidFill>
                          <a:latin typeface="Arial"/>
                        </a:rPr>
                        <a:t>Φυτά</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b="0" lang="en-US" sz="1200" spc="-1" strike="noStrike">
                          <a:solidFill>
                            <a:srgbClr val="1e293b"/>
                          </a:solidFill>
                          <a:latin typeface="Arial"/>
                        </a:rPr>
                        <a:t>Ευκαρυωτικό</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b="0" lang="en-US" sz="1200" spc="-1" strike="noStrike">
                          <a:solidFill>
                            <a:srgbClr val="1e293b"/>
                          </a:solidFill>
                          <a:latin typeface="Arial"/>
                        </a:rPr>
                        <a:t>Αυτότροφα· φτιάχνουν τροφή με φωτοσύνθεση</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613800">
                <a:tc>
                  <a:txBody>
                    <a:bodyPr anchor="t">
                      <a:noAutofit/>
                    </a:bodyPr>
                    <a:p>
                      <a:pPr defTabSz="457200">
                        <a:lnSpc>
                          <a:spcPct val="100000"/>
                        </a:lnSpc>
                      </a:pPr>
                      <a:r>
                        <a:rPr b="0" lang="en-US" sz="1200" spc="-1" strike="noStrike">
                          <a:solidFill>
                            <a:srgbClr val="1e293b"/>
                          </a:solidFill>
                          <a:latin typeface="Arial"/>
                        </a:rPr>
                        <a:t>Ζώα</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anchor="t">
                      <a:noAutofit/>
                    </a:bodyPr>
                    <a:p>
                      <a:pPr defTabSz="457200">
                        <a:lnSpc>
                          <a:spcPct val="100000"/>
                        </a:lnSpc>
                      </a:pPr>
                      <a:r>
                        <a:rPr b="0" lang="en-US" sz="1200" spc="-1" strike="noStrike">
                          <a:solidFill>
                            <a:srgbClr val="1e293b"/>
                          </a:solidFill>
                          <a:latin typeface="Arial"/>
                        </a:rPr>
                        <a:t>Ευκαρυωτικό</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anchor="t">
                      <a:noAutofit/>
                    </a:bodyPr>
                    <a:p>
                      <a:pPr defTabSz="457200">
                        <a:lnSpc>
                          <a:spcPct val="100000"/>
                        </a:lnSpc>
                      </a:pPr>
                      <a:r>
                        <a:rPr b="0" lang="en-US" sz="1200" spc="-1" strike="noStrike">
                          <a:solidFill>
                            <a:srgbClr val="1e293b"/>
                          </a:solidFill>
                          <a:latin typeface="Arial"/>
                        </a:rPr>
                        <a:t>Ετερότροφα· πολυκύτταρα, κινούνται στην πλειοψηφία τους</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bl>
          </a:graphicData>
        </a:graphic>
      </p:graphicFrame>
      <p:sp>
        <p:nvSpPr>
          <p:cNvPr id="181" name="TextBox 5"/>
          <p:cNvSpPr/>
          <p:nvPr/>
        </p:nvSpPr>
        <p:spPr>
          <a:xfrm>
            <a:off x="640080" y="6473880"/>
            <a:ext cx="5486040" cy="242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000" spc="-1" strike="noStrike">
                <a:solidFill>
                  <a:srgbClr val="45556c"/>
                </a:solidFill>
                <a:latin typeface="Arial"/>
              </a:rPr>
              <a:t>Βιολογία S4 · Ενότητα 1, Μάθημα 1 · Τι Είναι Ζωή;</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82" name="Rectangle 1"/>
          <p:cNvSpPr/>
          <p:nvPr/>
        </p:nvSpPr>
        <p:spPr>
          <a:xfrm>
            <a:off x="0" y="0"/>
            <a:ext cx="164160" cy="6857640"/>
          </a:xfrm>
          <a:prstGeom prst="rect">
            <a:avLst/>
          </a:prstGeom>
          <a:solidFill>
            <a:srgbClr val="ea580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3" name="TextBox 2"/>
          <p:cNvSpPr/>
          <p:nvPr/>
        </p:nvSpPr>
        <p:spPr>
          <a:xfrm>
            <a:off x="640080" y="411480"/>
            <a:ext cx="10515240" cy="2880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300" spc="-1" strike="noStrike">
                <a:solidFill>
                  <a:srgbClr val="ea580c"/>
                </a:solidFill>
                <a:latin typeface="Arial"/>
              </a:rPr>
              <a:t>ΒΑΣΙΚΆ ΣΥΜΠΕΡΆΣΜΑΤΑ</a:t>
            </a:r>
            <a:endParaRPr b="0" lang="en-US" sz="1300" spc="-1" strike="noStrike">
              <a:solidFill>
                <a:srgbClr val="000000"/>
              </a:solidFill>
              <a:latin typeface="Arial"/>
            </a:endParaRPr>
          </a:p>
        </p:txBody>
      </p:sp>
      <p:sp>
        <p:nvSpPr>
          <p:cNvPr id="184" name="TextBox 3"/>
          <p:cNvSpPr/>
          <p:nvPr/>
        </p:nvSpPr>
        <p:spPr>
          <a:xfrm>
            <a:off x="640080" y="749880"/>
            <a:ext cx="10881000" cy="5014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pc="-1" strike="noStrike">
                <a:solidFill>
                  <a:srgbClr val="0f172a"/>
                </a:solidFill>
                <a:latin typeface="Verdana"/>
              </a:rPr>
              <a:t>Τι πρέπει να θυμάσαι</a:t>
            </a:r>
            <a:endParaRPr b="0" lang="en-US" sz="2700" spc="-1" strike="noStrike">
              <a:solidFill>
                <a:srgbClr val="000000"/>
              </a:solidFill>
              <a:latin typeface="Arial"/>
            </a:endParaRPr>
          </a:p>
        </p:txBody>
      </p:sp>
      <p:sp>
        <p:nvSpPr>
          <p:cNvPr id="185" name="TextBox 4"/>
          <p:cNvSpPr/>
          <p:nvPr/>
        </p:nvSpPr>
        <p:spPr>
          <a:xfrm>
            <a:off x="640080" y="6473880"/>
            <a:ext cx="5486040" cy="242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000" spc="-1" strike="noStrike">
                <a:solidFill>
                  <a:srgbClr val="45556c"/>
                </a:solidFill>
                <a:latin typeface="Arial"/>
              </a:rPr>
              <a:t>Βιολογία S4 · Ενότητα 1, Μάθημα 1 · Τι Είναι Ζωή;</a:t>
            </a:r>
            <a:endParaRPr b="0" lang="en-US" sz="1000" spc="-1" strike="noStrike">
              <a:solidFill>
                <a:srgbClr val="000000"/>
              </a:solidFill>
              <a:latin typeface="Arial"/>
            </a:endParaRPr>
          </a:p>
        </p:txBody>
      </p:sp>
      <p:sp>
        <p:nvSpPr>
          <p:cNvPr id="186" name="TextBox 5"/>
          <p:cNvSpPr/>
          <p:nvPr/>
        </p:nvSpPr>
        <p:spPr>
          <a:xfrm>
            <a:off x="640080" y="1645920"/>
            <a:ext cx="10606680" cy="1507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0" lang="en-US" sz="1700" spc="-1" strike="noStrike">
                <a:solidFill>
                  <a:srgbClr val="1e293b"/>
                </a:solidFill>
                <a:latin typeface="Arial"/>
              </a:rPr>
              <a:t>• </a:t>
            </a:r>
            <a:r>
              <a:rPr b="0" lang="en-US" sz="1700" spc="-1" strike="noStrike">
                <a:solidFill>
                  <a:srgbClr val="1e293b"/>
                </a:solidFill>
                <a:latin typeface="Arial"/>
              </a:rPr>
              <a:t>Η Βιολογία είναι η επιστημονική μελέτη των έμβιων όντων.</a:t>
            </a:r>
            <a:endParaRPr b="0" lang="en-US" sz="1700" spc="-1" strike="noStrike">
              <a:solidFill>
                <a:srgbClr val="000000"/>
              </a:solidFill>
              <a:latin typeface="Arial"/>
            </a:endParaRPr>
          </a:p>
          <a:p>
            <a:pPr defTabSz="457200">
              <a:lnSpc>
                <a:spcPct val="100000"/>
              </a:lnSpc>
              <a:spcAft>
                <a:spcPts val="1001"/>
              </a:spcAft>
            </a:pPr>
            <a:r>
              <a:rPr b="0" lang="en-US" sz="1700" spc="-1" strike="noStrike">
                <a:solidFill>
                  <a:srgbClr val="1e293b"/>
                </a:solidFill>
                <a:latin typeface="Arial"/>
              </a:rPr>
              <a:t>• </a:t>
            </a:r>
            <a:r>
              <a:rPr b="0" lang="en-US" sz="1700" spc="-1" strike="noStrike">
                <a:solidFill>
                  <a:srgbClr val="1e293b"/>
                </a:solidFill>
                <a:latin typeface="Arial"/>
              </a:rPr>
              <a:t>Η «ζωή» δεν έχει έναν μοναδικό αποδεκτό ορισμό — οι επιστήμονες τονίζουν διαφορετικές ιδιότητες.</a:t>
            </a:r>
            <a:endParaRPr b="0" lang="en-US" sz="1700" spc="-1" strike="noStrike">
              <a:solidFill>
                <a:srgbClr val="000000"/>
              </a:solidFill>
              <a:latin typeface="Arial"/>
            </a:endParaRPr>
          </a:p>
          <a:p>
            <a:pPr defTabSz="457200">
              <a:lnSpc>
                <a:spcPct val="100000"/>
              </a:lnSpc>
              <a:spcAft>
                <a:spcPts val="1001"/>
              </a:spcAft>
            </a:pPr>
            <a:r>
              <a:rPr b="0" lang="en-US" sz="1700" spc="-1" strike="noStrike">
                <a:solidFill>
                  <a:srgbClr val="1e293b"/>
                </a:solidFill>
                <a:latin typeface="Arial"/>
              </a:rPr>
              <a:t>• </a:t>
            </a:r>
            <a:r>
              <a:rPr b="0" lang="en-US" sz="1700" spc="-1" strike="noStrike">
                <a:solidFill>
                  <a:srgbClr val="1e293b"/>
                </a:solidFill>
                <a:latin typeface="Arial"/>
              </a:rPr>
              <a:t>Όλα τα έμβια όντα έχουν έναν κοινό πρόγονο (LUCA).</a:t>
            </a:r>
            <a:endParaRPr b="0" lang="en-US" sz="1700" spc="-1" strike="noStrike">
              <a:solidFill>
                <a:srgbClr val="000000"/>
              </a:solidFill>
              <a:latin typeface="Arial"/>
            </a:endParaRPr>
          </a:p>
          <a:p>
            <a:pPr defTabSz="457200">
              <a:lnSpc>
                <a:spcPct val="100000"/>
              </a:lnSpc>
              <a:spcAft>
                <a:spcPts val="1001"/>
              </a:spcAft>
            </a:pPr>
            <a:r>
              <a:rPr b="0" lang="en-US" sz="1700" spc="-1" strike="noStrike">
                <a:solidFill>
                  <a:srgbClr val="1e293b"/>
                </a:solidFill>
                <a:latin typeface="Arial"/>
              </a:rPr>
              <a:t>• </a:t>
            </a:r>
            <a:r>
              <a:rPr b="0" lang="en-US" sz="1700" spc="-1" strike="noStrike">
                <a:solidFill>
                  <a:srgbClr val="1e293b"/>
                </a:solidFill>
                <a:latin typeface="Arial"/>
              </a:rPr>
              <a:t>Η ζωή οργανώνεται σε λίγες μεγάλες ομάδες: βακτήρια, αρχαία, πρώτιστα, μύκητες, φυτά, ζώα.</a:t>
            </a:r>
            <a:endParaRPr b="0" lang="en-US" sz="1700" spc="-1" strike="noStrike">
              <a:solidFill>
                <a:srgbClr val="000000"/>
              </a:solidFill>
              <a:latin typeface="Arial"/>
            </a:endParaRPr>
          </a:p>
        </p:txBody>
      </p:sp>
      <p:sp>
        <p:nvSpPr>
          <p:cNvPr id="187" name="Rectangle 6"/>
          <p:cNvSpPr/>
          <p:nvPr/>
        </p:nvSpPr>
        <p:spPr>
          <a:xfrm>
            <a:off x="640080" y="5577840"/>
            <a:ext cx="10881000" cy="776880"/>
          </a:xfrm>
          <a:prstGeom prst="rect">
            <a:avLst/>
          </a:prstGeom>
          <a:solidFill>
            <a:srgbClr val="0f17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8" name="TextBox 7"/>
          <p:cNvSpPr/>
          <p:nvPr/>
        </p:nvSpPr>
        <p:spPr>
          <a:xfrm>
            <a:off x="822960" y="5687640"/>
            <a:ext cx="201132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pc="-1" strike="noStrike">
                <a:solidFill>
                  <a:srgbClr val="ea580c"/>
                </a:solidFill>
                <a:latin typeface="Arial"/>
              </a:rPr>
              <a:t>NEXT LESSON</a:t>
            </a:r>
            <a:endParaRPr b="0" lang="en-US" sz="1200" spc="-1" strike="noStrike">
              <a:solidFill>
                <a:srgbClr val="000000"/>
              </a:solidFill>
              <a:latin typeface="Arial"/>
            </a:endParaRPr>
          </a:p>
        </p:txBody>
      </p:sp>
      <p:sp>
        <p:nvSpPr>
          <p:cNvPr id="189" name="TextBox 8"/>
          <p:cNvSpPr/>
          <p:nvPr/>
        </p:nvSpPr>
        <p:spPr>
          <a:xfrm>
            <a:off x="2743200" y="5687640"/>
            <a:ext cx="841212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400" spc="-1" strike="noStrike">
                <a:solidFill>
                  <a:srgbClr val="ffffff"/>
                </a:solidFill>
                <a:latin typeface="Arial"/>
              </a:rPr>
              <a:t>Μάθημα 2 — Η Κυτταρική Θεωρία: τι είναι στην πραγματικότητα καθένα από αυτά τα κύτταρα.</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8</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2026-09-21T14:54:11Z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