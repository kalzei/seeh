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GEOGRAPHY — THEME I: A COMPLEX GLOBAL WORLD — Lesson 4</a:t>
            </a:r>
          </a:p>
        </p:txBody>
      </p:sp>
      <p:sp>
        <p:nvSpPr>
          <p:cNvPr id="4" name="TextBox 3"/>
          <p:cNvSpPr txBox="1"/>
          <p:nvPr/>
        </p:nvSpPr>
        <p:spPr>
          <a:xfrm>
            <a:off x="822960" y="621792"/>
            <a:ext cx="7680960" cy="914400"/>
          </a:xfrm>
          <a:prstGeom prst="rect">
            <a:avLst/>
          </a:prstGeom>
          <a:noFill/>
        </p:spPr>
        <p:txBody>
          <a:bodyPr wrap="square">
            <a:spAutoFit/>
          </a:bodyPr>
          <a:lstStyle/>
          <a:p>
            <a:r>
              <a:rPr sz="3600" b="1">
                <a:solidFill>
                  <a:srgbClr val="1B4F72"/>
                </a:solidFill>
                <a:latin typeface="Verdana"/>
              </a:rPr>
              <a:t>Reading the World: Maps, Data &amp; the Language of Development</a:t>
            </a:r>
          </a:p>
        </p:txBody>
      </p:sp>
      <p:sp>
        <p:nvSpPr>
          <p:cNvPr id="5" name="TextBox 4"/>
          <p:cNvSpPr txBox="1"/>
          <p:nvPr/>
        </p:nvSpPr>
        <p:spPr>
          <a:xfrm>
            <a:off x="822960" y="2926080"/>
            <a:ext cx="7680960" cy="1371600"/>
          </a:xfrm>
          <a:prstGeom prst="rect">
            <a:avLst/>
          </a:prstGeom>
          <a:noFill/>
        </p:spPr>
        <p:txBody>
          <a:bodyPr wrap="square">
            <a:spAutoFit/>
          </a:bodyPr>
          <a:lstStyle/>
          <a:p>
            <a:r>
              <a:rPr sz="1900" b="0">
                <a:solidFill>
                  <a:srgbClr val="555555"/>
                </a:solidFill>
                <a:latin typeface="Arial"/>
              </a:rPr>
              <a:t>Choropleth maps, continental GDP shares, and where 'developed' vs 'underdeveloped' actually came from.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RECAP</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Quick Recap</a:t>
            </a:r>
          </a:p>
        </p:txBody>
      </p:sp>
      <p:sp>
        <p:nvSpPr>
          <p:cNvPr id="5" name="TextBox 4"/>
          <p:cNvSpPr txBox="1"/>
          <p:nvPr/>
        </p:nvSpPr>
        <p:spPr>
          <a:xfrm>
            <a:off x="822960" y="1737360"/>
            <a:ext cx="7680960" cy="4754880"/>
          </a:xfrm>
          <a:prstGeom prst="rect">
            <a:avLst/>
          </a:prstGeom>
          <a:noFill/>
        </p:spPr>
        <p:txBody>
          <a:bodyPr wrap="square">
            <a:spAutoFit/>
          </a:bodyPr>
          <a:lstStyle/>
          <a:p>
            <a:pPr>
              <a:spcAft>
                <a:spcPts val="1000"/>
              </a:spcAft>
            </a:pPr>
            <a:r>
              <a:rPr sz="1800" b="1">
                <a:solidFill>
                  <a:srgbClr val="1B4F72"/>
                </a:solidFill>
                <a:latin typeface="Arial"/>
              </a:rPr>
              <a:t>•  Last lesson:</a:t>
            </a:r>
            <a:r>
              <a:rPr sz="1800" b="0">
                <a:solidFill>
                  <a:srgbClr val="262626"/>
                </a:solidFill>
                <a:latin typeface="Arial"/>
              </a:rPr>
              <a:t>  we used the fuller indicator toolkit, the Demographic Transition Model, population pyramid shapes, and World Bank income groups to classify countries.</a:t>
            </a:r>
          </a:p>
          <a:p>
            <a:pPr>
              <a:spcAft>
                <a:spcPts val="1000"/>
              </a:spcAft>
            </a:pPr>
            <a:r>
              <a:rPr sz="1800" b="1">
                <a:solidFill>
                  <a:srgbClr val="1B4F72"/>
                </a:solidFill>
                <a:latin typeface="Arial"/>
              </a:rPr>
              <a:t>•  Today:</a:t>
            </a:r>
            <a:r>
              <a:rPr sz="1800" b="0">
                <a:solidFill>
                  <a:srgbClr val="262626"/>
                </a:solidFill>
                <a:latin typeface="Arial"/>
              </a:rPr>
              <a:t>  we step back and look at development at the world scale — reading choropleth (colour-shaded) maps, comparing continents, and questioning where the whole 'developed / underdeveloped' vocabulary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MAP SKILLS</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Reading a Choropleth Map</a:t>
            </a:r>
          </a:p>
        </p:txBody>
      </p:sp>
      <p:sp>
        <p:nvSpPr>
          <p:cNvPr id="5" name="TextBox 4"/>
          <p:cNvSpPr txBox="1"/>
          <p:nvPr/>
        </p:nvSpPr>
        <p:spPr>
          <a:xfrm>
            <a:off x="822960" y="1737360"/>
            <a:ext cx="7680960" cy="4754880"/>
          </a:xfrm>
          <a:prstGeom prst="rect">
            <a:avLst/>
          </a:prstGeom>
          <a:noFill/>
        </p:spPr>
        <p:txBody>
          <a:bodyPr wrap="square">
            <a:spAutoFit/>
          </a:bodyPr>
          <a:lstStyle/>
          <a:p>
            <a:pPr>
              <a:spcAft>
                <a:spcPts val="1000"/>
              </a:spcAft>
            </a:pPr>
            <a:r>
              <a:rPr sz="1800" b="1">
                <a:solidFill>
                  <a:srgbClr val="1B4F72"/>
                </a:solidFill>
                <a:latin typeface="Arial"/>
              </a:rPr>
              <a:t>•  Choropleth map:</a:t>
            </a:r>
            <a:r>
              <a:rPr sz="1800" b="0">
                <a:solidFill>
                  <a:srgbClr val="262626"/>
                </a:solidFill>
                <a:latin typeface="Arial"/>
              </a:rPr>
              <a:t>  a map that shades regions or countries by colour according to the value of a variable (e.g. GNI per capita, infant mortality, corruption).</a:t>
            </a:r>
          </a:p>
          <a:p>
            <a:pPr>
              <a:spcAft>
                <a:spcPts val="1000"/>
              </a:spcAft>
            </a:pPr>
            <a:r>
              <a:rPr sz="1800" b="1">
                <a:solidFill>
                  <a:srgbClr val="1B4F72"/>
                </a:solidFill>
                <a:latin typeface="Arial"/>
              </a:rPr>
              <a:t>•  The legend sets the categories:</a:t>
            </a:r>
            <a:r>
              <a:rPr sz="1800" b="0">
                <a:solidFill>
                  <a:srgbClr val="262626"/>
                </a:solidFill>
                <a:latin typeface="Arial"/>
              </a:rPr>
              <a:t>  the mapmaker chooses the value thresholds (e.g. &lt;30, 30–34, 35–39…) — changing those thresholds can make the same data look more or less extreme.</a:t>
            </a:r>
          </a:p>
          <a:p>
            <a:pPr>
              <a:spcAft>
                <a:spcPts val="1000"/>
              </a:spcAft>
            </a:pPr>
            <a:r>
              <a:rPr sz="1800" b="1">
                <a:solidFill>
                  <a:srgbClr val="1B4F72"/>
                </a:solidFill>
                <a:latin typeface="Arial"/>
              </a:rPr>
              <a:t>•  Always check 3 things:</a:t>
            </a:r>
            <a:r>
              <a:rPr sz="1800" b="0">
                <a:solidFill>
                  <a:srgbClr val="262626"/>
                </a:solidFill>
                <a:latin typeface="Arial"/>
              </a:rPr>
              <a:t>  (1) what variable is shaded, (2) what the darkest/lightest colour means, (3) whether the map shows a rate/percentage (relative) or a total (absolute) — they tell very different stories.</a:t>
            </a:r>
          </a:p>
          <a:p>
            <a:pPr>
              <a:spcAft>
                <a:spcPts val="1000"/>
              </a:spcAft>
            </a:pPr>
            <a:r>
              <a:rPr sz="1800" b="1">
                <a:solidFill>
                  <a:srgbClr val="1B4F72"/>
                </a:solidFill>
                <a:latin typeface="Arial"/>
              </a:rPr>
              <a:t>•  Exam skill:</a:t>
            </a:r>
            <a:r>
              <a:rPr sz="1800" b="0">
                <a:solidFill>
                  <a:srgbClr val="262626"/>
                </a:solidFill>
                <a:latin typeface="Arial"/>
              </a:rPr>
              <a:t>  DESCRIBE = state the pattern shown (where is highest/lowest); EXPLAIN = give the reason behind that pattern.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HISTORY</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Where 'Developed' Came From</a:t>
            </a:r>
          </a:p>
        </p:txBody>
      </p:sp>
      <p:sp>
        <p:nvSpPr>
          <p:cNvPr id="5" name="TextBox 4"/>
          <p:cNvSpPr txBox="1"/>
          <p:nvPr/>
        </p:nvSpPr>
        <p:spPr>
          <a:xfrm>
            <a:off x="822960" y="1737360"/>
            <a:ext cx="7680960" cy="4754880"/>
          </a:xfrm>
          <a:prstGeom prst="rect">
            <a:avLst/>
          </a:prstGeom>
          <a:noFill/>
        </p:spPr>
        <p:txBody>
          <a:bodyPr wrap="square">
            <a:spAutoFit/>
          </a:bodyPr>
          <a:lstStyle/>
          <a:p>
            <a:pPr>
              <a:spcAft>
                <a:spcPts val="1000"/>
              </a:spcAft>
            </a:pPr>
            <a:r>
              <a:rPr sz="1800" b="0">
                <a:solidFill>
                  <a:srgbClr val="262626"/>
                </a:solidFill>
                <a:latin typeface="Arial"/>
              </a:rPr>
              <a:t>•  “We must embark on a bold new program for making the benefits of our scientific advances and industrial progress available for the improvement and growth of underdeveloped areas. More than half the people of the world are living in conditions approaching misery.” — US President Harry Truman, inaugural address, 20 January 1949</a:t>
            </a:r>
          </a:p>
          <a:p>
            <a:pPr>
              <a:spcAft>
                <a:spcPts val="1000"/>
              </a:spcAft>
            </a:pPr>
            <a:r>
              <a:rPr sz="1800" b="1">
                <a:solidFill>
                  <a:srgbClr val="1B4F72"/>
                </a:solidFill>
                <a:latin typeface="Arial"/>
              </a:rPr>
              <a:t>•  The term stuck:</a:t>
            </a:r>
            <a:r>
              <a:rPr sz="1800" b="0">
                <a:solidFill>
                  <a:srgbClr val="262626"/>
                </a:solidFill>
                <a:latin typeface="Arial"/>
              </a:rPr>
              <a:t>  'underdeveloped' became the standard way to describe poorer countries through the mid-20th century, measured mainly through GDP/GNI and industrialisation.</a:t>
            </a:r>
          </a:p>
          <a:p>
            <a:pPr>
              <a:spcAft>
                <a:spcPts val="1000"/>
              </a:spcAft>
            </a:pPr>
            <a:r>
              <a:rPr sz="1800" b="1">
                <a:solidFill>
                  <a:srgbClr val="1B4F72"/>
                </a:solidFill>
                <a:latin typeface="Arial"/>
              </a:rPr>
              <a:t>•  The critique:</a:t>
            </a:r>
            <a:r>
              <a:rPr sz="1800" b="0">
                <a:solidFill>
                  <a:srgbClr val="262626"/>
                </a:solidFill>
                <a:latin typeface="Arial"/>
              </a:rPr>
              <a:t>  anthropologists and sociologists argued this framed the whole world against a Western, industrialised model — as if there were only one path to being 'developed'. Today's terms (LIC / MIC / HIC / NEE, based on GNI per capita) try to be more neutral, but the same debate about what really counts as 'development' continues.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TERMINOLOGY</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GDP vs. GNP vs. GNI</a:t>
            </a:r>
          </a:p>
        </p:txBody>
      </p:sp>
      <p:sp>
        <p:nvSpPr>
          <p:cNvPr id="5" name="Rectangle 4"/>
          <p:cNvSpPr/>
          <p:nvPr/>
        </p:nvSpPr>
        <p:spPr>
          <a:xfrm>
            <a:off x="822960"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206752" cy="4480560"/>
          </a:xfrm>
          <a:prstGeom prst="rect">
            <a:avLst/>
          </a:prstGeom>
          <a:noFill/>
        </p:spPr>
        <p:txBody>
          <a:bodyPr wrap="square">
            <a:spAutoFit/>
          </a:bodyPr>
          <a:lstStyle/>
          <a:p>
            <a:pPr>
              <a:spcAft>
                <a:spcPts val="800"/>
              </a:spcAft>
            </a:pPr>
            <a:r>
              <a:rPr sz="1600" b="1">
                <a:solidFill>
                  <a:srgbClr val="1B4F72"/>
                </a:solidFill>
                <a:latin typeface="Arial"/>
              </a:rPr>
              <a:t>GDP</a:t>
            </a:r>
          </a:p>
          <a:p>
            <a:pPr>
              <a:spcAft>
                <a:spcPts val="600"/>
              </a:spcAft>
            </a:pPr>
            <a:r>
              <a:rPr sz="1400" b="0">
                <a:solidFill>
                  <a:srgbClr val="262626"/>
                </a:solidFill>
                <a:latin typeface="Arial"/>
              </a:rPr>
              <a:t>•  Gross Domestic Product</a:t>
            </a:r>
          </a:p>
          <a:p>
            <a:pPr>
              <a:spcAft>
                <a:spcPts val="600"/>
              </a:spcAft>
            </a:pPr>
            <a:r>
              <a:rPr sz="1400" b="0">
                <a:solidFill>
                  <a:srgbClr val="262626"/>
                </a:solidFill>
                <a:latin typeface="Arial"/>
              </a:rPr>
              <a:t>•  Value of all goods &amp; services produced WITHIN a country's borders</a:t>
            </a:r>
          </a:p>
          <a:p>
            <a:pPr>
              <a:spcAft>
                <a:spcPts val="600"/>
              </a:spcAft>
            </a:pPr>
            <a:r>
              <a:rPr sz="1400" b="0">
                <a:solidFill>
                  <a:srgbClr val="262626"/>
                </a:solidFill>
                <a:latin typeface="Arial"/>
              </a:rPr>
              <a:t>•  Doesn't matter who owns the company producing it</a:t>
            </a:r>
          </a:p>
        </p:txBody>
      </p:sp>
      <p:sp>
        <p:nvSpPr>
          <p:cNvPr id="7" name="Rectangle 6"/>
          <p:cNvSpPr/>
          <p:nvPr/>
        </p:nvSpPr>
        <p:spPr>
          <a:xfrm>
            <a:off x="3422904"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064" y="1874520"/>
            <a:ext cx="2206752" cy="4480560"/>
          </a:xfrm>
          <a:prstGeom prst="rect">
            <a:avLst/>
          </a:prstGeom>
          <a:noFill/>
        </p:spPr>
        <p:txBody>
          <a:bodyPr wrap="square">
            <a:spAutoFit/>
          </a:bodyPr>
          <a:lstStyle/>
          <a:p>
            <a:pPr>
              <a:spcAft>
                <a:spcPts val="800"/>
              </a:spcAft>
            </a:pPr>
            <a:r>
              <a:rPr sz="1600" b="1">
                <a:solidFill>
                  <a:srgbClr val="1B4F72"/>
                </a:solidFill>
                <a:latin typeface="Arial"/>
              </a:rPr>
              <a:t>GNP</a:t>
            </a:r>
          </a:p>
          <a:p>
            <a:pPr>
              <a:spcAft>
                <a:spcPts val="600"/>
              </a:spcAft>
            </a:pPr>
            <a:r>
              <a:rPr sz="1400" b="0">
                <a:solidFill>
                  <a:srgbClr val="262626"/>
                </a:solidFill>
                <a:latin typeface="Arial"/>
              </a:rPr>
              <a:t>•  Gross National Product</a:t>
            </a:r>
          </a:p>
          <a:p>
            <a:pPr>
              <a:spcAft>
                <a:spcPts val="600"/>
              </a:spcAft>
            </a:pPr>
            <a:r>
              <a:rPr sz="1400" b="0">
                <a:solidFill>
                  <a:srgbClr val="262626"/>
                </a:solidFill>
                <a:latin typeface="Arial"/>
              </a:rPr>
              <a:t>•  Value produced by a country's OWN citizens &amp; companies</a:t>
            </a:r>
          </a:p>
          <a:p>
            <a:pPr>
              <a:spcAft>
                <a:spcPts val="600"/>
              </a:spcAft>
            </a:pPr>
            <a:r>
              <a:rPr sz="1400" b="0">
                <a:solidFill>
                  <a:srgbClr val="262626"/>
                </a:solidFill>
                <a:latin typeface="Arial"/>
              </a:rPr>
              <a:t>•  Wherever in the world they're based</a:t>
            </a:r>
          </a:p>
        </p:txBody>
      </p:sp>
      <p:sp>
        <p:nvSpPr>
          <p:cNvPr id="9" name="Rectangle 8"/>
          <p:cNvSpPr/>
          <p:nvPr/>
        </p:nvSpPr>
        <p:spPr>
          <a:xfrm>
            <a:off x="6022848"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60008" y="1874520"/>
            <a:ext cx="2206752" cy="4480560"/>
          </a:xfrm>
          <a:prstGeom prst="rect">
            <a:avLst/>
          </a:prstGeom>
          <a:noFill/>
        </p:spPr>
        <p:txBody>
          <a:bodyPr wrap="square">
            <a:spAutoFit/>
          </a:bodyPr>
          <a:lstStyle/>
          <a:p>
            <a:pPr>
              <a:spcAft>
                <a:spcPts val="800"/>
              </a:spcAft>
            </a:pPr>
            <a:r>
              <a:rPr sz="1600" b="1">
                <a:solidFill>
                  <a:srgbClr val="1B4F72"/>
                </a:solidFill>
                <a:latin typeface="Arial"/>
              </a:rPr>
              <a:t>GNI</a:t>
            </a:r>
          </a:p>
          <a:p>
            <a:pPr>
              <a:spcAft>
                <a:spcPts val="600"/>
              </a:spcAft>
            </a:pPr>
            <a:r>
              <a:rPr sz="1400" b="0">
                <a:solidFill>
                  <a:srgbClr val="262626"/>
                </a:solidFill>
                <a:latin typeface="Arial"/>
              </a:rPr>
              <a:t>•  Gross National Income</a:t>
            </a:r>
          </a:p>
          <a:p>
            <a:pPr>
              <a:spcAft>
                <a:spcPts val="600"/>
              </a:spcAft>
            </a:pPr>
            <a:r>
              <a:rPr sz="1400" b="0">
                <a:solidFill>
                  <a:srgbClr val="262626"/>
                </a:solidFill>
                <a:latin typeface="Arial"/>
              </a:rPr>
              <a:t>•  GNP + net income from abroad (interest, dividends)</a:t>
            </a:r>
          </a:p>
          <a:p>
            <a:pPr>
              <a:spcAft>
                <a:spcPts val="600"/>
              </a:spcAft>
            </a:pPr>
            <a:r>
              <a:rPr sz="1400" b="0">
                <a:solidFill>
                  <a:srgbClr val="262626"/>
                </a:solidFill>
                <a:latin typeface="Arial"/>
              </a:rPr>
              <a:t>•  The modern World Bank measure — used instead of GNP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DATA</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GDP by Continent (PPP)</a:t>
            </a:r>
          </a:p>
        </p:txBody>
      </p:sp>
      <p:graphicFrame>
        <p:nvGraphicFramePr>
          <p:cNvPr id="5" name="Table 4"/>
          <p:cNvGraphicFramePr>
            <a:graphicFrameLocks noGrp="1"/>
          </p:cNvGraphicFramePr>
          <p:nvPr/>
        </p:nvGraphicFramePr>
        <p:xfrm>
          <a:off x="822960" y="1737360"/>
          <a:ext cx="7680960" cy="4754880"/>
        </p:xfrm>
        <a:graphic>
          <a:graphicData uri="http://schemas.openxmlformats.org/drawingml/2006/table">
            <a:tbl>
              <a:tblPr firstRow="1" bandRow="1">
                <a:tableStyleId>{5C22544A-7EE6-4342-B048-85BDC9FD1C3A}</a:tableStyleId>
              </a:tblPr>
              <a:tblGrid>
                <a:gridCol w="1280160"/>
                <a:gridCol w="1280160"/>
                <a:gridCol w="1280160"/>
                <a:gridCol w="1280160"/>
                <a:gridCol w="1280160"/>
                <a:gridCol w="1280160"/>
              </a:tblGrid>
              <a:tr h="594360">
                <a:tc>
                  <a:txBody>
                    <a:bodyPr/>
                    <a:lstStyle/>
                    <a:p>
                      <a:r>
                        <a:rPr sz="1400" b="1">
                          <a:solidFill>
                            <a:srgbClr val="FFFFFF"/>
                          </a:solidFill>
                          <a:latin typeface="Arial"/>
                        </a:rPr>
                        <a:t>Continent</a:t>
                      </a:r>
                    </a:p>
                  </a:txBody>
                  <a:tcPr>
                    <a:solidFill>
                      <a:srgbClr val="1B4F72"/>
                    </a:solidFill>
                  </a:tcPr>
                </a:tc>
                <a:tc>
                  <a:txBody>
                    <a:bodyPr/>
                    <a:lstStyle/>
                    <a:p>
                      <a:r>
                        <a:rPr sz="1400" b="1">
                          <a:solidFill>
                            <a:srgbClr val="FFFFFF"/>
                          </a:solidFill>
                          <a:latin typeface="Arial"/>
                        </a:rPr>
                        <a:t>GDP PPP ($bn)</a:t>
                      </a:r>
                    </a:p>
                  </a:txBody>
                  <a:tcPr>
                    <a:solidFill>
                      <a:srgbClr val="1B4F72"/>
                    </a:solidFill>
                  </a:tcPr>
                </a:tc>
                <a:tc>
                  <a:txBody>
                    <a:bodyPr/>
                    <a:lstStyle/>
                    <a:p>
                      <a:r>
                        <a:rPr sz="1400" b="1">
                          <a:solidFill>
                            <a:srgbClr val="FFFFFF"/>
                          </a:solidFill>
                          <a:latin typeface="Arial"/>
                        </a:rPr>
                        <a:t>% World GDP</a:t>
                      </a:r>
                    </a:p>
                  </a:txBody>
                  <a:tcPr>
                    <a:solidFill>
                      <a:srgbClr val="1B4F72"/>
                    </a:solidFill>
                  </a:tcPr>
                </a:tc>
                <a:tc>
                  <a:txBody>
                    <a:bodyPr/>
                    <a:lstStyle/>
                    <a:p>
                      <a:r>
                        <a:rPr sz="1400" b="1">
                          <a:solidFill>
                            <a:srgbClr val="FFFFFF"/>
                          </a:solidFill>
                          <a:latin typeface="Arial"/>
                        </a:rPr>
                        <a:t>Population (m)</a:t>
                      </a:r>
                    </a:p>
                  </a:txBody>
                  <a:tcPr>
                    <a:solidFill>
                      <a:srgbClr val="1B4F72"/>
                    </a:solidFill>
                  </a:tcPr>
                </a:tc>
                <a:tc>
                  <a:txBody>
                    <a:bodyPr/>
                    <a:lstStyle/>
                    <a:p>
                      <a:r>
                        <a:rPr sz="1400" b="1">
                          <a:solidFill>
                            <a:srgbClr val="FFFFFF"/>
                          </a:solidFill>
                          <a:latin typeface="Arial"/>
                        </a:rPr>
                        <a:t>% World Pop</a:t>
                      </a:r>
                    </a:p>
                  </a:txBody>
                  <a:tcPr>
                    <a:solidFill>
                      <a:srgbClr val="1B4F72"/>
                    </a:solidFill>
                  </a:tcPr>
                </a:tc>
                <a:tc>
                  <a:txBody>
                    <a:bodyPr/>
                    <a:lstStyle/>
                    <a:p>
                      <a:r>
                        <a:rPr sz="1400" b="1">
                          <a:solidFill>
                            <a:srgbClr val="FFFFFF"/>
                          </a:solidFill>
                          <a:latin typeface="Arial"/>
                        </a:rPr>
                        <a:t>GDP/capita ($)</a:t>
                      </a:r>
                    </a:p>
                  </a:txBody>
                  <a:tcPr>
                    <a:solidFill>
                      <a:srgbClr val="1B4F72"/>
                    </a:solidFill>
                  </a:tcPr>
                </a:tc>
              </a:tr>
              <a:tr h="594360">
                <a:tc>
                  <a:txBody>
                    <a:bodyPr/>
                    <a:lstStyle/>
                    <a:p>
                      <a:r>
                        <a:rPr sz="1250" b="0">
                          <a:solidFill>
                            <a:srgbClr val="262626"/>
                          </a:solidFill>
                          <a:latin typeface="Arial"/>
                        </a:rPr>
                        <a:t>Africa</a:t>
                      </a:r>
                    </a:p>
                  </a:txBody>
                  <a:tcPr/>
                </a:tc>
                <a:tc>
                  <a:txBody>
                    <a:bodyPr/>
                    <a:lstStyle/>
                    <a:p>
                      <a:r>
                        <a:rPr sz="1250" b="0">
                          <a:solidFill>
                            <a:srgbClr val="262626"/>
                          </a:solidFill>
                          <a:latin typeface="Arial"/>
                        </a:rPr>
                        <a:t>6,840</a:t>
                      </a:r>
                    </a:p>
                  </a:txBody>
                  <a:tcPr/>
                </a:tc>
                <a:tc>
                  <a:txBody>
                    <a:bodyPr/>
                    <a:lstStyle/>
                    <a:p>
                      <a:r>
                        <a:rPr sz="1250" b="0">
                          <a:solidFill>
                            <a:srgbClr val="262626"/>
                          </a:solidFill>
                          <a:latin typeface="Arial"/>
                        </a:rPr>
                        <a:t>5.06%</a:t>
                      </a:r>
                    </a:p>
                  </a:txBody>
                  <a:tcPr/>
                </a:tc>
                <a:tc>
                  <a:txBody>
                    <a:bodyPr/>
                    <a:lstStyle/>
                    <a:p>
                      <a:r>
                        <a:rPr sz="1250" b="0">
                          <a:solidFill>
                            <a:srgbClr val="262626"/>
                          </a:solidFill>
                          <a:latin typeface="Arial"/>
                        </a:rPr>
                        <a:t>1,340</a:t>
                      </a:r>
                    </a:p>
                  </a:txBody>
                  <a:tcPr/>
                </a:tc>
                <a:tc>
                  <a:txBody>
                    <a:bodyPr/>
                    <a:lstStyle/>
                    <a:p>
                      <a:r>
                        <a:rPr sz="1250" b="0">
                          <a:solidFill>
                            <a:srgbClr val="262626"/>
                          </a:solidFill>
                          <a:latin typeface="Arial"/>
                        </a:rPr>
                        <a:t>17.19%</a:t>
                      </a:r>
                    </a:p>
                  </a:txBody>
                  <a:tcPr/>
                </a:tc>
                <a:tc>
                  <a:txBody>
                    <a:bodyPr/>
                    <a:lstStyle/>
                    <a:p>
                      <a:r>
                        <a:rPr sz="1250" b="0">
                          <a:solidFill>
                            <a:srgbClr val="262626"/>
                          </a:solidFill>
                          <a:latin typeface="Arial"/>
                        </a:rPr>
                        <a:t>1,860</a:t>
                      </a:r>
                    </a:p>
                  </a:txBody>
                  <a:tcPr/>
                </a:tc>
              </a:tr>
              <a:tr h="594360">
                <a:tc>
                  <a:txBody>
                    <a:bodyPr/>
                    <a:lstStyle/>
                    <a:p>
                      <a:r>
                        <a:rPr sz="1250" b="0">
                          <a:solidFill>
                            <a:srgbClr val="262626"/>
                          </a:solidFill>
                          <a:latin typeface="Arial"/>
                        </a:rPr>
                        <a:t>North America</a:t>
                      </a:r>
                    </a:p>
                  </a:txBody>
                  <a:tcPr/>
                </a:tc>
                <a:tc>
                  <a:txBody>
                    <a:bodyPr/>
                    <a:lstStyle/>
                    <a:p>
                      <a:r>
                        <a:rPr sz="1250" b="0">
                          <a:solidFill>
                            <a:srgbClr val="262626"/>
                          </a:solidFill>
                          <a:latin typeface="Arial"/>
                        </a:rPr>
                        <a:t>26,550</a:t>
                      </a:r>
                    </a:p>
                  </a:txBody>
                  <a:tcPr/>
                </a:tc>
                <a:tc>
                  <a:txBody>
                    <a:bodyPr/>
                    <a:lstStyle/>
                    <a:p>
                      <a:r>
                        <a:rPr sz="1250" b="0">
                          <a:solidFill>
                            <a:srgbClr val="262626"/>
                          </a:solidFill>
                          <a:latin typeface="Arial"/>
                        </a:rPr>
                        <a:t>19.63%</a:t>
                      </a:r>
                    </a:p>
                  </a:txBody>
                  <a:tcPr/>
                </a:tc>
                <a:tc>
                  <a:txBody>
                    <a:bodyPr/>
                    <a:lstStyle/>
                    <a:p>
                      <a:r>
                        <a:rPr sz="1250" b="0">
                          <a:solidFill>
                            <a:srgbClr val="262626"/>
                          </a:solidFill>
                          <a:latin typeface="Arial"/>
                        </a:rPr>
                        <a:t>592</a:t>
                      </a:r>
                    </a:p>
                  </a:txBody>
                  <a:tcPr/>
                </a:tc>
                <a:tc>
                  <a:txBody>
                    <a:bodyPr/>
                    <a:lstStyle/>
                    <a:p>
                      <a:r>
                        <a:rPr sz="1250" b="0">
                          <a:solidFill>
                            <a:srgbClr val="262626"/>
                          </a:solidFill>
                          <a:latin typeface="Arial"/>
                        </a:rPr>
                        <a:t>7.60%</a:t>
                      </a:r>
                    </a:p>
                  </a:txBody>
                  <a:tcPr/>
                </a:tc>
                <a:tc>
                  <a:txBody>
                    <a:bodyPr/>
                    <a:lstStyle/>
                    <a:p>
                      <a:r>
                        <a:rPr sz="1250" b="0">
                          <a:solidFill>
                            <a:srgbClr val="262626"/>
                          </a:solidFill>
                          <a:latin typeface="Arial"/>
                        </a:rPr>
                        <a:t>49,430</a:t>
                      </a:r>
                    </a:p>
                  </a:txBody>
                  <a:tcPr/>
                </a:tc>
              </a:tr>
              <a:tr h="594360">
                <a:tc>
                  <a:txBody>
                    <a:bodyPr/>
                    <a:lstStyle/>
                    <a:p>
                      <a:r>
                        <a:rPr sz="1250" b="0">
                          <a:solidFill>
                            <a:srgbClr val="262626"/>
                          </a:solidFill>
                          <a:latin typeface="Arial"/>
                        </a:rPr>
                        <a:t>Latin America</a:t>
                      </a:r>
                    </a:p>
                  </a:txBody>
                  <a:tcPr/>
                </a:tc>
                <a:tc>
                  <a:txBody>
                    <a:bodyPr/>
                    <a:lstStyle/>
                    <a:p>
                      <a:r>
                        <a:rPr sz="1250" b="0">
                          <a:solidFill>
                            <a:srgbClr val="262626"/>
                          </a:solidFill>
                          <a:latin typeface="Arial"/>
                        </a:rPr>
                        <a:t>6,530</a:t>
                      </a:r>
                    </a:p>
                  </a:txBody>
                  <a:tcPr/>
                </a:tc>
                <a:tc>
                  <a:txBody>
                    <a:bodyPr/>
                    <a:lstStyle/>
                    <a:p>
                      <a:r>
                        <a:rPr sz="1250" b="0">
                          <a:solidFill>
                            <a:srgbClr val="262626"/>
                          </a:solidFill>
                          <a:latin typeface="Arial"/>
                        </a:rPr>
                        <a:t>4.83%</a:t>
                      </a:r>
                    </a:p>
                  </a:txBody>
                  <a:tcPr/>
                </a:tc>
                <a:tc>
                  <a:txBody>
                    <a:bodyPr/>
                    <a:lstStyle/>
                    <a:p>
                      <a:r>
                        <a:rPr sz="1250" b="0">
                          <a:solidFill>
                            <a:srgbClr val="262626"/>
                          </a:solidFill>
                          <a:latin typeface="Arial"/>
                        </a:rPr>
                        <a:t>430</a:t>
                      </a:r>
                    </a:p>
                  </a:txBody>
                  <a:tcPr/>
                </a:tc>
                <a:tc>
                  <a:txBody>
                    <a:bodyPr/>
                    <a:lstStyle/>
                    <a:p>
                      <a:r>
                        <a:rPr sz="1250" b="0">
                          <a:solidFill>
                            <a:srgbClr val="262626"/>
                          </a:solidFill>
                          <a:latin typeface="Arial"/>
                        </a:rPr>
                        <a:t>5.52%</a:t>
                      </a:r>
                    </a:p>
                  </a:txBody>
                  <a:tcPr/>
                </a:tc>
                <a:tc>
                  <a:txBody>
                    <a:bodyPr/>
                    <a:lstStyle/>
                    <a:p>
                      <a:r>
                        <a:rPr sz="1250" b="0">
                          <a:solidFill>
                            <a:srgbClr val="262626"/>
                          </a:solidFill>
                          <a:latin typeface="Arial"/>
                        </a:rPr>
                        <a:t>6,720</a:t>
                      </a:r>
                    </a:p>
                  </a:txBody>
                  <a:tcPr/>
                </a:tc>
              </a:tr>
              <a:tr h="594360">
                <a:tc>
                  <a:txBody>
                    <a:bodyPr/>
                    <a:lstStyle/>
                    <a:p>
                      <a:r>
                        <a:rPr sz="1250" b="0">
                          <a:solidFill>
                            <a:srgbClr val="262626"/>
                          </a:solidFill>
                          <a:latin typeface="Arial"/>
                        </a:rPr>
                        <a:t>Asia</a:t>
                      </a:r>
                    </a:p>
                  </a:txBody>
                  <a:tcPr/>
                </a:tc>
                <a:tc>
                  <a:txBody>
                    <a:bodyPr/>
                    <a:lstStyle/>
                    <a:p>
                      <a:r>
                        <a:rPr sz="1250" b="0">
                          <a:solidFill>
                            <a:srgbClr val="262626"/>
                          </a:solidFill>
                          <a:latin typeface="Arial"/>
                        </a:rPr>
                        <a:t>63,350</a:t>
                      </a:r>
                    </a:p>
                  </a:txBody>
                  <a:tcPr/>
                </a:tc>
                <a:tc>
                  <a:txBody>
                    <a:bodyPr/>
                    <a:lstStyle/>
                    <a:p>
                      <a:r>
                        <a:rPr sz="1250" b="0">
                          <a:solidFill>
                            <a:srgbClr val="262626"/>
                          </a:solidFill>
                          <a:latin typeface="Arial"/>
                        </a:rPr>
                        <a:t>46.84%</a:t>
                      </a:r>
                    </a:p>
                  </a:txBody>
                  <a:tcPr/>
                </a:tc>
                <a:tc>
                  <a:txBody>
                    <a:bodyPr/>
                    <a:lstStyle/>
                    <a:p>
                      <a:r>
                        <a:rPr sz="1250" b="0">
                          <a:solidFill>
                            <a:srgbClr val="262626"/>
                          </a:solidFill>
                          <a:latin typeface="Arial"/>
                        </a:rPr>
                        <a:t>4,641</a:t>
                      </a:r>
                    </a:p>
                  </a:txBody>
                  <a:tcPr/>
                </a:tc>
                <a:tc>
                  <a:txBody>
                    <a:bodyPr/>
                    <a:lstStyle/>
                    <a:p>
                      <a:r>
                        <a:rPr sz="1250" b="0">
                          <a:solidFill>
                            <a:srgbClr val="262626"/>
                          </a:solidFill>
                          <a:latin typeface="Arial"/>
                        </a:rPr>
                        <a:t>59.55%</a:t>
                      </a:r>
                    </a:p>
                  </a:txBody>
                  <a:tcPr/>
                </a:tc>
                <a:tc>
                  <a:txBody>
                    <a:bodyPr/>
                    <a:lstStyle/>
                    <a:p>
                      <a:r>
                        <a:rPr sz="1250" b="0">
                          <a:solidFill>
                            <a:srgbClr val="262626"/>
                          </a:solidFill>
                          <a:latin typeface="Arial"/>
                        </a:rPr>
                        <a:t>7,850</a:t>
                      </a:r>
                    </a:p>
                  </a:txBody>
                  <a:tcPr/>
                </a:tc>
              </a:tr>
              <a:tr h="594360">
                <a:tc>
                  <a:txBody>
                    <a:bodyPr/>
                    <a:lstStyle/>
                    <a:p>
                      <a:r>
                        <a:rPr sz="1250" b="0">
                          <a:solidFill>
                            <a:srgbClr val="262626"/>
                          </a:solidFill>
                          <a:latin typeface="Arial"/>
                        </a:rPr>
                        <a:t>Oceania</a:t>
                      </a:r>
                    </a:p>
                  </a:txBody>
                  <a:tcPr/>
                </a:tc>
                <a:tc>
                  <a:txBody>
                    <a:bodyPr/>
                    <a:lstStyle/>
                    <a:p>
                      <a:r>
                        <a:rPr sz="1250" b="0">
                          <a:solidFill>
                            <a:srgbClr val="262626"/>
                          </a:solidFill>
                          <a:latin typeface="Arial"/>
                        </a:rPr>
                        <a:t>1,600</a:t>
                      </a:r>
                    </a:p>
                  </a:txBody>
                  <a:tcPr/>
                </a:tc>
                <a:tc>
                  <a:txBody>
                    <a:bodyPr/>
                    <a:lstStyle/>
                    <a:p>
                      <a:r>
                        <a:rPr sz="1250" b="0">
                          <a:solidFill>
                            <a:srgbClr val="262626"/>
                          </a:solidFill>
                          <a:latin typeface="Arial"/>
                        </a:rPr>
                        <a:t>1.18%</a:t>
                      </a:r>
                    </a:p>
                  </a:txBody>
                  <a:tcPr/>
                </a:tc>
                <a:tc>
                  <a:txBody>
                    <a:bodyPr/>
                    <a:lstStyle/>
                    <a:p>
                      <a:r>
                        <a:rPr sz="1250" b="0">
                          <a:solidFill>
                            <a:srgbClr val="262626"/>
                          </a:solidFill>
                          <a:latin typeface="Arial"/>
                        </a:rPr>
                        <a:t>43</a:t>
                      </a:r>
                    </a:p>
                  </a:txBody>
                  <a:tcPr/>
                </a:tc>
                <a:tc>
                  <a:txBody>
                    <a:bodyPr/>
                    <a:lstStyle/>
                    <a:p>
                      <a:r>
                        <a:rPr sz="1250" b="0">
                          <a:solidFill>
                            <a:srgbClr val="262626"/>
                          </a:solidFill>
                          <a:latin typeface="Arial"/>
                        </a:rPr>
                        <a:t>0.55%</a:t>
                      </a:r>
                    </a:p>
                  </a:txBody>
                  <a:tcPr/>
                </a:tc>
                <a:tc>
                  <a:txBody>
                    <a:bodyPr/>
                    <a:lstStyle/>
                    <a:p>
                      <a:r>
                        <a:rPr sz="1250" b="0">
                          <a:solidFill>
                            <a:srgbClr val="262626"/>
                          </a:solidFill>
                          <a:latin typeface="Arial"/>
                        </a:rPr>
                        <a:t>54,690</a:t>
                      </a:r>
                    </a:p>
                  </a:txBody>
                  <a:tcPr/>
                </a:tc>
              </a:tr>
              <a:tr h="594360">
                <a:tc>
                  <a:txBody>
                    <a:bodyPr/>
                    <a:lstStyle/>
                    <a:p>
                      <a:r>
                        <a:rPr sz="1250" b="0">
                          <a:solidFill>
                            <a:srgbClr val="262626"/>
                          </a:solidFill>
                          <a:latin typeface="Arial"/>
                        </a:rPr>
                        <a:t>Europe</a:t>
                      </a:r>
                    </a:p>
                  </a:txBody>
                  <a:tcPr/>
                </a:tc>
                <a:tc>
                  <a:txBody>
                    <a:bodyPr/>
                    <a:lstStyle/>
                    <a:p>
                      <a:r>
                        <a:rPr sz="1250" b="0">
                          <a:solidFill>
                            <a:srgbClr val="262626"/>
                          </a:solidFill>
                          <a:latin typeface="Arial"/>
                        </a:rPr>
                        <a:t>30,370</a:t>
                      </a:r>
                    </a:p>
                  </a:txBody>
                  <a:tcPr/>
                </a:tc>
                <a:tc>
                  <a:txBody>
                    <a:bodyPr/>
                    <a:lstStyle/>
                    <a:p>
                      <a:r>
                        <a:rPr sz="1250" b="0">
                          <a:solidFill>
                            <a:srgbClr val="262626"/>
                          </a:solidFill>
                          <a:latin typeface="Arial"/>
                        </a:rPr>
                        <a:t>22.46%</a:t>
                      </a:r>
                    </a:p>
                  </a:txBody>
                  <a:tcPr/>
                </a:tc>
                <a:tc>
                  <a:txBody>
                    <a:bodyPr/>
                    <a:lstStyle/>
                    <a:p>
                      <a:r>
                        <a:rPr sz="1250" b="0">
                          <a:solidFill>
                            <a:srgbClr val="262626"/>
                          </a:solidFill>
                          <a:latin typeface="Arial"/>
                        </a:rPr>
                        <a:t>747</a:t>
                      </a:r>
                    </a:p>
                  </a:txBody>
                  <a:tcPr/>
                </a:tc>
                <a:tc>
                  <a:txBody>
                    <a:bodyPr/>
                    <a:lstStyle/>
                    <a:p>
                      <a:r>
                        <a:rPr sz="1250" b="0">
                          <a:solidFill>
                            <a:srgbClr val="262626"/>
                          </a:solidFill>
                          <a:latin typeface="Arial"/>
                        </a:rPr>
                        <a:t>9.59%</a:t>
                      </a:r>
                    </a:p>
                  </a:txBody>
                  <a:tcPr/>
                </a:tc>
                <a:tc>
                  <a:txBody>
                    <a:bodyPr/>
                    <a:lstStyle/>
                    <a:p>
                      <a:r>
                        <a:rPr sz="1250" b="0">
                          <a:solidFill>
                            <a:srgbClr val="262626"/>
                          </a:solidFill>
                          <a:latin typeface="Arial"/>
                        </a:rPr>
                        <a:t>31,020</a:t>
                      </a:r>
                    </a:p>
                  </a:txBody>
                  <a:tcPr/>
                </a:tc>
              </a:tr>
              <a:tr h="594360">
                <a:tc>
                  <a:txBody>
                    <a:bodyPr/>
                    <a:lstStyle/>
                    <a:p>
                      <a:r>
                        <a:rPr sz="1250" b="0">
                          <a:solidFill>
                            <a:srgbClr val="262626"/>
                          </a:solidFill>
                          <a:latin typeface="Arial"/>
                        </a:rPr>
                        <a:t>World total</a:t>
                      </a:r>
                    </a:p>
                  </a:txBody>
                  <a:tcPr/>
                </a:tc>
                <a:tc>
                  <a:txBody>
                    <a:bodyPr/>
                    <a:lstStyle/>
                    <a:p>
                      <a:r>
                        <a:rPr sz="1250" b="0">
                          <a:solidFill>
                            <a:srgbClr val="262626"/>
                          </a:solidFill>
                          <a:latin typeface="Arial"/>
                        </a:rPr>
                        <a:t>135,240</a:t>
                      </a:r>
                    </a:p>
                  </a:txBody>
                  <a:tcPr/>
                </a:tc>
                <a:tc>
                  <a:txBody>
                    <a:bodyPr/>
                    <a:lstStyle/>
                    <a:p>
                      <a:r>
                        <a:rPr sz="1250" b="0">
                          <a:solidFill>
                            <a:srgbClr val="262626"/>
                          </a:solidFill>
                          <a:latin typeface="Arial"/>
                        </a:rPr>
                        <a:t>100%</a:t>
                      </a:r>
                    </a:p>
                  </a:txBody>
                  <a:tcPr/>
                </a:tc>
                <a:tc>
                  <a:txBody>
                    <a:bodyPr/>
                    <a:lstStyle/>
                    <a:p>
                      <a:r>
                        <a:rPr sz="1250" b="0">
                          <a:solidFill>
                            <a:srgbClr val="262626"/>
                          </a:solidFill>
                          <a:latin typeface="Arial"/>
                        </a:rPr>
                        <a:t>7,793</a:t>
                      </a:r>
                    </a:p>
                  </a:txBody>
                  <a:tcPr/>
                </a:tc>
                <a:tc>
                  <a:txBody>
                    <a:bodyPr/>
                    <a:lstStyle/>
                    <a:p>
                      <a:r>
                        <a:rPr sz="1250" b="0">
                          <a:solidFill>
                            <a:srgbClr val="262626"/>
                          </a:solidFill>
                          <a:latin typeface="Arial"/>
                        </a:rPr>
                        <a:t>100%</a:t>
                      </a:r>
                    </a:p>
                  </a:txBody>
                  <a:tcPr/>
                </a:tc>
                <a:tc>
                  <a:txBody>
                    <a:bodyPr/>
                    <a:lstStyle/>
                    <a:p>
                      <a:r>
                        <a:rPr sz="1250" b="0">
                          <a:solidFill>
                            <a:srgbClr val="262626"/>
                          </a:solidFill>
                          <a:latin typeface="Arial"/>
                        </a:rPr>
                        <a:t>11,570 (avg)</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CRITICAL THINKING</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The Limits of GDP</a:t>
            </a:r>
          </a:p>
        </p:txBody>
      </p:sp>
      <p:sp>
        <p:nvSpPr>
          <p:cNvPr id="5" name="TextBox 4"/>
          <p:cNvSpPr txBox="1"/>
          <p:nvPr/>
        </p:nvSpPr>
        <p:spPr>
          <a:xfrm>
            <a:off x="822960" y="1737360"/>
            <a:ext cx="7680960" cy="4754880"/>
          </a:xfrm>
          <a:prstGeom prst="rect">
            <a:avLst/>
          </a:prstGeom>
          <a:noFill/>
        </p:spPr>
        <p:txBody>
          <a:bodyPr wrap="square">
            <a:spAutoFit/>
          </a:bodyPr>
          <a:lstStyle/>
          <a:p>
            <a:pPr>
              <a:spcAft>
                <a:spcPts val="1000"/>
              </a:spcAft>
            </a:pPr>
            <a:r>
              <a:rPr sz="1800" b="0">
                <a:solidFill>
                  <a:srgbClr val="262626"/>
                </a:solidFill>
                <a:latin typeface="Arial"/>
              </a:rPr>
              <a:t>•  GDP is a single number, but it hides a lot: it says nothing about the environment, health, education, or how evenly income is shared within a country.</a:t>
            </a:r>
          </a:p>
          <a:p>
            <a:pPr>
              <a:spcAft>
                <a:spcPts val="1000"/>
              </a:spcAft>
            </a:pPr>
            <a:r>
              <a:rPr sz="1800" b="1">
                <a:solidFill>
                  <a:srgbClr val="1B4F72"/>
                </a:solidFill>
                <a:latin typeface="Arial"/>
              </a:rPr>
              <a:t>•  Drèze &amp; Sen:</a:t>
            </a:r>
            <a:r>
              <a:rPr sz="1800" b="0">
                <a:solidFill>
                  <a:srgbClr val="262626"/>
                </a:solidFill>
                <a:latin typeface="Arial"/>
              </a:rPr>
              <a:t>  economists Jean Drèze and Amartya Sen argued that chasing GDP growth alone can let a country look 'developed' on paper while millions of its people remain poor, uneducated, or unhealthy.</a:t>
            </a:r>
          </a:p>
          <a:p>
            <a:pPr>
              <a:spcAft>
                <a:spcPts val="1000"/>
              </a:spcAft>
            </a:pPr>
            <a:r>
              <a:rPr sz="1800" b="1">
                <a:solidFill>
                  <a:srgbClr val="1B4F72"/>
                </a:solidFill>
                <a:latin typeface="Arial"/>
              </a:rPr>
              <a:t>•  Why this matters here:</a:t>
            </a:r>
            <a:r>
              <a:rPr sz="1800" b="0">
                <a:solidFill>
                  <a:srgbClr val="262626"/>
                </a:solidFill>
                <a:latin typeface="Arial"/>
              </a:rPr>
              <a:t>  it's exactly why the HDI (Lesson 1) and the fuller indicator toolkit (Lesson 2) exist — GDP is a starting point for measuring development, not the whole picture.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PATTERNS</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Inequality, Growth &amp; Corruption Maps</a:t>
            </a:r>
          </a:p>
        </p:txBody>
      </p:sp>
      <p:sp>
        <p:nvSpPr>
          <p:cNvPr id="5" name="Rectangle 4"/>
          <p:cNvSpPr/>
          <p:nvPr/>
        </p:nvSpPr>
        <p:spPr>
          <a:xfrm>
            <a:off x="822960"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206752" cy="4480560"/>
          </a:xfrm>
          <a:prstGeom prst="rect">
            <a:avLst/>
          </a:prstGeom>
          <a:noFill/>
        </p:spPr>
        <p:txBody>
          <a:bodyPr wrap="square">
            <a:spAutoFit/>
          </a:bodyPr>
          <a:lstStyle/>
          <a:p>
            <a:pPr>
              <a:spcAft>
                <a:spcPts val="800"/>
              </a:spcAft>
            </a:pPr>
            <a:r>
              <a:rPr sz="1600" b="1">
                <a:solidFill>
                  <a:srgbClr val="1B4F72"/>
                </a:solidFill>
                <a:latin typeface="Arial"/>
              </a:rPr>
              <a:t>Gini Coefficient</a:t>
            </a:r>
          </a:p>
          <a:p>
            <a:pPr>
              <a:spcAft>
                <a:spcPts val="600"/>
              </a:spcAft>
            </a:pPr>
            <a:r>
              <a:rPr sz="1400" b="0">
                <a:solidFill>
                  <a:srgbClr val="262626"/>
                </a:solidFill>
                <a:latin typeface="Arial"/>
              </a:rPr>
              <a:t>•  Measures income inequality within a country/area (0–100+)</a:t>
            </a:r>
          </a:p>
          <a:p>
            <a:pPr>
              <a:spcAft>
                <a:spcPts val="600"/>
              </a:spcAft>
            </a:pPr>
            <a:r>
              <a:rPr sz="1400" b="0">
                <a:solidFill>
                  <a:srgbClr val="262626"/>
                </a:solidFill>
                <a:latin typeface="Arial"/>
              </a:rPr>
              <a:t>•  Higher index = greater inequality</a:t>
            </a:r>
          </a:p>
          <a:p>
            <a:pPr>
              <a:spcAft>
                <a:spcPts val="600"/>
              </a:spcAft>
            </a:pPr>
            <a:r>
              <a:rPr sz="1400" b="0">
                <a:solidFill>
                  <a:srgbClr val="262626"/>
                </a:solidFill>
                <a:latin typeface="Arial"/>
              </a:rPr>
              <a:t>•  Highest values cluster in Southern Africa and parts of Latin America</a:t>
            </a:r>
          </a:p>
        </p:txBody>
      </p:sp>
      <p:sp>
        <p:nvSpPr>
          <p:cNvPr id="7" name="Rectangle 6"/>
          <p:cNvSpPr/>
          <p:nvPr/>
        </p:nvSpPr>
        <p:spPr>
          <a:xfrm>
            <a:off x="3422904"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064" y="1874520"/>
            <a:ext cx="2206752" cy="4480560"/>
          </a:xfrm>
          <a:prstGeom prst="rect">
            <a:avLst/>
          </a:prstGeom>
          <a:noFill/>
        </p:spPr>
        <p:txBody>
          <a:bodyPr wrap="square">
            <a:spAutoFit/>
          </a:bodyPr>
          <a:lstStyle/>
          <a:p>
            <a:pPr>
              <a:spcAft>
                <a:spcPts val="800"/>
              </a:spcAft>
            </a:pPr>
            <a:r>
              <a:rPr sz="1600" b="1">
                <a:solidFill>
                  <a:srgbClr val="1B4F72"/>
                </a:solidFill>
                <a:latin typeface="Arial"/>
              </a:rPr>
              <a:t>GDP Growth Rate (2020)</a:t>
            </a:r>
          </a:p>
          <a:p>
            <a:pPr>
              <a:spcAft>
                <a:spcPts val="600"/>
              </a:spcAft>
            </a:pPr>
            <a:r>
              <a:rPr sz="1400" b="0">
                <a:solidFill>
                  <a:srgbClr val="262626"/>
                </a:solidFill>
                <a:latin typeface="Arial"/>
              </a:rPr>
              <a:t>•  Annual % change in GDP — shows the COVID-19 shock</a:t>
            </a:r>
          </a:p>
          <a:p>
            <a:pPr>
              <a:spcAft>
                <a:spcPts val="600"/>
              </a:spcAft>
            </a:pPr>
            <a:r>
              <a:rPr sz="1400" b="0">
                <a:solidFill>
                  <a:srgbClr val="262626"/>
                </a:solidFill>
                <a:latin typeface="Arial"/>
              </a:rPr>
              <a:t>•  Most of the world showed negative growth in 2020</a:t>
            </a:r>
          </a:p>
          <a:p>
            <a:pPr>
              <a:spcAft>
                <a:spcPts val="600"/>
              </a:spcAft>
            </a:pPr>
            <a:r>
              <a:rPr sz="1400" b="0">
                <a:solidFill>
                  <a:srgbClr val="262626"/>
                </a:solidFill>
                <a:latin typeface="Arial"/>
              </a:rPr>
              <a:t>•  A few countries (incl. parts of East/South Asia) still grew</a:t>
            </a:r>
          </a:p>
        </p:txBody>
      </p:sp>
      <p:sp>
        <p:nvSpPr>
          <p:cNvPr id="9" name="Rectangle 8"/>
          <p:cNvSpPr/>
          <p:nvPr/>
        </p:nvSpPr>
        <p:spPr>
          <a:xfrm>
            <a:off x="6022848"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60008" y="1874520"/>
            <a:ext cx="2206752" cy="4480560"/>
          </a:xfrm>
          <a:prstGeom prst="rect">
            <a:avLst/>
          </a:prstGeom>
          <a:noFill/>
        </p:spPr>
        <p:txBody>
          <a:bodyPr wrap="square">
            <a:spAutoFit/>
          </a:bodyPr>
          <a:lstStyle/>
          <a:p>
            <a:pPr>
              <a:spcAft>
                <a:spcPts val="800"/>
              </a:spcAft>
            </a:pPr>
            <a:r>
              <a:rPr sz="1600" b="1">
                <a:solidFill>
                  <a:srgbClr val="1B4F72"/>
                </a:solidFill>
                <a:latin typeface="Arial"/>
              </a:rPr>
              <a:t>Corruption Perceptions Index</a:t>
            </a:r>
          </a:p>
          <a:p>
            <a:pPr>
              <a:spcAft>
                <a:spcPts val="600"/>
              </a:spcAft>
            </a:pPr>
            <a:r>
              <a:rPr sz="1400" b="0">
                <a:solidFill>
                  <a:srgbClr val="262626"/>
                </a:solidFill>
                <a:latin typeface="Arial"/>
              </a:rPr>
              <a:t>•  Scores perceived public-sector corruption, 0 (highly corrupt) to 100 (very clean)</a:t>
            </a:r>
          </a:p>
          <a:p>
            <a:pPr>
              <a:spcAft>
                <a:spcPts val="600"/>
              </a:spcAft>
            </a:pPr>
            <a:r>
              <a:rPr sz="1400" b="0">
                <a:solidFill>
                  <a:srgbClr val="262626"/>
                </a:solidFill>
                <a:latin typeface="Arial"/>
              </a:rPr>
              <a:t>•  Worst-perceived: Somalia, Syria, South Sudan, North Korea, Afghanistan</a:t>
            </a:r>
          </a:p>
          <a:p>
            <a:pPr>
              <a:spcAft>
                <a:spcPts val="600"/>
              </a:spcAft>
            </a:pPr>
            <a:r>
              <a:rPr sz="1400" b="0">
                <a:solidFill>
                  <a:srgbClr val="262626"/>
                </a:solidFill>
                <a:latin typeface="Arial"/>
              </a:rPr>
              <a:t>•  Best-perceived: Denmark, New Zealand, Finland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PATTERNS</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Population &amp; Health Maps</a:t>
            </a:r>
          </a:p>
        </p:txBody>
      </p:sp>
      <p:sp>
        <p:nvSpPr>
          <p:cNvPr id="5" name="Rectangle 4"/>
          <p:cNvSpPr/>
          <p:nvPr/>
        </p:nvSpPr>
        <p:spPr>
          <a:xfrm>
            <a:off x="822960"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206752" cy="4480560"/>
          </a:xfrm>
          <a:prstGeom prst="rect">
            <a:avLst/>
          </a:prstGeom>
          <a:noFill/>
        </p:spPr>
        <p:txBody>
          <a:bodyPr wrap="square">
            <a:spAutoFit/>
          </a:bodyPr>
          <a:lstStyle/>
          <a:p>
            <a:pPr>
              <a:spcAft>
                <a:spcPts val="800"/>
              </a:spcAft>
            </a:pPr>
            <a:r>
              <a:rPr sz="1600" b="1">
                <a:solidFill>
                  <a:srgbClr val="1B4F72"/>
                </a:solidFill>
                <a:latin typeface="Arial"/>
              </a:rPr>
              <a:t>Infant Mortality</a:t>
            </a:r>
          </a:p>
          <a:p>
            <a:pPr>
              <a:spcAft>
                <a:spcPts val="600"/>
              </a:spcAft>
            </a:pPr>
            <a:r>
              <a:rPr sz="1400" b="0">
                <a:solidFill>
                  <a:srgbClr val="262626"/>
                </a:solidFill>
                <a:latin typeface="Arial"/>
              </a:rPr>
              <a:t>•  Highest (&gt;50 per 1,000) in Sub-Saharan Africa, e.g. Somalia, Mali</a:t>
            </a:r>
          </a:p>
          <a:p>
            <a:pPr>
              <a:spcAft>
                <a:spcPts val="600"/>
              </a:spcAft>
            </a:pPr>
            <a:r>
              <a:rPr sz="1400" b="0">
                <a:solidFill>
                  <a:srgbClr val="262626"/>
                </a:solidFill>
                <a:latin typeface="Arial"/>
              </a:rPr>
              <a:t>•  Lowest (&lt;5) across the Northern Hemisphere, plus Australia/NZ</a:t>
            </a:r>
          </a:p>
        </p:txBody>
      </p:sp>
      <p:sp>
        <p:nvSpPr>
          <p:cNvPr id="7" name="Rectangle 6"/>
          <p:cNvSpPr/>
          <p:nvPr/>
        </p:nvSpPr>
        <p:spPr>
          <a:xfrm>
            <a:off x="3422904"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064" y="1874520"/>
            <a:ext cx="2206752" cy="4480560"/>
          </a:xfrm>
          <a:prstGeom prst="rect">
            <a:avLst/>
          </a:prstGeom>
          <a:noFill/>
        </p:spPr>
        <p:txBody>
          <a:bodyPr wrap="square">
            <a:spAutoFit/>
          </a:bodyPr>
          <a:lstStyle/>
          <a:p>
            <a:pPr>
              <a:spcAft>
                <a:spcPts val="800"/>
              </a:spcAft>
            </a:pPr>
            <a:r>
              <a:rPr sz="1600" b="1">
                <a:solidFill>
                  <a:srgbClr val="1B4F72"/>
                </a:solidFill>
                <a:latin typeface="Arial"/>
              </a:rPr>
              <a:t>Fertility Rate</a:t>
            </a:r>
          </a:p>
          <a:p>
            <a:pPr>
              <a:spcAft>
                <a:spcPts val="600"/>
              </a:spcAft>
            </a:pPr>
            <a:r>
              <a:rPr sz="1400" b="0">
                <a:solidFill>
                  <a:srgbClr val="262626"/>
                </a:solidFill>
                <a:latin typeface="Arial"/>
              </a:rPr>
              <a:t>•  Highest (&gt;4.41 children/woman) in Sub-Saharan Africa, Afghanistan, Iraq</a:t>
            </a:r>
          </a:p>
          <a:p>
            <a:pPr>
              <a:spcAft>
                <a:spcPts val="600"/>
              </a:spcAft>
            </a:pPr>
            <a:r>
              <a:rPr sz="1400" b="0">
                <a:solidFill>
                  <a:srgbClr val="262626"/>
                </a:solidFill>
                <a:latin typeface="Arial"/>
              </a:rPr>
              <a:t>•  Lowest (&lt;1.90) in HICs/NEEs e.g. Italy, Brazil, China</a:t>
            </a:r>
          </a:p>
        </p:txBody>
      </p:sp>
      <p:sp>
        <p:nvSpPr>
          <p:cNvPr id="9" name="Rectangle 8"/>
          <p:cNvSpPr/>
          <p:nvPr/>
        </p:nvSpPr>
        <p:spPr>
          <a:xfrm>
            <a:off x="6022848" y="1737360"/>
            <a:ext cx="2481072" cy="4754880"/>
          </a:xfrm>
          <a:prstGeom prst="rect">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60008" y="1874520"/>
            <a:ext cx="2206752" cy="4480560"/>
          </a:xfrm>
          <a:prstGeom prst="rect">
            <a:avLst/>
          </a:prstGeom>
          <a:noFill/>
        </p:spPr>
        <p:txBody>
          <a:bodyPr wrap="square">
            <a:spAutoFit/>
          </a:bodyPr>
          <a:lstStyle/>
          <a:p>
            <a:pPr>
              <a:spcAft>
                <a:spcPts val="800"/>
              </a:spcAft>
            </a:pPr>
            <a:r>
              <a:rPr sz="1600" b="1">
                <a:solidFill>
                  <a:srgbClr val="1B4F72"/>
                </a:solidFill>
                <a:latin typeface="Arial"/>
              </a:rPr>
              <a:t>Population Growth</a:t>
            </a:r>
          </a:p>
          <a:p>
            <a:pPr>
              <a:spcAft>
                <a:spcPts val="600"/>
              </a:spcAft>
            </a:pPr>
            <a:r>
              <a:rPr sz="1400" b="0">
                <a:solidFill>
                  <a:srgbClr val="262626"/>
                </a:solidFill>
                <a:latin typeface="Arial"/>
              </a:rPr>
              <a:t>•  Highest (&gt;2.5%) in Sub-Saharan Africa and Oman</a:t>
            </a:r>
          </a:p>
          <a:p>
            <a:pPr>
              <a:spcAft>
                <a:spcPts val="600"/>
              </a:spcAft>
            </a:pPr>
            <a:r>
              <a:rPr sz="1400" b="0">
                <a:solidFill>
                  <a:srgbClr val="262626"/>
                </a:solidFill>
                <a:latin typeface="Arial"/>
              </a:rPr>
              <a:t>•  Negative growth in Portugal, Japan, Italy, Russia (low births, high deaths)</a:t>
            </a:r>
          </a:p>
          <a:p>
            <a:pPr>
              <a:spcAft>
                <a:spcPts val="600"/>
              </a:spcAft>
            </a:pPr>
            <a:r>
              <a:rPr sz="1400" b="0">
                <a:solidFill>
                  <a:srgbClr val="262626"/>
                </a:solidFill>
                <a:latin typeface="Arial"/>
              </a:rPr>
              <a:t>•  Notice the overlap: the same regions top all three maps — the DTM Stage 2 signature from Lesson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0040"/>
            <a:ext cx="7680960" cy="320040"/>
          </a:xfrm>
          <a:prstGeom prst="rect">
            <a:avLst/>
          </a:prstGeom>
          <a:noFill/>
        </p:spPr>
        <p:txBody>
          <a:bodyPr wrap="square">
            <a:spAutoFit/>
          </a:bodyPr>
          <a:lstStyle/>
          <a:p>
            <a:r>
              <a:rPr sz="1200" b="1">
                <a:solidFill>
                  <a:srgbClr val="1B4F72"/>
                </a:solidFill>
                <a:latin typeface="Arial"/>
              </a:rPr>
              <a:t>EXAM PRACTICE</a:t>
            </a:r>
          </a:p>
        </p:txBody>
      </p:sp>
      <p:sp>
        <p:nvSpPr>
          <p:cNvPr id="4" name="TextBox 3"/>
          <p:cNvSpPr txBox="1"/>
          <p:nvPr/>
        </p:nvSpPr>
        <p:spPr>
          <a:xfrm>
            <a:off x="822960" y="621792"/>
            <a:ext cx="7680960" cy="914400"/>
          </a:xfrm>
          <a:prstGeom prst="rect">
            <a:avLst/>
          </a:prstGeom>
          <a:noFill/>
        </p:spPr>
        <p:txBody>
          <a:bodyPr wrap="square">
            <a:spAutoFit/>
          </a:bodyPr>
          <a:lstStyle/>
          <a:p>
            <a:r>
              <a:rPr sz="3000" b="1">
                <a:solidFill>
                  <a:srgbClr val="1B4F72"/>
                </a:solidFill>
                <a:latin typeface="Verdana"/>
              </a:rPr>
              <a:t>Describe &amp; Explain</a:t>
            </a:r>
          </a:p>
        </p:txBody>
      </p:sp>
      <p:sp>
        <p:nvSpPr>
          <p:cNvPr id="5" name="Rectangle 4"/>
          <p:cNvSpPr/>
          <p:nvPr/>
        </p:nvSpPr>
        <p:spPr>
          <a:xfrm>
            <a:off x="822960" y="2011680"/>
            <a:ext cx="7680960" cy="2011680"/>
          </a:xfrm>
          <a:prstGeom prst="rect">
            <a:avLst/>
          </a:prstGeom>
          <a:solidFill>
            <a:srgbClr val="FFFFFF"/>
          </a:solidFill>
          <a:ln w="1905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7132320" cy="2011680"/>
          </a:xfrm>
          <a:prstGeom prst="rect">
            <a:avLst/>
          </a:prstGeom>
          <a:noFill/>
        </p:spPr>
        <p:txBody>
          <a:bodyPr wrap="square">
            <a:spAutoFit/>
          </a:bodyPr>
          <a:lstStyle/>
          <a:p>
            <a:pPr>
              <a:spcAft>
                <a:spcPts val="1000"/>
              </a:spcAft>
            </a:pPr>
            <a:r>
              <a:rPr sz="1900" b="1">
                <a:solidFill>
                  <a:srgbClr val="262626"/>
                </a:solidFill>
                <a:latin typeface="Arial"/>
              </a:rPr>
              <a:t>DESCRIBE the global pattern shown on the infant mortality rate map, then EXPLAIN one reason for the difference between the highest- and lowest-mortality regions.</a:t>
            </a:r>
          </a:p>
          <a:p>
            <a:r>
              <a:rPr sz="1400" b="0">
                <a:solidFill>
                  <a:srgbClr val="1B4F72"/>
                </a:solidFill>
                <a:latin typeface="Arial"/>
              </a:rPr>
              <a:t>(DESCRIBE = state where values are highest/lowest, using named regions. EXPLAIN = give the underlying cause — e.g. access to healthcare, income level.)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