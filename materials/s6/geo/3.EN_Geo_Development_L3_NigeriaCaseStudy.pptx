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GEOGRAPHY — THEME I: A COMPLEX GLOBAL WORLD — 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4F72"/>
                </a:solidFill>
                <a:latin typeface="Verdana"/>
              </a:rPr>
              <a:t>Case Study: Nigeria — A Newly Emerging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55555"/>
                </a:solidFill>
                <a:latin typeface="Arial"/>
              </a:rPr>
              <a:t>The world's 21st largest economy by 2014. But development for whom?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A Background to Nigeria's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Economic:</a:t>
            </a:r>
            <a:r>
              <a:rPr sz="1800" b="0">
                <a:solidFill>
                  <a:srgbClr val="262626"/>
                </a:solidFill>
                <a:latin typeface="Arial"/>
              </a:rPr>
              <a:t>  world's 21st largest economy (2014); supplies 2.7% of world oil production; oil accounts for the majority of government revenue despite employing relatively few people directly.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Social:</a:t>
            </a:r>
            <a:r>
              <a:rPr sz="1800" b="0">
                <a:solidFill>
                  <a:srgbClr val="262626"/>
                </a:solidFill>
                <a:latin typeface="Arial"/>
              </a:rPr>
              <a:t>  Nollywood is the world's 2nd largest film industry by output; culturally rich and diverse, with over 250 ethnic groups and 500+ languages.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Political:</a:t>
            </a:r>
            <a:r>
              <a:rPr sz="1800" b="0">
                <a:solidFill>
                  <a:srgbClr val="262626"/>
                </a:solidFill>
                <a:latin typeface="Arial"/>
              </a:rPr>
              <a:t>  5th-largest contributor to UN peacekeeping missions; one of Africa's fastest-growing economies, but governance and corruption remain major challenges.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4F72"/>
                </a:solidFill>
                <a:latin typeface="Arial"/>
              </a:rPr>
              <a:t>•  Challenges:</a:t>
            </a:r>
            <a:r>
              <a:rPr sz="1800" b="0">
                <a:solidFill>
                  <a:srgbClr val="262626"/>
                </a:solidFill>
                <a:latin typeface="Arial"/>
              </a:rPr>
              <a:t>  low productivity, land ownership issues, corruption, inadequate infrastructure, Boko Haram insurgency in the north.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Country Profile: Nigeria (1990-2020)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7680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792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Indicator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1990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2000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2010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Population (millions)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95.21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122.28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158.50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206.14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GNI per capita, Atlas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Life expectancy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Fertility rate (births/woman)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Poverty ratio (%, national 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56.4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40.1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What the Data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Population more than doubled 1990-2020, but GNI per capita growth has been slow and uneven.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Life expectancy rose (46 → 55) and fertility fell (6.5 → 5.3) — signs of demographic transition.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60% of the population still lived in poverty in the 2010s despite rapid GDP growth — growth hasn't 'trickled down' evenly.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THE HUMAN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Growth Without Even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Maternal mortality:</a:t>
            </a:r>
            <a:r>
              <a:rPr sz="1600" b="0">
                <a:solidFill>
                  <a:srgbClr val="262626"/>
                </a:solidFill>
                <a:latin typeface="Arial"/>
              </a:rPr>
              <a:t>  576 deaths per 100,000 live births (2020) — one of the highest rates in the world.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Child mortality:</a:t>
            </a:r>
            <a:r>
              <a:rPr sz="1600" b="0">
                <a:solidFill>
                  <a:srgbClr val="262626"/>
                </a:solidFill>
                <a:latin typeface="Arial"/>
              </a:rPr>
              <a:t>  56.22 deaths per 1,000 live births.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Education:</a:t>
            </a:r>
            <a:r>
              <a:rPr sz="1600" b="0">
                <a:solidFill>
                  <a:srgbClr val="262626"/>
                </a:solidFill>
                <a:latin typeface="Arial"/>
              </a:rPr>
              <a:t>  20 million children out of school (2022), up from 10 million in 2018.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Extreme poverty:</a:t>
            </a:r>
            <a:r>
              <a:rPr sz="1600" b="0">
                <a:solidFill>
                  <a:srgbClr val="262626"/>
                </a:solidFill>
                <a:latin typeface="Arial"/>
              </a:rPr>
              <a:t>  over 82 million Nigerians live on less than $1 a day.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Health system:</a:t>
            </a:r>
            <a:r>
              <a:rPr sz="1600" b="0">
                <a:solidFill>
                  <a:srgbClr val="262626"/>
                </a:solidFill>
                <a:latin typeface="Arial"/>
              </a:rPr>
              <a:t>  just 0.39 physicians per 1,000 people (World Bank, 2022) — far below the WHO's recommended minimum of 2.5, behind India (0.78), though still ahead of Tanzania (0.04) and Malawi (0.02).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•  The bigger picture:</a:t>
            </a:r>
            <a:r>
              <a:rPr sz="1600" b="0">
                <a:solidFill>
                  <a:srgbClr val="262626"/>
                </a:solidFill>
                <a:latin typeface="Arial"/>
              </a:rPr>
              <a:t>  84.5% of people in Sub-Saharan Africa live on less than $5.50 a day — even a HIC like the USA still has 3.7 million people (1.2%) in extreme poverty.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TRANSNATIONAL CORPORATIONS (TNCs)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The Impact of TNCs on Nigeria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78104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35067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Advantages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Job opportunities &amp; new skills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Investment in infrastructure &amp; education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Economic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1737360"/>
            <a:ext cx="3781044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36" y="1874520"/>
            <a:ext cx="350672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4F72"/>
                </a:solidFill>
                <a:latin typeface="Arial"/>
              </a:rPr>
              <a:t>Disadvantages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Low wages, exploitation risk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Poor working conditions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Profits repatriated abroad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•  Shell: oil spills, pollution, gas flaring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EXAM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Evaluate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7680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Arial"/>
              </a:rPr>
              <a:t>Evaluate the extent to which Nigeria can be considered a 'developed' country, using both quantitative and qualitative evidence from this case study.</a:t>
            </a:r>
          </a:p>
          <a:p>
            <a:r>
              <a:rPr sz="1400" b="0">
                <a:solidFill>
                  <a:srgbClr val="1B4F72"/>
                </a:solidFill>
                <a:latin typeface="Arial"/>
              </a:rPr>
              <a:t>(EVALUATE = balanced +/- argument → conclusion, per the command words)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