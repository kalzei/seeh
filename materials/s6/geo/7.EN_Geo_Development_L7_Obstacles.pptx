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53.xml.rels" ContentType="application/vnd.openxmlformats-package.relationships+xml"/>
  <Override PartName="/ppt/slides/_rels/slide52.xml.rels" ContentType="application/vnd.openxmlformats-package.relationships+xml"/>
  <Override PartName="/ppt/slides/_rels/slide51.xml.rels" ContentType="application/vnd.openxmlformats-package.relationships+xml"/>
  <Override PartName="/ppt/slides/_rels/slide13.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2.xml.rels" ContentType="application/vnd.openxmlformats-package.relationships+xml"/>
  <Override PartName="/ppt/slides/_rels/slide49.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50.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42.xml" ContentType="application/vnd.openxmlformats-officedocument.presentationml.slide+xml"/>
  <Override PartName="/ppt/slides/slide54.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12.png" ContentType="image/png"/>
  <Override PartName="/ppt/media/image3.png" ContentType="image/png"/>
  <Override PartName="/ppt/media/image19.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2.png" ContentType="image/png"/>
  <Override PartName="/ppt/media/image11.png" ContentType="image/png"/>
  <Override PartName="/ppt/media/image17.png" ContentType="image/png"/>
  <Override PartName="/ppt/media/image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7EF4143-F6FD-49B7-A21E-80BDDD5CA926}"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74679B16-D65F-4C16-A0E9-B23793FD46BA}"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282E6D84-11FF-4B22-941B-2AFEC8EFC469}"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3041BD7D-BE8E-4F74-B709-A528C094CE85}"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F40632BF-3B4A-419B-8020-0270CC7F1AF5}"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24CAEFC5-DF88-44D8-BF31-2A52EB73EA14}"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20A7D778-71CD-4527-8DE1-6CF6BFEBCE9D}"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CBA9DD09-9024-4378-9C10-E1C303DEF68F}"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06BDCDDC-C1E5-4C70-8DF9-70C0F148E047}"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2FD77360-A023-4BE3-9B68-D4F3383B1492}"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2B88A63F-B052-423A-9EC9-B1CBEAFA27E1}"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FBC3455E-BA8C-420B-967F-08FA2F6B311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0538EF2-CD5B-4CAE-82B0-6E4AF35E38D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B3F6FCD-AEB7-4F10-930A-3D9307776CC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549FFAA-02BB-4507-A1A0-F7EDDAC6499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2D5769A5-D885-481C-88DC-367C5B3FBA7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94A8D51-B652-4E5C-91CB-3A0706A3021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591D711-60B8-4D95-AB9F-2C35B390B76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EC7E425-2A55-43C5-A1A7-0BB84D68C17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12A5DBB-BF5B-44DA-97C7-DCC1180C7D6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EC83AE2-E3E4-428A-A6EB-3A52BE2DE88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6648B35-77F5-45BC-AA2D-8BCAA3E35E1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9.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9.xml"/>
</Relationships>
</file>

<file path=ppt/slides/_rels/slide4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9.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9.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GEOGRAPHY — THEME I: A COMPLEX GLOBAL WORLD — Lesson 7</a:t>
            </a:r>
            <a:endParaRPr b="0" lang="en-US" sz="1200" spc="-1" strike="noStrike">
              <a:solidFill>
                <a:srgbClr val="000000"/>
              </a:solidFill>
              <a:latin typeface="Arial"/>
            </a:endParaRPr>
          </a:p>
        </p:txBody>
      </p:sp>
      <p:sp>
        <p:nvSpPr>
          <p:cNvPr id="52" name="TextBox 3"/>
          <p:cNvSpPr/>
          <p:nvPr/>
        </p:nvSpPr>
        <p:spPr>
          <a:xfrm>
            <a:off x="822960" y="621720"/>
            <a:ext cx="767988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1b4f72"/>
                </a:solidFill>
                <a:latin typeface="Verdana"/>
              </a:rPr>
              <a:t>What Stands in the Way? Obstacles to Development</a:t>
            </a:r>
            <a:endParaRPr b="0" lang="en-US" sz="3600" spc="-1" strike="noStrike">
              <a:solidFill>
                <a:srgbClr val="000000"/>
              </a:solidFill>
              <a:latin typeface="Arial"/>
            </a:endParaRPr>
          </a:p>
        </p:txBody>
      </p:sp>
      <p:sp>
        <p:nvSpPr>
          <p:cNvPr id="53" name="TextBox 4"/>
          <p:cNvSpPr/>
          <p:nvPr/>
        </p:nvSpPr>
        <p:spPr>
          <a:xfrm>
            <a:off x="822960" y="2926080"/>
            <a:ext cx="7679880" cy="668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900" spc="-1" strike="noStrike">
                <a:solidFill>
                  <a:srgbClr val="555555"/>
                </a:solidFill>
                <a:latin typeface="Arial"/>
              </a:rPr>
              <a:t>Four categories of obstacle, then six case studies: Haiti, Nigeria, the DRC, climate, Mexico, and the two Koreas.</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RECAP</a:t>
            </a:r>
            <a:endParaRPr b="0" lang="en-US" sz="1200" spc="-1" strike="noStrike">
              <a:solidFill>
                <a:srgbClr val="000000"/>
              </a:solidFill>
              <a:latin typeface="Arial"/>
            </a:endParaRPr>
          </a:p>
        </p:txBody>
      </p:sp>
      <p:sp>
        <p:nvSpPr>
          <p:cNvPr id="56"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Quick Recap</a:t>
            </a:r>
            <a:endParaRPr b="0" lang="en-US" sz="3000" spc="-1" strike="noStrike">
              <a:solidFill>
                <a:srgbClr val="000000"/>
              </a:solidFill>
              <a:latin typeface="Arial"/>
            </a:endParaRPr>
          </a:p>
        </p:txBody>
      </p:sp>
      <p:sp>
        <p:nvSpPr>
          <p:cNvPr id="57" name="TextBox 4"/>
          <p:cNvSpPr/>
          <p:nvPr/>
        </p:nvSpPr>
        <p:spPr>
          <a:xfrm>
            <a:off x="822960" y="1737360"/>
            <a:ext cx="7679880" cy="217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2000" spc="-1" strike="noStrike">
                <a:solidFill>
                  <a:srgbClr val="1b4f72"/>
                </a:solidFill>
                <a:latin typeface="Arial"/>
              </a:rPr>
              <a:t>•  </a:t>
            </a:r>
            <a:r>
              <a:rPr b="1" lang="en-US" sz="2000" spc="-1" strike="noStrike">
                <a:solidFill>
                  <a:srgbClr val="1b4f72"/>
                </a:solidFill>
                <a:latin typeface="Arial"/>
              </a:rPr>
              <a:t>Last lesson:</a:t>
            </a:r>
            <a:r>
              <a:rPr b="0" lang="en-US" sz="2000" spc="-1" strike="noStrike">
                <a:solidFill>
                  <a:srgbClr val="262626"/>
                </a:solidFill>
                <a:latin typeface="Arial"/>
              </a:rPr>
              <a:t>  we looked at theories of development and the organisations trying to influence it.</a:t>
            </a:r>
            <a:endParaRPr b="0" lang="en-US" sz="2000" spc="-1" strike="noStrike">
              <a:solidFill>
                <a:srgbClr val="000000"/>
              </a:solidFill>
              <a:latin typeface="Arial"/>
            </a:endParaRPr>
          </a:p>
          <a:p>
            <a:pPr defTabSz="457200">
              <a:lnSpc>
                <a:spcPct val="100000"/>
              </a:lnSpc>
              <a:spcAft>
                <a:spcPts val="1001"/>
              </a:spcAft>
            </a:pPr>
            <a:r>
              <a:rPr b="1" lang="en-US" sz="2000" spc="-1" strike="noStrike">
                <a:solidFill>
                  <a:srgbClr val="1b4f72"/>
                </a:solidFill>
                <a:latin typeface="Arial"/>
              </a:rPr>
              <a:t>•  </a:t>
            </a:r>
            <a:r>
              <a:rPr b="1" lang="en-US" sz="2000" spc="-1" strike="noStrike">
                <a:solidFill>
                  <a:srgbClr val="1b4f72"/>
                </a:solidFill>
                <a:latin typeface="Arial"/>
              </a:rPr>
              <a:t>Today:</a:t>
            </a:r>
            <a:r>
              <a:rPr b="0" lang="en-US" sz="2000" spc="-1" strike="noStrike">
                <a:solidFill>
                  <a:srgbClr val="262626"/>
                </a:solidFill>
                <a:latin typeface="Arial"/>
              </a:rPr>
              <a:t>  what actually blocks development in the first place — and why the same regions keep showing up as 'least developed.'</a:t>
            </a:r>
            <a:endParaRPr b="0" lang="en-US" sz="2000" spc="-1" strike="noStrike">
              <a:solidFill>
                <a:srgbClr val="000000"/>
              </a:solidFill>
              <a:latin typeface="Arial"/>
            </a:endParaRPr>
          </a:p>
          <a:p>
            <a:pPr defTabSz="457200">
              <a:lnSpc>
                <a:spcPct val="100000"/>
              </a:lnSpc>
              <a:spcAft>
                <a:spcPts val="1001"/>
              </a:spcAft>
            </a:pPr>
            <a:r>
              <a:rPr b="1" lang="en-US" sz="2000" spc="-1" strike="noStrike">
                <a:solidFill>
                  <a:srgbClr val="1b4f72"/>
                </a:solidFill>
                <a:latin typeface="Arial"/>
              </a:rPr>
              <a:t>•  </a:t>
            </a:r>
            <a:r>
              <a:rPr b="1" lang="en-US" sz="2000" spc="-1" strike="noStrike">
                <a:solidFill>
                  <a:srgbClr val="1b4f72"/>
                </a:solidFill>
                <a:latin typeface="Arial"/>
              </a:rPr>
              <a:t>Then:</a:t>
            </a:r>
            <a:r>
              <a:rPr b="0" lang="en-US" sz="2000" spc="-1" strike="noStrike">
                <a:solidFill>
                  <a:srgbClr val="262626"/>
                </a:solidFill>
                <a:latin typeface="Arial"/>
              </a:rPr>
              <a:t>  six real places, to see the obstacles working together rather than one at a time.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9"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THE CATEGORIES</a:t>
            </a:r>
            <a:endParaRPr b="0" lang="en-US" sz="1200" spc="-1" strike="noStrike">
              <a:solidFill>
                <a:srgbClr val="000000"/>
              </a:solidFill>
              <a:latin typeface="Arial"/>
            </a:endParaRPr>
          </a:p>
        </p:txBody>
      </p:sp>
      <p:sp>
        <p:nvSpPr>
          <p:cNvPr id="60"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Four Types of Obstacle</a:t>
            </a:r>
            <a:endParaRPr b="0" lang="en-US" sz="3000" spc="-1" strike="noStrike">
              <a:solidFill>
                <a:srgbClr val="000000"/>
              </a:solidFill>
              <a:latin typeface="Arial"/>
            </a:endParaRPr>
          </a:p>
        </p:txBody>
      </p:sp>
      <p:sp>
        <p:nvSpPr>
          <p:cNvPr id="61" name="Rectangle 4"/>
          <p:cNvSpPr/>
          <p:nvPr/>
        </p:nvSpPr>
        <p:spPr>
          <a:xfrm>
            <a:off x="822960" y="1737360"/>
            <a:ext cx="1829880" cy="47538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2" name="TextBox 5"/>
          <p:cNvSpPr/>
          <p:nvPr/>
        </p:nvSpPr>
        <p:spPr>
          <a:xfrm>
            <a:off x="960120" y="1874520"/>
            <a:ext cx="1555560" cy="1928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Historical</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Colonialism, wealth extraction</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Post-independence conflict</a:t>
            </a:r>
            <a:endParaRPr b="0" lang="en-US" sz="1500" spc="-1" strike="noStrike">
              <a:solidFill>
                <a:srgbClr val="000000"/>
              </a:solidFill>
              <a:latin typeface="Arial"/>
            </a:endParaRPr>
          </a:p>
        </p:txBody>
      </p:sp>
      <p:sp>
        <p:nvSpPr>
          <p:cNvPr id="63" name="Rectangle 6"/>
          <p:cNvSpPr/>
          <p:nvPr/>
        </p:nvSpPr>
        <p:spPr>
          <a:xfrm>
            <a:off x="2773080" y="1737360"/>
            <a:ext cx="1829880" cy="47538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 name="TextBox 7"/>
          <p:cNvSpPr/>
          <p:nvPr/>
        </p:nvSpPr>
        <p:spPr>
          <a:xfrm>
            <a:off x="2910240" y="1874520"/>
            <a:ext cx="1555560" cy="2233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Physical</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Extreme weather, drought</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Landlocked status</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Natural disasters</a:t>
            </a:r>
            <a:endParaRPr b="0" lang="en-US" sz="1500" spc="-1" strike="noStrike">
              <a:solidFill>
                <a:srgbClr val="000000"/>
              </a:solidFill>
              <a:latin typeface="Arial"/>
            </a:endParaRPr>
          </a:p>
        </p:txBody>
      </p:sp>
      <p:sp>
        <p:nvSpPr>
          <p:cNvPr id="65" name="Rectangle 8"/>
          <p:cNvSpPr/>
          <p:nvPr/>
        </p:nvSpPr>
        <p:spPr>
          <a:xfrm>
            <a:off x="4722840" y="1737360"/>
            <a:ext cx="1829880" cy="47538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6" name="TextBox 9"/>
          <p:cNvSpPr/>
          <p:nvPr/>
        </p:nvSpPr>
        <p:spPr>
          <a:xfrm>
            <a:off x="4860000" y="1874520"/>
            <a:ext cx="1555560" cy="2662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Economic</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Unfair trade terms</a:t>
            </a:r>
            <a:endParaRPr b="0" lang="en-US" sz="1500" spc="-1" strike="noStrike">
              <a:solidFill>
                <a:srgbClr val="000000"/>
              </a:solidFill>
              <a:latin typeface="Arial"/>
            </a:endParaRPr>
          </a:p>
          <a:p>
            <a:pPr defTabSz="457200">
              <a:lnSpc>
                <a:spcPct val="100000"/>
              </a:lnSpc>
              <a:spcBef>
                <a:spcPts val="1191"/>
              </a:spcBef>
              <a:spcAft>
                <a:spcPts val="992"/>
              </a:spcAft>
            </a:pPr>
            <a:r>
              <a:rPr b="0" lang="en-US" sz="1500" spc="-1" strike="noStrike">
                <a:solidFill>
                  <a:srgbClr val="262626"/>
                </a:solidFill>
                <a:latin typeface="Arial"/>
              </a:rPr>
              <a:t>•  </a:t>
            </a:r>
            <a:r>
              <a:rPr b="0" lang="en-US" sz="1500" spc="-1" strike="noStrike">
                <a:solidFill>
                  <a:srgbClr val="262626"/>
                </a:solidFill>
                <a:latin typeface="Arial"/>
              </a:rPr>
              <a:t>TNC (Transnational Corporations) dominance</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Raw-material dependency</a:t>
            </a:r>
            <a:endParaRPr b="0" lang="en-US" sz="1500" spc="-1" strike="noStrike">
              <a:solidFill>
                <a:srgbClr val="000000"/>
              </a:solidFill>
              <a:latin typeface="Arial"/>
            </a:endParaRPr>
          </a:p>
        </p:txBody>
      </p:sp>
      <p:sp>
        <p:nvSpPr>
          <p:cNvPr id="67" name="Rectangle 10"/>
          <p:cNvSpPr/>
          <p:nvPr/>
        </p:nvSpPr>
        <p:spPr>
          <a:xfrm>
            <a:off x="6672960" y="1737360"/>
            <a:ext cx="1829880" cy="47538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8" name="TextBox 11"/>
          <p:cNvSpPr/>
          <p:nvPr/>
        </p:nvSpPr>
        <p:spPr>
          <a:xfrm>
            <a:off x="6810120" y="1874520"/>
            <a:ext cx="1555560" cy="1547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Political</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Instability</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Corruption</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Weak institutions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0"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THE BIG PICTURE</a:t>
            </a:r>
            <a:endParaRPr b="0" lang="en-US" sz="1200" spc="-1" strike="noStrike">
              <a:solidFill>
                <a:srgbClr val="000000"/>
              </a:solidFill>
              <a:latin typeface="Arial"/>
            </a:endParaRPr>
          </a:p>
        </p:txBody>
      </p:sp>
      <p:sp>
        <p:nvSpPr>
          <p:cNvPr id="71"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The Causes of Uneven Development</a:t>
            </a:r>
            <a:endParaRPr b="0" lang="en-US" sz="3000" spc="-1" strike="noStrike">
              <a:solidFill>
                <a:srgbClr val="000000"/>
              </a:solidFill>
              <a:latin typeface="Arial"/>
            </a:endParaRPr>
          </a:p>
        </p:txBody>
      </p:sp>
      <p:pic>
        <p:nvPicPr>
          <p:cNvPr id="72" name="Picture 4" descr="p24_mindmap.png"/>
          <p:cNvPicPr/>
          <p:nvPr/>
        </p:nvPicPr>
        <p:blipFill>
          <a:blip r:embed="rId1"/>
          <a:stretch/>
        </p:blipFill>
        <p:spPr>
          <a:xfrm>
            <a:off x="1054800" y="1645920"/>
            <a:ext cx="7215840" cy="4570920"/>
          </a:xfrm>
          <a:prstGeom prst="rect">
            <a:avLst/>
          </a:prstGeom>
          <a:ln w="0">
            <a:noFill/>
          </a:ln>
        </p:spPr>
      </p:pic>
      <p:sp>
        <p:nvSpPr>
          <p:cNvPr id="73" name="TextBox 5"/>
          <p:cNvSpPr/>
          <p:nvPr/>
        </p:nvSpPr>
        <p:spPr>
          <a:xfrm>
            <a:off x="822960" y="6309360"/>
            <a:ext cx="76798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400" spc="-1" strike="noStrike">
                <a:solidFill>
                  <a:srgbClr val="555555"/>
                </a:solidFill>
                <a:latin typeface="Arial"/>
              </a:rPr>
              <a:t>Obstacles are rarely single causes — 'usually a combination of these factors leads to low levels of development.'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NATURAL CONSTRAINT</a:t>
            </a:r>
            <a:endParaRPr b="0" lang="en-US" sz="1200" spc="-1" strike="noStrike">
              <a:solidFill>
                <a:srgbClr val="000000"/>
              </a:solidFill>
              <a:latin typeface="Arial"/>
            </a:endParaRPr>
          </a:p>
        </p:txBody>
      </p:sp>
      <p:sp>
        <p:nvSpPr>
          <p:cNvPr id="76"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Landlocked Countries</a:t>
            </a:r>
            <a:endParaRPr b="0" lang="en-US" sz="3000" spc="-1" strike="noStrike">
              <a:solidFill>
                <a:srgbClr val="000000"/>
              </a:solidFill>
              <a:latin typeface="Arial"/>
            </a:endParaRPr>
          </a:p>
        </p:txBody>
      </p:sp>
      <p:sp>
        <p:nvSpPr>
          <p:cNvPr id="77" name="TextBox 4"/>
          <p:cNvSpPr/>
          <p:nvPr/>
        </p:nvSpPr>
        <p:spPr>
          <a:xfrm>
            <a:off x="822960" y="1737360"/>
            <a:ext cx="7679880" cy="336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900" spc="-1" strike="noStrike">
                <a:solidFill>
                  <a:srgbClr val="262626"/>
                </a:solidFill>
                <a:latin typeface="Arial"/>
              </a:rPr>
              <a:t>•  </a:t>
            </a:r>
            <a:r>
              <a:rPr b="0" lang="en-US" sz="1900" spc="-1" strike="noStrike">
                <a:solidFill>
                  <a:srgbClr val="262626"/>
                </a:solidFill>
                <a:latin typeface="Arial"/>
              </a:rPr>
              <a:t>Being landlocked cuts a country off from direct sea trade — goods must cross a neighbour's territory, adding cost, delay, and political risk.</a:t>
            </a:r>
            <a:endParaRPr b="0" lang="en-US" sz="1900" spc="-1" strike="noStrike">
              <a:solidFill>
                <a:srgbClr val="000000"/>
              </a:solidFill>
              <a:latin typeface="Arial"/>
            </a:endParaRPr>
          </a:p>
          <a:p>
            <a:pPr defTabSz="457200">
              <a:lnSpc>
                <a:spcPct val="100000"/>
              </a:lnSpc>
              <a:spcAft>
                <a:spcPts val="1001"/>
              </a:spcAft>
            </a:pPr>
            <a:r>
              <a:rPr b="1" lang="en-US" sz="1900" spc="-1" strike="noStrike">
                <a:solidFill>
                  <a:srgbClr val="1b4f72"/>
                </a:solidFill>
                <a:latin typeface="Arial"/>
              </a:rPr>
              <a:t>•  </a:t>
            </a:r>
            <a:r>
              <a:rPr b="1" lang="en-US" sz="1900" spc="-1" strike="noStrike">
                <a:solidFill>
                  <a:srgbClr val="1b4f72"/>
                </a:solidFill>
                <a:latin typeface="Arial"/>
              </a:rPr>
              <a:t>Where:</a:t>
            </a:r>
            <a:r>
              <a:rPr b="0" lang="en-US" sz="1900" spc="-1" strike="noStrike">
                <a:solidFill>
                  <a:srgbClr val="262626"/>
                </a:solidFill>
                <a:latin typeface="Arial"/>
              </a:rPr>
              <a:t>  most of the world's landlocked countries are in Africa (e.g. Niger, Chad, Mali, Uganda).</a:t>
            </a:r>
            <a:endParaRPr b="0" lang="en-US" sz="1900" spc="-1" strike="noStrike">
              <a:solidFill>
                <a:srgbClr val="000000"/>
              </a:solidFill>
              <a:latin typeface="Arial"/>
            </a:endParaRPr>
          </a:p>
          <a:p>
            <a:pPr defTabSz="457200">
              <a:lnSpc>
                <a:spcPct val="100000"/>
              </a:lnSpc>
              <a:spcAft>
                <a:spcPts val="1001"/>
              </a:spcAft>
            </a:pPr>
            <a:r>
              <a:rPr b="1" lang="en-US" sz="1900" spc="-1" strike="noStrike">
                <a:solidFill>
                  <a:srgbClr val="1b4f72"/>
                </a:solidFill>
                <a:latin typeface="Arial"/>
              </a:rPr>
              <a:t>•  </a:t>
            </a:r>
            <a:r>
              <a:rPr b="1" lang="en-US" sz="1900" spc="-1" strike="noStrike">
                <a:solidFill>
                  <a:srgbClr val="1b4f72"/>
                </a:solidFill>
                <a:latin typeface="Arial"/>
              </a:rPr>
              <a:t>Effect:</a:t>
            </a:r>
            <a:r>
              <a:rPr b="0" lang="en-US" sz="1900" spc="-1" strike="noStrike">
                <a:solidFill>
                  <a:srgbClr val="262626"/>
                </a:solidFill>
                <a:latin typeface="Arial"/>
              </a:rPr>
              <a:t>  higher transport costs eat into export profits; disputes with transit neighbours can halt trade entirely; landlocked countries are statistically more prone to conflict.</a:t>
            </a:r>
            <a:endParaRPr b="0" lang="en-US" sz="1900" spc="-1" strike="noStrike">
              <a:solidFill>
                <a:srgbClr val="000000"/>
              </a:solidFill>
              <a:latin typeface="Arial"/>
            </a:endParaRPr>
          </a:p>
          <a:p>
            <a:pPr defTabSz="457200">
              <a:lnSpc>
                <a:spcPct val="100000"/>
              </a:lnSpc>
              <a:spcAft>
                <a:spcPts val="1001"/>
              </a:spcAft>
            </a:pPr>
            <a:r>
              <a:rPr b="1" lang="en-US" sz="1900" spc="-1" strike="noStrike">
                <a:solidFill>
                  <a:srgbClr val="1b4f72"/>
                </a:solidFill>
                <a:latin typeface="Arial"/>
              </a:rPr>
              <a:t>•  </a:t>
            </a:r>
            <a:r>
              <a:rPr b="1" lang="en-US" sz="1900" spc="-1" strike="noStrike">
                <a:solidFill>
                  <a:srgbClr val="1b4f72"/>
                </a:solidFill>
                <a:latin typeface="Arial"/>
              </a:rPr>
              <a:t>Link back:</a:t>
            </a:r>
            <a:r>
              <a:rPr b="0" lang="en-US" sz="1900" spc="-1" strike="noStrike">
                <a:solidFill>
                  <a:srgbClr val="262626"/>
                </a:solidFill>
                <a:latin typeface="Arial"/>
              </a:rPr>
              <a:t>  Mali (Lesson 5) is landlocked AND 80% primary-sector — the two disadvantages compound each other.</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9"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NATURAL CONSTRAINT</a:t>
            </a:r>
            <a:endParaRPr b="0" lang="en-US" sz="1200" spc="-1" strike="noStrike">
              <a:solidFill>
                <a:srgbClr val="000000"/>
              </a:solidFill>
              <a:latin typeface="Arial"/>
            </a:endParaRPr>
          </a:p>
        </p:txBody>
      </p:sp>
      <p:sp>
        <p:nvSpPr>
          <p:cNvPr id="80"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Where the Landlocked Countries Are</a:t>
            </a:r>
            <a:endParaRPr b="0" lang="en-US" sz="3000" spc="-1" strike="noStrike">
              <a:solidFill>
                <a:srgbClr val="000000"/>
              </a:solidFill>
              <a:latin typeface="Arial"/>
            </a:endParaRPr>
          </a:p>
        </p:txBody>
      </p:sp>
      <p:sp>
        <p:nvSpPr>
          <p:cNvPr id="81" name="TextBox 4"/>
          <p:cNvSpPr/>
          <p:nvPr/>
        </p:nvSpPr>
        <p:spPr>
          <a:xfrm>
            <a:off x="822960" y="1783080"/>
            <a:ext cx="4072680" cy="3581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Landlocked countries are surrounded by other countries and have no access to seas or oceans.</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They are cut off from seaborne trade, which limits their opportunity to develop their economies.</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Having more neighbouring countries also increases the risk of conflict over borders.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Africa: 16</a:t>
            </a:r>
            <a:r>
              <a:rPr b="0" lang="en-US" sz="1700" spc="-1" strike="noStrike">
                <a:solidFill>
                  <a:srgbClr val="262626"/>
                </a:solidFill>
                <a:latin typeface="Arial"/>
              </a:rPr>
              <a:t>  more of the world's largest landlocked countries than any other continent.</a:t>
            </a:r>
            <a:endParaRPr b="0" lang="en-US" sz="1700" spc="-1" strike="noStrike">
              <a:solidFill>
                <a:srgbClr val="000000"/>
              </a:solidFill>
              <a:latin typeface="Arial"/>
            </a:endParaRPr>
          </a:p>
        </p:txBody>
      </p:sp>
      <p:pic>
        <p:nvPicPr>
          <p:cNvPr id="82" name="Picture 5" descr="p24_landlocked.png"/>
          <p:cNvPicPr/>
          <p:nvPr/>
        </p:nvPicPr>
        <p:blipFill>
          <a:blip r:embed="rId1"/>
          <a:stretch/>
        </p:blipFill>
        <p:spPr>
          <a:xfrm>
            <a:off x="5171040" y="2589120"/>
            <a:ext cx="3331800" cy="2501640"/>
          </a:xfrm>
          <a:prstGeom prst="rect">
            <a:avLst/>
          </a:prstGeom>
          <a:ln w="0">
            <a:noFill/>
          </a:ln>
        </p:spPr>
      </p:pic>
      <p:sp>
        <p:nvSpPr>
          <p:cNvPr id="83" name="TextBox 6"/>
          <p:cNvSpPr/>
          <p:nvPr/>
        </p:nvSpPr>
        <p:spPr>
          <a:xfrm>
            <a:off x="5171040" y="5989320"/>
            <a:ext cx="333180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300" spc="-1" strike="noStrike">
                <a:solidFill>
                  <a:srgbClr val="555555"/>
                </a:solidFill>
                <a:latin typeface="Arial"/>
              </a:rPr>
              <a:t>Source: Largest Landlocked Countries, WorldAtlas 2023. The figures count the largest landlocked states per continent, not every one.</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5"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HUMAN CONSTRAINT</a:t>
            </a:r>
            <a:endParaRPr b="0" lang="en-US" sz="1200" spc="-1" strike="noStrike">
              <a:solidFill>
                <a:srgbClr val="000000"/>
              </a:solidFill>
              <a:latin typeface="Arial"/>
            </a:endParaRPr>
          </a:p>
        </p:txBody>
      </p:sp>
      <p:sp>
        <p:nvSpPr>
          <p:cNvPr id="86"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Corruption &amp; Bad Governance</a:t>
            </a:r>
            <a:endParaRPr b="0" lang="en-US" sz="3000" spc="-1" strike="noStrike">
              <a:solidFill>
                <a:srgbClr val="000000"/>
              </a:solidFill>
              <a:latin typeface="Arial"/>
            </a:endParaRPr>
          </a:p>
        </p:txBody>
      </p:sp>
      <p:sp>
        <p:nvSpPr>
          <p:cNvPr id="87" name="TextBox 4"/>
          <p:cNvSpPr/>
          <p:nvPr/>
        </p:nvSpPr>
        <p:spPr>
          <a:xfrm>
            <a:off x="822960" y="1737360"/>
            <a:ext cx="7679880" cy="3488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Recap:</a:t>
            </a:r>
            <a:r>
              <a:rPr b="0" lang="en-US" sz="1800" spc="-1" strike="noStrike">
                <a:solidFill>
                  <a:srgbClr val="262626"/>
                </a:solidFill>
                <a:latin typeface="Arial"/>
              </a:rPr>
              <a:t>  the Corruption Perceptions Index (Lesson 4) scores perceived public-sector corruption, 0-100 (higher = cleaner).</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Worst-perceived:</a:t>
            </a:r>
            <a:r>
              <a:rPr b="0" lang="en-US" sz="1800" spc="-1" strike="noStrike">
                <a:solidFill>
                  <a:srgbClr val="262626"/>
                </a:solidFill>
                <a:latin typeface="Arial"/>
              </a:rPr>
              <a:t>  Somalia, Syria, South Sudan, North Korea, Afghanistan.  Best-perceived: Denmark, New Zealand, Finland.</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Effect:</a:t>
            </a:r>
            <a:r>
              <a:rPr b="0" lang="en-US" sz="1800" spc="-1" strike="noStrike">
                <a:solidFill>
                  <a:srgbClr val="262626"/>
                </a:solidFill>
                <a:latin typeface="Arial"/>
              </a:rPr>
              <a:t>  corruption diverts aid &amp; tax revenue away from healthcare / education / infrastructure; investors avoid high-corruption countries, slowing growth.</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Link back:</a:t>
            </a:r>
            <a:r>
              <a:rPr b="0" lang="en-US" sz="1800" spc="-1" strike="noStrike">
                <a:solidFill>
                  <a:srgbClr val="262626"/>
                </a:solidFill>
                <a:latin typeface="Arial"/>
              </a:rPr>
              <a:t>  Nigeria (Lesson 3) — corruption is a key listed challenge despite being Africa's largest economy; growth hasn't reached most citizens partly because of governance failures, not just a lack of resources.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HUMAN CONSTRAINT</a:t>
            </a:r>
            <a:endParaRPr b="0" lang="en-US" sz="1200" spc="-1" strike="noStrike">
              <a:solidFill>
                <a:srgbClr val="000000"/>
              </a:solidFill>
              <a:latin typeface="Arial"/>
            </a:endParaRPr>
          </a:p>
        </p:txBody>
      </p:sp>
      <p:sp>
        <p:nvSpPr>
          <p:cNvPr id="90"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Corruption Perceptions Index, 2018</a:t>
            </a:r>
            <a:endParaRPr b="0" lang="en-US" sz="3000" spc="-1" strike="noStrike">
              <a:solidFill>
                <a:srgbClr val="000000"/>
              </a:solidFill>
              <a:latin typeface="Arial"/>
            </a:endParaRPr>
          </a:p>
        </p:txBody>
      </p:sp>
      <p:sp>
        <p:nvSpPr>
          <p:cNvPr id="91" name="TextBox 4"/>
          <p:cNvSpPr/>
          <p:nvPr/>
        </p:nvSpPr>
        <p:spPr>
          <a:xfrm>
            <a:off x="4430160" y="1783080"/>
            <a:ext cx="4072680" cy="3322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The least developed countries tend to have the highest levels of perceived corruption.</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Corruption is reported as most widespread in parts of Africa, Asia and South America.</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Denmark, Finland and New Zealand score best — and all are HICs.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DESCRIBE it:</a:t>
            </a:r>
            <a:r>
              <a:rPr b="0" lang="en-US" sz="1700" spc="-1" strike="noStrike">
                <a:solidFill>
                  <a:srgbClr val="262626"/>
                </a:solidFill>
                <a:latin typeface="Arial"/>
              </a:rPr>
              <a:t>  name the pattern, then quote a figure. Don't just say 'Africa is corrupt.'</a:t>
            </a:r>
            <a:endParaRPr b="0" lang="en-US" sz="1700" spc="-1" strike="noStrike">
              <a:solidFill>
                <a:srgbClr val="000000"/>
              </a:solidFill>
              <a:latin typeface="Arial"/>
            </a:endParaRPr>
          </a:p>
        </p:txBody>
      </p:sp>
      <p:pic>
        <p:nvPicPr>
          <p:cNvPr id="92" name="Picture 5" descr="p24_cpi_map.png"/>
          <p:cNvPicPr/>
          <p:nvPr/>
        </p:nvPicPr>
        <p:blipFill>
          <a:blip r:embed="rId1"/>
          <a:stretch/>
        </p:blipFill>
        <p:spPr>
          <a:xfrm>
            <a:off x="822960" y="2727720"/>
            <a:ext cx="3331800" cy="2224080"/>
          </a:xfrm>
          <a:prstGeom prst="rect">
            <a:avLst/>
          </a:prstGeom>
          <a:ln w="0">
            <a:noFill/>
          </a:ln>
        </p:spPr>
      </p:pic>
      <p:sp>
        <p:nvSpPr>
          <p:cNvPr id="93" name="TextBox 6"/>
          <p:cNvSpPr/>
          <p:nvPr/>
        </p:nvSpPr>
        <p:spPr>
          <a:xfrm>
            <a:off x="822960" y="5989320"/>
            <a:ext cx="3331800" cy="48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300" spc="-1" strike="noStrike">
                <a:solidFill>
                  <a:srgbClr val="555555"/>
                </a:solidFill>
                <a:latin typeface="Arial"/>
              </a:rPr>
              <a:t>Dark = highly corrupt, light = very clean (0-100 scale).</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Rectangle 1"/>
          <p:cNvSpPr/>
          <p:nvPr/>
        </p:nvSpPr>
        <p:spPr>
          <a:xfrm>
            <a:off x="0" y="0"/>
            <a:ext cx="914292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5" name="TextBox 2"/>
          <p:cNvSpPr/>
          <p:nvPr/>
        </p:nvSpPr>
        <p:spPr>
          <a:xfrm>
            <a:off x="822960" y="2286000"/>
            <a:ext cx="7679880" cy="195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400"/>
              </a:spcAft>
            </a:pPr>
            <a:r>
              <a:rPr b="1" lang="en-US" sz="1400" spc="-1" strike="noStrike">
                <a:solidFill>
                  <a:srgbClr val="ffffff"/>
                </a:solidFill>
                <a:latin typeface="Arial"/>
              </a:rPr>
              <a:t>OBSTACLE IN FOCUS — 1</a:t>
            </a:r>
            <a:endParaRPr b="0" lang="en-US" sz="1400" spc="-1" strike="noStrike">
              <a:solidFill>
                <a:srgbClr val="000000"/>
              </a:solidFill>
              <a:latin typeface="Arial"/>
            </a:endParaRPr>
          </a:p>
          <a:p>
            <a:pPr defTabSz="457200">
              <a:lnSpc>
                <a:spcPct val="100000"/>
              </a:lnSpc>
              <a:spcAft>
                <a:spcPts val="1199"/>
              </a:spcAft>
            </a:pPr>
            <a:r>
              <a:rPr b="1" lang="en-US" sz="3400" spc="-1" strike="noStrike">
                <a:solidFill>
                  <a:srgbClr val="ffffff"/>
                </a:solidFill>
                <a:latin typeface="Verdana"/>
              </a:rPr>
              <a:t>Disease as an Obstacle to Development</a:t>
            </a:r>
            <a:endParaRPr b="0" lang="en-US" sz="3400" spc="-1" strike="noStrike">
              <a:solidFill>
                <a:srgbClr val="000000"/>
              </a:solidFill>
              <a:latin typeface="Arial"/>
            </a:endParaRPr>
          </a:p>
          <a:p>
            <a:pPr defTabSz="457200">
              <a:lnSpc>
                <a:spcPct val="100000"/>
              </a:lnSpc>
            </a:pPr>
            <a:r>
              <a:rPr b="0" lang="en-US" sz="1900" spc="-1" strike="noStrike">
                <a:solidFill>
                  <a:srgbClr val="ffffff"/>
                </a:solidFill>
                <a:latin typeface="Arial"/>
              </a:rPr>
              <a:t>Textbook pp.25 — HIV, Ebola and COVID-19</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7"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DISEASE</a:t>
            </a:r>
            <a:endParaRPr b="0" lang="en-US" sz="1200" spc="-1" strike="noStrike">
              <a:solidFill>
                <a:srgbClr val="000000"/>
              </a:solidFill>
              <a:latin typeface="Arial"/>
            </a:endParaRPr>
          </a:p>
        </p:txBody>
      </p:sp>
      <p:sp>
        <p:nvSpPr>
          <p:cNvPr id="98"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Global HIV Prevalence</a:t>
            </a:r>
            <a:endParaRPr b="0" lang="en-US" sz="3000" spc="-1" strike="noStrike">
              <a:solidFill>
                <a:srgbClr val="000000"/>
              </a:solidFill>
              <a:latin typeface="Arial"/>
            </a:endParaRPr>
          </a:p>
        </p:txBody>
      </p:sp>
      <p:sp>
        <p:nvSpPr>
          <p:cNvPr id="99" name="TextBox 4"/>
          <p:cNvSpPr/>
          <p:nvPr/>
        </p:nvSpPr>
        <p:spPr>
          <a:xfrm>
            <a:off x="4430160" y="1783080"/>
            <a:ext cx="4072680" cy="3581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Disease removes working-age adults from the labour force, so output falls at the same time as healthcare costs rise.</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Children lose parents and often leave school — the damage carries into the next generation.</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Southern Africa carries by far the heaviest burden.</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Note:</a:t>
            </a:r>
            <a:r>
              <a:rPr b="0" lang="en-US" sz="1700" spc="-1" strike="noStrike">
                <a:solidFill>
                  <a:srgbClr val="262626"/>
                </a:solidFill>
                <a:latin typeface="Arial"/>
              </a:rPr>
              <a:t>  the map shows the percentage of the population affected, not case numbers — so small countries are not hidden.</a:t>
            </a:r>
            <a:endParaRPr b="0" lang="en-US" sz="1700" spc="-1" strike="noStrike">
              <a:solidFill>
                <a:srgbClr val="000000"/>
              </a:solidFill>
              <a:latin typeface="Arial"/>
            </a:endParaRPr>
          </a:p>
        </p:txBody>
      </p:sp>
      <p:pic>
        <p:nvPicPr>
          <p:cNvPr id="100" name="Picture 5" descr="p25_hiv_map.png"/>
          <p:cNvPicPr/>
          <p:nvPr/>
        </p:nvPicPr>
        <p:blipFill>
          <a:blip r:embed="rId1"/>
          <a:stretch/>
        </p:blipFill>
        <p:spPr>
          <a:xfrm>
            <a:off x="822960" y="2855160"/>
            <a:ext cx="3331800" cy="1969560"/>
          </a:xfrm>
          <a:prstGeom prst="rect">
            <a:avLst/>
          </a:prstGeom>
          <a:ln w="0">
            <a:noFill/>
          </a:ln>
        </p:spPr>
      </p:pic>
      <p:sp>
        <p:nvSpPr>
          <p:cNvPr id="101" name="TextBox 6"/>
          <p:cNvSpPr/>
          <p:nvPr/>
        </p:nvSpPr>
        <p:spPr>
          <a:xfrm>
            <a:off x="822960" y="5989320"/>
            <a:ext cx="3331800" cy="48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300" spc="-1" strike="noStrike">
                <a:solidFill>
                  <a:srgbClr val="555555"/>
                </a:solidFill>
                <a:latin typeface="Arial"/>
              </a:rPr>
              <a:t>Global HIV prevalence: the percentage of the population affected by the virus.</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3"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DISEASE</a:t>
            </a:r>
            <a:endParaRPr b="0" lang="en-US" sz="1200" spc="-1" strike="noStrike">
              <a:solidFill>
                <a:srgbClr val="000000"/>
              </a:solidFill>
              <a:latin typeface="Arial"/>
            </a:endParaRPr>
          </a:p>
        </p:txBody>
      </p:sp>
      <p:sp>
        <p:nvSpPr>
          <p:cNvPr id="104" name="TextBox 3"/>
          <p:cNvSpPr/>
          <p:nvPr/>
        </p:nvSpPr>
        <p:spPr>
          <a:xfrm>
            <a:off x="822960" y="621720"/>
            <a:ext cx="767988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You Cannot Treat Anyone Without Doctors</a:t>
            </a:r>
            <a:endParaRPr b="0" lang="en-US" sz="3000" spc="-1" strike="noStrike">
              <a:solidFill>
                <a:srgbClr val="000000"/>
              </a:solidFill>
              <a:latin typeface="Arial"/>
            </a:endParaRPr>
          </a:p>
        </p:txBody>
      </p:sp>
      <p:graphicFrame>
        <p:nvGraphicFramePr>
          <p:cNvPr id="105" name="Table 4"/>
          <p:cNvGraphicFramePr/>
          <p:nvPr/>
        </p:nvGraphicFramePr>
        <p:xfrm>
          <a:off x="822960" y="1783080"/>
          <a:ext cx="7680600" cy="3928320"/>
        </p:xfrm>
        <a:graphic>
          <a:graphicData uri="http://schemas.openxmlformats.org/drawingml/2006/table">
            <a:tbl>
              <a:tblPr/>
              <a:tblGrid>
                <a:gridCol w="3840480"/>
                <a:gridCol w="3840480"/>
              </a:tblGrid>
              <a:tr h="357120">
                <a:tc>
                  <a:txBody>
                    <a:bodyPr anchor="t">
                      <a:noAutofit/>
                    </a:bodyPr>
                    <a:p>
                      <a:pPr defTabSz="457200">
                        <a:lnSpc>
                          <a:spcPct val="100000"/>
                        </a:lnSpc>
                      </a:pPr>
                      <a:r>
                        <a:rPr b="1" lang="en-US" sz="1600" spc="-1" strike="noStrike">
                          <a:solidFill>
                            <a:srgbClr val="ffffff"/>
                          </a:solidFill>
                          <a:latin typeface="Arial"/>
                        </a:rPr>
                        <a:t>Country</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c>
                  <a:txBody>
                    <a:bodyPr anchor="t">
                      <a:noAutofit/>
                    </a:bodyPr>
                    <a:p>
                      <a:pPr defTabSz="457200">
                        <a:lnSpc>
                          <a:spcPct val="100000"/>
                        </a:lnSpc>
                      </a:pPr>
                      <a:r>
                        <a:rPr b="1" lang="en-US" sz="1600" spc="-1" strike="noStrike">
                          <a:solidFill>
                            <a:srgbClr val="ffffff"/>
                          </a:solidFill>
                          <a:latin typeface="Arial"/>
                        </a:rPr>
                        <a:t>Doctors per 1,000 people</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r>
              <a:tr h="357120">
                <a:tc>
                  <a:txBody>
                    <a:bodyPr anchor="t">
                      <a:noAutofit/>
                    </a:bodyPr>
                    <a:p>
                      <a:pPr defTabSz="457200">
                        <a:lnSpc>
                          <a:spcPct val="100000"/>
                        </a:lnSpc>
                      </a:pPr>
                      <a:r>
                        <a:rPr b="0" lang="en-US" sz="1500" spc="-1" strike="noStrike">
                          <a:solidFill>
                            <a:srgbClr val="262626"/>
                          </a:solidFill>
                          <a:latin typeface="Arial"/>
                        </a:rPr>
                        <a:t>Cuba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8.19</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357120">
                <a:tc>
                  <a:txBody>
                    <a:bodyPr anchor="t">
                      <a:noAutofit/>
                    </a:bodyPr>
                    <a:p>
                      <a:pPr defTabSz="457200">
                        <a:lnSpc>
                          <a:spcPct val="100000"/>
                        </a:lnSpc>
                      </a:pPr>
                      <a:r>
                        <a:rPr b="0" lang="en-US" sz="1500" spc="-1" strike="noStrike">
                          <a:solidFill>
                            <a:srgbClr val="262626"/>
                          </a:solidFill>
                          <a:latin typeface="Arial"/>
                        </a:rPr>
                        <a:t>EU-15</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3.7</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57120">
                <a:tc>
                  <a:txBody>
                    <a:bodyPr anchor="t">
                      <a:noAutofit/>
                    </a:bodyPr>
                    <a:p>
                      <a:pPr defTabSz="457200">
                        <a:lnSpc>
                          <a:spcPct val="100000"/>
                        </a:lnSpc>
                      </a:pPr>
                      <a:r>
                        <a:rPr b="0" lang="en-US" sz="1500" spc="-1" strike="noStrike">
                          <a:solidFill>
                            <a:srgbClr val="262626"/>
                          </a:solidFill>
                          <a:latin typeface="Arial"/>
                        </a:rPr>
                        <a:t>Qatar</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2.78</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357120">
                <a:tc>
                  <a:txBody>
                    <a:bodyPr anchor="t">
                      <a:noAutofit/>
                    </a:bodyPr>
                    <a:p>
                      <a:pPr defTabSz="457200">
                        <a:lnSpc>
                          <a:spcPct val="100000"/>
                        </a:lnSpc>
                      </a:pPr>
                      <a:r>
                        <a:rPr b="0" lang="en-US" sz="1500" spc="-1" strike="noStrike">
                          <a:solidFill>
                            <a:srgbClr val="262626"/>
                          </a:solidFill>
                          <a:latin typeface="Arial"/>
                        </a:rPr>
                        <a:t>USA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2.59</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57120">
                <a:tc>
                  <a:txBody>
                    <a:bodyPr anchor="t">
                      <a:noAutofit/>
                    </a:bodyPr>
                    <a:p>
                      <a:pPr defTabSz="457200">
                        <a:lnSpc>
                          <a:spcPct val="100000"/>
                        </a:lnSpc>
                      </a:pPr>
                      <a:r>
                        <a:rPr b="0" lang="en-US" sz="1500" spc="-1" strike="noStrike">
                          <a:solidFill>
                            <a:srgbClr val="262626"/>
                          </a:solidFill>
                          <a:latin typeface="Arial"/>
                        </a:rPr>
                        <a:t>China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1.79</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357120">
                <a:tc>
                  <a:txBody>
                    <a:bodyPr anchor="t">
                      <a:noAutofit/>
                    </a:bodyPr>
                    <a:p>
                      <a:pPr defTabSz="457200">
                        <a:lnSpc>
                          <a:spcPct val="100000"/>
                        </a:lnSpc>
                      </a:pPr>
                      <a:r>
                        <a:rPr b="0" lang="en-US" sz="1500" spc="-1" strike="noStrike">
                          <a:solidFill>
                            <a:srgbClr val="262626"/>
                          </a:solidFill>
                          <a:latin typeface="Arial"/>
                        </a:rPr>
                        <a:t>Syria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1.22</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57120">
                <a:tc>
                  <a:txBody>
                    <a:bodyPr anchor="t">
                      <a:noAutofit/>
                    </a:bodyPr>
                    <a:p>
                      <a:pPr defTabSz="457200">
                        <a:lnSpc>
                          <a:spcPct val="100000"/>
                        </a:lnSpc>
                      </a:pPr>
                      <a:r>
                        <a:rPr b="0" lang="en-US" sz="1500" spc="-1" strike="noStrike">
                          <a:solidFill>
                            <a:srgbClr val="262626"/>
                          </a:solidFill>
                          <a:latin typeface="Arial"/>
                        </a:rPr>
                        <a:t>India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0.78</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357120">
                <a:tc>
                  <a:txBody>
                    <a:bodyPr anchor="t">
                      <a:noAutofit/>
                    </a:bodyPr>
                    <a:p>
                      <a:pPr defTabSz="457200">
                        <a:lnSpc>
                          <a:spcPct val="100000"/>
                        </a:lnSpc>
                      </a:pPr>
                      <a:r>
                        <a:rPr b="0" lang="en-US" sz="1500" spc="-1" strike="noStrike">
                          <a:solidFill>
                            <a:srgbClr val="262626"/>
                          </a:solidFill>
                          <a:latin typeface="Arial"/>
                        </a:rPr>
                        <a:t>Haiti</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0.23</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57120">
                <a:tc>
                  <a:txBody>
                    <a:bodyPr anchor="t">
                      <a:noAutofit/>
                    </a:bodyPr>
                    <a:p>
                      <a:pPr defTabSz="457200">
                        <a:lnSpc>
                          <a:spcPct val="100000"/>
                        </a:lnSpc>
                      </a:pPr>
                      <a:r>
                        <a:rPr b="0" lang="en-US" sz="1500" spc="-1" strike="noStrike">
                          <a:solidFill>
                            <a:srgbClr val="262626"/>
                          </a:solidFill>
                          <a:latin typeface="Arial"/>
                        </a:rPr>
                        <a:t>Tanzania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0.04</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357120">
                <a:tc>
                  <a:txBody>
                    <a:bodyPr anchor="t">
                      <a:noAutofit/>
                    </a:bodyPr>
                    <a:p>
                      <a:pPr defTabSz="457200">
                        <a:lnSpc>
                          <a:spcPct val="100000"/>
                        </a:lnSpc>
                      </a:pPr>
                      <a:r>
                        <a:rPr b="0" lang="en-US" sz="1500" spc="-1" strike="noStrike">
                          <a:solidFill>
                            <a:srgbClr val="262626"/>
                          </a:solidFill>
                          <a:latin typeface="Arial"/>
                        </a:rPr>
                        <a:t>Malawi</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0.02</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106" name="TextBox 5"/>
          <p:cNvSpPr/>
          <p:nvPr/>
        </p:nvSpPr>
        <p:spPr>
          <a:xfrm>
            <a:off x="822960" y="5806440"/>
            <a:ext cx="767988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300" spc="-1" strike="noStrike">
                <a:solidFill>
                  <a:srgbClr val="555555"/>
                </a:solidFill>
                <a:latin typeface="Arial"/>
              </a:rPr>
              <a:t>Malawi has roughly one doctor for every 50,000 people — Cuba has about 400 times the provision. (The textbook table is headed 'per 100,000'; the figures are actually per 1,000 — a useful reminder to check units before you quote a statistic in the exam.)</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8"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DISEASE</a:t>
            </a:r>
            <a:endParaRPr b="0" lang="en-US" sz="1200" spc="-1" strike="noStrike">
              <a:solidFill>
                <a:srgbClr val="000000"/>
              </a:solidFill>
              <a:latin typeface="Arial"/>
            </a:endParaRPr>
          </a:p>
        </p:txBody>
      </p:sp>
      <p:sp>
        <p:nvSpPr>
          <p:cNvPr id="109"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2014: Ebola, a Disease of Poverty</a:t>
            </a:r>
            <a:endParaRPr b="0" lang="en-US" sz="3000" spc="-1" strike="noStrike">
              <a:solidFill>
                <a:srgbClr val="000000"/>
              </a:solidFill>
              <a:latin typeface="Arial"/>
            </a:endParaRPr>
          </a:p>
        </p:txBody>
      </p:sp>
      <p:sp>
        <p:nvSpPr>
          <p:cNvPr id="110" name="TextBox 4"/>
          <p:cNvSpPr/>
          <p:nvPr/>
        </p:nvSpPr>
        <p:spPr>
          <a:xfrm>
            <a:off x="822960" y="1783080"/>
            <a:ext cx="7679880" cy="124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900" spc="-1" strike="noStrike">
                <a:solidFill>
                  <a:srgbClr val="262626"/>
                </a:solidFill>
                <a:latin typeface="Arial"/>
              </a:rPr>
              <a:t>In Europe, treatments are developed even for rare diseases, because patients or social security can pay. Where people have no money, there is no incentive — so Ebola became 'a disease of poor people, in poor countries.'</a:t>
            </a:r>
            <a:endParaRPr b="0" lang="en-US" sz="1900" spc="-1" strike="noStrike">
              <a:solidFill>
                <a:srgbClr val="000000"/>
              </a:solidFill>
              <a:latin typeface="Arial"/>
            </a:endParaRPr>
          </a:p>
        </p:txBody>
      </p:sp>
      <p:sp>
        <p:nvSpPr>
          <p:cNvPr id="111" name="Rectangle 5"/>
          <p:cNvSpPr/>
          <p:nvPr/>
        </p:nvSpPr>
        <p:spPr>
          <a:xfrm>
            <a:off x="822960" y="3017520"/>
            <a:ext cx="7679880" cy="3427920"/>
          </a:xfrm>
          <a:prstGeom prst="rect">
            <a:avLst/>
          </a:prstGeom>
          <a:solidFill>
            <a:srgbClr val="ffffff"/>
          </a:solidFill>
          <a:ln w="1905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2" name="TextBox 6"/>
          <p:cNvSpPr/>
          <p:nvPr/>
        </p:nvSpPr>
        <p:spPr>
          <a:xfrm>
            <a:off x="1051560" y="3200400"/>
            <a:ext cx="7222680" cy="1856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199"/>
              </a:spcAft>
            </a:pPr>
            <a:r>
              <a:rPr b="0" i="1" lang="en-US" sz="1900" spc="-1" strike="noStrike">
                <a:solidFill>
                  <a:srgbClr val="262626"/>
                </a:solidFill>
                <a:latin typeface="Arial"/>
              </a:rPr>
              <a:t>'The most urgent need to fight Ebola is first of all human. People are needed to support the local staff, to monitor and care for the sick. [...] In these countries, the health systems are extremely fragile, these are poor countries emerging from war. [...]'</a:t>
            </a:r>
            <a:endParaRPr b="0" lang="en-US" sz="1900" spc="-1" strike="noStrike">
              <a:solidFill>
                <a:srgbClr val="000000"/>
              </a:solidFill>
              <a:latin typeface="Arial"/>
            </a:endParaRPr>
          </a:p>
          <a:p>
            <a:pPr defTabSz="457200">
              <a:lnSpc>
                <a:spcPct val="100000"/>
              </a:lnSpc>
            </a:pPr>
            <a:r>
              <a:rPr b="1" lang="en-US" sz="1500" spc="-1" strike="noStrike">
                <a:solidFill>
                  <a:srgbClr val="1b4f72"/>
                </a:solidFill>
                <a:latin typeface="Arial"/>
              </a:rPr>
              <a:t>Marie-Paule Kieny, Deputy Director General of the WHO, interviewed by Amandine Cailhol, Libération, 2014</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4"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DISEASE</a:t>
            </a:r>
            <a:endParaRPr b="0" lang="en-US" sz="1200" spc="-1" strike="noStrike">
              <a:solidFill>
                <a:srgbClr val="000000"/>
              </a:solidFill>
              <a:latin typeface="Arial"/>
            </a:endParaRPr>
          </a:p>
        </p:txBody>
      </p:sp>
      <p:sp>
        <p:nvSpPr>
          <p:cNvPr id="115"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2020: COVID-19 and Extreme Poverty</a:t>
            </a:r>
            <a:endParaRPr b="0" lang="en-US" sz="3000" spc="-1" strike="noStrike">
              <a:solidFill>
                <a:srgbClr val="000000"/>
              </a:solidFill>
              <a:latin typeface="Arial"/>
            </a:endParaRPr>
          </a:p>
        </p:txBody>
      </p:sp>
      <p:sp>
        <p:nvSpPr>
          <p:cNvPr id="116" name="TextBox 4"/>
          <p:cNvSpPr/>
          <p:nvPr/>
        </p:nvSpPr>
        <p:spPr>
          <a:xfrm>
            <a:off x="822960" y="1737360"/>
            <a:ext cx="7679880" cy="365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900" spc="-1" strike="noStrike">
                <a:solidFill>
                  <a:srgbClr val="1b4f72"/>
                </a:solidFill>
                <a:latin typeface="Arial"/>
              </a:rPr>
              <a:t>•  </a:t>
            </a:r>
            <a:r>
              <a:rPr b="1" lang="en-US" sz="1900" spc="-1" strike="noStrike">
                <a:solidFill>
                  <a:srgbClr val="1b4f72"/>
                </a:solidFill>
                <a:latin typeface="Arial"/>
              </a:rPr>
              <a:t>1990:</a:t>
            </a:r>
            <a:r>
              <a:rPr b="0" lang="en-US" sz="1900" spc="-1" strike="noStrike">
                <a:solidFill>
                  <a:srgbClr val="262626"/>
                </a:solidFill>
                <a:latin typeface="Arial"/>
              </a:rPr>
              <a:t>  about 1.9 billion people — nearly 36% of the world's population — lived in extreme poverty, defined as less than $1.90 a day.</a:t>
            </a:r>
            <a:endParaRPr b="0" lang="en-US" sz="1900" spc="-1" strike="noStrike">
              <a:solidFill>
                <a:srgbClr val="000000"/>
              </a:solidFill>
              <a:latin typeface="Arial"/>
            </a:endParaRPr>
          </a:p>
          <a:p>
            <a:pPr defTabSz="457200">
              <a:lnSpc>
                <a:spcPct val="100000"/>
              </a:lnSpc>
              <a:spcAft>
                <a:spcPts val="1001"/>
              </a:spcAft>
            </a:pPr>
            <a:r>
              <a:rPr b="1" lang="en-US" sz="1900" spc="-1" strike="noStrike">
                <a:solidFill>
                  <a:srgbClr val="1b4f72"/>
                </a:solidFill>
                <a:latin typeface="Arial"/>
              </a:rPr>
              <a:t>•  </a:t>
            </a:r>
            <a:r>
              <a:rPr b="1" lang="en-US" sz="1900" spc="-1" strike="noStrike">
                <a:solidFill>
                  <a:srgbClr val="1b4f72"/>
                </a:solidFill>
                <a:latin typeface="Arial"/>
              </a:rPr>
              <a:t>2015:</a:t>
            </a:r>
            <a:r>
              <a:rPr b="0" lang="en-US" sz="1900" spc="-1" strike="noStrike">
                <a:solidFill>
                  <a:srgbClr val="262626"/>
                </a:solidFill>
                <a:latin typeface="Arial"/>
              </a:rPr>
              <a:t>  that figure had fallen to 734 million, roughly 10% of the world's population. A genuine success story.</a:t>
            </a:r>
            <a:endParaRPr b="0" lang="en-US" sz="1900" spc="-1" strike="noStrike">
              <a:solidFill>
                <a:srgbClr val="000000"/>
              </a:solidFill>
              <a:latin typeface="Arial"/>
            </a:endParaRPr>
          </a:p>
          <a:p>
            <a:pPr defTabSz="457200">
              <a:lnSpc>
                <a:spcPct val="100000"/>
              </a:lnSpc>
              <a:spcAft>
                <a:spcPts val="1001"/>
              </a:spcAft>
            </a:pPr>
            <a:r>
              <a:rPr b="1" lang="en-US" sz="1900" spc="-1" strike="noStrike">
                <a:solidFill>
                  <a:srgbClr val="1b4f72"/>
                </a:solidFill>
                <a:latin typeface="Arial"/>
              </a:rPr>
              <a:t>•  </a:t>
            </a:r>
            <a:r>
              <a:rPr b="1" lang="en-US" sz="1900" spc="-1" strike="noStrike">
                <a:solidFill>
                  <a:srgbClr val="1b4f72"/>
                </a:solidFill>
                <a:latin typeface="Arial"/>
              </a:rPr>
              <a:t>Then 2020:</a:t>
            </a:r>
            <a:r>
              <a:rPr b="0" lang="en-US" sz="1900" spc="-1" strike="noStrike">
                <a:solidFill>
                  <a:srgbClr val="262626"/>
                </a:solidFill>
                <a:latin typeface="Arial"/>
              </a:rPr>
              <a:t>  the World Bank expected COVID-19 to have a profound impact on poverty rates — job losses, disrupted education and healthcare, price increases, and a fall in remittances from migrant workers.</a:t>
            </a:r>
            <a:endParaRPr b="0" lang="en-US" sz="1900" spc="-1" strike="noStrike">
              <a:solidFill>
                <a:srgbClr val="000000"/>
              </a:solidFill>
              <a:latin typeface="Arial"/>
            </a:endParaRPr>
          </a:p>
          <a:p>
            <a:pPr defTabSz="457200">
              <a:lnSpc>
                <a:spcPct val="100000"/>
              </a:lnSpc>
              <a:spcAft>
                <a:spcPts val="1001"/>
              </a:spcAft>
            </a:pPr>
            <a:r>
              <a:rPr b="1" lang="en-US" sz="1900" spc="-1" strike="noStrike">
                <a:solidFill>
                  <a:srgbClr val="1b4f72"/>
                </a:solidFill>
                <a:latin typeface="Arial"/>
              </a:rPr>
              <a:t>•  </a:t>
            </a:r>
            <a:r>
              <a:rPr b="1" lang="en-US" sz="1900" spc="-1" strike="noStrike">
                <a:solidFill>
                  <a:srgbClr val="1b4f72"/>
                </a:solidFill>
                <a:latin typeface="Arial"/>
              </a:rPr>
              <a:t>The lesson:</a:t>
            </a:r>
            <a:r>
              <a:rPr b="0" lang="en-US" sz="1900" spc="-1" strike="noStrike">
                <a:solidFill>
                  <a:srgbClr val="262626"/>
                </a:solidFill>
                <a:latin typeface="Arial"/>
              </a:rPr>
              <a:t>  development progress is reversible. One shock can undo years of gains.</a:t>
            </a:r>
            <a:endParaRPr b="0" lang="en-US" sz="1900" spc="-1" strike="noStrike">
              <a:solidFill>
                <a:srgbClr val="000000"/>
              </a:solidFill>
              <a:latin typeface="Arial"/>
            </a:endParaRPr>
          </a:p>
        </p:txBody>
      </p:sp>
      <p:sp>
        <p:nvSpPr>
          <p:cNvPr id="117" name="TextBox 5"/>
          <p:cNvSpPr/>
          <p:nvPr/>
        </p:nvSpPr>
        <p:spPr>
          <a:xfrm>
            <a:off x="822960" y="6035040"/>
            <a:ext cx="767988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400" spc="-1" strike="noStrike">
                <a:solidFill>
                  <a:srgbClr val="555555"/>
                </a:solidFill>
                <a:latin typeface="Arial"/>
              </a:rPr>
              <a:t>Source: Elizabeth Howton, 'Poverty', The World Bank, 2020.</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9"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DISEASE</a:t>
            </a:r>
            <a:endParaRPr b="0" lang="en-US" sz="1200" spc="-1" strike="noStrike">
              <a:solidFill>
                <a:srgbClr val="000000"/>
              </a:solidFill>
              <a:latin typeface="Arial"/>
            </a:endParaRPr>
          </a:p>
        </p:txBody>
      </p:sp>
      <p:sp>
        <p:nvSpPr>
          <p:cNvPr id="120"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Who Got the Vaccine First?</a:t>
            </a:r>
            <a:endParaRPr b="0" lang="en-US" sz="3000" spc="-1" strike="noStrike">
              <a:solidFill>
                <a:srgbClr val="000000"/>
              </a:solidFill>
              <a:latin typeface="Arial"/>
            </a:endParaRPr>
          </a:p>
        </p:txBody>
      </p:sp>
      <p:sp>
        <p:nvSpPr>
          <p:cNvPr id="121" name="TextBox 4"/>
          <p:cNvSpPr/>
          <p:nvPr/>
        </p:nvSpPr>
        <p:spPr>
          <a:xfrm>
            <a:off x="4430160" y="1783080"/>
            <a:ext cx="4072680" cy="409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Share of each country's population with at least one dose of a COVID-19 vaccine, as of 15 July 2021.</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HICs had vaccinated large shares of their populations while much of sub-Saharan Africa was still near zero.</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EXPLAIN it:</a:t>
            </a:r>
            <a:r>
              <a:rPr b="0" lang="en-US" sz="1700" spc="-1" strike="noStrike">
                <a:solidFill>
                  <a:srgbClr val="262626"/>
                </a:solidFill>
                <a:latin typeface="Arial"/>
              </a:rPr>
              <a:t>  wealth bought early supply contracts and manufacturing capacity. The virus was global; the response was not.</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Caution:</a:t>
            </a:r>
            <a:r>
              <a:rPr b="0" lang="en-US" sz="1700" spc="-1" strike="noStrike">
                <a:solidFill>
                  <a:srgbClr val="262626"/>
                </a:solidFill>
                <a:latin typeface="Arial"/>
              </a:rPr>
              <a:t>  COVID-19 death data may be skewed by under-reporting, so compare vaccination shares rather than death counts.</a:t>
            </a:r>
            <a:endParaRPr b="0" lang="en-US" sz="1700" spc="-1" strike="noStrike">
              <a:solidFill>
                <a:srgbClr val="000000"/>
              </a:solidFill>
              <a:latin typeface="Arial"/>
            </a:endParaRPr>
          </a:p>
        </p:txBody>
      </p:sp>
      <p:pic>
        <p:nvPicPr>
          <p:cNvPr id="122" name="Picture 5" descr="p25_vaccine_map.png"/>
          <p:cNvPicPr/>
          <p:nvPr/>
        </p:nvPicPr>
        <p:blipFill>
          <a:blip r:embed="rId1"/>
          <a:stretch/>
        </p:blipFill>
        <p:spPr>
          <a:xfrm>
            <a:off x="822960" y="3021120"/>
            <a:ext cx="3331800" cy="20030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Rectangle 1"/>
          <p:cNvSpPr/>
          <p:nvPr/>
        </p:nvSpPr>
        <p:spPr>
          <a:xfrm>
            <a:off x="0" y="0"/>
            <a:ext cx="914292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TextBox 2"/>
          <p:cNvSpPr/>
          <p:nvPr/>
        </p:nvSpPr>
        <p:spPr>
          <a:xfrm>
            <a:off x="822960" y="2286000"/>
            <a:ext cx="7679880" cy="195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400"/>
              </a:spcAft>
            </a:pPr>
            <a:r>
              <a:rPr b="1" lang="en-US" sz="1400" spc="-1" strike="noStrike">
                <a:solidFill>
                  <a:srgbClr val="ffffff"/>
                </a:solidFill>
                <a:latin typeface="Arial"/>
              </a:rPr>
              <a:t>OBSTACLE IN FOCUS — 2</a:t>
            </a:r>
            <a:endParaRPr b="0" lang="en-US" sz="1400" spc="-1" strike="noStrike">
              <a:solidFill>
                <a:srgbClr val="000000"/>
              </a:solidFill>
              <a:latin typeface="Arial"/>
            </a:endParaRPr>
          </a:p>
          <a:p>
            <a:pPr defTabSz="457200">
              <a:lnSpc>
                <a:spcPct val="100000"/>
              </a:lnSpc>
              <a:spcAft>
                <a:spcPts val="1199"/>
              </a:spcAft>
            </a:pPr>
            <a:r>
              <a:rPr b="1" lang="en-US" sz="3400" spc="-1" strike="noStrike">
                <a:solidFill>
                  <a:srgbClr val="ffffff"/>
                </a:solidFill>
                <a:latin typeface="Verdana"/>
              </a:rPr>
              <a:t>Poverty as an Obstacle to Development</a:t>
            </a:r>
            <a:endParaRPr b="0" lang="en-US" sz="3400" spc="-1" strike="noStrike">
              <a:solidFill>
                <a:srgbClr val="000000"/>
              </a:solidFill>
              <a:latin typeface="Arial"/>
            </a:endParaRPr>
          </a:p>
          <a:p>
            <a:pPr defTabSz="457200">
              <a:lnSpc>
                <a:spcPct val="100000"/>
              </a:lnSpc>
            </a:pPr>
            <a:r>
              <a:rPr b="0" lang="en-US" sz="1900" spc="-1" strike="noStrike">
                <a:solidFill>
                  <a:srgbClr val="ffffff"/>
                </a:solidFill>
                <a:latin typeface="Arial"/>
              </a:rPr>
              <a:t>Poverty is both a symptom and a cause — textbook pp.27</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6"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POVERTY</a:t>
            </a:r>
            <a:endParaRPr b="0" lang="en-US" sz="1200" spc="-1" strike="noStrike">
              <a:solidFill>
                <a:srgbClr val="000000"/>
              </a:solidFill>
              <a:latin typeface="Arial"/>
            </a:endParaRPr>
          </a:p>
        </p:txBody>
      </p:sp>
      <p:sp>
        <p:nvSpPr>
          <p:cNvPr id="127"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The Global Poverty Picture</a:t>
            </a:r>
            <a:endParaRPr b="0" lang="en-US" sz="3000" spc="-1" strike="noStrike">
              <a:solidFill>
                <a:srgbClr val="000000"/>
              </a:solidFill>
              <a:latin typeface="Arial"/>
            </a:endParaRPr>
          </a:p>
        </p:txBody>
      </p:sp>
      <p:sp>
        <p:nvSpPr>
          <p:cNvPr id="128" name="TextBox 4"/>
          <p:cNvSpPr/>
          <p:nvPr/>
        </p:nvSpPr>
        <p:spPr>
          <a:xfrm>
            <a:off x="822960" y="1737360"/>
            <a:ext cx="7679880" cy="3189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$5.50 a day:</a:t>
            </a:r>
            <a:r>
              <a:rPr b="0" lang="en-US" sz="1700" spc="-1" strike="noStrike">
                <a:solidFill>
                  <a:srgbClr val="262626"/>
                </a:solidFill>
                <a:latin typeface="Arial"/>
              </a:rPr>
              <a:t>  3.4 billion people live on less than this, according to the World Bank. The rate fell from 67% in 1990 to 46% in 2015.</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$1.90 a day:</a:t>
            </a:r>
            <a:r>
              <a:rPr b="0" lang="en-US" sz="1700" spc="-1" strike="noStrike">
                <a:solidFill>
                  <a:srgbClr val="262626"/>
                </a:solidFill>
                <a:latin typeface="Arial"/>
              </a:rPr>
              <a:t>  extreme poverty fell from around 30% in 1990 to 10% in 2015.</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East Asia &amp; Pacific:</a:t>
            </a:r>
            <a:r>
              <a:rPr b="0" lang="en-US" sz="1700" spc="-1" strike="noStrike">
                <a:solidFill>
                  <a:srgbClr val="262626"/>
                </a:solidFill>
                <a:latin typeface="Arial"/>
              </a:rPr>
              <a:t>  incomes of the poorest 40% rose by an average of 4.7% between 2010 and 2015 — the best share of prosperity.</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Sub-Saharan Africa:</a:t>
            </a:r>
            <a:r>
              <a:rPr b="0" lang="en-US" sz="1700" spc="-1" strike="noStrike">
                <a:solidFill>
                  <a:srgbClr val="262626"/>
                </a:solidFill>
                <a:latin typeface="Arial"/>
              </a:rPr>
              <a:t>  in a third of countries the income of the poorest 40% actually FELL. 84.5% still live on under $5.50 a day.</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Who is poor:</a:t>
            </a:r>
            <a:r>
              <a:rPr b="0" lang="en-US" sz="1700" spc="-1" strike="noStrike">
                <a:solidFill>
                  <a:srgbClr val="262626"/>
                </a:solidFill>
                <a:latin typeface="Arial"/>
              </a:rPr>
              <a:t>  mostly rural, poorly educated, employed in agriculture, and under 18. All 43 of the highest-poverty countries are fragile, in conflict, or in sub-Saharan Africa.</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0"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POVERTY</a:t>
            </a:r>
            <a:endParaRPr b="0" lang="en-US" sz="1200" spc="-1" strike="noStrike">
              <a:solidFill>
                <a:srgbClr val="000000"/>
              </a:solidFill>
              <a:latin typeface="Arial"/>
            </a:endParaRPr>
          </a:p>
        </p:txBody>
      </p:sp>
      <p:sp>
        <p:nvSpPr>
          <p:cNvPr id="131"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Poverty in Nigeria</a:t>
            </a:r>
            <a:endParaRPr b="0" lang="en-US" sz="3000" spc="-1" strike="noStrike">
              <a:solidFill>
                <a:srgbClr val="000000"/>
              </a:solidFill>
              <a:latin typeface="Arial"/>
            </a:endParaRPr>
          </a:p>
        </p:txBody>
      </p:sp>
      <p:sp>
        <p:nvSpPr>
          <p:cNvPr id="132" name="TextBox 4"/>
          <p:cNvSpPr/>
          <p:nvPr/>
        </p:nvSpPr>
        <p:spPr>
          <a:xfrm>
            <a:off x="822960" y="1783080"/>
            <a:ext cx="4591080" cy="4741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600" spc="-1" strike="noStrike">
                <a:solidFill>
                  <a:srgbClr val="262626"/>
                </a:solidFill>
                <a:latin typeface="Arial"/>
              </a:rPr>
              <a:t>•  </a:t>
            </a:r>
            <a:r>
              <a:rPr b="0" lang="en-US" sz="1600" spc="-1" strike="noStrike">
                <a:solidFill>
                  <a:srgbClr val="262626"/>
                </a:solidFill>
                <a:latin typeface="Arial"/>
              </a:rPr>
              <a:t>Poverty goes beyond not having money — Nigeria's problem is that millions cannot access basic resources, from food to shelter to medical services.</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Scale:</a:t>
            </a:r>
            <a:r>
              <a:rPr b="0" lang="en-US" sz="1600" spc="-1" strike="noStrike">
                <a:solidFill>
                  <a:srgbClr val="262626"/>
                </a:solidFill>
                <a:latin typeface="Arial"/>
              </a:rPr>
              <a:t>  more than 82 million Nigerians live on less than $1 a day (National Bureau of Statistics).</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Catalyst:</a:t>
            </a:r>
            <a:r>
              <a:rPr b="0" lang="en-US" sz="1600" spc="-1" strike="noStrike">
                <a:solidFill>
                  <a:srgbClr val="262626"/>
                </a:solidFill>
                <a:latin typeface="Arial"/>
              </a:rPr>
              <a:t>  poverty itself then feeds political instability, economic crises, corruption and insecurity.</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Causes listed:</a:t>
            </a:r>
            <a:r>
              <a:rPr b="0" lang="en-US" sz="1600" spc="-1" strike="noStrike">
                <a:solidFill>
                  <a:srgbClr val="262626"/>
                </a:solidFill>
                <a:latin typeface="Arial"/>
              </a:rPr>
              <a:t>  imbalance in the economic structure, poor access to credit, unemployment, untapped natural resources, debt, overpopulation and bad governance.</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Link back:</a:t>
            </a:r>
            <a:r>
              <a:rPr b="0" lang="en-US" sz="1600" spc="-1" strike="noStrike">
                <a:solidFill>
                  <a:srgbClr val="262626"/>
                </a:solidFill>
                <a:latin typeface="Arial"/>
              </a:rPr>
              <a:t>  Lesson 3 covered Nigeria's maternal and child mortality and its 20 million out-of-school children.</a:t>
            </a:r>
            <a:endParaRPr b="0" lang="en-US" sz="1600" spc="-1" strike="noStrike">
              <a:solidFill>
                <a:srgbClr val="000000"/>
              </a:solidFill>
              <a:latin typeface="Arial"/>
            </a:endParaRPr>
          </a:p>
        </p:txBody>
      </p:sp>
      <p:pic>
        <p:nvPicPr>
          <p:cNvPr id="133" name="Picture 5" descr="p27_stilt_houses.png"/>
          <p:cNvPicPr/>
          <p:nvPr/>
        </p:nvPicPr>
        <p:blipFill>
          <a:blip r:embed="rId1"/>
          <a:stretch/>
        </p:blipFill>
        <p:spPr>
          <a:xfrm>
            <a:off x="5689440" y="2391120"/>
            <a:ext cx="2813400" cy="32634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Rectangle 1"/>
          <p:cNvSpPr/>
          <p:nvPr/>
        </p:nvSpPr>
        <p:spPr>
          <a:xfrm>
            <a:off x="0" y="0"/>
            <a:ext cx="914292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5" name="TextBox 2"/>
          <p:cNvSpPr/>
          <p:nvPr/>
        </p:nvSpPr>
        <p:spPr>
          <a:xfrm>
            <a:off x="822960" y="2286000"/>
            <a:ext cx="7679880" cy="1440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400"/>
              </a:spcAft>
            </a:pPr>
            <a:r>
              <a:rPr b="1" lang="en-US" sz="1400" spc="-1" strike="noStrike">
                <a:solidFill>
                  <a:srgbClr val="ffffff"/>
                </a:solidFill>
                <a:latin typeface="Arial"/>
              </a:rPr>
              <a:t>CASE STUDY — 1</a:t>
            </a:r>
            <a:endParaRPr b="0" lang="en-US" sz="1400" spc="-1" strike="noStrike">
              <a:solidFill>
                <a:srgbClr val="000000"/>
              </a:solidFill>
              <a:latin typeface="Arial"/>
            </a:endParaRPr>
          </a:p>
          <a:p>
            <a:pPr defTabSz="457200">
              <a:lnSpc>
                <a:spcPct val="100000"/>
              </a:lnSpc>
              <a:spcAft>
                <a:spcPts val="1199"/>
              </a:spcAft>
            </a:pPr>
            <a:r>
              <a:rPr b="1" lang="en-US" sz="3400" spc="-1" strike="noStrike">
                <a:solidFill>
                  <a:srgbClr val="ffffff"/>
                </a:solidFill>
                <a:latin typeface="Verdana"/>
              </a:rPr>
              <a:t>Haiti</a:t>
            </a:r>
            <a:endParaRPr b="0" lang="en-US" sz="3400" spc="-1" strike="noStrike">
              <a:solidFill>
                <a:srgbClr val="000000"/>
              </a:solidFill>
              <a:latin typeface="Arial"/>
            </a:endParaRPr>
          </a:p>
          <a:p>
            <a:pPr defTabSz="457200">
              <a:lnSpc>
                <a:spcPct val="100000"/>
              </a:lnSpc>
            </a:pPr>
            <a:r>
              <a:rPr b="0" lang="en-US" sz="1900" spc="-1" strike="noStrike">
                <a:solidFill>
                  <a:srgbClr val="ffffff"/>
                </a:solidFill>
                <a:latin typeface="Arial"/>
              </a:rPr>
              <a:t>The poorest country in the Americas — textbook p.26</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7"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HAITI</a:t>
            </a:r>
            <a:endParaRPr b="0" lang="en-US" sz="1200" spc="-1" strike="noStrike">
              <a:solidFill>
                <a:srgbClr val="000000"/>
              </a:solidFill>
              <a:latin typeface="Arial"/>
            </a:endParaRPr>
          </a:p>
        </p:txBody>
      </p:sp>
      <p:sp>
        <p:nvSpPr>
          <p:cNvPr id="138"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Development Data</a:t>
            </a:r>
            <a:endParaRPr b="0" lang="en-US" sz="3000" spc="-1" strike="noStrike">
              <a:solidFill>
                <a:srgbClr val="000000"/>
              </a:solidFill>
              <a:latin typeface="Arial"/>
            </a:endParaRPr>
          </a:p>
        </p:txBody>
      </p:sp>
      <p:graphicFrame>
        <p:nvGraphicFramePr>
          <p:cNvPr id="139" name="Table 4"/>
          <p:cNvGraphicFramePr/>
          <p:nvPr/>
        </p:nvGraphicFramePr>
        <p:xfrm>
          <a:off x="822960" y="1783080"/>
          <a:ext cx="7680600" cy="4123080"/>
        </p:xfrm>
        <a:graphic>
          <a:graphicData uri="http://schemas.openxmlformats.org/drawingml/2006/table">
            <a:tbl>
              <a:tblPr/>
              <a:tblGrid>
                <a:gridCol w="3840480"/>
                <a:gridCol w="3840480"/>
              </a:tblGrid>
              <a:tr h="446760">
                <a:tc>
                  <a:txBody>
                    <a:bodyPr anchor="t">
                      <a:noAutofit/>
                    </a:bodyPr>
                    <a:p>
                      <a:pPr defTabSz="457200">
                        <a:lnSpc>
                          <a:spcPct val="100000"/>
                        </a:lnSpc>
                      </a:pPr>
                      <a:r>
                        <a:rPr b="1" lang="en-US" sz="1600" spc="-1" strike="noStrike">
                          <a:solidFill>
                            <a:srgbClr val="ffffff"/>
                          </a:solidFill>
                          <a:latin typeface="Arial"/>
                        </a:rPr>
                        <a:t>Indicator</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c>
                  <a:txBody>
                    <a:bodyPr anchor="t">
                      <a:noAutofit/>
                    </a:bodyPr>
                    <a:p>
                      <a:pPr defTabSz="457200">
                        <a:lnSpc>
                          <a:spcPct val="100000"/>
                        </a:lnSpc>
                      </a:pPr>
                      <a:r>
                        <a:rPr b="1" lang="en-US" sz="1600" spc="-1" strike="noStrike">
                          <a:solidFill>
                            <a:srgbClr val="ffffff"/>
                          </a:solidFill>
                          <a:latin typeface="Arial"/>
                        </a:rPr>
                        <a:t>Value</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r>
              <a:tr h="446760">
                <a:tc>
                  <a:txBody>
                    <a:bodyPr anchor="t">
                      <a:noAutofit/>
                    </a:bodyPr>
                    <a:p>
                      <a:pPr defTabSz="457200">
                        <a:lnSpc>
                          <a:spcPct val="100000"/>
                        </a:lnSpc>
                      </a:pPr>
                      <a:r>
                        <a:rPr b="0" lang="en-US" sz="1500" spc="-1" strike="noStrike">
                          <a:solidFill>
                            <a:srgbClr val="262626"/>
                          </a:solidFill>
                          <a:latin typeface="Arial"/>
                        </a:rPr>
                        <a:t>Area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28,773 km²</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46760">
                <a:tc>
                  <a:txBody>
                    <a:bodyPr anchor="t">
                      <a:noAutofit/>
                    </a:bodyPr>
                    <a:p>
                      <a:pPr defTabSz="457200">
                        <a:lnSpc>
                          <a:spcPct val="100000"/>
                        </a:lnSpc>
                      </a:pPr>
                      <a:r>
                        <a:rPr b="0" lang="en-US" sz="1500" spc="-1" strike="noStrike">
                          <a:solidFill>
                            <a:srgbClr val="262626"/>
                          </a:solidFill>
                          <a:latin typeface="Arial"/>
                        </a:rPr>
                        <a:t>Population</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11,120,000 inhabitants</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46760">
                <a:tc>
                  <a:txBody>
                    <a:bodyPr anchor="t">
                      <a:noAutofit/>
                    </a:bodyPr>
                    <a:p>
                      <a:pPr defTabSz="457200">
                        <a:lnSpc>
                          <a:spcPct val="100000"/>
                        </a:lnSpc>
                      </a:pPr>
                      <a:r>
                        <a:rPr b="0" lang="en-US" sz="1500" spc="-1" strike="noStrike">
                          <a:solidFill>
                            <a:srgbClr val="262626"/>
                          </a:solidFill>
                          <a:latin typeface="Arial"/>
                        </a:rPr>
                        <a:t>Density</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384 inhabitants/km²</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46760">
                <a:tc>
                  <a:txBody>
                    <a:bodyPr anchor="t">
                      <a:noAutofit/>
                    </a:bodyPr>
                    <a:p>
                      <a:pPr defTabSz="457200">
                        <a:lnSpc>
                          <a:spcPct val="100000"/>
                        </a:lnSpc>
                      </a:pPr>
                      <a:r>
                        <a:rPr b="0" lang="en-US" sz="1500" spc="-1" strike="noStrike">
                          <a:solidFill>
                            <a:srgbClr val="262626"/>
                          </a:solidFill>
                          <a:latin typeface="Arial"/>
                        </a:rPr>
                        <a:t>GNI per capita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$706 (2019) — falling since 2014</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46760">
                <a:tc>
                  <a:txBody>
                    <a:bodyPr anchor="t">
                      <a:noAutofit/>
                    </a:bodyPr>
                    <a:p>
                      <a:pPr defTabSz="457200">
                        <a:lnSpc>
                          <a:spcPct val="100000"/>
                        </a:lnSpc>
                      </a:pPr>
                      <a:r>
                        <a:rPr b="0" lang="en-US" sz="1500" spc="-1" strike="noStrike">
                          <a:solidFill>
                            <a:srgbClr val="262626"/>
                          </a:solidFill>
                          <a:latin typeface="Arial"/>
                        </a:rPr>
                        <a:t>HDI</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0.503 (2018) — 207th of 228 countries</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46760">
                <a:tc>
                  <a:txBody>
                    <a:bodyPr anchor="t">
                      <a:noAutofit/>
                    </a:bodyPr>
                    <a:p>
                      <a:pPr defTabSz="457200">
                        <a:lnSpc>
                          <a:spcPct val="100000"/>
                        </a:lnSpc>
                      </a:pPr>
                      <a:r>
                        <a:rPr b="0" lang="en-US" sz="1500" spc="-1" strike="noStrike">
                          <a:solidFill>
                            <a:srgbClr val="262626"/>
                          </a:solidFill>
                          <a:latin typeface="Arial"/>
                        </a:rPr>
                        <a:t>Life expectancy</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63 years (2019)</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46760">
                <a:tc>
                  <a:txBody>
                    <a:bodyPr anchor="t">
                      <a:noAutofit/>
                    </a:bodyPr>
                    <a:p>
                      <a:pPr defTabSz="457200">
                        <a:lnSpc>
                          <a:spcPct val="100000"/>
                        </a:lnSpc>
                      </a:pPr>
                      <a:r>
                        <a:rPr b="0" lang="en-US" sz="1500" spc="-1" strike="noStrike">
                          <a:solidFill>
                            <a:srgbClr val="262626"/>
                          </a:solidFill>
                          <a:latin typeface="Arial"/>
                        </a:rPr>
                        <a:t>Wealth share</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the richest 20% own 63% of national wealth</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46760">
                <a:tc>
                  <a:txBody>
                    <a:bodyPr anchor="t">
                      <a:noAutofit/>
                    </a:bodyPr>
                    <a:p>
                      <a:pPr defTabSz="457200">
                        <a:lnSpc>
                          <a:spcPct val="100000"/>
                        </a:lnSpc>
                      </a:pPr>
                      <a:r>
                        <a:rPr b="0" lang="en-US" sz="1500" spc="-1" strike="noStrike">
                          <a:solidFill>
                            <a:srgbClr val="262626"/>
                          </a:solidFill>
                          <a:latin typeface="Arial"/>
                        </a:rPr>
                        <a:t>Poverty</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60% live on less than $2.40 a day</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140" name="TextBox 5"/>
          <p:cNvSpPr/>
          <p:nvPr/>
        </p:nvSpPr>
        <p:spPr>
          <a:xfrm>
            <a:off x="822960" y="5989320"/>
            <a:ext cx="767988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400" spc="-1" strike="noStrike">
                <a:solidFill>
                  <a:srgbClr val="555555"/>
                </a:solidFill>
                <a:latin typeface="Arial"/>
              </a:rPr>
              <a:t>Source: World Bank; UNDP; Chaléard &amp; Sanjuan, Geography of Development, 2017.</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HAITI</a:t>
            </a:r>
            <a:endParaRPr b="0" lang="en-US" sz="1200" spc="-1" strike="noStrike">
              <a:solidFill>
                <a:srgbClr val="000000"/>
              </a:solidFill>
              <a:latin typeface="Arial"/>
            </a:endParaRPr>
          </a:p>
        </p:txBody>
      </p:sp>
      <p:sp>
        <p:nvSpPr>
          <p:cNvPr id="143"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Why Is Haiti Poor?</a:t>
            </a:r>
            <a:endParaRPr b="0" lang="en-US" sz="3000" spc="-1" strike="noStrike">
              <a:solidFill>
                <a:srgbClr val="000000"/>
              </a:solidFill>
              <a:latin typeface="Arial"/>
            </a:endParaRPr>
          </a:p>
        </p:txBody>
      </p:sp>
      <p:sp>
        <p:nvSpPr>
          <p:cNvPr id="144" name="TextBox 4"/>
          <p:cNvSpPr/>
          <p:nvPr/>
        </p:nvSpPr>
        <p:spPr>
          <a:xfrm>
            <a:off x="822960" y="1737360"/>
            <a:ext cx="7679880" cy="3449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1804:</a:t>
            </a:r>
            <a:r>
              <a:rPr b="0" lang="en-US" sz="1700" spc="-1" strike="noStrike">
                <a:solidFill>
                  <a:srgbClr val="262626"/>
                </a:solidFill>
                <a:latin typeface="Arial"/>
              </a:rPr>
              <a:t>  Haiti wins independence — then carries a heavy burden of debt owed to France for that very independence.</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1915-1934:</a:t>
            </a:r>
            <a:r>
              <a:rPr b="0" lang="en-US" sz="1700" spc="-1" strike="noStrike">
                <a:solidFill>
                  <a:srgbClr val="262626"/>
                </a:solidFill>
                <a:latin typeface="Arial"/>
              </a:rPr>
              <a:t>  American military occupation.</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1957-1996:</a:t>
            </a:r>
            <a:r>
              <a:rPr b="0" lang="en-US" sz="1700" spc="-1" strike="noStrike">
                <a:solidFill>
                  <a:srgbClr val="262626"/>
                </a:solidFill>
                <a:latin typeface="Arial"/>
              </a:rPr>
              <a:t>  dictatorial rule of the Duvalier family. A series of predatory governments whose elites chose short-term gains from international trade over developing the country.</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Late 1980s:</a:t>
            </a:r>
            <a:r>
              <a:rPr b="0" lang="en-US" sz="1700" spc="-1" strike="noStrike">
                <a:solidFill>
                  <a:srgbClr val="262626"/>
                </a:solidFill>
                <a:latin typeface="Arial"/>
              </a:rPr>
              <a:t>  the Structural Adjustment Programme imposed by the World Bank and the IMF weakened public services without successfully fostering private companies.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12 January 2010:</a:t>
            </a:r>
            <a:r>
              <a:rPr b="0" lang="en-US" sz="1700" spc="-1" strike="noStrike">
                <a:solidFill>
                  <a:srgbClr val="262626"/>
                </a:solidFill>
                <a:latin typeface="Arial"/>
              </a:rPr>
              <a:t>  the earthquake. A disorganised state with failed governance systems was ill-equipped to handle the aftermath.</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6"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HAITI</a:t>
            </a:r>
            <a:endParaRPr b="0" lang="en-US" sz="1200" spc="-1" strike="noStrike">
              <a:solidFill>
                <a:srgbClr val="000000"/>
              </a:solidFill>
              <a:latin typeface="Arial"/>
            </a:endParaRPr>
          </a:p>
        </p:txBody>
      </p:sp>
      <p:sp>
        <p:nvSpPr>
          <p:cNvPr id="147"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A Border You Can See From Space</a:t>
            </a:r>
            <a:endParaRPr b="0" lang="en-US" sz="3000" spc="-1" strike="noStrike">
              <a:solidFill>
                <a:srgbClr val="000000"/>
              </a:solidFill>
              <a:latin typeface="Arial"/>
            </a:endParaRPr>
          </a:p>
        </p:txBody>
      </p:sp>
      <p:sp>
        <p:nvSpPr>
          <p:cNvPr id="148" name="TextBox 4"/>
          <p:cNvSpPr/>
          <p:nvPr/>
        </p:nvSpPr>
        <p:spPr>
          <a:xfrm>
            <a:off x="822960" y="1783080"/>
            <a:ext cx="4072680" cy="3581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The sharp line is the border between Haiti (left) and the Dominican Republic (right).</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Haiti's forest cover has been stripped, largely for charcoal — the fuel poor households can afford.</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The trap:</a:t>
            </a:r>
            <a:r>
              <a:rPr b="0" lang="en-US" sz="1700" spc="-1" strike="noStrike">
                <a:solidFill>
                  <a:srgbClr val="262626"/>
                </a:solidFill>
                <a:latin typeface="Arial"/>
              </a:rPr>
              <a:t>  poverty drives deforestation; deforestation causes soil erosion and landslides; those destroy farmland and deepen poverty.</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Compare:</a:t>
            </a:r>
            <a:r>
              <a:rPr b="0" lang="en-US" sz="1700" spc="-1" strike="noStrike">
                <a:solidFill>
                  <a:srgbClr val="262626"/>
                </a:solidFill>
                <a:latin typeface="Arial"/>
              </a:rPr>
              <a:t>  Madagascar, later in this lesson, shows the same spiral.</a:t>
            </a:r>
            <a:endParaRPr b="0" lang="en-US" sz="1700" spc="-1" strike="noStrike">
              <a:solidFill>
                <a:srgbClr val="000000"/>
              </a:solidFill>
              <a:latin typeface="Arial"/>
            </a:endParaRPr>
          </a:p>
        </p:txBody>
      </p:sp>
      <p:pic>
        <p:nvPicPr>
          <p:cNvPr id="149" name="Picture 5" descr="p26_satellite.png"/>
          <p:cNvPicPr/>
          <p:nvPr/>
        </p:nvPicPr>
        <p:blipFill>
          <a:blip r:embed="rId1"/>
          <a:stretch/>
        </p:blipFill>
        <p:spPr>
          <a:xfrm>
            <a:off x="5171040" y="2922120"/>
            <a:ext cx="3331800" cy="1835640"/>
          </a:xfrm>
          <a:prstGeom prst="rect">
            <a:avLst/>
          </a:prstGeom>
          <a:ln w="0">
            <a:noFill/>
          </a:ln>
        </p:spPr>
      </p:pic>
      <p:sp>
        <p:nvSpPr>
          <p:cNvPr id="150" name="TextBox 6"/>
          <p:cNvSpPr/>
          <p:nvPr/>
        </p:nvSpPr>
        <p:spPr>
          <a:xfrm>
            <a:off x="5171040" y="5989320"/>
            <a:ext cx="333180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300" spc="-1" strike="noStrike">
                <a:solidFill>
                  <a:srgbClr val="555555"/>
                </a:solidFill>
                <a:latin typeface="Arial"/>
              </a:rPr>
              <a:t>Satellite image showing the extent of deforestation between the Republic of Haiti and the Dominican Republic.</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2"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HAITI</a:t>
            </a:r>
            <a:endParaRPr b="0" lang="en-US" sz="1200" spc="-1" strike="noStrike">
              <a:solidFill>
                <a:srgbClr val="000000"/>
              </a:solidFill>
              <a:latin typeface="Arial"/>
            </a:endParaRPr>
          </a:p>
        </p:txBody>
      </p:sp>
      <p:sp>
        <p:nvSpPr>
          <p:cNvPr id="153"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Tectonic Hazards: 2010</a:t>
            </a:r>
            <a:endParaRPr b="0" lang="en-US" sz="3000" spc="-1" strike="noStrike">
              <a:solidFill>
                <a:srgbClr val="000000"/>
              </a:solidFill>
              <a:latin typeface="Arial"/>
            </a:endParaRPr>
          </a:p>
        </p:txBody>
      </p:sp>
      <p:sp>
        <p:nvSpPr>
          <p:cNvPr id="154" name="TextBox 4"/>
          <p:cNvSpPr/>
          <p:nvPr/>
        </p:nvSpPr>
        <p:spPr>
          <a:xfrm>
            <a:off x="822960" y="1737360"/>
            <a:ext cx="7679880" cy="334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The earthquake:</a:t>
            </a:r>
            <a:r>
              <a:rPr b="0" lang="en-US" sz="1800" spc="-1" strike="noStrike">
                <a:solidFill>
                  <a:srgbClr val="262626"/>
                </a:solidFill>
                <a:latin typeface="Arial"/>
              </a:rPr>
              <a:t>  magnitude 7.2, it destroyed Port-au-Prince in 2010.</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Nearly 300,000 deaths</a:t>
            </a:r>
            <a:r>
              <a:rPr b="0" lang="en-US" sz="1800" spc="-1" strike="noStrike">
                <a:solidFill>
                  <a:srgbClr val="262626"/>
                </a:solidFill>
                <a:latin typeface="Arial"/>
              </a:rPr>
              <a:t>  and 1.2 million people made homeless — largely because of the rudimentary nature of the housing.</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Then cholera:</a:t>
            </a:r>
            <a:r>
              <a:rPr b="0" lang="en-US" sz="1800" spc="-1" strike="noStrike">
                <a:solidFill>
                  <a:srgbClr val="262626"/>
                </a:solidFill>
                <a:latin typeface="Arial"/>
              </a:rPr>
              <a:t>  an epidemic spread through the country. The lack of water treatment infected more than 800,000 people and caused 10,000 deaths.</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And again in 2016:</a:t>
            </a:r>
            <a:r>
              <a:rPr b="0" lang="en-US" sz="1800" spc="-1" strike="noStrike">
                <a:solidFill>
                  <a:srgbClr val="262626"/>
                </a:solidFill>
                <a:latin typeface="Arial"/>
              </a:rPr>
              <a:t>  the epidemic returned after Hurricane Matthew ravaged the south-west.</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The point:</a:t>
            </a:r>
            <a:r>
              <a:rPr b="0" lang="en-US" sz="1800" spc="-1" strike="noStrike">
                <a:solidFill>
                  <a:srgbClr val="262626"/>
                </a:solidFill>
                <a:latin typeface="Arial"/>
              </a:rPr>
              <a:t>  the hazard is natural; the scale of the disaster was human — poor housing, no water treatment, weak government.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6"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HAITI</a:t>
            </a:r>
            <a:endParaRPr b="0" lang="en-US" sz="1200" spc="-1" strike="noStrike">
              <a:solidFill>
                <a:srgbClr val="000000"/>
              </a:solidFill>
              <a:latin typeface="Arial"/>
            </a:endParaRPr>
          </a:p>
        </p:txBody>
      </p:sp>
      <p:sp>
        <p:nvSpPr>
          <p:cNvPr id="157"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A Vulnerable Territory</a:t>
            </a:r>
            <a:endParaRPr b="0" lang="en-US" sz="3000" spc="-1" strike="noStrike">
              <a:solidFill>
                <a:srgbClr val="000000"/>
              </a:solidFill>
              <a:latin typeface="Arial"/>
            </a:endParaRPr>
          </a:p>
        </p:txBody>
      </p:sp>
      <p:sp>
        <p:nvSpPr>
          <p:cNvPr id="158" name="TextBox 4"/>
          <p:cNvSpPr/>
          <p:nvPr/>
        </p:nvSpPr>
        <p:spPr>
          <a:xfrm>
            <a:off x="4800600" y="1783080"/>
            <a:ext cx="3702240" cy="3454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The same small country is exposed to hurricanes AND earthquakes — the 2010 quake zone and the Hurricane Matthew zone overlap.</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Economic activity concentrates in a few coastal points: Port-au-Prince, Cap-Haïtien, the border industrial free zone.</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Fragmented:</a:t>
            </a:r>
            <a:r>
              <a:rPr b="0" lang="en-US" sz="1700" spc="-1" strike="noStrike">
                <a:solidFill>
                  <a:srgbClr val="262626"/>
                </a:solidFill>
                <a:latin typeface="Arial"/>
              </a:rPr>
              <a:t>  few main routes, so a single damaged road can cut off a whole region from relief.</a:t>
            </a:r>
            <a:endParaRPr b="0" lang="en-US" sz="1700" spc="-1" strike="noStrike">
              <a:solidFill>
                <a:srgbClr val="000000"/>
              </a:solidFill>
              <a:latin typeface="Arial"/>
            </a:endParaRPr>
          </a:p>
        </p:txBody>
      </p:sp>
      <p:pic>
        <p:nvPicPr>
          <p:cNvPr id="159" name="Picture 5" descr="p26_haiti_map.png"/>
          <p:cNvPicPr/>
          <p:nvPr/>
        </p:nvPicPr>
        <p:blipFill>
          <a:blip r:embed="rId1"/>
          <a:stretch/>
        </p:blipFill>
        <p:spPr>
          <a:xfrm>
            <a:off x="822960" y="2839320"/>
            <a:ext cx="3702240" cy="236700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1"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HAITI</a:t>
            </a:r>
            <a:endParaRPr b="0" lang="en-US" sz="1200" spc="-1" strike="noStrike">
              <a:solidFill>
                <a:srgbClr val="000000"/>
              </a:solidFill>
              <a:latin typeface="Arial"/>
            </a:endParaRPr>
          </a:p>
        </p:txBody>
      </p:sp>
      <p:sp>
        <p:nvSpPr>
          <p:cNvPr id="162"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An Economy Without a Middle Step</a:t>
            </a:r>
            <a:endParaRPr b="0" lang="en-US" sz="3000" spc="-1" strike="noStrike">
              <a:solidFill>
                <a:srgbClr val="000000"/>
              </a:solidFill>
              <a:latin typeface="Arial"/>
            </a:endParaRPr>
          </a:p>
        </p:txBody>
      </p:sp>
      <p:sp>
        <p:nvSpPr>
          <p:cNvPr id="163" name="TextBox 4"/>
          <p:cNvSpPr/>
          <p:nvPr/>
        </p:nvSpPr>
        <p:spPr>
          <a:xfrm>
            <a:off x="4208040" y="1783080"/>
            <a:ext cx="4294800" cy="363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Primary 41.3%:</a:t>
            </a:r>
            <a:r>
              <a:rPr b="0" lang="en-US" sz="1600" spc="-1" strike="noStrike">
                <a:solidFill>
                  <a:srgbClr val="262626"/>
                </a:solidFill>
                <a:latin typeface="Arial"/>
              </a:rPr>
              <a:t>  agriculture 23.3%, forestry/fishing/livestock 11%, mining 7%.</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Secondary 12%:</a:t>
            </a:r>
            <a:r>
              <a:rPr b="0" lang="en-US" sz="1600" spc="-1" strike="noStrike">
                <a:solidFill>
                  <a:srgbClr val="262626"/>
                </a:solidFill>
                <a:latin typeface="Arial"/>
              </a:rPr>
              <a:t>  almost no manufacturing — so raw products are never turned into higher-value goods at home.</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Tertiary 46.7%:</a:t>
            </a:r>
            <a:r>
              <a:rPr b="0" lang="en-US" sz="1600" spc="-1" strike="noStrike">
                <a:solidFill>
                  <a:srgbClr val="262626"/>
                </a:solidFill>
                <a:latin typeface="Arial"/>
              </a:rPr>
              <a:t>  large, but much of it is low-paid informal services, not banking or technology.</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Link back:</a:t>
            </a:r>
            <a:r>
              <a:rPr b="0" lang="en-US" sz="1600" spc="-1" strike="noStrike">
                <a:solidFill>
                  <a:srgbClr val="262626"/>
                </a:solidFill>
                <a:latin typeface="Arial"/>
              </a:rPr>
              <a:t>  Lesson 5 — the Clark-Fisher model expects a country to shift primary → secondary → tertiary. Haiti has skipped the secondary step, which is where most jobs and value are usually created.</a:t>
            </a:r>
            <a:endParaRPr b="0" lang="en-US" sz="1600" spc="-1" strike="noStrike">
              <a:solidFill>
                <a:srgbClr val="000000"/>
              </a:solidFill>
              <a:latin typeface="Arial"/>
            </a:endParaRPr>
          </a:p>
        </p:txBody>
      </p:sp>
      <p:pic>
        <p:nvPicPr>
          <p:cNvPr id="164" name="Picture 5" descr="p26_piechart.png"/>
          <p:cNvPicPr/>
          <p:nvPr/>
        </p:nvPicPr>
        <p:blipFill>
          <a:blip r:embed="rId1"/>
          <a:stretch/>
        </p:blipFill>
        <p:spPr>
          <a:xfrm>
            <a:off x="822960" y="2972160"/>
            <a:ext cx="3109680" cy="21009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Rectangle 1"/>
          <p:cNvSpPr/>
          <p:nvPr/>
        </p:nvSpPr>
        <p:spPr>
          <a:xfrm>
            <a:off x="0" y="0"/>
            <a:ext cx="914292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 name="TextBox 2"/>
          <p:cNvSpPr/>
          <p:nvPr/>
        </p:nvSpPr>
        <p:spPr>
          <a:xfrm>
            <a:off x="822960" y="2286000"/>
            <a:ext cx="7679880" cy="1730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400"/>
              </a:spcAft>
            </a:pPr>
            <a:r>
              <a:rPr b="1" lang="en-US" sz="1400" spc="-1" strike="noStrike">
                <a:solidFill>
                  <a:srgbClr val="ffffff"/>
                </a:solidFill>
                <a:latin typeface="Arial"/>
              </a:rPr>
              <a:t>CASE STUDY — 2</a:t>
            </a:r>
            <a:endParaRPr b="0" lang="en-US" sz="1400" spc="-1" strike="noStrike">
              <a:solidFill>
                <a:srgbClr val="000000"/>
              </a:solidFill>
              <a:latin typeface="Arial"/>
            </a:endParaRPr>
          </a:p>
          <a:p>
            <a:pPr defTabSz="457200">
              <a:lnSpc>
                <a:spcPct val="100000"/>
              </a:lnSpc>
              <a:spcAft>
                <a:spcPts val="1199"/>
              </a:spcAft>
            </a:pPr>
            <a:r>
              <a:rPr b="1" lang="en-US" sz="3400" spc="-1" strike="noStrike">
                <a:solidFill>
                  <a:srgbClr val="ffffff"/>
                </a:solidFill>
                <a:latin typeface="Verdana"/>
              </a:rPr>
              <a:t>The Resource Curse</a:t>
            </a:r>
            <a:endParaRPr b="0" lang="en-US" sz="3400" spc="-1" strike="noStrike">
              <a:solidFill>
                <a:srgbClr val="000000"/>
              </a:solidFill>
              <a:latin typeface="Arial"/>
            </a:endParaRPr>
          </a:p>
          <a:p>
            <a:pPr defTabSz="457200">
              <a:lnSpc>
                <a:spcPct val="100000"/>
              </a:lnSpc>
            </a:pPr>
            <a:r>
              <a:rPr b="0" lang="en-US" sz="1900" spc="-1" strike="noStrike">
                <a:solidFill>
                  <a:srgbClr val="ffffff"/>
                </a:solidFill>
                <a:latin typeface="Arial"/>
              </a:rPr>
              <a:t>Why having the most valuable rocks on Earth doesn't make you rich — textbook p.28</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8"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RESOURCE CURSE</a:t>
            </a:r>
            <a:endParaRPr b="0" lang="en-US" sz="1200" spc="-1" strike="noStrike">
              <a:solidFill>
                <a:srgbClr val="000000"/>
              </a:solidFill>
              <a:latin typeface="Arial"/>
            </a:endParaRPr>
          </a:p>
        </p:txBody>
      </p:sp>
      <p:sp>
        <p:nvSpPr>
          <p:cNvPr id="169"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The Democratic Republic of the Congo</a:t>
            </a:r>
            <a:endParaRPr b="0" lang="en-US" sz="3000" spc="-1" strike="noStrike">
              <a:solidFill>
                <a:srgbClr val="000000"/>
              </a:solidFill>
              <a:latin typeface="Arial"/>
            </a:endParaRPr>
          </a:p>
        </p:txBody>
      </p:sp>
      <p:sp>
        <p:nvSpPr>
          <p:cNvPr id="170" name="TextBox 4"/>
          <p:cNvSpPr/>
          <p:nvPr/>
        </p:nvSpPr>
        <p:spPr>
          <a:xfrm>
            <a:off x="4356360" y="1783080"/>
            <a:ext cx="4146480" cy="3322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Diamonds, gold, uranium, tin, manganese, lead/zinc, coal, oil — and copper/cobalt, the metals every electric-car battery needs.</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By mineral wealth the DRC is one of the richest countries on the planet.</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And yet:</a:t>
            </a:r>
            <a:r>
              <a:rPr b="0" lang="en-US" sz="1700" spc="-1" strike="noStrike">
                <a:solidFill>
                  <a:srgbClr val="262626"/>
                </a:solidFill>
                <a:latin typeface="Arial"/>
              </a:rPr>
              <a:t>  it is consistently among the lowest-ranked countries for HDI.</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DESCRIBE it:</a:t>
            </a:r>
            <a:r>
              <a:rPr b="0" lang="en-US" sz="1700" spc="-1" strike="noStrike">
                <a:solidFill>
                  <a:srgbClr val="262626"/>
                </a:solidFill>
                <a:latin typeface="Arial"/>
              </a:rPr>
              <a:t>  the resources cluster in the south and east — the same regions with the longest history of armed conflict.</a:t>
            </a:r>
            <a:endParaRPr b="0" lang="en-US" sz="1700" spc="-1" strike="noStrike">
              <a:solidFill>
                <a:srgbClr val="000000"/>
              </a:solidFill>
              <a:latin typeface="Arial"/>
            </a:endParaRPr>
          </a:p>
        </p:txBody>
      </p:sp>
      <p:pic>
        <p:nvPicPr>
          <p:cNvPr id="171" name="Picture 5" descr="p28_drc_map.png"/>
          <p:cNvPicPr/>
          <p:nvPr/>
        </p:nvPicPr>
        <p:blipFill>
          <a:blip r:embed="rId1"/>
          <a:stretch/>
        </p:blipFill>
        <p:spPr>
          <a:xfrm>
            <a:off x="822960" y="2268720"/>
            <a:ext cx="3258000" cy="350856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3"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RESOURCE CURSE</a:t>
            </a:r>
            <a:endParaRPr b="0" lang="en-US" sz="1200" spc="-1" strike="noStrike">
              <a:solidFill>
                <a:srgbClr val="000000"/>
              </a:solidFill>
              <a:latin typeface="Arial"/>
            </a:endParaRPr>
          </a:p>
        </p:txBody>
      </p:sp>
      <p:sp>
        <p:nvSpPr>
          <p:cNvPr id="174"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How the Curse Works</a:t>
            </a:r>
            <a:endParaRPr b="0" lang="en-US" sz="3000" spc="-1" strike="noStrike">
              <a:solidFill>
                <a:srgbClr val="000000"/>
              </a:solidFill>
              <a:latin typeface="Arial"/>
            </a:endParaRPr>
          </a:p>
        </p:txBody>
      </p:sp>
      <p:sp>
        <p:nvSpPr>
          <p:cNvPr id="175" name="TextBox 4"/>
          <p:cNvSpPr/>
          <p:nvPr/>
        </p:nvSpPr>
        <p:spPr>
          <a:xfrm>
            <a:off x="822960" y="1737360"/>
            <a:ext cx="7679880" cy="3708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Conflict:</a:t>
            </a:r>
            <a:r>
              <a:rPr b="0" lang="en-US" sz="1700" spc="-1" strike="noStrike">
                <a:solidFill>
                  <a:srgbClr val="262626"/>
                </a:solidFill>
                <a:latin typeface="Arial"/>
              </a:rPr>
              <a:t>  valuable resources create something worth fighting for. Groups fight for control of resource revenues, which breeds corruption and concentrates power in the hands of a few elites.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Volatility:</a:t>
            </a:r>
            <a:r>
              <a:rPr b="0" lang="en-US" sz="1700" spc="-1" strike="noStrike">
                <a:solidFill>
                  <a:srgbClr val="262626"/>
                </a:solidFill>
                <a:latin typeface="Arial"/>
              </a:rPr>
              <a:t>  heavy reliance on resource exports exposes the whole economy to swings in global commodity prices — boom-and-bust cycles.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No diversification:</a:t>
            </a:r>
            <a:r>
              <a:rPr b="0" lang="en-US" sz="1700" spc="-1" strike="noStrike">
                <a:solidFill>
                  <a:srgbClr val="262626"/>
                </a:solidFill>
                <a:latin typeface="Arial"/>
              </a:rPr>
              <a:t>  the resource sector crowds out the others, so there are few alternative industries and few jobs.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Weak institutions:</a:t>
            </a:r>
            <a:r>
              <a:rPr b="0" lang="en-US" sz="1700" spc="-1" strike="noStrike">
                <a:solidFill>
                  <a:srgbClr val="262626"/>
                </a:solidFill>
                <a:latin typeface="Arial"/>
              </a:rPr>
              <a:t>  poor governance, lack of transparency and ineffective institutions make all of the above worse.</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The headline:</a:t>
            </a:r>
            <a:r>
              <a:rPr b="0" lang="en-US" sz="1700" spc="-1" strike="noStrike">
                <a:solidFill>
                  <a:srgbClr val="262626"/>
                </a:solidFill>
                <a:latin typeface="Arial"/>
              </a:rPr>
              <a:t>  resource-rich countries tend to have MORE conflict and authoritarianism and LESS stability and growth than resource-poor neighbours.</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7"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RESOURCE CURSE</a:t>
            </a:r>
            <a:endParaRPr b="0" lang="en-US" sz="1200" spc="-1" strike="noStrike">
              <a:solidFill>
                <a:srgbClr val="000000"/>
              </a:solidFill>
              <a:latin typeface="Arial"/>
            </a:endParaRPr>
          </a:p>
        </p:txBody>
      </p:sp>
      <p:sp>
        <p:nvSpPr>
          <p:cNvPr id="178" name="TextBox 3"/>
          <p:cNvSpPr/>
          <p:nvPr/>
        </p:nvSpPr>
        <p:spPr>
          <a:xfrm>
            <a:off x="822960" y="621720"/>
            <a:ext cx="767988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Who Holds the Government to Account?</a:t>
            </a:r>
            <a:endParaRPr b="0" lang="en-US" sz="3000" spc="-1" strike="noStrike">
              <a:solidFill>
                <a:srgbClr val="000000"/>
              </a:solidFill>
              <a:latin typeface="Arial"/>
            </a:endParaRPr>
          </a:p>
        </p:txBody>
      </p:sp>
      <p:sp>
        <p:nvSpPr>
          <p:cNvPr id="179" name="TextBox 4"/>
          <p:cNvSpPr/>
          <p:nvPr/>
        </p:nvSpPr>
        <p:spPr>
          <a:xfrm>
            <a:off x="822960" y="1737360"/>
            <a:ext cx="7679880" cy="1704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1" lang="en-US" sz="1600" spc="-1" strike="noStrike">
                <a:solidFill>
                  <a:srgbClr val="1b4f72"/>
                </a:solidFill>
                <a:latin typeface="Arial"/>
              </a:rPr>
              <a:t>•  </a:t>
            </a:r>
            <a:r>
              <a:rPr b="1" lang="en-US" sz="1600" spc="-1" strike="noStrike">
                <a:solidFill>
                  <a:srgbClr val="1b4f72"/>
                </a:solidFill>
                <a:latin typeface="Arial"/>
              </a:rPr>
              <a:t>No resources:</a:t>
            </a:r>
            <a:r>
              <a:rPr b="0" lang="en-US" sz="1600" spc="-1" strike="noStrike">
                <a:solidFill>
                  <a:srgbClr val="262626"/>
                </a:solidFill>
                <a:latin typeface="Arial"/>
              </a:rPr>
              <a:t>  citizens pay the taxes, so citizens expect to see where the money goes — and scrutinise the spending.</a:t>
            </a:r>
            <a:endParaRPr b="0" lang="en-US" sz="1600" spc="-1" strike="noStrike">
              <a:solidFill>
                <a:srgbClr val="000000"/>
              </a:solidFill>
              <a:latin typeface="Arial"/>
            </a:endParaRPr>
          </a:p>
          <a:p>
            <a:pPr defTabSz="457200">
              <a:lnSpc>
                <a:spcPct val="100000"/>
              </a:lnSpc>
              <a:spcAft>
                <a:spcPts val="601"/>
              </a:spcAft>
            </a:pPr>
            <a:r>
              <a:rPr b="1" lang="en-US" sz="1600" spc="-1" strike="noStrike">
                <a:solidFill>
                  <a:srgbClr val="1b4f72"/>
                </a:solidFill>
                <a:latin typeface="Arial"/>
              </a:rPr>
              <a:t>•  </a:t>
            </a:r>
            <a:r>
              <a:rPr b="1" lang="en-US" sz="1600" spc="-1" strike="noStrike">
                <a:solidFill>
                  <a:srgbClr val="1b4f72"/>
                </a:solidFill>
                <a:latin typeface="Arial"/>
              </a:rPr>
              <a:t>Resource-rich:</a:t>
            </a:r>
            <a:r>
              <a:rPr b="0" lang="en-US" sz="1600" spc="-1" strike="noStrike">
                <a:solidFill>
                  <a:srgbClr val="262626"/>
                </a:solidFill>
                <a:latin typeface="Arial"/>
              </a:rPr>
              <a:t>  extractive industries pay instead. Citizens no longer fund the state, so that link of accountability breaks — hence the question mark.</a:t>
            </a:r>
            <a:endParaRPr b="0" lang="en-US" sz="1600" spc="-1" strike="noStrike">
              <a:solidFill>
                <a:srgbClr val="000000"/>
              </a:solidFill>
              <a:latin typeface="Arial"/>
            </a:endParaRPr>
          </a:p>
          <a:p>
            <a:pPr defTabSz="457200">
              <a:lnSpc>
                <a:spcPct val="100000"/>
              </a:lnSpc>
              <a:spcAft>
                <a:spcPts val="601"/>
              </a:spcAft>
            </a:pPr>
            <a:r>
              <a:rPr b="1" lang="en-US" sz="1600" spc="-1" strike="noStrike">
                <a:solidFill>
                  <a:srgbClr val="1b4f72"/>
                </a:solidFill>
                <a:latin typeface="Arial"/>
              </a:rPr>
              <a:t>•  </a:t>
            </a:r>
            <a:r>
              <a:rPr b="1" lang="en-US" sz="1600" spc="-1" strike="noStrike">
                <a:solidFill>
                  <a:srgbClr val="1b4f72"/>
                </a:solidFill>
                <a:latin typeface="Arial"/>
              </a:rPr>
              <a:t>The principle:</a:t>
            </a:r>
            <a:r>
              <a:rPr b="0" lang="en-US" sz="1600" spc="-1" strike="noStrike">
                <a:solidFill>
                  <a:srgbClr val="262626"/>
                </a:solidFill>
                <a:latin typeface="Arial"/>
              </a:rPr>
              <a:t>  'no taxation, no representation.' A government that does not need your money does not need your approval either.</a:t>
            </a:r>
            <a:endParaRPr b="0" lang="en-US" sz="1600" spc="-1" strike="noStrike">
              <a:solidFill>
                <a:srgbClr val="000000"/>
              </a:solidFill>
              <a:latin typeface="Arial"/>
            </a:endParaRPr>
          </a:p>
        </p:txBody>
      </p:sp>
      <p:pic>
        <p:nvPicPr>
          <p:cNvPr id="180" name="Picture 5" descr="p28_oversight.png"/>
          <p:cNvPicPr/>
          <p:nvPr/>
        </p:nvPicPr>
        <p:blipFill>
          <a:blip r:embed="rId1"/>
          <a:stretch/>
        </p:blipFill>
        <p:spPr>
          <a:xfrm>
            <a:off x="1842840" y="3886200"/>
            <a:ext cx="5640480" cy="255924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Rectangle 1"/>
          <p:cNvSpPr/>
          <p:nvPr/>
        </p:nvSpPr>
        <p:spPr>
          <a:xfrm>
            <a:off x="0" y="0"/>
            <a:ext cx="914292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 name="TextBox 2"/>
          <p:cNvSpPr/>
          <p:nvPr/>
        </p:nvSpPr>
        <p:spPr>
          <a:xfrm>
            <a:off x="822960" y="2286000"/>
            <a:ext cx="7679880" cy="1440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400"/>
              </a:spcAft>
            </a:pPr>
            <a:r>
              <a:rPr b="1" lang="en-US" sz="1400" spc="-1" strike="noStrike">
                <a:solidFill>
                  <a:srgbClr val="ffffff"/>
                </a:solidFill>
                <a:latin typeface="Arial"/>
              </a:rPr>
              <a:t>CASE STUDY — 3</a:t>
            </a:r>
            <a:endParaRPr b="0" lang="en-US" sz="1400" spc="-1" strike="noStrike">
              <a:solidFill>
                <a:srgbClr val="000000"/>
              </a:solidFill>
              <a:latin typeface="Arial"/>
            </a:endParaRPr>
          </a:p>
          <a:p>
            <a:pPr defTabSz="457200">
              <a:lnSpc>
                <a:spcPct val="100000"/>
              </a:lnSpc>
              <a:spcAft>
                <a:spcPts val="1199"/>
              </a:spcAft>
            </a:pPr>
            <a:r>
              <a:rPr b="1" lang="en-US" sz="3400" spc="-1" strike="noStrike">
                <a:solidFill>
                  <a:srgbClr val="ffffff"/>
                </a:solidFill>
                <a:latin typeface="Verdana"/>
              </a:rPr>
              <a:t>Development and Climate</a:t>
            </a:r>
            <a:endParaRPr b="0" lang="en-US" sz="3400" spc="-1" strike="noStrike">
              <a:solidFill>
                <a:srgbClr val="000000"/>
              </a:solidFill>
              <a:latin typeface="Arial"/>
            </a:endParaRPr>
          </a:p>
          <a:p>
            <a:pPr defTabSz="457200">
              <a:lnSpc>
                <a:spcPct val="100000"/>
              </a:lnSpc>
            </a:pPr>
            <a:r>
              <a:rPr b="0" lang="en-US" sz="1900" spc="-1" strike="noStrike">
                <a:solidFill>
                  <a:srgbClr val="ffffff"/>
                </a:solidFill>
                <a:latin typeface="Arial"/>
              </a:rPr>
              <a:t>The countries least responsible are hit hardest — textbook p.29</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CLIMATE</a:t>
            </a:r>
            <a:endParaRPr b="0" lang="en-US" sz="1200" spc="-1" strike="noStrike">
              <a:solidFill>
                <a:srgbClr val="000000"/>
              </a:solidFill>
              <a:latin typeface="Arial"/>
            </a:endParaRPr>
          </a:p>
        </p:txBody>
      </p:sp>
      <p:sp>
        <p:nvSpPr>
          <p:cNvPr id="185"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Record-Breaking Storms</a:t>
            </a:r>
            <a:endParaRPr b="0" lang="en-US" sz="3000" spc="-1" strike="noStrike">
              <a:solidFill>
                <a:srgbClr val="000000"/>
              </a:solidFill>
              <a:latin typeface="Arial"/>
            </a:endParaRPr>
          </a:p>
        </p:txBody>
      </p:sp>
      <p:sp>
        <p:nvSpPr>
          <p:cNvPr id="186" name="TextBox 4"/>
          <p:cNvSpPr/>
          <p:nvPr/>
        </p:nvSpPr>
        <p:spPr>
          <a:xfrm>
            <a:off x="822960" y="1783080"/>
            <a:ext cx="4072680" cy="3454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The Caribbean recorded 30 tropical storms in a single season, including 6 major hurricanes. The World Meteorological Organisation says the region is still recovering.</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On islands like Antigua and Barbuda, many buildings simply could not withstand the intense winds.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Why it blocks development:</a:t>
            </a:r>
            <a:r>
              <a:rPr b="0" lang="en-US" sz="1700" spc="-1" strike="noStrike">
                <a:solidFill>
                  <a:srgbClr val="262626"/>
                </a:solidFill>
                <a:latin typeface="Arial"/>
              </a:rPr>
              <a:t>  money that should build schools is spent rebuilding what already existed. Development runs to stand still.</a:t>
            </a:r>
            <a:endParaRPr b="0" lang="en-US" sz="1700" spc="-1" strike="noStrike">
              <a:solidFill>
                <a:srgbClr val="000000"/>
              </a:solidFill>
              <a:latin typeface="Arial"/>
            </a:endParaRPr>
          </a:p>
        </p:txBody>
      </p:sp>
      <p:pic>
        <p:nvPicPr>
          <p:cNvPr id="187" name="Picture 5" descr="p29_hurricane.png"/>
          <p:cNvPicPr/>
          <p:nvPr/>
        </p:nvPicPr>
        <p:blipFill>
          <a:blip r:embed="rId1"/>
          <a:stretch/>
        </p:blipFill>
        <p:spPr>
          <a:xfrm>
            <a:off x="5171040" y="2896920"/>
            <a:ext cx="3331800" cy="1886040"/>
          </a:xfrm>
          <a:prstGeom prst="rect">
            <a:avLst/>
          </a:prstGeom>
          <a:ln w="0">
            <a:noFill/>
          </a:ln>
        </p:spPr>
      </p:pic>
      <p:sp>
        <p:nvSpPr>
          <p:cNvPr id="188" name="TextBox 6"/>
          <p:cNvSpPr/>
          <p:nvPr/>
        </p:nvSpPr>
        <p:spPr>
          <a:xfrm>
            <a:off x="5171040" y="5989320"/>
            <a:ext cx="333180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300" spc="-1" strike="noStrike">
                <a:solidFill>
                  <a:srgbClr val="555555"/>
                </a:solidFill>
                <a:latin typeface="Arial"/>
              </a:rPr>
              <a:t>Source: BBC.</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CLIMATE</a:t>
            </a:r>
            <a:endParaRPr b="0" lang="en-US" sz="1200" spc="-1" strike="noStrike">
              <a:solidFill>
                <a:srgbClr val="000000"/>
              </a:solidFill>
              <a:latin typeface="Arial"/>
            </a:endParaRPr>
          </a:p>
        </p:txBody>
      </p:sp>
      <p:sp>
        <p:nvSpPr>
          <p:cNvPr id="191"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Adaptation That Isn't Enough</a:t>
            </a:r>
            <a:endParaRPr b="0" lang="en-US" sz="3000" spc="-1" strike="noStrike">
              <a:solidFill>
                <a:srgbClr val="000000"/>
              </a:solidFill>
              <a:latin typeface="Arial"/>
            </a:endParaRPr>
          </a:p>
        </p:txBody>
      </p:sp>
      <p:sp>
        <p:nvSpPr>
          <p:cNvPr id="192" name="Rectangle 4"/>
          <p:cNvSpPr/>
          <p:nvPr/>
        </p:nvSpPr>
        <p:spPr>
          <a:xfrm>
            <a:off x="822960" y="1737360"/>
            <a:ext cx="3780000" cy="47538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3" name="TextBox 5"/>
          <p:cNvSpPr/>
          <p:nvPr/>
        </p:nvSpPr>
        <p:spPr>
          <a:xfrm>
            <a:off x="960120" y="1874520"/>
            <a:ext cx="3505680" cy="2995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Uganda</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Communities in the Rwenzori region face landslides and floods.</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They dug trenches and planted trees to prevent soil erosion — genuine, local resilience-building.</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But rains are intensifying. Sudden floods overwhelm the defences and sweep the trenches away.</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Adaptation can be outpaced by the hazard it was built for.</a:t>
            </a:r>
            <a:endParaRPr b="0" lang="en-US" sz="1500" spc="-1" strike="noStrike">
              <a:solidFill>
                <a:srgbClr val="000000"/>
              </a:solidFill>
              <a:latin typeface="Arial"/>
            </a:endParaRPr>
          </a:p>
        </p:txBody>
      </p:sp>
      <p:sp>
        <p:nvSpPr>
          <p:cNvPr id="194" name="Rectangle 6"/>
          <p:cNvSpPr/>
          <p:nvPr/>
        </p:nvSpPr>
        <p:spPr>
          <a:xfrm>
            <a:off x="4722840" y="1737360"/>
            <a:ext cx="3780000" cy="47538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5" name="TextBox 7"/>
          <p:cNvSpPr/>
          <p:nvPr/>
        </p:nvSpPr>
        <p:spPr>
          <a:xfrm>
            <a:off x="4860000" y="1874520"/>
            <a:ext cx="3505680" cy="2995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Madagascar</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Deforestation has badly damaged the local environment and wildlife.</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Biodiversity has declined significantly.</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Lost forest cover has caused soil erosion, water pollution and higher greenhouse emissions.</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A LIC already suffering poverty and hunger: HDI 0.501 in 2021, 173rd in the world.</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7"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CLIMATE</a:t>
            </a:r>
            <a:endParaRPr b="0" lang="en-US" sz="1200" spc="-1" strike="noStrike">
              <a:solidFill>
                <a:srgbClr val="000000"/>
              </a:solidFill>
              <a:latin typeface="Arial"/>
            </a:endParaRPr>
          </a:p>
        </p:txBody>
      </p:sp>
      <p:sp>
        <p:nvSpPr>
          <p:cNvPr id="198"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Madagascar: Clearing the Forest</a:t>
            </a:r>
            <a:endParaRPr b="0" lang="en-US" sz="3000" spc="-1" strike="noStrike">
              <a:solidFill>
                <a:srgbClr val="000000"/>
              </a:solidFill>
              <a:latin typeface="Arial"/>
            </a:endParaRPr>
          </a:p>
        </p:txBody>
      </p:sp>
      <p:sp>
        <p:nvSpPr>
          <p:cNvPr id="199" name="TextBox 4"/>
          <p:cNvSpPr/>
          <p:nvPr/>
        </p:nvSpPr>
        <p:spPr>
          <a:xfrm>
            <a:off x="4430160" y="1783080"/>
            <a:ext cx="4072680" cy="3581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Forest is cleared and burned for farmland and charcoal.</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The soil it held in place then erodes, so the new farmland fails within a few seasons — and more forest is cleared.</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Same spiral as Haiti:</a:t>
            </a:r>
            <a:r>
              <a:rPr b="0" lang="en-US" sz="1700" spc="-1" strike="noStrike">
                <a:solidFill>
                  <a:srgbClr val="262626"/>
                </a:solidFill>
                <a:latin typeface="Arial"/>
              </a:rPr>
              <a:t>  poverty forces short-term use of the environment, which destroys the long-term basis for development.</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EXPLAIN it:</a:t>
            </a:r>
            <a:r>
              <a:rPr b="0" lang="en-US" sz="1700" spc="-1" strike="noStrike">
                <a:solidFill>
                  <a:srgbClr val="262626"/>
                </a:solidFill>
                <a:latin typeface="Arial"/>
              </a:rPr>
              <a:t>  this is why 'environmental' and 'economic' obstacles cannot be separated.</a:t>
            </a:r>
            <a:endParaRPr b="0" lang="en-US" sz="1700" spc="-1" strike="noStrike">
              <a:solidFill>
                <a:srgbClr val="000000"/>
              </a:solidFill>
              <a:latin typeface="Arial"/>
            </a:endParaRPr>
          </a:p>
        </p:txBody>
      </p:sp>
      <p:pic>
        <p:nvPicPr>
          <p:cNvPr id="200" name="Picture 5" descr="p29_madagascar.png"/>
          <p:cNvPicPr/>
          <p:nvPr/>
        </p:nvPicPr>
        <p:blipFill>
          <a:blip r:embed="rId1"/>
          <a:stretch/>
        </p:blipFill>
        <p:spPr>
          <a:xfrm>
            <a:off x="822960" y="2929680"/>
            <a:ext cx="3331800" cy="218628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2"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CLIMATE</a:t>
            </a:r>
            <a:endParaRPr b="0" lang="en-US" sz="1200" spc="-1" strike="noStrike">
              <a:solidFill>
                <a:srgbClr val="000000"/>
              </a:solidFill>
              <a:latin typeface="Arial"/>
            </a:endParaRPr>
          </a:p>
        </p:txBody>
      </p:sp>
      <p:sp>
        <p:nvSpPr>
          <p:cNvPr id="203"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A Question of Speed</a:t>
            </a:r>
            <a:endParaRPr b="0" lang="en-US" sz="3000" spc="-1" strike="noStrike">
              <a:solidFill>
                <a:srgbClr val="000000"/>
              </a:solidFill>
              <a:latin typeface="Arial"/>
            </a:endParaRPr>
          </a:p>
        </p:txBody>
      </p:sp>
      <p:sp>
        <p:nvSpPr>
          <p:cNvPr id="204" name="TextBox 4"/>
          <p:cNvSpPr/>
          <p:nvPr/>
        </p:nvSpPr>
        <p:spPr>
          <a:xfrm>
            <a:off x="822960" y="1737360"/>
            <a:ext cx="7679880" cy="3581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2020:</a:t>
            </a:r>
            <a:r>
              <a:rPr b="0" lang="en-US" sz="1700" spc="-1" strike="noStrike">
                <a:solidFill>
                  <a:srgbClr val="262626"/>
                </a:solidFill>
                <a:latin typeface="Arial"/>
              </a:rPr>
              <a:t>  the world recorded its highest temperatures since records began in 1880, attributed to human-induced greenhouse gas emissions.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A shift:</a:t>
            </a:r>
            <a:r>
              <a:rPr b="0" lang="en-US" sz="1700" spc="-1" strike="noStrike">
                <a:solidFill>
                  <a:srgbClr val="262626"/>
                </a:solidFill>
                <a:latin typeface="Arial"/>
              </a:rPr>
              <a:t>  Europe and North America were historically the major contributors, but developing and emerging countries — including China — have now surpassed developed countries in CO₂ emissions. In Africa emissions have risen over 25 years while industrialised countries' emissions fell.</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The real risk:</a:t>
            </a:r>
            <a:r>
              <a:rPr b="0" lang="en-US" sz="1700" spc="-1" strike="noStrike">
                <a:solidFill>
                  <a:srgbClr val="262626"/>
                </a:solidFill>
                <a:latin typeface="Arial"/>
              </a:rPr>
              <a:t>  if the pace of climate change exceeds a society's ability to adapt, the result is an unsustainable crisis. Societies are slow — there is inertia in technology, politics and consumer habits.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Syria, 2007-2010:</a:t>
            </a:r>
            <a:r>
              <a:rPr b="0" lang="en-US" sz="1700" spc="-1" strike="noStrike">
                <a:solidFill>
                  <a:srgbClr val="262626"/>
                </a:solidFill>
                <a:latin typeface="Arial"/>
              </a:rPr>
              <a:t>  drought is cited as a contributing factor to the tragedy since 2011. It drove massive rural-to-urban migration which, unsupported by the government, fed social unrest.</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Rectangle 1"/>
          <p:cNvSpPr/>
          <p:nvPr/>
        </p:nvSpPr>
        <p:spPr>
          <a:xfrm>
            <a:off x="0" y="0"/>
            <a:ext cx="914292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6" name="TextBox 2"/>
          <p:cNvSpPr/>
          <p:nvPr/>
        </p:nvSpPr>
        <p:spPr>
          <a:xfrm>
            <a:off x="822960" y="2286000"/>
            <a:ext cx="7679880" cy="2248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400"/>
              </a:spcAft>
            </a:pPr>
            <a:r>
              <a:rPr b="1" lang="en-US" sz="1400" spc="-1" strike="noStrike">
                <a:solidFill>
                  <a:srgbClr val="ffffff"/>
                </a:solidFill>
                <a:latin typeface="Arial"/>
              </a:rPr>
              <a:t>CASE STUDY — 4</a:t>
            </a:r>
            <a:endParaRPr b="0" lang="en-US" sz="1400" spc="-1" strike="noStrike">
              <a:solidFill>
                <a:srgbClr val="000000"/>
              </a:solidFill>
              <a:latin typeface="Arial"/>
            </a:endParaRPr>
          </a:p>
          <a:p>
            <a:pPr defTabSz="457200">
              <a:lnSpc>
                <a:spcPct val="100000"/>
              </a:lnSpc>
              <a:spcAft>
                <a:spcPts val="1199"/>
              </a:spcAft>
            </a:pPr>
            <a:r>
              <a:rPr b="1" lang="en-US" sz="3400" spc="-1" strike="noStrike">
                <a:solidFill>
                  <a:srgbClr val="ffffff"/>
                </a:solidFill>
                <a:latin typeface="Verdana"/>
              </a:rPr>
              <a:t>Wealth and Social Inequality in Mexico</a:t>
            </a:r>
            <a:endParaRPr b="0" lang="en-US" sz="3400" spc="-1" strike="noStrike">
              <a:solidFill>
                <a:srgbClr val="000000"/>
              </a:solidFill>
              <a:latin typeface="Arial"/>
            </a:endParaRPr>
          </a:p>
          <a:p>
            <a:pPr defTabSz="457200">
              <a:lnSpc>
                <a:spcPct val="100000"/>
              </a:lnSpc>
            </a:pPr>
            <a:r>
              <a:rPr b="0" lang="en-US" sz="1900" spc="-1" strike="noStrike">
                <a:solidFill>
                  <a:srgbClr val="ffffff"/>
                </a:solidFill>
                <a:latin typeface="Arial"/>
              </a:rPr>
              <a:t>A middle-income country where growth has not been shared — textbook pp.30-31</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8"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MEXICO</a:t>
            </a:r>
            <a:endParaRPr b="0" lang="en-US" sz="1200" spc="-1" strike="noStrike">
              <a:solidFill>
                <a:srgbClr val="000000"/>
              </a:solidFill>
              <a:latin typeface="Arial"/>
            </a:endParaRPr>
          </a:p>
        </p:txBody>
      </p:sp>
      <p:sp>
        <p:nvSpPr>
          <p:cNvPr id="209"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Forty Years of Growth</a:t>
            </a:r>
            <a:endParaRPr b="0" lang="en-US" sz="3000" spc="-1" strike="noStrike">
              <a:solidFill>
                <a:srgbClr val="000000"/>
              </a:solidFill>
              <a:latin typeface="Arial"/>
            </a:endParaRPr>
          </a:p>
        </p:txBody>
      </p:sp>
      <p:sp>
        <p:nvSpPr>
          <p:cNvPr id="210" name="TextBox 4"/>
          <p:cNvSpPr/>
          <p:nvPr/>
        </p:nvSpPr>
        <p:spPr>
          <a:xfrm>
            <a:off x="822960" y="1783080"/>
            <a:ext cx="4072680" cy="3840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Mexico's GDP has grown roughly five-fold since 1980.</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So:</a:t>
            </a:r>
            <a:r>
              <a:rPr b="0" lang="en-US" sz="1700" spc="-1" strike="noStrike">
                <a:solidFill>
                  <a:srgbClr val="262626"/>
                </a:solidFill>
                <a:latin typeface="Arial"/>
              </a:rPr>
              <a:t>  this is NOT a country short of money. By total output it is one of the world's larger economies.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DESCRIBE it:</a:t>
            </a:r>
            <a:r>
              <a:rPr b="0" lang="en-US" sz="1700" spc="-1" strike="noStrike">
                <a:solidFill>
                  <a:srgbClr val="262626"/>
                </a:solidFill>
                <a:latin typeface="Arial"/>
              </a:rPr>
              <a:t>  overall upward trend, with sharp dips around 1995 and 2009 — the peso crisis and the global financial crisis.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The question:</a:t>
            </a:r>
            <a:r>
              <a:rPr b="0" lang="en-US" sz="1700" spc="-1" strike="noStrike">
                <a:solidFill>
                  <a:srgbClr val="262626"/>
                </a:solidFill>
                <a:latin typeface="Arial"/>
              </a:rPr>
              <a:t>  if the economy grew this much, why are 44% of Mexicans still poor? That is a distribution problem, not a growth problem.</a:t>
            </a:r>
            <a:endParaRPr b="0" lang="en-US" sz="1700" spc="-1" strike="noStrike">
              <a:solidFill>
                <a:srgbClr val="000000"/>
              </a:solidFill>
              <a:latin typeface="Arial"/>
            </a:endParaRPr>
          </a:p>
        </p:txBody>
      </p:sp>
      <p:pic>
        <p:nvPicPr>
          <p:cNvPr id="211" name="Picture 5" descr="p30_gdp_graph.png"/>
          <p:cNvPicPr/>
          <p:nvPr/>
        </p:nvPicPr>
        <p:blipFill>
          <a:blip r:embed="rId1"/>
          <a:stretch/>
        </p:blipFill>
        <p:spPr>
          <a:xfrm>
            <a:off x="5171040" y="3300120"/>
            <a:ext cx="3331800" cy="144540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3"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MEXICO</a:t>
            </a:r>
            <a:endParaRPr b="0" lang="en-US" sz="1200" spc="-1" strike="noStrike">
              <a:solidFill>
                <a:srgbClr val="000000"/>
              </a:solidFill>
              <a:latin typeface="Arial"/>
            </a:endParaRPr>
          </a:p>
        </p:txBody>
      </p:sp>
      <p:sp>
        <p:nvSpPr>
          <p:cNvPr id="214"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BRICS and MIST</a:t>
            </a:r>
            <a:endParaRPr b="0" lang="en-US" sz="3000" spc="-1" strike="noStrike">
              <a:solidFill>
                <a:srgbClr val="000000"/>
              </a:solidFill>
              <a:latin typeface="Arial"/>
            </a:endParaRPr>
          </a:p>
        </p:txBody>
      </p:sp>
      <p:sp>
        <p:nvSpPr>
          <p:cNvPr id="215" name="Rectangle 4"/>
          <p:cNvSpPr/>
          <p:nvPr/>
        </p:nvSpPr>
        <p:spPr>
          <a:xfrm>
            <a:off x="822960" y="1737360"/>
            <a:ext cx="3780000" cy="42966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6" name="TextBox 5"/>
          <p:cNvSpPr/>
          <p:nvPr/>
        </p:nvSpPr>
        <p:spPr>
          <a:xfrm>
            <a:off x="960120" y="1874520"/>
            <a:ext cx="3505680" cy="2843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BRICS</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Brazil, Russia, India, China, South Africa.</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Coined by Goldman Sachs; the better-known grouping.</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Almost four times the GDP of the MISTs.</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Nearly 3 billion potential consumers — 6 times the MIST market.</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Growth has been slowing.</a:t>
            </a:r>
            <a:endParaRPr b="0" lang="en-US" sz="1500" spc="-1" strike="noStrike">
              <a:solidFill>
                <a:srgbClr val="000000"/>
              </a:solidFill>
              <a:latin typeface="Arial"/>
            </a:endParaRPr>
          </a:p>
        </p:txBody>
      </p:sp>
      <p:sp>
        <p:nvSpPr>
          <p:cNvPr id="217" name="Rectangle 6"/>
          <p:cNvSpPr/>
          <p:nvPr/>
        </p:nvSpPr>
        <p:spPr>
          <a:xfrm>
            <a:off x="4722840" y="1737360"/>
            <a:ext cx="3780000" cy="42966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8" name="TextBox 7"/>
          <p:cNvSpPr/>
          <p:nvPr/>
        </p:nvSpPr>
        <p:spPr>
          <a:xfrm>
            <a:off x="4860000" y="1874520"/>
            <a:ext cx="3505680" cy="3300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MIST</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Mexico, Indonesia, South Korea, Turkey.</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Attracting investors with consistent growth and a more modest profile.</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Mexico: GDP growth around 4%, interest rates steady at 4% since 2008.</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Mexico's exports are diversified; Brazil still carries the weight of raw materials.</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But Mexico is heavily dependent on the United States.</a:t>
            </a:r>
            <a:endParaRPr b="0" lang="en-US" sz="1500" spc="-1" strike="noStrike">
              <a:solidFill>
                <a:srgbClr val="000000"/>
              </a:solidFill>
              <a:latin typeface="Arial"/>
            </a:endParaRPr>
          </a:p>
        </p:txBody>
      </p:sp>
      <p:sp>
        <p:nvSpPr>
          <p:cNvPr id="219" name="TextBox 8"/>
          <p:cNvSpPr/>
          <p:nvPr/>
        </p:nvSpPr>
        <p:spPr>
          <a:xfrm>
            <a:off x="822960" y="6172200"/>
            <a:ext cx="767988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300" spc="-1" strike="noStrike">
                <a:solidFill>
                  <a:srgbClr val="555555"/>
                </a:solidFill>
                <a:latin typeface="Arial"/>
              </a:rPr>
              <a:t>Source: Paulo A. Paranagua, 'The rivalry between Brazil and Mexico', Le Monde, 2012.</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1"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MEXICO</a:t>
            </a:r>
            <a:endParaRPr b="0" lang="en-US" sz="1200" spc="-1" strike="noStrike">
              <a:solidFill>
                <a:srgbClr val="000000"/>
              </a:solidFill>
              <a:latin typeface="Arial"/>
            </a:endParaRPr>
          </a:p>
        </p:txBody>
      </p:sp>
      <p:sp>
        <p:nvSpPr>
          <p:cNvPr id="222"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Dominations and Imbalances</a:t>
            </a:r>
            <a:endParaRPr b="0" lang="en-US" sz="3000" spc="-1" strike="noStrike">
              <a:solidFill>
                <a:srgbClr val="000000"/>
              </a:solidFill>
              <a:latin typeface="Arial"/>
            </a:endParaRPr>
          </a:p>
        </p:txBody>
      </p:sp>
      <p:sp>
        <p:nvSpPr>
          <p:cNvPr id="223" name="TextBox 4"/>
          <p:cNvSpPr/>
          <p:nvPr/>
        </p:nvSpPr>
        <p:spPr>
          <a:xfrm>
            <a:off x="822960" y="1737360"/>
            <a:ext cx="7679880" cy="3893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The split:</a:t>
            </a:r>
            <a:r>
              <a:rPr b="0" lang="en-US" sz="1600" spc="-1" strike="noStrike">
                <a:solidFill>
                  <a:srgbClr val="262626"/>
                </a:solidFill>
                <a:latin typeface="Arial"/>
              </a:rPr>
              <a:t>  the richest 10% of Mexicans take 42.2% of all income; the poorest 10% receive 1.3%.</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Poverty:</a:t>
            </a:r>
            <a:r>
              <a:rPr b="0" lang="en-US" sz="1600" spc="-1" strike="noStrike">
                <a:solidFill>
                  <a:srgbClr val="262626"/>
                </a:solidFill>
                <a:latin typeface="Arial"/>
              </a:rPr>
              <a:t>  at least 44.2% of the population lives in poverty — 33.7% moderate, at least 10.5% extreme.</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Education, rural:</a:t>
            </a:r>
            <a:r>
              <a:rPr b="0" lang="en-US" sz="1600" spc="-1" strike="noStrike">
                <a:solidFill>
                  <a:srgbClr val="262626"/>
                </a:solidFill>
                <a:latin typeface="Arial"/>
              </a:rPr>
              <a:t>  53.4% of the rural population has an education below 7th grade, and 18.9% has no formal education at all.</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Education, urban:</a:t>
            </a:r>
            <a:r>
              <a:rPr b="0" lang="en-US" sz="1600" spc="-1" strike="noStrike">
                <a:solidFill>
                  <a:srgbClr val="262626"/>
                </a:solidFill>
                <a:latin typeface="Arial"/>
              </a:rPr>
              <a:t>  36.2% below 7th grade, 8.9% with no formal education — better, but a second kind of inequality inside the same country.</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Children first:</a:t>
            </a:r>
            <a:r>
              <a:rPr b="0" lang="en-US" sz="1600" spc="-1" strike="noStrike">
                <a:solidFill>
                  <a:srgbClr val="262626"/>
                </a:solidFill>
                <a:latin typeface="Arial"/>
              </a:rPr>
              <a:t>  53.8% of children and adolescents (~21.4 million) were poor in 2010, against 46.2% of the population overall. 7 out of 10 indigenous children under 17 were poor.</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Hunger:</a:t>
            </a:r>
            <a:r>
              <a:rPr b="0" lang="en-US" sz="1600" spc="-1" strike="noStrike">
                <a:solidFill>
                  <a:srgbClr val="262626"/>
                </a:solidFill>
                <a:latin typeface="Arial"/>
              </a:rPr>
              <a:t>  child hunger rose from 25.7% to 29.5% between 2008 and 2010; Mexico lost 23 people a day to malnutrition.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5"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MEXICO</a:t>
            </a:r>
            <a:endParaRPr b="0" lang="en-US" sz="1200" spc="-1" strike="noStrike">
              <a:solidFill>
                <a:srgbClr val="000000"/>
              </a:solidFill>
              <a:latin typeface="Arial"/>
            </a:endParaRPr>
          </a:p>
        </p:txBody>
      </p:sp>
      <p:sp>
        <p:nvSpPr>
          <p:cNvPr id="226"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Obesity: A Development Problem Too</a:t>
            </a:r>
            <a:endParaRPr b="0" lang="en-US" sz="3000" spc="-1" strike="noStrike">
              <a:solidFill>
                <a:srgbClr val="000000"/>
              </a:solidFill>
              <a:latin typeface="Arial"/>
            </a:endParaRPr>
          </a:p>
        </p:txBody>
      </p:sp>
      <p:sp>
        <p:nvSpPr>
          <p:cNvPr id="227" name="TextBox 4"/>
          <p:cNvSpPr/>
          <p:nvPr/>
        </p:nvSpPr>
        <p:spPr>
          <a:xfrm>
            <a:off x="822960" y="1737360"/>
            <a:ext cx="7679880" cy="3449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The scale:</a:t>
            </a:r>
            <a:r>
              <a:rPr b="0" lang="en-US" sz="1700" spc="-1" strike="noStrike">
                <a:solidFill>
                  <a:srgbClr val="262626"/>
                </a:solidFill>
                <a:latin typeface="Arial"/>
              </a:rPr>
              <a:t>  73% of the population is overweight and 32.8% of adults are obese — up from just 10% in 1989. One child in three is affected.</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The cause:</a:t>
            </a:r>
            <a:r>
              <a:rPr b="0" lang="en-US" sz="1700" spc="-1" strike="noStrike">
                <a:solidFill>
                  <a:srgbClr val="262626"/>
                </a:solidFill>
                <a:latin typeface="Arial"/>
              </a:rPr>
              <a:t>  adoption of the North American diet model — fast food and industrially prepared meals — with high animal protein, fat, sugar, flour and salt, while fruit and vegetable consumption fell.</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Soft drinks:</a:t>
            </a:r>
            <a:r>
              <a:rPr b="0" lang="en-US" sz="1700" spc="-1" strike="noStrike">
                <a:solidFill>
                  <a:srgbClr val="262626"/>
                </a:solidFill>
                <a:latin typeface="Arial"/>
              </a:rPr>
              <a:t>  Mexico has the highest consumption in the world, averaging 120 litres per person per year.</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The cost:</a:t>
            </a:r>
            <a:r>
              <a:rPr b="0" lang="en-US" sz="1700" spc="-1" strike="noStrike">
                <a:solidFill>
                  <a:srgbClr val="262626"/>
                </a:solidFill>
                <a:latin typeface="Arial"/>
              </a:rPr>
              <a:t>  diabetes and hypertension strain the Ministry of Health's finances; today's 5- and 6-year-olds could lose 10 years of life expectancy.</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Why it belongs here:</a:t>
            </a:r>
            <a:r>
              <a:rPr b="0" lang="en-US" sz="1700" spc="-1" strike="noStrike">
                <a:solidFill>
                  <a:srgbClr val="262626"/>
                </a:solidFill>
                <a:latin typeface="Arial"/>
              </a:rPr>
              <a:t>  this is an obstacle created BY integration into a richer neighbour's economy — not by isolation from it.</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MEXICO</a:t>
            </a:r>
            <a:endParaRPr b="0" lang="en-US" sz="1200" spc="-1" strike="noStrike">
              <a:solidFill>
                <a:srgbClr val="000000"/>
              </a:solidFill>
              <a:latin typeface="Arial"/>
            </a:endParaRPr>
          </a:p>
        </p:txBody>
      </p:sp>
      <p:sp>
        <p:nvSpPr>
          <p:cNvPr id="230" name="TextBox 3"/>
          <p:cNvSpPr/>
          <p:nvPr/>
        </p:nvSpPr>
        <p:spPr>
          <a:xfrm>
            <a:off x="822960" y="621720"/>
            <a:ext cx="767988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Dependence, Cartels and the Maquiladoras</a:t>
            </a:r>
            <a:endParaRPr b="0" lang="en-US" sz="3000" spc="-1" strike="noStrike">
              <a:solidFill>
                <a:srgbClr val="000000"/>
              </a:solidFill>
              <a:latin typeface="Arial"/>
            </a:endParaRPr>
          </a:p>
        </p:txBody>
      </p:sp>
      <p:sp>
        <p:nvSpPr>
          <p:cNvPr id="231" name="TextBox 4"/>
          <p:cNvSpPr/>
          <p:nvPr/>
        </p:nvSpPr>
        <p:spPr>
          <a:xfrm>
            <a:off x="822960" y="1783080"/>
            <a:ext cx="4442760" cy="3882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1910-1980s:</a:t>
            </a:r>
            <a:r>
              <a:rPr b="0" lang="en-US" sz="1600" spc="-1" strike="noStrike">
                <a:solidFill>
                  <a:srgbClr val="262626"/>
                </a:solidFill>
                <a:latin typeface="Arial"/>
              </a:rPr>
              <a:t>  after the revolution Mexico pursued endogenous development, using internal resources.</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NAFTA, 1994:</a:t>
            </a:r>
            <a:r>
              <a:rPr b="0" lang="en-US" sz="1600" spc="-1" strike="noStrike">
                <a:solidFill>
                  <a:srgbClr val="262626"/>
                </a:solidFill>
                <a:latin typeface="Arial"/>
              </a:rPr>
              <a:t>  elites anchored the country to the United States instead. Mexico became a low-wage 'productive annex' in a continental division of labour.</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Maquiladoras:</a:t>
            </a:r>
            <a:r>
              <a:rPr b="0" lang="en-US" sz="1600" spc="-1" strike="noStrike">
                <a:solidFill>
                  <a:srgbClr val="262626"/>
                </a:solidFill>
                <a:latin typeface="Arial"/>
              </a:rPr>
              <a:t>  foreign-owned factories importing materials duty-free to produce goods for export — the symbol of that dependence.</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Cartels:</a:t>
            </a:r>
            <a:r>
              <a:rPr b="0" lang="en-US" sz="1600" spc="-1" strike="noStrike">
                <a:solidFill>
                  <a:srgbClr val="262626"/>
                </a:solidFill>
                <a:latin typeface="Arial"/>
              </a:rPr>
              <a:t>  with oil revenues declining, the drug trade became one more flow across the same border. Cartels exert significant influence over society, territory and the authorities.</a:t>
            </a:r>
            <a:endParaRPr b="0" lang="en-US" sz="1600" spc="-1" strike="noStrike">
              <a:solidFill>
                <a:srgbClr val="000000"/>
              </a:solidFill>
              <a:latin typeface="Arial"/>
            </a:endParaRPr>
          </a:p>
        </p:txBody>
      </p:sp>
      <p:pic>
        <p:nvPicPr>
          <p:cNvPr id="232" name="Picture 5" descr="p31_cartels.png"/>
          <p:cNvPicPr/>
          <p:nvPr/>
        </p:nvPicPr>
        <p:blipFill>
          <a:blip r:embed="rId1"/>
          <a:stretch/>
        </p:blipFill>
        <p:spPr>
          <a:xfrm>
            <a:off x="5541120" y="2907720"/>
            <a:ext cx="2961720" cy="223056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Rectangle 1"/>
          <p:cNvSpPr/>
          <p:nvPr/>
        </p:nvSpPr>
        <p:spPr>
          <a:xfrm>
            <a:off x="0" y="0"/>
            <a:ext cx="914292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4" name="TextBox 2"/>
          <p:cNvSpPr/>
          <p:nvPr/>
        </p:nvSpPr>
        <p:spPr>
          <a:xfrm>
            <a:off x="822960" y="2286000"/>
            <a:ext cx="7679880" cy="1440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400"/>
              </a:spcAft>
            </a:pPr>
            <a:r>
              <a:rPr b="1" lang="en-US" sz="1400" spc="-1" strike="noStrike">
                <a:solidFill>
                  <a:srgbClr val="ffffff"/>
                </a:solidFill>
                <a:latin typeface="Arial"/>
              </a:rPr>
              <a:t>CASE STUDY — 5</a:t>
            </a:r>
            <a:endParaRPr b="0" lang="en-US" sz="1400" spc="-1" strike="noStrike">
              <a:solidFill>
                <a:srgbClr val="000000"/>
              </a:solidFill>
              <a:latin typeface="Arial"/>
            </a:endParaRPr>
          </a:p>
          <a:p>
            <a:pPr defTabSz="457200">
              <a:lnSpc>
                <a:spcPct val="100000"/>
              </a:lnSpc>
              <a:spcAft>
                <a:spcPts val="1199"/>
              </a:spcAft>
            </a:pPr>
            <a:r>
              <a:rPr b="1" lang="en-US" sz="3400" spc="-1" strike="noStrike">
                <a:solidFill>
                  <a:srgbClr val="ffffff"/>
                </a:solidFill>
                <a:latin typeface="Verdana"/>
              </a:rPr>
              <a:t>North and South Korea</a:t>
            </a:r>
            <a:endParaRPr b="0" lang="en-US" sz="3400" spc="-1" strike="noStrike">
              <a:solidFill>
                <a:srgbClr val="000000"/>
              </a:solidFill>
              <a:latin typeface="Arial"/>
            </a:endParaRPr>
          </a:p>
          <a:p>
            <a:pPr defTabSz="457200">
              <a:lnSpc>
                <a:spcPct val="100000"/>
              </a:lnSpc>
            </a:pPr>
            <a:r>
              <a:rPr b="0" lang="en-US" sz="1900" spc="-1" strike="noStrike">
                <a:solidFill>
                  <a:srgbClr val="ffffff"/>
                </a:solidFill>
                <a:latin typeface="Arial"/>
              </a:rPr>
              <a:t>One peninsula, two development models — textbook pp.32-33</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6"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KOREA</a:t>
            </a:r>
            <a:endParaRPr b="0" lang="en-US" sz="1200" spc="-1" strike="noStrike">
              <a:solidFill>
                <a:srgbClr val="000000"/>
              </a:solidFill>
              <a:latin typeface="Arial"/>
            </a:endParaRPr>
          </a:p>
        </p:txBody>
      </p:sp>
      <p:sp>
        <p:nvSpPr>
          <p:cNvPr id="237"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The Same Starting Point</a:t>
            </a:r>
            <a:endParaRPr b="0" lang="en-US" sz="3000" spc="-1" strike="noStrike">
              <a:solidFill>
                <a:srgbClr val="000000"/>
              </a:solidFill>
              <a:latin typeface="Arial"/>
            </a:endParaRPr>
          </a:p>
        </p:txBody>
      </p:sp>
      <p:graphicFrame>
        <p:nvGraphicFramePr>
          <p:cNvPr id="238" name="Table 4"/>
          <p:cNvGraphicFramePr/>
          <p:nvPr/>
        </p:nvGraphicFramePr>
        <p:xfrm>
          <a:off x="822960" y="1920240"/>
          <a:ext cx="7680600" cy="2833200"/>
        </p:xfrm>
        <a:graphic>
          <a:graphicData uri="http://schemas.openxmlformats.org/drawingml/2006/table">
            <a:tbl>
              <a:tblPr/>
              <a:tblGrid>
                <a:gridCol w="2560320"/>
                <a:gridCol w="2560320"/>
                <a:gridCol w="2560320"/>
              </a:tblGrid>
              <a:tr h="566640">
                <a:tc>
                  <a:txBody>
                    <a:bodyPr anchor="t">
                      <a:noAutofit/>
                    </a:bodyPr>
                    <a:p>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c>
                  <a:txBody>
                    <a:bodyPr anchor="t">
                      <a:noAutofit/>
                    </a:bodyPr>
                    <a:p>
                      <a:pPr defTabSz="457200">
                        <a:lnSpc>
                          <a:spcPct val="100000"/>
                        </a:lnSpc>
                      </a:pPr>
                      <a:r>
                        <a:rPr b="1" lang="en-US" sz="1600" spc="-1" strike="noStrike">
                          <a:solidFill>
                            <a:srgbClr val="ffffff"/>
                          </a:solidFill>
                          <a:latin typeface="Arial"/>
                        </a:rPr>
                        <a:t>North Korea</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c>
                  <a:txBody>
                    <a:bodyPr anchor="t">
                      <a:noAutofit/>
                    </a:bodyPr>
                    <a:p>
                      <a:pPr defTabSz="457200">
                        <a:lnSpc>
                          <a:spcPct val="100000"/>
                        </a:lnSpc>
                      </a:pPr>
                      <a:r>
                        <a:rPr b="1" lang="en-US" sz="1600" spc="-1" strike="noStrike">
                          <a:solidFill>
                            <a:srgbClr val="ffffff"/>
                          </a:solidFill>
                          <a:latin typeface="Arial"/>
                        </a:rPr>
                        <a:t>South Korea</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r>
              <a:tr h="566640">
                <a:tc>
                  <a:txBody>
                    <a:bodyPr anchor="t">
                      <a:noAutofit/>
                    </a:bodyPr>
                    <a:p>
                      <a:pPr defTabSz="457200">
                        <a:lnSpc>
                          <a:spcPct val="100000"/>
                        </a:lnSpc>
                      </a:pPr>
                      <a:r>
                        <a:rPr b="0" lang="en-US" sz="1500" spc="-1" strike="noStrike">
                          <a:solidFill>
                            <a:srgbClr val="262626"/>
                          </a:solidFill>
                          <a:latin typeface="Arial"/>
                        </a:rPr>
                        <a:t>Population</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25,250,000</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51,500,000</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566640">
                <a:tc>
                  <a:txBody>
                    <a:bodyPr anchor="t">
                      <a:noAutofit/>
                    </a:bodyPr>
                    <a:p>
                      <a:pPr defTabSz="457200">
                        <a:lnSpc>
                          <a:spcPct val="100000"/>
                        </a:lnSpc>
                      </a:pPr>
                      <a:r>
                        <a:rPr b="0" lang="en-US" sz="1500" spc="-1" strike="noStrike">
                          <a:solidFill>
                            <a:srgbClr val="262626"/>
                          </a:solidFill>
                          <a:latin typeface="Arial"/>
                        </a:rPr>
                        <a:t>Density</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209 hab/km²</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513 hab/km²</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66640">
                <a:tc>
                  <a:txBody>
                    <a:bodyPr anchor="t">
                      <a:noAutofit/>
                    </a:bodyPr>
                    <a:p>
                      <a:pPr defTabSz="457200">
                        <a:lnSpc>
                          <a:spcPct val="100000"/>
                        </a:lnSpc>
                      </a:pPr>
                      <a:r>
                        <a:rPr b="0" lang="en-US" sz="1500" spc="-1" strike="noStrike">
                          <a:solidFill>
                            <a:srgbClr val="262626"/>
                          </a:solidFill>
                          <a:latin typeface="Arial"/>
                        </a:rPr>
                        <a:t>GDP (PPP) per capita</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$1,700 (estimate)</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500" spc="-1" strike="noStrike">
                          <a:solidFill>
                            <a:srgbClr val="262626"/>
                          </a:solidFill>
                          <a:latin typeface="Arial"/>
                        </a:rPr>
                        <a:t>$35,275</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566640">
                <a:tc>
                  <a:txBody>
                    <a:bodyPr anchor="t">
                      <a:noAutofit/>
                    </a:bodyPr>
                    <a:p>
                      <a:pPr defTabSz="457200">
                        <a:lnSpc>
                          <a:spcPct val="100000"/>
                        </a:lnSpc>
                      </a:pPr>
                      <a:r>
                        <a:rPr b="0" lang="en-US" sz="1500" spc="-1" strike="noStrike">
                          <a:solidFill>
                            <a:srgbClr val="262626"/>
                          </a:solidFill>
                          <a:latin typeface="Arial"/>
                        </a:rPr>
                        <a:t>HDI</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0.765</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500" spc="-1" strike="noStrike">
                          <a:solidFill>
                            <a:srgbClr val="262626"/>
                          </a:solidFill>
                          <a:latin typeface="Arial"/>
                        </a:rPr>
                        <a:t>0.901</a:t>
                      </a:r>
                      <a:endParaRPr b="0" lang="en-US" sz="15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239" name="TextBox 5"/>
          <p:cNvSpPr/>
          <p:nvPr/>
        </p:nvSpPr>
        <p:spPr>
          <a:xfrm>
            <a:off x="822960" y="5029200"/>
            <a:ext cx="7679880" cy="943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400" spc="-1" strike="noStrike">
                <a:solidFill>
                  <a:srgbClr val="555555"/>
                </a:solidFill>
                <a:latin typeface="Arial"/>
              </a:rPr>
              <a:t>Both states emerged from the same Cold War division of one peninsula. South Korea's GDP per capita is now roughly 20 times the North's.  Health warning: North Korean figures are estimates — the state publishes very little reliable data, so treat them with caution in an exam answer.</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1"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KOREA</a:t>
            </a:r>
            <a:endParaRPr b="0" lang="en-US" sz="1200" spc="-1" strike="noStrike">
              <a:solidFill>
                <a:srgbClr val="000000"/>
              </a:solidFill>
              <a:latin typeface="Arial"/>
            </a:endParaRPr>
          </a:p>
        </p:txBody>
      </p:sp>
      <p:sp>
        <p:nvSpPr>
          <p:cNvPr id="242"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Two Models</a:t>
            </a:r>
            <a:endParaRPr b="0" lang="en-US" sz="3000" spc="-1" strike="noStrike">
              <a:solidFill>
                <a:srgbClr val="000000"/>
              </a:solidFill>
              <a:latin typeface="Arial"/>
            </a:endParaRPr>
          </a:p>
        </p:txBody>
      </p:sp>
      <p:sp>
        <p:nvSpPr>
          <p:cNvPr id="243" name="Rectangle 4"/>
          <p:cNvSpPr/>
          <p:nvPr/>
        </p:nvSpPr>
        <p:spPr>
          <a:xfrm>
            <a:off x="822960" y="1737360"/>
            <a:ext cx="3780000" cy="47538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 name="TextBox 5"/>
          <p:cNvSpPr/>
          <p:nvPr/>
        </p:nvSpPr>
        <p:spPr>
          <a:xfrm>
            <a:off x="960120" y="1874520"/>
            <a:ext cx="3505680" cy="2766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North — autocentric</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Almost totally isolated; foreign relations limited to China.</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Followed the socialist economic model, turning towards the Chinese model only after 2002.</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Inward-looking: produce everything yourself, depend on no one.</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Development measured by self-sufficiency rather than by trade.</a:t>
            </a:r>
            <a:endParaRPr b="0" lang="en-US" sz="1500" spc="-1" strike="noStrike">
              <a:solidFill>
                <a:srgbClr val="000000"/>
              </a:solidFill>
              <a:latin typeface="Arial"/>
            </a:endParaRPr>
          </a:p>
        </p:txBody>
      </p:sp>
      <p:sp>
        <p:nvSpPr>
          <p:cNvPr id="245" name="Rectangle 6"/>
          <p:cNvSpPr/>
          <p:nvPr/>
        </p:nvSpPr>
        <p:spPr>
          <a:xfrm>
            <a:off x="4722840" y="1737360"/>
            <a:ext cx="3780000" cy="4753800"/>
          </a:xfrm>
          <a:prstGeom prst="rect">
            <a:avLst/>
          </a:prstGeom>
          <a:solidFill>
            <a:srgbClr val="ffffff"/>
          </a:solidFill>
          <a:ln w="1270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6" name="TextBox 7"/>
          <p:cNvSpPr/>
          <p:nvPr/>
        </p:nvSpPr>
        <p:spPr>
          <a:xfrm>
            <a:off x="4860000" y="1874520"/>
            <a:ext cx="3505680" cy="3071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900" spc="-1" strike="noStrike">
                <a:solidFill>
                  <a:srgbClr val="1b4f72"/>
                </a:solidFill>
                <a:latin typeface="Arial"/>
              </a:rPr>
              <a:t>South — extroverted</a:t>
            </a:r>
            <a:endParaRPr b="0" lang="en-US" sz="19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A NICA (newly industrialised country in Asia), following Japan, Taiwan, Singapore and Hong Kong.</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Import substitution, 1950-1960.</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Rise of exporting activities, 1960-1973.</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Formation of large industrial conglomerates, 1973-1980.</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62626"/>
                </a:solidFill>
                <a:latin typeface="Arial"/>
              </a:rPr>
              <a:t>•  </a:t>
            </a:r>
            <a:r>
              <a:rPr b="0" lang="en-US" sz="1500" spc="-1" strike="noStrike">
                <a:solidFill>
                  <a:srgbClr val="262626"/>
                </a:solidFill>
                <a:latin typeface="Arial"/>
              </a:rPr>
              <a:t>Outward-looking: win by selling to the world.</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8"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KOREA</a:t>
            </a:r>
            <a:endParaRPr b="0" lang="en-US" sz="1200" spc="-1" strike="noStrike">
              <a:solidFill>
                <a:srgbClr val="000000"/>
              </a:solidFill>
              <a:latin typeface="Arial"/>
            </a:endParaRPr>
          </a:p>
        </p:txBody>
      </p:sp>
      <p:sp>
        <p:nvSpPr>
          <p:cNvPr id="249"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Vinalon: Self-Sufficiency in Practice</a:t>
            </a:r>
            <a:endParaRPr b="0" lang="en-US" sz="3000" spc="-1" strike="noStrike">
              <a:solidFill>
                <a:srgbClr val="000000"/>
              </a:solidFill>
              <a:latin typeface="Arial"/>
            </a:endParaRPr>
          </a:p>
        </p:txBody>
      </p:sp>
      <p:sp>
        <p:nvSpPr>
          <p:cNvPr id="250" name="TextBox 4"/>
          <p:cNvSpPr/>
          <p:nvPr/>
        </p:nvSpPr>
        <p:spPr>
          <a:xfrm>
            <a:off x="822960" y="1783080"/>
            <a:ext cx="4294800" cy="425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600" spc="-1" strike="noStrike">
                <a:solidFill>
                  <a:srgbClr val="262626"/>
                </a:solidFill>
                <a:latin typeface="Arial"/>
              </a:rPr>
              <a:t>•  </a:t>
            </a:r>
            <a:r>
              <a:rPr b="0" lang="en-US" sz="1600" spc="-1" strike="noStrike">
                <a:solidFill>
                  <a:srgbClr val="262626"/>
                </a:solidFill>
                <a:latin typeface="Arial"/>
              </a:rPr>
              <a:t>Vinalon is a synthetic fibre invented in the late 1930s, made from limestone and anthracite.</a:t>
            </a:r>
            <a:endParaRPr b="0" lang="en-US" sz="1600" spc="-1" strike="noStrike">
              <a:solidFill>
                <a:srgbClr val="000000"/>
              </a:solidFill>
              <a:latin typeface="Arial"/>
            </a:endParaRPr>
          </a:p>
          <a:p>
            <a:pPr defTabSz="457200">
              <a:lnSpc>
                <a:spcPct val="100000"/>
              </a:lnSpc>
              <a:spcAft>
                <a:spcPts val="1001"/>
              </a:spcAft>
            </a:pPr>
            <a:r>
              <a:rPr b="0" lang="en-US" sz="1600" spc="-1" strike="noStrike">
                <a:solidFill>
                  <a:srgbClr val="262626"/>
                </a:solidFill>
                <a:latin typeface="Arial"/>
              </a:rPr>
              <a:t>•  </a:t>
            </a:r>
            <a:r>
              <a:rPr b="0" lang="en-US" sz="1600" spc="-1" strike="noStrike">
                <a:solidFill>
                  <a:srgbClr val="262626"/>
                </a:solidFill>
                <a:latin typeface="Arial"/>
              </a:rPr>
              <a:t>North Korea is rich in both — and is the only country in the world that chose to produce vinalon on an industrial scale, from the 1960s.</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Why:</a:t>
            </a:r>
            <a:r>
              <a:rPr b="0" lang="en-US" sz="1600" spc="-1" strike="noStrike">
                <a:solidFill>
                  <a:srgbClr val="262626"/>
                </a:solidFill>
                <a:latin typeface="Arial"/>
              </a:rPr>
              <a:t>  a textbook example of a self-centred industry aiming at self-sufficiency. You can make it entirely from your own rocks.</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The catch:</a:t>
            </a:r>
            <a:r>
              <a:rPr b="0" lang="en-US" sz="1600" spc="-1" strike="noStrike">
                <a:solidFill>
                  <a:srgbClr val="262626"/>
                </a:solidFill>
                <a:latin typeface="Arial"/>
              </a:rPr>
              <a:t>  it is heat- and chemical-resistant, but stiff, uncomfortable, shiny and difficult to dye. Nobody else wants it.</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The lesson:</a:t>
            </a:r>
            <a:r>
              <a:rPr b="0" lang="en-US" sz="1600" spc="-1" strike="noStrike">
                <a:solidFill>
                  <a:srgbClr val="262626"/>
                </a:solidFill>
                <a:latin typeface="Arial"/>
              </a:rPr>
              <a:t>  independence from trade has a quality cost.</a:t>
            </a:r>
            <a:endParaRPr b="0" lang="en-US" sz="1600" spc="-1" strike="noStrike">
              <a:solidFill>
                <a:srgbClr val="000000"/>
              </a:solidFill>
              <a:latin typeface="Arial"/>
            </a:endParaRPr>
          </a:p>
        </p:txBody>
      </p:sp>
      <p:pic>
        <p:nvPicPr>
          <p:cNvPr id="251" name="Picture 5" descr="p32_vinalon.png"/>
          <p:cNvPicPr/>
          <p:nvPr/>
        </p:nvPicPr>
        <p:blipFill>
          <a:blip r:embed="rId1"/>
          <a:stretch/>
        </p:blipFill>
        <p:spPr>
          <a:xfrm>
            <a:off x="5393160" y="3256200"/>
            <a:ext cx="3109680" cy="153324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3"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KOREA</a:t>
            </a:r>
            <a:endParaRPr b="0" lang="en-US" sz="1200" spc="-1" strike="noStrike">
              <a:solidFill>
                <a:srgbClr val="000000"/>
              </a:solidFill>
              <a:latin typeface="Arial"/>
            </a:endParaRPr>
          </a:p>
        </p:txBody>
      </p:sp>
      <p:sp>
        <p:nvSpPr>
          <p:cNvPr id="254"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Famine in the 1990s</a:t>
            </a:r>
            <a:endParaRPr b="0" lang="en-US" sz="3000" spc="-1" strike="noStrike">
              <a:solidFill>
                <a:srgbClr val="000000"/>
              </a:solidFill>
              <a:latin typeface="Arial"/>
            </a:endParaRPr>
          </a:p>
        </p:txBody>
      </p:sp>
      <p:sp>
        <p:nvSpPr>
          <p:cNvPr id="255" name="TextBox 4"/>
          <p:cNvSpPr/>
          <p:nvPr/>
        </p:nvSpPr>
        <p:spPr>
          <a:xfrm>
            <a:off x="822960" y="1737360"/>
            <a:ext cx="7679880" cy="3278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The limit:</a:t>
            </a:r>
            <a:r>
              <a:rPr b="0" lang="en-US" sz="1600" spc="-1" strike="noStrike">
                <a:solidFill>
                  <a:srgbClr val="262626"/>
                </a:solidFill>
                <a:latin typeface="Arial"/>
              </a:rPr>
              <a:t>  by the early 1990s the model built on heavy industry and self-centred development had reached its limits.</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Three shocks at once:</a:t>
            </a:r>
            <a:r>
              <a:rPr b="0" lang="en-US" sz="1600" spc="-1" strike="noStrike">
                <a:solidFill>
                  <a:srgbClr val="262626"/>
                </a:solidFill>
                <a:latin typeface="Arial"/>
              </a:rPr>
              <a:t>  the American embargo, the disappearance of the USSR, and natural disasters — drought and floods — after 1990.</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Energy:</a:t>
            </a:r>
            <a:r>
              <a:rPr b="0" lang="en-US" sz="1600" spc="-1" strike="noStrike">
                <a:solidFill>
                  <a:srgbClr val="262626"/>
                </a:solidFill>
                <a:latin typeface="Arial"/>
              </a:rPr>
              <a:t>  the end of Soviet oil deliveries at preferential prices worsened the energy shortage, so industry and agriculture both faltered.</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1994-1998:</a:t>
            </a:r>
            <a:r>
              <a:rPr b="0" lang="en-US" sz="1600" spc="-1" strike="noStrike">
                <a:solidFill>
                  <a:srgbClr val="262626"/>
                </a:solidFill>
                <a:latin typeface="Arial"/>
              </a:rPr>
              <a:t>  the famine killed up to a million people out of a population of 20 million. Defectors testified to a UN commission that the struggle for survival eliminated the weakest, disabled, elderly and young children first.</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EVALUATE it:</a:t>
            </a:r>
            <a:r>
              <a:rPr b="0" lang="en-US" sz="1600" spc="-1" strike="noStrike">
                <a:solidFill>
                  <a:srgbClr val="262626"/>
                </a:solidFill>
                <a:latin typeface="Arial"/>
              </a:rPr>
              <a:t>  was this a natural disaster or a political one? The floods were natural; the absence of any alternative trade partner was a choice.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7"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KOREA</a:t>
            </a:r>
            <a:endParaRPr b="0" lang="en-US" sz="1200" spc="-1" strike="noStrike">
              <a:solidFill>
                <a:srgbClr val="000000"/>
              </a:solidFill>
              <a:latin typeface="Arial"/>
            </a:endParaRPr>
          </a:p>
        </p:txBody>
      </p:sp>
      <p:sp>
        <p:nvSpPr>
          <p:cNvPr id="258"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Sinuiju: A Crack in the Model</a:t>
            </a:r>
            <a:endParaRPr b="0" lang="en-US" sz="3000" spc="-1" strike="noStrike">
              <a:solidFill>
                <a:srgbClr val="000000"/>
              </a:solidFill>
              <a:latin typeface="Arial"/>
            </a:endParaRPr>
          </a:p>
        </p:txBody>
      </p:sp>
      <p:sp>
        <p:nvSpPr>
          <p:cNvPr id="259" name="TextBox 4"/>
          <p:cNvSpPr/>
          <p:nvPr/>
        </p:nvSpPr>
        <p:spPr>
          <a:xfrm>
            <a:off x="4356360" y="1783080"/>
            <a:ext cx="4146480" cy="4497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600" spc="-1" strike="noStrike">
                <a:solidFill>
                  <a:srgbClr val="262626"/>
                </a:solidFill>
                <a:latin typeface="Arial"/>
              </a:rPr>
              <a:t>•  </a:t>
            </a:r>
            <a:r>
              <a:rPr b="0" lang="en-US" sz="1600" spc="-1" strike="noStrike">
                <a:solidFill>
                  <a:srgbClr val="262626"/>
                </a:solidFill>
                <a:latin typeface="Arial"/>
              </a:rPr>
              <a:t>Sinuiju is one of three Special Administrative Regions in North Korea, created in 2002.</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A turning point:</a:t>
            </a:r>
            <a:r>
              <a:rPr b="0" lang="en-US" sz="1600" spc="-1" strike="noStrike">
                <a:solidFill>
                  <a:srgbClr val="262626"/>
                </a:solidFill>
                <a:latin typeface="Arial"/>
              </a:rPr>
              <a:t>  it attempts to reproduce the Chinese model. Companies gain autonomy and can reinvest profits to modernise their production facilities.</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Chinese partnership:</a:t>
            </a:r>
            <a:r>
              <a:rPr b="0" lang="en-US" sz="1600" spc="-1" strike="noStrike">
                <a:solidFill>
                  <a:srgbClr val="262626"/>
                </a:solidFill>
                <a:latin typeface="Arial"/>
              </a:rPr>
              <a:t>  Chinese companies are building economic partnerships here.</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The attraction:</a:t>
            </a:r>
            <a:r>
              <a:rPr b="0" lang="en-US" sz="1600" spc="-1" strike="noStrike">
                <a:solidFill>
                  <a:srgbClr val="262626"/>
                </a:solidFill>
                <a:latin typeface="Arial"/>
              </a:rPr>
              <a:t>  a disciplined workforce costing 3 to 6 times less than in China, and few taxes on profits.</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Note:</a:t>
            </a:r>
            <a:r>
              <a:rPr b="0" lang="en-US" sz="1600" spc="-1" strike="noStrike">
                <a:solidFill>
                  <a:srgbClr val="262626"/>
                </a:solidFill>
                <a:latin typeface="Arial"/>
              </a:rPr>
              <a:t>  the country that rejected trade is now selling the one thing it has — cheap, disciplined labour.</a:t>
            </a:r>
            <a:endParaRPr b="0" lang="en-US" sz="1600" spc="-1" strike="noStrike">
              <a:solidFill>
                <a:srgbClr val="000000"/>
              </a:solidFill>
              <a:latin typeface="Arial"/>
            </a:endParaRPr>
          </a:p>
        </p:txBody>
      </p:sp>
      <p:pic>
        <p:nvPicPr>
          <p:cNvPr id="260" name="Picture 5" descr="p32_sinuiju.png"/>
          <p:cNvPicPr/>
          <p:nvPr/>
        </p:nvPicPr>
        <p:blipFill>
          <a:blip r:embed="rId1"/>
          <a:stretch/>
        </p:blipFill>
        <p:spPr>
          <a:xfrm>
            <a:off x="822960" y="2736360"/>
            <a:ext cx="3258000" cy="257292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2"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KOREA</a:t>
            </a:r>
            <a:endParaRPr b="0" lang="en-US" sz="1200" spc="-1" strike="noStrike">
              <a:solidFill>
                <a:srgbClr val="000000"/>
              </a:solidFill>
              <a:latin typeface="Arial"/>
            </a:endParaRPr>
          </a:p>
        </p:txBody>
      </p:sp>
      <p:sp>
        <p:nvSpPr>
          <p:cNvPr id="263"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The 'Flying Geese' Model</a:t>
            </a:r>
            <a:endParaRPr b="0" lang="en-US" sz="3000" spc="-1" strike="noStrike">
              <a:solidFill>
                <a:srgbClr val="000000"/>
              </a:solidFill>
              <a:latin typeface="Arial"/>
            </a:endParaRPr>
          </a:p>
        </p:txBody>
      </p:sp>
      <p:sp>
        <p:nvSpPr>
          <p:cNvPr id="264" name="TextBox 4"/>
          <p:cNvSpPr/>
          <p:nvPr/>
        </p:nvSpPr>
        <p:spPr>
          <a:xfrm>
            <a:off x="822960" y="1737360"/>
            <a:ext cx="7679880" cy="146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600" spc="-1" strike="noStrike">
                <a:solidFill>
                  <a:srgbClr val="262626"/>
                </a:solidFill>
                <a:latin typeface="Arial"/>
              </a:rPr>
              <a:t>•  </a:t>
            </a:r>
            <a:r>
              <a:rPr b="0" lang="en-US" sz="1600" spc="-1" strike="noStrike">
                <a:solidFill>
                  <a:srgbClr val="262626"/>
                </a:solidFill>
                <a:latin typeface="Arial"/>
              </a:rPr>
              <a:t>South Korea industrialised by importing a low-tech product, then manufacturing it, then exporting it — then abandoning it for something with higher added value.</a:t>
            </a:r>
            <a:endParaRPr b="0" lang="en-US" sz="1600" spc="-1" strike="noStrike">
              <a:solidFill>
                <a:srgbClr val="000000"/>
              </a:solidFill>
              <a:latin typeface="Arial"/>
            </a:endParaRPr>
          </a:p>
          <a:p>
            <a:pPr defTabSz="457200">
              <a:lnSpc>
                <a:spcPct val="100000"/>
              </a:lnSpc>
              <a:spcAft>
                <a:spcPts val="601"/>
              </a:spcAft>
            </a:pPr>
            <a:r>
              <a:rPr b="1" lang="en-US" sz="1600" spc="-1" strike="noStrike">
                <a:solidFill>
                  <a:srgbClr val="1b4f72"/>
                </a:solidFill>
                <a:latin typeface="Arial"/>
              </a:rPr>
              <a:t>•  </a:t>
            </a:r>
            <a:r>
              <a:rPr b="1" lang="en-US" sz="1600" spc="-1" strike="noStrike">
                <a:solidFill>
                  <a:srgbClr val="1b4f72"/>
                </a:solidFill>
                <a:latin typeface="Arial"/>
              </a:rPr>
              <a:t>The sequence:</a:t>
            </a:r>
            <a:r>
              <a:rPr b="0" lang="en-US" sz="1600" spc="-1" strike="noStrike">
                <a:solidFill>
                  <a:srgbClr val="262626"/>
                </a:solidFill>
                <a:latin typeface="Arial"/>
              </a:rPr>
              <a:t>  shirts → steel → televisions → laptops → robotics.</a:t>
            </a:r>
            <a:endParaRPr b="0" lang="en-US" sz="1600" spc="-1" strike="noStrike">
              <a:solidFill>
                <a:srgbClr val="000000"/>
              </a:solidFill>
              <a:latin typeface="Arial"/>
            </a:endParaRPr>
          </a:p>
          <a:p>
            <a:pPr defTabSz="457200">
              <a:lnSpc>
                <a:spcPct val="100000"/>
              </a:lnSpc>
              <a:spcAft>
                <a:spcPts val="601"/>
              </a:spcAft>
            </a:pPr>
            <a:r>
              <a:rPr b="1" lang="en-US" sz="1600" spc="-1" strike="noStrike">
                <a:solidFill>
                  <a:srgbClr val="1b4f72"/>
                </a:solidFill>
                <a:latin typeface="Arial"/>
              </a:rPr>
              <a:t>•  </a:t>
            </a:r>
            <a:r>
              <a:rPr b="1" lang="en-US" sz="1600" spc="-1" strike="noStrike">
                <a:solidFill>
                  <a:srgbClr val="1b4f72"/>
                </a:solidFill>
                <a:latin typeface="Arial"/>
              </a:rPr>
              <a:t>Link back:</a:t>
            </a:r>
            <a:r>
              <a:rPr b="0" lang="en-US" sz="1600" spc="-1" strike="noStrike">
                <a:solidFill>
                  <a:srgbClr val="262626"/>
                </a:solidFill>
                <a:latin typeface="Arial"/>
              </a:rPr>
              <a:t>  compare with Rostow's stages (Lesson 6). Each country climbs the same ladder, but later — and passes the bottom rung down.</a:t>
            </a:r>
            <a:endParaRPr b="0" lang="en-US" sz="1600" spc="-1" strike="noStrike">
              <a:solidFill>
                <a:srgbClr val="000000"/>
              </a:solidFill>
              <a:latin typeface="Arial"/>
            </a:endParaRPr>
          </a:p>
        </p:txBody>
      </p:sp>
      <p:pic>
        <p:nvPicPr>
          <p:cNvPr id="265" name="Picture 5" descr="p33_flying_geese.png"/>
          <p:cNvPicPr/>
          <p:nvPr/>
        </p:nvPicPr>
        <p:blipFill>
          <a:blip r:embed="rId1"/>
          <a:stretch/>
        </p:blipFill>
        <p:spPr>
          <a:xfrm>
            <a:off x="1874880" y="3886200"/>
            <a:ext cx="5575680" cy="255924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KOREA</a:t>
            </a:r>
            <a:endParaRPr b="0" lang="en-US" sz="1200" spc="-1" strike="noStrike">
              <a:solidFill>
                <a:srgbClr val="000000"/>
              </a:solidFill>
              <a:latin typeface="Arial"/>
            </a:endParaRPr>
          </a:p>
        </p:txBody>
      </p:sp>
      <p:sp>
        <p:nvSpPr>
          <p:cNvPr id="268"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Chaebols and Samsung</a:t>
            </a:r>
            <a:endParaRPr b="0" lang="en-US" sz="3000" spc="-1" strike="noStrike">
              <a:solidFill>
                <a:srgbClr val="000000"/>
              </a:solidFill>
              <a:latin typeface="Arial"/>
            </a:endParaRPr>
          </a:p>
        </p:txBody>
      </p:sp>
      <p:sp>
        <p:nvSpPr>
          <p:cNvPr id="269" name="TextBox 4"/>
          <p:cNvSpPr/>
          <p:nvPr/>
        </p:nvSpPr>
        <p:spPr>
          <a:xfrm>
            <a:off x="822960" y="1737360"/>
            <a:ext cx="7679880" cy="3395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A chaebol:</a:t>
            </a:r>
            <a:r>
              <a:rPr b="0" lang="en-US" sz="1600" spc="-1" strike="noStrike">
                <a:solidFill>
                  <a:srgbClr val="262626"/>
                </a:solidFill>
                <a:latin typeface="Arial"/>
              </a:rPr>
              <a:t>  a large Korean industrial group — a set of companies across many fields holding cross-shareholdings in each other, with very significant economic and probably political power. Samsung, LG, Hyundai.</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Why they exist:</a:t>
            </a:r>
            <a:r>
              <a:rPr b="0" lang="en-US" sz="1600" spc="-1" strike="noStrike">
                <a:solidFill>
                  <a:srgbClr val="262626"/>
                </a:solidFill>
                <a:latin typeface="Arial"/>
              </a:rPr>
              <a:t>  formed after the Korean War (1950-1953), copying the recipes that had made Japan successful. A few large groups, closely linked to the state, were to finance the country's development.</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Samsung's climb:</a:t>
            </a:r>
            <a:r>
              <a:rPr b="0" lang="en-US" sz="1600" spc="-1" strike="noStrike">
                <a:solidFill>
                  <a:srgbClr val="262626"/>
                </a:solidFill>
                <a:latin typeface="Arial"/>
              </a:rPr>
              <a:t>  in the 1980s only a little-known component manufacturer for Japanese brands. It took control of the entire chain, launched its own televisions in the 1990s, bet massively on LCD screens, and by 2012 was the world's largest seller of mobile phones — displacing Nokia.</a:t>
            </a:r>
            <a:endParaRPr b="0" lang="en-US" sz="1600" spc="-1" strike="noStrike">
              <a:solidFill>
                <a:srgbClr val="000000"/>
              </a:solidFill>
              <a:latin typeface="Arial"/>
            </a:endParaRPr>
          </a:p>
          <a:p>
            <a:pPr defTabSz="457200">
              <a:lnSpc>
                <a:spcPct val="100000"/>
              </a:lnSpc>
              <a:spcAft>
                <a:spcPts val="1001"/>
              </a:spcAft>
            </a:pPr>
            <a:r>
              <a:rPr b="1" lang="en-US" sz="1600" spc="-1" strike="noStrike">
                <a:solidFill>
                  <a:srgbClr val="1b4f72"/>
                </a:solidFill>
                <a:latin typeface="Arial"/>
              </a:rPr>
              <a:t>•  </a:t>
            </a:r>
            <a:r>
              <a:rPr b="1" lang="en-US" sz="1600" spc="-1" strike="noStrike">
                <a:solidFill>
                  <a:srgbClr val="1b4f72"/>
                </a:solidFill>
                <a:latin typeface="Arial"/>
              </a:rPr>
              <a:t>The threat now:</a:t>
            </a:r>
            <a:r>
              <a:rPr b="0" lang="en-US" sz="1600" spc="-1" strike="noStrike">
                <a:solidFill>
                  <a:srgbClr val="262626"/>
                </a:solidFill>
                <a:latin typeface="Arial"/>
              </a:rPr>
              <a:t>  Chinese firms — Huawei, Lenovo, ZTE — that are cheaper and control their own production chains. The next goose is already flying.</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1"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KOREA</a:t>
            </a:r>
            <a:endParaRPr b="0" lang="en-US" sz="1200" spc="-1" strike="noStrike">
              <a:solidFill>
                <a:srgbClr val="000000"/>
              </a:solidFill>
              <a:latin typeface="Arial"/>
            </a:endParaRPr>
          </a:p>
        </p:txBody>
      </p:sp>
      <p:sp>
        <p:nvSpPr>
          <p:cNvPr id="272"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The Two Koreas Today</a:t>
            </a:r>
            <a:endParaRPr b="0" lang="en-US" sz="3000" spc="-1" strike="noStrike">
              <a:solidFill>
                <a:srgbClr val="000000"/>
              </a:solidFill>
              <a:latin typeface="Arial"/>
            </a:endParaRPr>
          </a:p>
        </p:txBody>
      </p:sp>
      <p:sp>
        <p:nvSpPr>
          <p:cNvPr id="273" name="TextBox 4"/>
          <p:cNvSpPr/>
          <p:nvPr/>
        </p:nvSpPr>
        <p:spPr>
          <a:xfrm>
            <a:off x="4504320" y="1783080"/>
            <a:ext cx="3998520" cy="409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A militarised land border and demilitarised zone still splits the peninsula.</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North Korea: nuclear sites, missile launch sites, refugee flows towards China, and a handful of Special Economic Zones.</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262626"/>
                </a:solidFill>
                <a:latin typeface="Arial"/>
              </a:rPr>
              <a:t>•  </a:t>
            </a:r>
            <a:r>
              <a:rPr b="0" lang="en-US" sz="1700" spc="-1" strike="noStrike">
                <a:solidFill>
                  <a:srgbClr val="262626"/>
                </a:solidFill>
                <a:latin typeface="Arial"/>
              </a:rPr>
              <a:t>South Korea: high-speed rail, dense conventional rail — and US military bases.</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EXPLAIN it:</a:t>
            </a:r>
            <a:r>
              <a:rPr b="0" lang="en-US" sz="1700" spc="-1" strike="noStrike">
                <a:solidFill>
                  <a:srgbClr val="262626"/>
                </a:solidFill>
                <a:latin typeface="Arial"/>
              </a:rPr>
              <a:t>  the North's spending goes into defence and self-reliance; the South's went into the infrastructure that moves exports to a port.</a:t>
            </a:r>
            <a:endParaRPr b="0" lang="en-US" sz="1700" spc="-1" strike="noStrike">
              <a:solidFill>
                <a:srgbClr val="000000"/>
              </a:solidFill>
              <a:latin typeface="Arial"/>
            </a:endParaRPr>
          </a:p>
        </p:txBody>
      </p:sp>
      <p:pic>
        <p:nvPicPr>
          <p:cNvPr id="274" name="Picture 5" descr="p33_two_koreas.png"/>
          <p:cNvPicPr/>
          <p:nvPr/>
        </p:nvPicPr>
        <p:blipFill>
          <a:blip r:embed="rId1"/>
          <a:stretch/>
        </p:blipFill>
        <p:spPr>
          <a:xfrm>
            <a:off x="822960" y="2360160"/>
            <a:ext cx="3405960" cy="332496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6"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OTHER OBSTACLES</a:t>
            </a:r>
            <a:endParaRPr b="0" lang="en-US" sz="1200" spc="-1" strike="noStrike">
              <a:solidFill>
                <a:srgbClr val="000000"/>
              </a:solidFill>
              <a:latin typeface="Arial"/>
            </a:endParaRPr>
          </a:p>
        </p:txBody>
      </p:sp>
      <p:sp>
        <p:nvSpPr>
          <p:cNvPr id="277"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Worth Knowing (Briefly)</a:t>
            </a:r>
            <a:endParaRPr b="0" lang="en-US" sz="3000" spc="-1" strike="noStrike">
              <a:solidFill>
                <a:srgbClr val="000000"/>
              </a:solidFill>
              <a:latin typeface="Arial"/>
            </a:endParaRPr>
          </a:p>
        </p:txBody>
      </p:sp>
      <p:sp>
        <p:nvSpPr>
          <p:cNvPr id="278" name="TextBox 4"/>
          <p:cNvSpPr/>
          <p:nvPr/>
        </p:nvSpPr>
        <p:spPr>
          <a:xfrm>
            <a:off x="822960" y="1737360"/>
            <a:ext cx="7679880" cy="3449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Environmental:</a:t>
            </a:r>
            <a:r>
              <a:rPr b="0" lang="en-US" sz="1700" spc="-1" strike="noStrike">
                <a:solidFill>
                  <a:srgbClr val="262626"/>
                </a:solidFill>
                <a:latin typeface="Arial"/>
              </a:rPr>
              <a:t>  droughts and natural disasters, e.g. Madagascar's deforestation-linked soil erosion.</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Lack of education:</a:t>
            </a:r>
            <a:r>
              <a:rPr b="0" lang="en-US" sz="1700" spc="-1" strike="noStrike">
                <a:solidFill>
                  <a:srgbClr val="262626"/>
                </a:solidFill>
                <a:latin typeface="Arial"/>
              </a:rPr>
              <a:t>  fewer skilled workers, slower structural transformation (Lesson 5).</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Unfair trade terms:</a:t>
            </a:r>
            <a:r>
              <a:rPr b="0" lang="en-US" sz="1700" spc="-1" strike="noStrike">
                <a:solidFill>
                  <a:srgbClr val="262626"/>
                </a:solidFill>
                <a:latin typeface="Arial"/>
              </a:rPr>
              <a:t>  raw-material exporters often get a worse deal than manufactured-goods exporters — ties back to Dependency Theory (Lesson 6).</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Disease:</a:t>
            </a:r>
            <a:r>
              <a:rPr b="0" lang="en-US" sz="1700" spc="-1" strike="noStrike">
                <a:solidFill>
                  <a:srgbClr val="262626"/>
                </a:solidFill>
                <a:latin typeface="Arial"/>
              </a:rPr>
              <a:t>  e.g. Nigeria's under-resourced healthcare system (Lesson 3); COVID-19's uneven global impact.</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1b4f72"/>
                </a:solidFill>
                <a:latin typeface="Arial"/>
              </a:rPr>
              <a:t>•  </a:t>
            </a:r>
            <a:r>
              <a:rPr b="1" lang="en-US" sz="1700" spc="-1" strike="noStrike">
                <a:solidFill>
                  <a:srgbClr val="1b4f72"/>
                </a:solidFill>
                <a:latin typeface="Arial"/>
              </a:rPr>
              <a:t>Debt:</a:t>
            </a:r>
            <a:r>
              <a:rPr b="0" lang="en-US" sz="1700" spc="-1" strike="noStrike">
                <a:solidFill>
                  <a:srgbClr val="262626"/>
                </a:solidFill>
                <a:latin typeface="Arial"/>
              </a:rPr>
              <a:t>  many LICs spend a large share of government revenue just servicing old loans — money that can't then go to health, education, or infrastructure.</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0"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SYNTHESIS</a:t>
            </a:r>
            <a:endParaRPr b="0" lang="en-US" sz="1200" spc="-1" strike="noStrike">
              <a:solidFill>
                <a:srgbClr val="000000"/>
              </a:solidFill>
              <a:latin typeface="Arial"/>
            </a:endParaRPr>
          </a:p>
        </p:txBody>
      </p:sp>
      <p:sp>
        <p:nvSpPr>
          <p:cNvPr id="281"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One Obstacle Each? Never.</a:t>
            </a:r>
            <a:endParaRPr b="0" lang="en-US" sz="3000" spc="-1" strike="noStrike">
              <a:solidFill>
                <a:srgbClr val="000000"/>
              </a:solidFill>
              <a:latin typeface="Arial"/>
            </a:endParaRPr>
          </a:p>
        </p:txBody>
      </p:sp>
      <p:graphicFrame>
        <p:nvGraphicFramePr>
          <p:cNvPr id="282" name="Table 4"/>
          <p:cNvGraphicFramePr/>
          <p:nvPr/>
        </p:nvGraphicFramePr>
        <p:xfrm>
          <a:off x="822960" y="1783080"/>
          <a:ext cx="7680600" cy="4337280"/>
        </p:xfrm>
        <a:graphic>
          <a:graphicData uri="http://schemas.openxmlformats.org/drawingml/2006/table">
            <a:tbl>
              <a:tblPr/>
              <a:tblGrid>
                <a:gridCol w="3840480"/>
                <a:gridCol w="3840480"/>
              </a:tblGrid>
              <a:tr h="600840">
                <a:tc>
                  <a:txBody>
                    <a:bodyPr anchor="t">
                      <a:noAutofit/>
                    </a:bodyPr>
                    <a:p>
                      <a:pPr defTabSz="457200">
                        <a:lnSpc>
                          <a:spcPct val="100000"/>
                        </a:lnSpc>
                      </a:pPr>
                      <a:r>
                        <a:rPr b="1" lang="en-US" sz="1600" spc="-1" strike="noStrike">
                          <a:solidFill>
                            <a:srgbClr val="ffffff"/>
                          </a:solidFill>
                          <a:latin typeface="Arial"/>
                        </a:rPr>
                        <a:t>Case study</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c>
                  <a:txBody>
                    <a:bodyPr anchor="t">
                      <a:noAutofit/>
                    </a:bodyPr>
                    <a:p>
                      <a:pPr defTabSz="457200">
                        <a:lnSpc>
                          <a:spcPct val="100000"/>
                        </a:lnSpc>
                      </a:pPr>
                      <a:r>
                        <a:rPr b="1" lang="en-US" sz="1600" spc="-1" strike="noStrike">
                          <a:solidFill>
                            <a:srgbClr val="ffffff"/>
                          </a:solidFill>
                          <a:latin typeface="Arial"/>
                        </a:rPr>
                        <a:t>Obstacles working together</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b4f72"/>
                    </a:solidFill>
                  </a:tcPr>
                </a:tc>
              </a:tr>
              <a:tr h="600840">
                <a:tc>
                  <a:txBody>
                    <a:bodyPr anchor="t">
                      <a:noAutofit/>
                    </a:bodyPr>
                    <a:p>
                      <a:pPr defTabSz="457200">
                        <a:lnSpc>
                          <a:spcPct val="100000"/>
                        </a:lnSpc>
                      </a:pPr>
                      <a:r>
                        <a:rPr b="0" lang="en-US" sz="1400" spc="-1" strike="noStrike">
                          <a:solidFill>
                            <a:srgbClr val="262626"/>
                          </a:solidFill>
                          <a:latin typeface="Arial"/>
                        </a:rPr>
                        <a:t>Haiti</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400" spc="-1" strike="noStrike">
                          <a:solidFill>
                            <a:srgbClr val="262626"/>
                          </a:solidFill>
                          <a:latin typeface="Arial"/>
                        </a:rPr>
                        <a:t>Historical (debt, dictatorship) + physical (quake, hurricane) + political (failed governance)</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600840">
                <a:tc>
                  <a:txBody>
                    <a:bodyPr anchor="t">
                      <a:noAutofit/>
                    </a:bodyPr>
                    <a:p>
                      <a:pPr defTabSz="457200">
                        <a:lnSpc>
                          <a:spcPct val="100000"/>
                        </a:lnSpc>
                      </a:pPr>
                      <a:r>
                        <a:rPr b="0" lang="en-US" sz="1400" spc="-1" strike="noStrike">
                          <a:solidFill>
                            <a:srgbClr val="262626"/>
                          </a:solidFill>
                          <a:latin typeface="Arial"/>
                        </a:rPr>
                        <a:t>Nigeria</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400" spc="-1" strike="noStrike">
                          <a:solidFill>
                            <a:srgbClr val="262626"/>
                          </a:solidFill>
                          <a:latin typeface="Arial"/>
                        </a:rPr>
                        <a:t>Economic (oil dependency, debt) + political (corruption) + poverty itself</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600840">
                <a:tc>
                  <a:txBody>
                    <a:bodyPr anchor="t">
                      <a:noAutofit/>
                    </a:bodyPr>
                    <a:p>
                      <a:pPr defTabSz="457200">
                        <a:lnSpc>
                          <a:spcPct val="100000"/>
                        </a:lnSpc>
                      </a:pPr>
                      <a:r>
                        <a:rPr b="0" lang="en-US" sz="1400" spc="-1" strike="noStrike">
                          <a:solidFill>
                            <a:srgbClr val="262626"/>
                          </a:solidFill>
                          <a:latin typeface="Arial"/>
                        </a:rPr>
                        <a:t>DRC</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400" spc="-1" strike="noStrike">
                          <a:solidFill>
                            <a:srgbClr val="262626"/>
                          </a:solidFill>
                          <a:latin typeface="Arial"/>
                        </a:rPr>
                        <a:t>Physical abundance + political (conflict, no accountability) = the resource curse</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600840">
                <a:tc>
                  <a:txBody>
                    <a:bodyPr anchor="t">
                      <a:noAutofit/>
                    </a:bodyPr>
                    <a:p>
                      <a:pPr defTabSz="457200">
                        <a:lnSpc>
                          <a:spcPct val="100000"/>
                        </a:lnSpc>
                      </a:pPr>
                      <a:r>
                        <a:rPr b="0" lang="en-US" sz="1400" spc="-1" strike="noStrike">
                          <a:solidFill>
                            <a:srgbClr val="262626"/>
                          </a:solidFill>
                          <a:latin typeface="Arial"/>
                        </a:rPr>
                        <a:t>Madagascar / Uganda</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400" spc="-1" strike="noStrike">
                          <a:solidFill>
                            <a:srgbClr val="262626"/>
                          </a:solidFill>
                          <a:latin typeface="Arial"/>
                        </a:rPr>
                        <a:t>Environmental (deforestation, floods) + poverty forcing short-term land use</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600840">
                <a:tc>
                  <a:txBody>
                    <a:bodyPr anchor="t">
                      <a:noAutofit/>
                    </a:bodyPr>
                    <a:p>
                      <a:pPr defTabSz="457200">
                        <a:lnSpc>
                          <a:spcPct val="100000"/>
                        </a:lnSpc>
                      </a:pPr>
                      <a:r>
                        <a:rPr b="0" lang="en-US" sz="1400" spc="-1" strike="noStrike">
                          <a:solidFill>
                            <a:srgbClr val="262626"/>
                          </a:solidFill>
                          <a:latin typeface="Arial"/>
                        </a:rPr>
                        <a:t>Mexico</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400" spc="-1" strike="noStrike">
                          <a:solidFill>
                            <a:srgbClr val="262626"/>
                          </a:solidFill>
                          <a:latin typeface="Arial"/>
                        </a:rPr>
                        <a:t>Economic (dependence on the USA) + political (cartels) + extreme inequality</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600840">
                <a:tc>
                  <a:txBody>
                    <a:bodyPr anchor="t">
                      <a:noAutofit/>
                    </a:bodyPr>
                    <a:p>
                      <a:pPr defTabSz="457200">
                        <a:lnSpc>
                          <a:spcPct val="100000"/>
                        </a:lnSpc>
                      </a:pPr>
                      <a:r>
                        <a:rPr b="0" lang="en-US" sz="1400" spc="-1" strike="noStrike">
                          <a:solidFill>
                            <a:srgbClr val="262626"/>
                          </a:solidFill>
                          <a:latin typeface="Arial"/>
                        </a:rPr>
                        <a:t>North Korea</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400" spc="-1" strike="noStrike">
                          <a:solidFill>
                            <a:srgbClr val="262626"/>
                          </a:solidFill>
                          <a:latin typeface="Arial"/>
                        </a:rPr>
                        <a:t>Political choice (isolation) + physical shocks (drought, floods) = famine</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283" name="TextBox 5"/>
          <p:cNvSpPr/>
          <p:nvPr/>
        </p:nvSpPr>
        <p:spPr>
          <a:xfrm>
            <a:off x="822960" y="6126480"/>
            <a:ext cx="767988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400" spc="-1" strike="noStrike">
                <a:solidFill>
                  <a:srgbClr val="555555"/>
                </a:solidFill>
                <a:latin typeface="Arial"/>
              </a:rPr>
              <a:t>In the exam, never attribute underdevelopment to a single cause. Name two or three and show how they reinforce each other.</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5"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For Discussion</a:t>
            </a:r>
            <a:endParaRPr b="0" lang="en-US" sz="1200" spc="-1" strike="noStrike">
              <a:solidFill>
                <a:srgbClr val="000000"/>
              </a:solidFill>
              <a:latin typeface="Arial"/>
            </a:endParaRPr>
          </a:p>
        </p:txBody>
      </p:sp>
      <p:sp>
        <p:nvSpPr>
          <p:cNvPr id="286"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Is Inequality Natural?</a:t>
            </a:r>
            <a:endParaRPr b="0" lang="en-US" sz="3000" spc="-1" strike="noStrike">
              <a:solidFill>
                <a:srgbClr val="000000"/>
              </a:solidFill>
              <a:latin typeface="Arial"/>
            </a:endParaRPr>
          </a:p>
        </p:txBody>
      </p:sp>
      <p:sp>
        <p:nvSpPr>
          <p:cNvPr id="287" name="Rectangle 4"/>
          <p:cNvSpPr/>
          <p:nvPr/>
        </p:nvSpPr>
        <p:spPr>
          <a:xfrm>
            <a:off x="822960" y="2011680"/>
            <a:ext cx="7679880" cy="2742120"/>
          </a:xfrm>
          <a:prstGeom prst="rect">
            <a:avLst/>
          </a:prstGeom>
          <a:solidFill>
            <a:srgbClr val="ffffff"/>
          </a:solidFill>
          <a:ln w="1905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 name="TextBox 5"/>
          <p:cNvSpPr/>
          <p:nvPr/>
        </p:nvSpPr>
        <p:spPr>
          <a:xfrm>
            <a:off x="1097280" y="2148840"/>
            <a:ext cx="7131240" cy="216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2000" spc="-1" strike="noStrike">
                <a:solidFill>
                  <a:srgbClr val="262626"/>
                </a:solidFill>
                <a:latin typeface="Arial"/>
              </a:rPr>
              <a:t>"Inequality is natural — some people are brighter or more gifted, take more risks, and deserve higher rewards. That's what motivates people to work harder, so inequality actually makes society work better."</a:t>
            </a:r>
            <a:endParaRPr b="0" lang="en-US" sz="2000" spc="-1" strike="noStrike">
              <a:solidFill>
                <a:srgbClr val="000000"/>
              </a:solidFill>
              <a:latin typeface="Arial"/>
            </a:endParaRPr>
          </a:p>
          <a:p>
            <a:pPr defTabSz="457200">
              <a:lnSpc>
                <a:spcPct val="100000"/>
              </a:lnSpc>
            </a:pPr>
            <a:r>
              <a:rPr b="0" lang="en-US" sz="1600" spc="-1" strike="noStrike">
                <a:solidFill>
                  <a:srgbClr val="1b4f72"/>
                </a:solidFill>
                <a:latin typeface="Arial"/>
              </a:rPr>
              <a:t>Discuss in pairs: build the case FOR this, then AGAINST — using today's obstacles (corruption, debt, being landlocked) as your evidence. No single correct answer.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0"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EXAM PRACTICE</a:t>
            </a:r>
            <a:endParaRPr b="0" lang="en-US" sz="1200" spc="-1" strike="noStrike">
              <a:solidFill>
                <a:srgbClr val="000000"/>
              </a:solidFill>
              <a:latin typeface="Arial"/>
            </a:endParaRPr>
          </a:p>
        </p:txBody>
      </p:sp>
      <p:sp>
        <p:nvSpPr>
          <p:cNvPr id="291"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Evaluate It</a:t>
            </a:r>
            <a:endParaRPr b="0" lang="en-US" sz="3000" spc="-1" strike="noStrike">
              <a:solidFill>
                <a:srgbClr val="000000"/>
              </a:solidFill>
              <a:latin typeface="Arial"/>
            </a:endParaRPr>
          </a:p>
        </p:txBody>
      </p:sp>
      <p:sp>
        <p:nvSpPr>
          <p:cNvPr id="292" name="Rectangle 4"/>
          <p:cNvSpPr/>
          <p:nvPr/>
        </p:nvSpPr>
        <p:spPr>
          <a:xfrm>
            <a:off x="822960" y="2011680"/>
            <a:ext cx="7679880" cy="2010600"/>
          </a:xfrm>
          <a:prstGeom prst="rect">
            <a:avLst/>
          </a:prstGeom>
          <a:solidFill>
            <a:srgbClr val="ffffff"/>
          </a:solidFill>
          <a:ln w="19050">
            <a:solidFill>
              <a:srgbClr val="1b4f7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3" name="TextBox 5"/>
          <p:cNvSpPr/>
          <p:nvPr/>
        </p:nvSpPr>
        <p:spPr>
          <a:xfrm>
            <a:off x="1097280" y="2148840"/>
            <a:ext cx="7131240" cy="1680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2000" spc="-1" strike="noStrike">
                <a:solidFill>
                  <a:srgbClr val="262626"/>
                </a:solidFill>
                <a:latin typeface="Arial"/>
              </a:rPr>
              <a:t>EVALUATE which is the bigger obstacle to development: a natural constraint (e.g. being landlocked) or a human constraint (e.g. corruption). Use examples from this lesson.</a:t>
            </a:r>
            <a:endParaRPr b="0" lang="en-US" sz="2000" spc="-1" strike="noStrike">
              <a:solidFill>
                <a:srgbClr val="000000"/>
              </a:solidFill>
              <a:latin typeface="Arial"/>
            </a:endParaRPr>
          </a:p>
          <a:p>
            <a:pPr defTabSz="457200">
              <a:lnSpc>
                <a:spcPct val="100000"/>
              </a:lnSpc>
            </a:pPr>
            <a:r>
              <a:rPr b="0" lang="en-US" sz="1600" spc="-1" strike="noStrike">
                <a:solidFill>
                  <a:srgbClr val="1b4f72"/>
                </a:solidFill>
                <a:latin typeface="Arial"/>
              </a:rPr>
              <a:t>(EVALUATE = weigh both sides, then reach a justified conclusion.)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Rectangle 1"/>
          <p:cNvSpPr/>
          <p:nvPr/>
        </p:nvSpPr>
        <p:spPr>
          <a:xfrm>
            <a:off x="0" y="0"/>
            <a:ext cx="318960" cy="6856920"/>
          </a:xfrm>
          <a:prstGeom prst="rect">
            <a:avLst/>
          </a:prstGeom>
          <a:solidFill>
            <a:srgbClr val="1b4f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5" name="TextBox 2"/>
          <p:cNvSpPr/>
          <p:nvPr/>
        </p:nvSpPr>
        <p:spPr>
          <a:xfrm>
            <a:off x="822960" y="320040"/>
            <a:ext cx="767988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1b4f72"/>
                </a:solidFill>
                <a:latin typeface="Arial"/>
              </a:rPr>
              <a:t>EXAM PRACTICE</a:t>
            </a:r>
            <a:endParaRPr b="0" lang="en-US" sz="1200" spc="-1" strike="noStrike">
              <a:solidFill>
                <a:srgbClr val="000000"/>
              </a:solidFill>
              <a:latin typeface="Arial"/>
            </a:endParaRPr>
          </a:p>
        </p:txBody>
      </p:sp>
      <p:sp>
        <p:nvSpPr>
          <p:cNvPr id="296" name="TextBox 3"/>
          <p:cNvSpPr/>
          <p:nvPr/>
        </p:nvSpPr>
        <p:spPr>
          <a:xfrm>
            <a:off x="822960" y="621720"/>
            <a:ext cx="76798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1b4f72"/>
                </a:solidFill>
                <a:latin typeface="Verdana"/>
              </a:rPr>
              <a:t>Two More, Using the Case Studies</a:t>
            </a:r>
            <a:endParaRPr b="0" lang="en-US" sz="3000" spc="-1" strike="noStrike">
              <a:solidFill>
                <a:srgbClr val="000000"/>
              </a:solidFill>
              <a:latin typeface="Arial"/>
            </a:endParaRPr>
          </a:p>
        </p:txBody>
      </p:sp>
      <p:sp>
        <p:nvSpPr>
          <p:cNvPr id="297" name="TextBox 4"/>
          <p:cNvSpPr/>
          <p:nvPr/>
        </p:nvSpPr>
        <p:spPr>
          <a:xfrm>
            <a:off x="822960" y="1737360"/>
            <a:ext cx="7679880" cy="2538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EXPLAIN</a:t>
            </a:r>
            <a:r>
              <a:rPr b="0" lang="en-US" sz="1800" spc="-1" strike="noStrike">
                <a:solidFill>
                  <a:srgbClr val="262626"/>
                </a:solidFill>
                <a:latin typeface="Arial"/>
              </a:rPr>
              <a:t>  why the Democratic Republic of the Congo's mineral wealth has not raised its HDI. Refer to at least two mechanisms of the resource curse.</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EVALUATE</a:t>
            </a:r>
            <a:r>
              <a:rPr b="0" lang="en-US" sz="1800" spc="-1" strike="noStrike">
                <a:solidFill>
                  <a:srgbClr val="262626"/>
                </a:solidFill>
                <a:latin typeface="Arial"/>
              </a:rPr>
              <a:t>  the claim that 'Mexico's problem is not growth but distribution.' Use figures from the case study on both sides.</a:t>
            </a:r>
            <a:endParaRPr b="0" lang="en-US" sz="1800" spc="-1" strike="noStrike">
              <a:solidFill>
                <a:srgbClr val="000000"/>
              </a:solidFill>
              <a:latin typeface="Arial"/>
            </a:endParaRPr>
          </a:p>
          <a:p>
            <a:pPr defTabSz="457200">
              <a:lnSpc>
                <a:spcPct val="100000"/>
              </a:lnSpc>
              <a:spcAft>
                <a:spcPts val="1001"/>
              </a:spcAft>
            </a:pPr>
            <a:r>
              <a:rPr b="1" lang="en-US" sz="1800" spc="-1" strike="noStrike">
                <a:solidFill>
                  <a:srgbClr val="1b4f72"/>
                </a:solidFill>
                <a:latin typeface="Arial"/>
              </a:rPr>
              <a:t>•  </a:t>
            </a:r>
            <a:r>
              <a:rPr b="1" lang="en-US" sz="1800" spc="-1" strike="noStrike">
                <a:solidFill>
                  <a:srgbClr val="1b4f72"/>
                </a:solidFill>
                <a:latin typeface="Arial"/>
              </a:rPr>
              <a:t>Reminder:</a:t>
            </a:r>
            <a:r>
              <a:rPr b="0" lang="en-US" sz="1800" spc="-1" strike="noStrike">
                <a:solidFill>
                  <a:srgbClr val="262626"/>
                </a:solidFill>
                <a:latin typeface="Arial"/>
              </a:rPr>
              <a:t>  EXPLAIN = give reasons, show the chain of cause and effect. EVALUATE = weigh both sides, then conclude. Always quote a figure or a named place.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
          <p:cNvSpPr txBox="1"/>
          <p:nvPr/>
        </p:nvSpPr>
        <p:spPr>
          <a:xfrm>
            <a:off x="2001240" y="3271320"/>
            <a:ext cx="5179320" cy="346680"/>
          </a:xfrm>
          <a:prstGeom prst="rect">
            <a:avLst/>
          </a:prstGeom>
          <a:noFill/>
          <a:ln w="0">
            <a:noFill/>
          </a:ln>
        </p:spPr>
        <p:txBody>
          <a:bodyPr lIns="90000" rIns="90000" tIns="45000" bIns="45000" anchor="t">
            <a:noAutofit/>
          </a:bodyPr>
          <a:p>
            <a:r>
              <a:rPr b="0" lang="en-US" sz="1800" spc="-1" strike="noStrike">
                <a:solidFill>
                  <a:srgbClr val="000000"/>
                </a:solidFill>
                <a:latin typeface="Arial"/>
              </a:rPr>
              <a:t>https://www.youtube.com/watch?v=GleSOqThfJw</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186</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2026-10-19T19:22:29Z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