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GEOGRAPHY — THEME I: A COMPLEX GLOBAL WORLD — 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B4F72"/>
                </a:solidFill>
                <a:latin typeface="Verdana"/>
              </a:rPr>
              <a:t>What Is Development?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555555"/>
                </a:solidFill>
                <a:latin typeface="Arial"/>
              </a:rPr>
              <a:t>Development isn't just about money. What actually makes a country ‘developed’?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Defining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B4F72"/>
                </a:solidFill>
                <a:latin typeface="Arial"/>
              </a:rPr>
              <a:t>•  Development:</a:t>
            </a:r>
            <a:r>
              <a:rPr sz="1700">
                <a:solidFill>
                  <a:srgbClr val="262626"/>
                </a:solidFill>
                <a:latin typeface="Arial"/>
              </a:rPr>
              <a:t>  the process of change that improves the economic wealth, social welfare, and living standards of a country's population.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B4F72"/>
                </a:solidFill>
                <a:latin typeface="Arial"/>
              </a:rPr>
              <a:t>•  Historically:</a:t>
            </a:r>
            <a:r>
              <a:rPr sz="1700">
                <a:solidFill>
                  <a:srgbClr val="262626"/>
                </a:solidFill>
                <a:latin typeface="Arial"/>
              </a:rPr>
              <a:t>  measured purely as an economic process — growth was assumed to 'trickle down' to everyone.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B4F72"/>
                </a:solidFill>
                <a:latin typeface="Arial"/>
              </a:rPr>
              <a:t>•  Today:</a:t>
            </a:r>
            <a:r>
              <a:rPr sz="1700">
                <a:solidFill>
                  <a:srgbClr val="262626"/>
                </a:solidFill>
                <a:latin typeface="Arial"/>
              </a:rPr>
              <a:t>  development is multidimensional — wealth alone does not guarantee human wellbeing.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TWO KINDS OF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Quantitative vs. Qualitative Measures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  <a:latin typeface="Arial"/>
              </a:rPr>
              <a:t>Quantitative Measures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62626"/>
                </a:solidFill>
                <a:latin typeface="Arial"/>
              </a:rPr>
              <a:t>Numerical, economic indicators of output and wealth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62626"/>
                </a:solidFill>
                <a:latin typeface="Arial"/>
              </a:rPr>
              <a:t>e.g. GNP / GDP per capita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62626"/>
                </a:solidFill>
                <a:latin typeface="Arial"/>
              </a:rPr>
              <a:t>e.g. PPP-adjusted income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73736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87452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  <a:latin typeface="Arial"/>
              </a:rPr>
              <a:t>Qualitative Measures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62626"/>
                </a:solidFill>
                <a:latin typeface="Arial"/>
              </a:rPr>
              <a:t>Non-monetary indicators of human welfare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62626"/>
                </a:solidFill>
                <a:latin typeface="Arial"/>
              </a:rPr>
              <a:t>e.g. literacy rate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62626"/>
                </a:solidFill>
                <a:latin typeface="Arial"/>
              </a:rPr>
              <a:t>e.g. life expectancy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262626"/>
                </a:solidFill>
                <a:latin typeface="Arial"/>
              </a:rPr>
              <a:t>e.g. years of schooling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COMPOSITE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The Human Development Index (HDI)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B4F72"/>
                </a:solidFill>
                <a:latin typeface="Arial"/>
              </a:rPr>
              <a:t>•  What it is:</a:t>
            </a:r>
            <a:r>
              <a:rPr sz="1700">
                <a:solidFill>
                  <a:srgbClr val="262626"/>
                </a:solidFill>
                <a:latin typeface="Arial"/>
              </a:rPr>
              <a:t>  a UN composite indicator combining life expectancy, literacy/years of schooling, and GNI per capita — scored 0 to 1.0.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B4F72"/>
                </a:solidFill>
                <a:latin typeface="Arial"/>
              </a:rPr>
              <a:t>•  Why it matters:</a:t>
            </a:r>
            <a:r>
              <a:rPr sz="1700">
                <a:solidFill>
                  <a:srgbClr val="262626"/>
                </a:solidFill>
                <a:latin typeface="Arial"/>
              </a:rPr>
              <a:t>  it evaluates development holistically, instead of relying on one economic number alone.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B4F72"/>
                </a:solidFill>
                <a:latin typeface="Arial"/>
              </a:rPr>
              <a:t>•  Related terms:</a:t>
            </a:r>
            <a:r>
              <a:rPr sz="1700">
                <a:solidFill>
                  <a:srgbClr val="262626"/>
                </a:solidFill>
                <a:latin typeface="Arial"/>
              </a:rPr>
              <a:t>  North-South divide (Brandt Line) — wealthy 'Global North' vs poorer 'Global South'; LEDC, NEE, BRICS classifications.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Comparing Three Country Profiles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7680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11887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Country Profile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GDP/GNP per Capita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Life Expectancy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Literacy Rate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HDI Score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Country A (High Income)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$65,000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82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0.938 (Very High)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Country B (Emerging/BRICS)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$18,000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75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0.765 (High)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Country C (Low Income)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$1,200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62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</a:rPr>
                        <a:t>0.520 (Low)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Why GNP Alone Can Mislead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62626"/>
                </a:solidFill>
                <a:latin typeface="Arial"/>
              </a:rPr>
              <a:t>•  A country can have high GNP per capita but poor health, education, or equality.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62626"/>
                </a:solidFill>
                <a:latin typeface="Arial"/>
              </a:rPr>
              <a:t>•  Example: an oil boom can double GNP overnight — but does that make a country 'developed'?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62626"/>
                </a:solidFill>
                <a:latin typeface="Arial"/>
              </a:rPr>
              <a:t>•  This is exactly why composite indicators like the HDI were created.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4F72"/>
                </a:solidFill>
                <a:latin typeface="Arial"/>
              </a:rPr>
              <a:t>BAC COMMAND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4F72"/>
                </a:solidFill>
                <a:latin typeface="Verdana"/>
              </a:rPr>
              <a:t>Remember These for Every Exam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76809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71323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262626"/>
                </a:solidFill>
                <a:latin typeface="Arial"/>
              </a:rPr>
              <a:t>DEFINE → state cleanly.  DESCRIBE → state the pattern.  EXPLAIN → give causes/why.  EVALUATE → weigh +/- and conclude.</a:t>
            </a:r>
          </a:p>
          <a:p>
            <a:pPr>
              <a:spcBef>
                <a:spcPts val="1000"/>
              </a:spcBef>
            </a:pPr>
            <a:r>
              <a:rPr i="1" sz="1400">
                <a:solidFill>
                  <a:srgbClr val="1B4F72"/>
                </a:solidFill>
                <a:latin typeface="Arial"/>
              </a:rPr>
              <a:t>(Syllabus Annex 6.2 — use these words precisely in written &amp; oral exams)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