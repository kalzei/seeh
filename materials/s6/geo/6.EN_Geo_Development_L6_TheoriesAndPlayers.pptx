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3BEAF2-D107-435E-BF06-80ADB774EC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849402-19E7-4E37-B680-75B7B4B283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753DD02-DF6E-48F0-B08E-73D097A489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0CC5CC9-CA1E-4D98-A7A4-4D735D73ED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DD3A4A1-613B-4086-8EDB-964403D370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8086162-3757-4A69-8880-DA0417F408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EEE6321-5177-436B-86D3-C91B5B14EE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2D4D481-8270-4EFF-86F2-1D7219A9C5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5979A18-9322-4E3D-8D79-BAFB4D543B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93E8665-E4DE-428E-837B-3C7F244D99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7FC2530-F4BF-4C66-B0FC-D3CD25631C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8F567A-A429-4504-AA5E-238F561B2F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892CC9-B4B1-4A62-AE9B-96A8E559C7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1FB646-71EA-481A-8187-B4D0FBAAC78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7E4E15-4F2F-4108-ABB8-A812EF28B7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4FA969-52B3-4416-AC82-184E43A0BA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412FA6-97E2-4B5B-95E1-EBF17B4A1E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C35FDF-70AF-4A36-9756-181AD0384D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11650B-AD48-424A-A9E4-A0F7E57317E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B08114-F959-4714-880A-B3D96D7A31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70E4B2-0CC7-496D-BF4C-69FB530B765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8CF648-BA47-444F-976B-C0A95C2DEC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2960" y="320040"/>
            <a:ext cx="7680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GEOGRAPHY — THEME I: A COMPLEX GLOBAL WORLD — Lesson 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621720"/>
            <a:ext cx="76806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1b4f72"/>
                </a:solidFill>
                <a:latin typeface="Verdana"/>
              </a:rPr>
              <a:t>Theories of Development &amp; Who's Involved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22960" y="2926080"/>
            <a:ext cx="76806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555555"/>
                </a:solidFill>
                <a:latin typeface="Arial"/>
              </a:rPr>
              <a:t>Why do some models say every country follows the same path — and others say some are trapped by it?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822960" y="320040"/>
            <a:ext cx="7680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RECAP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621720"/>
            <a:ext cx="7680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Quick Recap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822960" y="1737360"/>
            <a:ext cx="7680600" cy="13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Last lesson: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we compared economic sectors and saw how a country's workforce shifts as it develops.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Today: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we zoom out to the THEORIES that try to explain development itself, and the ORGANISATIONS that try to influence it.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822960" y="320040"/>
            <a:ext cx="7680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THEORY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822960" y="621720"/>
            <a:ext cx="7680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Rostow's Stages of Growth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822960" y="1737360"/>
            <a:ext cx="7680600" cy="27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1. Traditional Society:</a:t>
            </a:r>
            <a:r>
              <a:rPr b="0" lang="en-US" sz="1500" spc="-1" strike="noStrike">
                <a:solidFill>
                  <a:srgbClr val="262626"/>
                </a:solidFill>
                <a:latin typeface="Arial"/>
              </a:rPr>
              <a:t>  subsistence agriculture, little trade, low productivity.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2. Preconditions for Take-off:</a:t>
            </a:r>
            <a:r>
              <a:rPr b="0" lang="en-US" sz="1500" spc="-1" strike="noStrike">
                <a:solidFill>
                  <a:srgbClr val="262626"/>
                </a:solidFill>
                <a:latin typeface="Arial"/>
              </a:rPr>
              <a:t>  basic infrastructure &amp; education begin; some outside investment arrives.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3. Take-off:</a:t>
            </a:r>
            <a:r>
              <a:rPr b="0" lang="en-US" sz="1500" spc="-1" strike="noStrike">
                <a:solidFill>
                  <a:srgbClr val="262626"/>
                </a:solidFill>
                <a:latin typeface="Arial"/>
              </a:rPr>
              <a:t>  rapid growth in specific industries; urbanisation accelerates.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4. Drive to Maturity:</a:t>
            </a:r>
            <a:r>
              <a:rPr b="0" lang="en-US" sz="1500" spc="-1" strike="noStrike">
                <a:solidFill>
                  <a:srgbClr val="262626"/>
                </a:solidFill>
                <a:latin typeface="Arial"/>
              </a:rPr>
              <a:t>  the economy diversifies; new industries and technology spread.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5. Age of Mass Consumption:</a:t>
            </a:r>
            <a:r>
              <a:rPr b="0" lang="en-US" sz="1500" spc="-1" strike="noStrike">
                <a:solidFill>
                  <a:srgbClr val="262626"/>
                </a:solidFill>
                <a:latin typeface="Arial"/>
              </a:rPr>
              <a:t>  high incomes; a service/consumer economy dominates.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Critique:</a:t>
            </a:r>
            <a:r>
              <a:rPr b="0" lang="en-US" sz="1500" spc="-1" strike="noStrike">
                <a:solidFill>
                  <a:srgbClr val="262626"/>
                </a:solidFill>
                <a:latin typeface="Arial"/>
              </a:rPr>
              <a:t>  assumes every country follows the same Western industrial path, and ignores colonial history and today's very different starting points.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822960" y="320040"/>
            <a:ext cx="7680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THEORY 1 — A CLOSER LOOK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822960" y="621720"/>
            <a:ext cx="76806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Rostow: The Mechanism, and a Modern Nuance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822960" y="1737360"/>
            <a:ext cx="7680600" cy="36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Mechanism at Take-off: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savings and investment rise, infrastructure (railways, ports, power) gets built, and a few leading sectors (textiles, steel) start growing fast.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The evidence against it: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most of the world's poorest countries have not moved through the stages in 60+ years of trying, despite large amounts of aid and investment — suggesting something structural is blocking them, not just time.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Modern nuance: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South Korea and Taiwan are the textbook "it worked" cases — but even there, success depended on huge US aid, land reform, and state-directed industrial policy, not simply "saving more and waiting."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822960" y="320040"/>
            <a:ext cx="7680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THEORY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822960" y="621720"/>
            <a:ext cx="76806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Dependency Theory — A Direct Challenge to Rostow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822960" y="1737360"/>
            <a:ext cx="7680600" cy="32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Core idea: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rich 'core' countries developed BY exploiting poorer 'periphery' countries — through colonialism, unequal trade terms, and continued economic dependence.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Key claim: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underdevelopment isn't a stage a country hasn't reached yet — it's a structural RESULT of the global economic system.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Example: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cheap raw-material exports (Nigeria's oil, Mali's cotton) vs. expensive manufactured imports keeps former colonies economically dependent.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Critique: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can be overly deterministic — doesn't fully explain NEEs like South Korea, which broke out of dependency through export-led growth.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822960" y="320040"/>
            <a:ext cx="7680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THEORY 2 — MODERN EXAMPLES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822960" y="621720"/>
            <a:ext cx="76806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Dependency Theory: Two 2020s Examples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822960" y="1737360"/>
            <a:ext cx="7680600" cy="46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The trade mechanism ("terms of trade"):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raw materials (cotton, oil, copper, cobalt) are cheap and low-value; manufactured goods (phones, cars) are complex and high-value. Exporting the first and importing the second structurally transfers wealth outward, year after year.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DRC cobalt: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the Democratic Republic of Congo produces most of the world's cobalt, essential for EV batteries and smartphones — yet it's refined into batteries elsewhere (mainly China), and the DRC captures only a small fraction of the final value. Nigeria's oil story, repeated with a 2020s mineral.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Zambia's copper dependence: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the government gets roughly 70% of its export revenue from copper — so when copper prices crashed in 2015 and again in 2022-23, the whole national budget was destabilised. A textbook "resource curse."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822960" y="320040"/>
            <a:ext cx="7680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OTHER MODELS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822960" y="621720"/>
            <a:ext cx="7680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Modernism &amp; the Export Model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ectangle 4"/>
          <p:cNvSpPr/>
          <p:nvPr/>
        </p:nvSpPr>
        <p:spPr>
          <a:xfrm>
            <a:off x="822960" y="1737360"/>
            <a:ext cx="378072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960120" y="1874520"/>
            <a:ext cx="3506400" cy="18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Modernism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Development = becoming more like industrialised Western nations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Adopting similar institutions, technology, and values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Criticised as culturally biased — assumes one path to 'success'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 6"/>
          <p:cNvSpPr/>
          <p:nvPr/>
        </p:nvSpPr>
        <p:spPr>
          <a:xfrm>
            <a:off x="4722840" y="1737360"/>
            <a:ext cx="378072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4860000" y="1874520"/>
            <a:ext cx="3506400" cy="18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Export Model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A strategy built on producing goods for EXPORT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Earns foreign currency to fund industrialisation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Used successfully by the 'Asian Tigers' (S.Korea, Taiwan, Singapore, Hong Kong)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822960" y="320040"/>
            <a:ext cx="7680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MODERN UPDATE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822960" y="621720"/>
            <a:ext cx="7680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Vietnam: The Next Asian Tiger?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822960" y="1737360"/>
            <a:ext cx="7680600" cy="423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2024 performance: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Vietnam's economy grew 7.09% (up from 5.05% in 2023), and exports reached $405.5 billion, up 14.3% on the year before.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Climbing the value chain: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Vietnam's biggest export to the US is now high-tech electronics, not textiles — meaning it has already taken the step up the value chain that the original Asian Tigers took decades to make.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The stated goal: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Vietnam's own leadership has explicitly said it aims to become "the next Asian Tiger" by 2045.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The obstacle (discuss):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in 2025 the US imposed roughly 20% tariffs on Vietnamese goods — exposing the export model's core vulnerability: it depends entirely on continued access to rich-country markets, which can be withdrawn by political decision at any time.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822960" y="320040"/>
            <a:ext cx="7680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KEY PLAYERS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822960" y="621720"/>
            <a:ext cx="7680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Who's Involved in Development?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4"/>
          <p:cNvSpPr/>
          <p:nvPr/>
        </p:nvSpPr>
        <p:spPr>
          <a:xfrm>
            <a:off x="822960" y="1737360"/>
            <a:ext cx="183060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960120" y="1874520"/>
            <a:ext cx="1556280" cy="35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NGOs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1b4f72"/>
                </a:solidFill>
                <a:latin typeface="Arial"/>
              </a:rPr>
              <a:t>Μη Κυβερνητικές Οργανώσεις ("Non-Governmental Organisations")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Non-governmental, not tied to government funding/politics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Run aid &amp; development projects directly (e.g. Oxfam)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6"/>
          <p:cNvSpPr/>
          <p:nvPr/>
        </p:nvSpPr>
        <p:spPr>
          <a:xfrm>
            <a:off x="2773080" y="1737360"/>
            <a:ext cx="183060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2910240" y="1874520"/>
            <a:ext cx="1556280" cy="243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World Bank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Provides loans &amp; grants for development projects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Produces the global data used throughout this unit (GNI, poverty rates)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8"/>
          <p:cNvSpPr/>
          <p:nvPr/>
        </p:nvSpPr>
        <p:spPr>
          <a:xfrm>
            <a:off x="4722840" y="1737360"/>
            <a:ext cx="183060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4860000" y="1874520"/>
            <a:ext cx="1556280" cy="37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IMF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300" spc="-1" strike="noStrike">
                <a:solidFill>
                  <a:srgbClr val="1b4f72"/>
                </a:solidFill>
                <a:latin typeface="Arial"/>
              </a:rPr>
              <a:t>International Monetary Fund — in Greek: ΔΝΤ = Διεθνές Νομισματικό Ταμείο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Provides financial stability support &amp; crisis loans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Attaches 'conditionality' — can force cuts to health/education spending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10"/>
          <p:cNvSpPr/>
          <p:nvPr/>
        </p:nvSpPr>
        <p:spPr>
          <a:xfrm>
            <a:off x="6672960" y="1737360"/>
            <a:ext cx="183060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11"/>
          <p:cNvSpPr/>
          <p:nvPr/>
        </p:nvSpPr>
        <p:spPr>
          <a:xfrm>
            <a:off x="6810120" y="1874520"/>
            <a:ext cx="1556280" cy="20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UN Agencies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UNDP created the HDI you used in Lesson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Set the Sustainable Development Goals (SDGs)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822960" y="320040"/>
            <a:ext cx="7680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KEY PLAYERS — IN ACTION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822960" y="621720"/>
            <a:ext cx="76806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IMF Conditionality in Action: Kenya, 2024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822960" y="1737360"/>
            <a:ext cx="7680600" cy="423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The trigger: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under pressure to meet IMF-linked fiscal targets, Kenya's government proposed the Finance Bill 2024 — raising taxes on bread, cooking oil, sanitary products, and fuel, to raise roughly $2.4 billion for debt repayment.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The result: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the largest protests in Kenya in years ("#RejectFinanceBill2024"), several deaths, and the government eventually withdrew the bill.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Why it matters: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this is conditionality in action — ordinary households, not just the government, end up absorbing the adjustment the IMF requires.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One more data point: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the UN's own progress reports show only a small fraction of the 17 Sustainable Development Goals are "on track" for 2030 — a live illustration of how hard development is in practice.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2026-10-08T13:52:31Z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