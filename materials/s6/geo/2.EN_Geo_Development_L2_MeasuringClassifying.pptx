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8CC3C8-104B-40B4-AEA1-D5A9F9C279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C507C5-0554-4784-BD70-8238958D5D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2B0ECEA-64FC-43ED-B918-C047D13784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32559F6-62E7-46B7-AB04-C80233126B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3DE08E4-06DF-44F4-95E2-E165021B63F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FE7EEAC-DF81-40DE-84D4-18C9382676B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B7AD90E-BAE3-416A-AD24-867EEA0165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5046142-D440-4B20-A59B-2C53A1FFE1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EF8D81D9-2446-4310-BA9D-049B2ABC00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B2A7B20-09EA-4832-A7BA-61712E2DD6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47A03C9-A77B-4B3A-B00E-713FF04603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454599-2CB7-4294-AAF1-D089AD21160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2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721DC3-673B-49BB-9C29-C70BE8C138C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123B53-B07E-4528-B34B-7CE7E9B7EF9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B0E298-6911-4267-80BF-12C87BAB3AA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0A85FA-EADD-44A5-B042-940A9A62755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16E9EE-1A49-466B-B690-6AAD00BECC1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5AA268-DE27-4A9D-A2BE-6BAB9909392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65A8D9-83CB-4DE0-9D44-1C1AF4D3A07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B52314-80A4-4FDA-ADD8-96CADF47866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B09879-3A78-473F-A979-94ED1BA82E9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96CF8F-6F0C-4E51-BBF3-D69E3B2A900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2058120" y="320040"/>
            <a:ext cx="5210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b4f72"/>
                </a:solidFill>
                <a:latin typeface="Arial"/>
              </a:rPr>
              <a:t>GEOGRAPHY — THEME I: A COMPLEX GLOBAL WORLD — Lesson 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822960" y="621720"/>
            <a:ext cx="768060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1b4f72"/>
                </a:solidFill>
                <a:latin typeface="Verdana"/>
              </a:rPr>
              <a:t>Measuring &amp; Classifying Development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822960" y="2926080"/>
            <a:ext cx="7680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2100" spc="-1" strike="noStrike">
                <a:solidFill>
                  <a:srgbClr val="555555"/>
                </a:solidFill>
                <a:latin typeface="Arial"/>
              </a:rPr>
              <a:t>Indicators, population pyramids, and income groups — how do we actually sort countries?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4305960" y="320040"/>
            <a:ext cx="714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b4f72"/>
                </a:solidFill>
                <a:latin typeface="Arial"/>
              </a:rPr>
              <a:t>RECAP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822960" y="621720"/>
            <a:ext cx="7680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b4f72"/>
                </a:solidFill>
                <a:latin typeface="Verdana"/>
              </a:rPr>
              <a:t>Quick Recap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822960" y="1737360"/>
            <a:ext cx="7680600" cy="136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Last lesson: development = economic + social wellbeing, measured with quantitative &amp; qualitative indicators, summarised by the HDI.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Today: the fuller toolkit of indicators, how population structure reveals development, and how the World Bank classifies countries by income.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3802320" y="320040"/>
            <a:ext cx="1721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b4f72"/>
                </a:solidFill>
                <a:latin typeface="Arial"/>
              </a:rPr>
              <a:t>INDICATOR TOOLKIT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822960" y="621720"/>
            <a:ext cx="7680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b4f72"/>
                </a:solidFill>
                <a:latin typeface="Verdana"/>
              </a:rPr>
              <a:t>More Development Indicators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ectangle 4"/>
          <p:cNvSpPr/>
          <p:nvPr/>
        </p:nvSpPr>
        <p:spPr>
          <a:xfrm>
            <a:off x="822960" y="1737360"/>
            <a:ext cx="2437920" cy="475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960120" y="1874520"/>
            <a:ext cx="2163600" cy="165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b4f72"/>
                </a:solidFill>
                <a:latin typeface="Arial"/>
              </a:rPr>
              <a:t>Health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250" spc="-1" strike="noStrike">
                <a:solidFill>
                  <a:srgbClr val="262626"/>
                </a:solidFill>
                <a:latin typeface="Arial"/>
              </a:rPr>
              <a:t>Life expectancy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250" spc="-1" strike="noStrike">
                <a:solidFill>
                  <a:srgbClr val="262626"/>
                </a:solidFill>
                <a:latin typeface="Arial"/>
              </a:rPr>
              <a:t>Infant mortality rate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250" spc="-1" strike="noStrike">
                <a:solidFill>
                  <a:srgbClr val="262626"/>
                </a:solidFill>
                <a:latin typeface="Arial"/>
              </a:rPr>
              <a:t>Maternal mortality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250" spc="-1" strike="noStrike">
                <a:solidFill>
                  <a:srgbClr val="262626"/>
                </a:solidFill>
                <a:latin typeface="Arial"/>
              </a:rPr>
              <a:t>People per doctor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250" spc="-1" strike="noStrike">
                <a:solidFill>
                  <a:srgbClr val="262626"/>
                </a:solidFill>
                <a:latin typeface="Arial"/>
              </a:rPr>
              <a:t>Access to safe water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ectangle 6"/>
          <p:cNvSpPr/>
          <p:nvPr/>
        </p:nvSpPr>
        <p:spPr>
          <a:xfrm>
            <a:off x="3444120" y="1737360"/>
            <a:ext cx="2437920" cy="475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7"/>
          <p:cNvSpPr/>
          <p:nvPr/>
        </p:nvSpPr>
        <p:spPr>
          <a:xfrm>
            <a:off x="3581280" y="1874520"/>
            <a:ext cx="2163600" cy="13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b4f72"/>
                </a:solidFill>
                <a:latin typeface="Arial"/>
              </a:rPr>
              <a:t>Population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250" spc="-1" strike="noStrike">
                <a:solidFill>
                  <a:srgbClr val="262626"/>
                </a:solidFill>
                <a:latin typeface="Arial"/>
              </a:rPr>
              <a:t>Birth rate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250" spc="-1" strike="noStrike">
                <a:solidFill>
                  <a:srgbClr val="262626"/>
                </a:solidFill>
                <a:latin typeface="Arial"/>
              </a:rPr>
              <a:t>Death rate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250" spc="-1" strike="noStrike">
                <a:solidFill>
                  <a:srgbClr val="262626"/>
                </a:solidFill>
                <a:latin typeface="Arial"/>
              </a:rPr>
              <a:t>Fertility rate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250" spc="-1" strike="noStrike">
                <a:solidFill>
                  <a:srgbClr val="262626"/>
                </a:solidFill>
                <a:latin typeface="Arial"/>
              </a:rPr>
              <a:t>Dependency ratio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ectangle 8"/>
          <p:cNvSpPr/>
          <p:nvPr/>
        </p:nvSpPr>
        <p:spPr>
          <a:xfrm>
            <a:off x="6065640" y="1737360"/>
            <a:ext cx="2437920" cy="475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TextBox 9"/>
          <p:cNvSpPr/>
          <p:nvPr/>
        </p:nvSpPr>
        <p:spPr>
          <a:xfrm>
            <a:off x="6202800" y="1874520"/>
            <a:ext cx="2163600" cy="11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b4f72"/>
                </a:solidFill>
                <a:latin typeface="Arial"/>
              </a:rPr>
              <a:t>Society &amp; Economy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250" spc="-1" strike="noStrike">
                <a:solidFill>
                  <a:srgbClr val="262626"/>
                </a:solidFill>
                <a:latin typeface="Arial"/>
              </a:rPr>
              <a:t>Literacy rate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250" spc="-1" strike="noStrike">
                <a:solidFill>
                  <a:srgbClr val="262626"/>
                </a:solidFill>
                <a:latin typeface="Arial"/>
              </a:rPr>
              <a:t>GDP / GNI per capita (PPP)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250" spc="-1" strike="noStrike">
                <a:solidFill>
                  <a:srgbClr val="262626"/>
                </a:solidFill>
                <a:latin typeface="Arial"/>
              </a:rPr>
              <a:t>Poverty line ($1.90/day)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3727440" y="320040"/>
            <a:ext cx="1871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b4f72"/>
                </a:solidFill>
                <a:latin typeface="Arial"/>
              </a:rPr>
              <a:t>POPULATION CHANGE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822960" y="621720"/>
            <a:ext cx="76806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b4f72"/>
                </a:solidFill>
                <a:latin typeface="Verdana"/>
              </a:rPr>
              <a:t>The Demographic Transition Model (DTM)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Rectangle 4"/>
          <p:cNvSpPr/>
          <p:nvPr/>
        </p:nvSpPr>
        <p:spPr>
          <a:xfrm>
            <a:off x="822960" y="2148840"/>
            <a:ext cx="7680600" cy="3780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Oval 5"/>
          <p:cNvSpPr/>
          <p:nvPr/>
        </p:nvSpPr>
        <p:spPr>
          <a:xfrm>
            <a:off x="1454040" y="2094120"/>
            <a:ext cx="164160" cy="164160"/>
          </a:xfrm>
          <a:prstGeom prst="ellipse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6"/>
          <p:cNvSpPr/>
          <p:nvPr/>
        </p:nvSpPr>
        <p:spPr>
          <a:xfrm>
            <a:off x="822960" y="2331720"/>
            <a:ext cx="1425960" cy="10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b4f72"/>
                </a:solidFill>
                <a:latin typeface="Arial"/>
              </a:rPr>
              <a:t>Stage 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262626"/>
                </a:solidFill>
                <a:latin typeface="Arial"/>
              </a:rPr>
              <a:t>High</a:t>
            </a:r>
            <a:r>
              <a:rPr b="0" lang="en-US" sz="1200" spc="-1" strike="noStrike">
                <a:solidFill>
                  <a:srgbClr val="262626"/>
                </a:solidFill>
                <a:latin typeface="Arial"/>
              </a:rPr>
              <a:t> birth rate, high death rate — little natural change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Oval 7"/>
          <p:cNvSpPr/>
          <p:nvPr/>
        </p:nvSpPr>
        <p:spPr>
          <a:xfrm>
            <a:off x="3017520" y="2094120"/>
            <a:ext cx="164160" cy="164160"/>
          </a:xfrm>
          <a:prstGeom prst="ellipse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8"/>
          <p:cNvSpPr/>
          <p:nvPr/>
        </p:nvSpPr>
        <p:spPr>
          <a:xfrm>
            <a:off x="2386440" y="2331720"/>
            <a:ext cx="1425960" cy="10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b4f72"/>
                </a:solidFill>
                <a:latin typeface="Arial"/>
              </a:rPr>
              <a:t>Stage 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262626"/>
                </a:solidFill>
                <a:latin typeface="Arial"/>
              </a:rPr>
              <a:t>Death rate falls rapidly — population grows fast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Oval 9"/>
          <p:cNvSpPr/>
          <p:nvPr/>
        </p:nvSpPr>
        <p:spPr>
          <a:xfrm>
            <a:off x="4581000" y="2094120"/>
            <a:ext cx="164160" cy="164160"/>
          </a:xfrm>
          <a:prstGeom prst="ellipse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3950280" y="2331720"/>
            <a:ext cx="1425960" cy="8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b4f72"/>
                </a:solidFill>
                <a:latin typeface="Arial"/>
              </a:rPr>
              <a:t>Stage 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262626"/>
                </a:solidFill>
                <a:latin typeface="Arial"/>
              </a:rPr>
              <a:t>Birth rate starts falling — growth slows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Oval 11"/>
          <p:cNvSpPr/>
          <p:nvPr/>
        </p:nvSpPr>
        <p:spPr>
          <a:xfrm>
            <a:off x="6144840" y="2094120"/>
            <a:ext cx="164160" cy="164160"/>
          </a:xfrm>
          <a:prstGeom prst="ellipse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TextBox 12"/>
          <p:cNvSpPr/>
          <p:nvPr/>
        </p:nvSpPr>
        <p:spPr>
          <a:xfrm>
            <a:off x="5513760" y="2331720"/>
            <a:ext cx="1425960" cy="8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b4f72"/>
                </a:solidFill>
                <a:latin typeface="Arial"/>
              </a:rPr>
              <a:t>Stage 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262626"/>
                </a:solidFill>
                <a:latin typeface="Arial"/>
              </a:rPr>
              <a:t>Low birth &amp; death rates — stable population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Oval 13"/>
          <p:cNvSpPr/>
          <p:nvPr/>
        </p:nvSpPr>
        <p:spPr>
          <a:xfrm>
            <a:off x="7708320" y="2094120"/>
            <a:ext cx="164160" cy="164160"/>
          </a:xfrm>
          <a:prstGeom prst="ellipse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14"/>
          <p:cNvSpPr/>
          <p:nvPr/>
        </p:nvSpPr>
        <p:spPr>
          <a:xfrm>
            <a:off x="7077600" y="2331720"/>
            <a:ext cx="1425960" cy="10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b4f72"/>
                </a:solidFill>
                <a:latin typeface="Arial"/>
              </a:rPr>
              <a:t>Stage 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262626"/>
                </a:solidFill>
                <a:latin typeface="Arial"/>
              </a:rPr>
              <a:t>Birth rate falls below death rate — population may decline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b="0" lang="en-US" sz="20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3736800" y="320040"/>
            <a:ext cx="18529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b4f72"/>
                </a:solidFill>
                <a:latin typeface="Arial"/>
              </a:rPr>
              <a:t>READING PYRAMIDS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822960" y="621720"/>
            <a:ext cx="768060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1b4f72"/>
                </a:solidFill>
                <a:latin typeface="Verdana"/>
              </a:rPr>
              <a:t>What a Population Pyramid Shape Tells You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ectangle 4"/>
          <p:cNvSpPr/>
          <p:nvPr/>
        </p:nvSpPr>
        <p:spPr>
          <a:xfrm>
            <a:off x="822960" y="1737360"/>
            <a:ext cx="2437920" cy="475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b="0" lang="en-US" sz="20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960120" y="1874520"/>
            <a:ext cx="2163600" cy="20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b4f72"/>
                </a:solidFill>
                <a:latin typeface="Arial"/>
              </a:rPr>
              <a:t>LIC (e.g. Niger, Gambia)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Wide base — high birth rate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Concave sides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Many under-15s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Youthful population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ectangle 6"/>
          <p:cNvSpPr/>
          <p:nvPr/>
        </p:nvSpPr>
        <p:spPr>
          <a:xfrm>
            <a:off x="3444120" y="1737360"/>
            <a:ext cx="2437920" cy="475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b="0" lang="en-US" sz="20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7"/>
          <p:cNvSpPr/>
          <p:nvPr/>
        </p:nvSpPr>
        <p:spPr>
          <a:xfrm>
            <a:off x="3581280" y="1874520"/>
            <a:ext cx="2163600" cy="14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b4f72"/>
                </a:solidFill>
                <a:latin typeface="Arial"/>
              </a:rPr>
              <a:t>NEE (e.g. UAE)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Unbalanced — gender imbalance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Large working-age bulge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Driven by migrant labour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ectangle 8"/>
          <p:cNvSpPr/>
          <p:nvPr/>
        </p:nvSpPr>
        <p:spPr>
          <a:xfrm>
            <a:off x="6065640" y="1737360"/>
            <a:ext cx="2437920" cy="475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b="0" lang="en-US" sz="20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9"/>
          <p:cNvSpPr/>
          <p:nvPr/>
        </p:nvSpPr>
        <p:spPr>
          <a:xfrm>
            <a:off x="6202800" y="1874520"/>
            <a:ext cx="2163600" cy="20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b4f72"/>
                </a:solidFill>
                <a:latin typeface="Arial"/>
              </a:rPr>
              <a:t>HIC (e.g. Italy, Japan)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Narrow base — low birth rate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Bulge at over-60s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High life expectancy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400" spc="-1" strike="noStrike">
                <a:solidFill>
                  <a:srgbClr val="262626"/>
                </a:solidFill>
                <a:latin typeface="Arial"/>
              </a:rPr>
              <a:t>Ageing population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0" y="228600"/>
            <a:ext cx="9144000" cy="640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3389400" y="320040"/>
            <a:ext cx="2547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b4f72"/>
                </a:solidFill>
                <a:latin typeface="Arial"/>
              </a:rPr>
              <a:t>WORLD BANK CLASSIFICATION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822960" y="621720"/>
            <a:ext cx="76806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b4f72"/>
                </a:solidFill>
                <a:latin typeface="Verdana"/>
              </a:rPr>
              <a:t>Income Groups by GNI per Capita (2021)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1" name="Table 4"/>
          <p:cNvGraphicFramePr/>
          <p:nvPr/>
        </p:nvGraphicFramePr>
        <p:xfrm>
          <a:off x="822960" y="1737360"/>
          <a:ext cx="7680600" cy="475452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</a:tblGrid>
              <a:tr h="950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Income Group</a:t>
                      </a:r>
                      <a:endParaRPr b="0" lang="en-US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GNI per capita (current US$)</a:t>
                      </a:r>
                      <a:endParaRPr b="0" lang="en-US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4f72"/>
                    </a:solidFill>
                  </a:tcPr>
                </a:tc>
              </a:tr>
              <a:tr h="950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Low Income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&lt; $1,045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950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Lower-Middle Income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$1,046 – $4,095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950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Upper-Middle Income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$4,096 – $12,695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950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High Income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&gt; $12,695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4335480" y="320040"/>
            <a:ext cx="655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b4f72"/>
                </a:solidFill>
                <a:latin typeface="Arial"/>
              </a:rPr>
              <a:t>TRY IT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822960" y="621720"/>
            <a:ext cx="7680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b4f72"/>
                </a:solidFill>
                <a:latin typeface="Verdana"/>
              </a:rPr>
              <a:t>Classify &amp; Justify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ectangle 4"/>
          <p:cNvSpPr/>
          <p:nvPr/>
        </p:nvSpPr>
        <p:spPr>
          <a:xfrm>
            <a:off x="822960" y="2011680"/>
            <a:ext cx="7680600" cy="2011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5"/>
          <p:cNvSpPr/>
          <p:nvPr/>
        </p:nvSpPr>
        <p:spPr>
          <a:xfrm>
            <a:off x="1097280" y="2368080"/>
            <a:ext cx="713196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262626"/>
                </a:solidFill>
                <a:latin typeface="Arial"/>
              </a:rPr>
              <a:t>Given a country's GNI per capita, birth rate, and population pyramid shape, classify it as LIC / NEE / HIC and justify your answer using at least two indicators.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i="1" lang="en-US" sz="1400" spc="-1" strike="noStrike">
                <a:solidFill>
                  <a:srgbClr val="1b4f72"/>
                </a:solidFill>
                <a:latin typeface="Arial"/>
              </a:rPr>
              <a:t>(practice for data-interpretation exam questions)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2026-09-25T15:53:31Z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