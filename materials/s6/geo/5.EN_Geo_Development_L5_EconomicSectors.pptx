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GEOGRAPHY — THEME I: A COMPLEX GLOBAL WORLD — 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B4F72"/>
                </a:solidFill>
                <a:latin typeface="Verdana"/>
              </a:rPr>
              <a:t>What a Country Produces: Economic Sectors &amp;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55555"/>
                </a:solidFill>
                <a:latin typeface="Arial"/>
              </a:rPr>
              <a:t>Primary, secondary and tertiary sectors — and what a country's sector balance reveals about its level of development.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Income groups:</a:t>
            </a:r>
            <a:r>
              <a:rPr sz="1800" b="0">
                <a:solidFill>
                  <a:srgbClr val="262626"/>
                </a:solidFill>
                <a:latin typeface="Arial"/>
              </a:rPr>
              <a:t>  the World Bank classifies countries by GNI per capita into Low / Lower-Middle / Upper-Middle / High Income — and NEEs are countries moving rapidly up that scale.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Today's question:</a:t>
            </a:r>
            <a:r>
              <a:rPr sz="1800" b="0">
                <a:solidFill>
                  <a:srgbClr val="262626"/>
                </a:solidFill>
                <a:latin typeface="Arial"/>
              </a:rPr>
              <a:t>  income tells us how much a country earns — but what people actually do for work (which economic sector) tells us how that income is generated, and how developed the economy's structure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The Three Economic Sectors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24810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206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Primary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Extracting raw materials directly from nature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e.g. farming, fishing, mining, forestry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Dominant in LICs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2904" y="1737360"/>
            <a:ext cx="24810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0064" y="1874520"/>
            <a:ext cx="2206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Secondary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Manufacturing / processing raw materials into goods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e.g. factories, construction, oil refining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Grows as countries industrialise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22848" y="1737360"/>
            <a:ext cx="24810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0008" y="1874520"/>
            <a:ext cx="2206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Tertiary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Providing services rather than goods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e.g. retail, finance, education, healthcare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Dominant in HICs and service-based NEEs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Four Countries, Four Structures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7680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9509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Country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Income group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Primary %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Secondary %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Tertiary %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Measured as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Botswana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Upper-middle (mineral-based)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% of GDP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Mali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Low income (LIC)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% of labour force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Saudi Arabia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High income (oil)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% of labour force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High income (HIC)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79.45%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% of labour force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The Sector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Structural transformation:</a:t>
            </a:r>
            <a:r>
              <a:rPr sz="1600" b="0">
                <a:solidFill>
                  <a:srgbClr val="262626"/>
                </a:solidFill>
                <a:latin typeface="Arial"/>
              </a:rPr>
              <a:t>  as a country develops, its workforce typically shifts primary → secondary → tertiary, e.g. USA (1.66% primary) vs. Mali (80% primary).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Watch the units:</a:t>
            </a:r>
            <a:r>
              <a:rPr sz="1600" b="0">
                <a:solidFill>
                  <a:srgbClr val="262626"/>
                </a:solidFill>
                <a:latin typeface="Arial"/>
              </a:rPr>
              <a:t>  Botswana's figures measure % of GDP, not % of workers — its GDP looks primary-heavy (diamonds/mining) even though far fewer than 61% of Batswana actually work in that sector. Always check what a chart is measuring.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The Saudi Arabia paradox:</a:t>
            </a:r>
            <a:r>
              <a:rPr sz="1600" b="0">
                <a:solidFill>
                  <a:srgbClr val="262626"/>
                </a:solidFill>
                <a:latin typeface="Arial"/>
              </a:rPr>
              <a:t>  the economy is built on oil (primary) exports, yet most workers are employed in services (71.9% tertiary) — oil extraction employs relatively few people directly, even though it funds most of the country's income.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A global anchor point:</a:t>
            </a:r>
            <a:r>
              <a:rPr sz="1600" b="0">
                <a:solidFill>
                  <a:srgbClr val="262626"/>
                </a:solidFill>
                <a:latin typeface="Arial"/>
              </a:rPr>
              <a:t>  about 26% of the world's workforce still works in agriculture (World Bank, 2023). Mali (80%) sits far above that global average; the USA (1.66%) sits far below it — both are extreme cases, not the 'typical' picture.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Connecting the Dots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Pyramid shape (Lesson 2):</a:t>
            </a:r>
            <a:r>
              <a:rPr sz="1800" b="0">
                <a:solidFill>
                  <a:srgbClr val="262626"/>
                </a:solidFill>
                <a:latin typeface="Arial"/>
              </a:rPr>
              <a:t>  LICs like Mali have a wide-base pyramid (high birth rate) and a primary-sector-heavy workforce — both point to an early-stage, rural, high-fertility economy.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DTM stage (Lesson 2):</a:t>
            </a:r>
            <a:r>
              <a:rPr sz="1800" b="0">
                <a:solidFill>
                  <a:srgbClr val="262626"/>
                </a:solidFill>
                <a:latin typeface="Arial"/>
              </a:rPr>
              <a:t>  HICs like the USA sit in DTM Stage 4/5 (low birth &amp; death rates) and have a tertiary-heavy workforce — the demographic and economic transitions happen together, not separately.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One indicator is never enough:</a:t>
            </a:r>
            <a:r>
              <a:rPr sz="1800" b="0">
                <a:solidFill>
                  <a:srgbClr val="262626"/>
                </a:solidFill>
                <a:latin typeface="Arial"/>
              </a:rPr>
              <a:t>  GNI per capita, sector balance, and population structure all have to be read together to judge a country's development — exactly the quantitative + qualitative principle from Lesson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EXAM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Explain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7680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62626"/>
                </a:solidFill>
                <a:latin typeface="Arial"/>
              </a:rPr>
              <a:t>EXPLAIN why the balance of economic sectors differs so much between Mali and the USA, using evidence from the table.</a:t>
            </a:r>
          </a:p>
          <a:p>
            <a:r>
              <a:rPr sz="1400" b="0">
                <a:solidFill>
                  <a:srgbClr val="1B4F72"/>
                </a:solidFill>
                <a:latin typeface="Arial"/>
              </a:rPr>
              <a:t>(EXPLAIN = give reasons/causes, not just describe the numbers — link sector balance to income group and stage of development.)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