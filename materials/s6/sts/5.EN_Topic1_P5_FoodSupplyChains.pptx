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7BB320-DFA1-4DC2-BD8C-8F5BE54F5A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AA034C-274C-4FCE-B921-0F9486F648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1C45257-BB57-4114-83FF-C88B1D9E28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790AE15-F310-48C2-B952-DF5FFD4508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4350D00-0F62-4D7B-A4A0-8639A6FCA9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7946959-4635-42C3-8006-F94818CB77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1FAB205-4D73-44BE-AA2F-1DBD6EFFAC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E8CA51A-A5AB-47CC-972E-EE35DC8761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77CAA48-1573-4803-BDEE-178812E034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5025F06F-8E7F-40A8-AC2A-53D05590C6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FDBB4352-80EA-402C-A813-4FBC06C3F3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579B25-81AA-45A6-90AD-224AD88591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76A6E8-81B9-4432-A9C8-5CF4C45C9F1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6A1BC5-AB2B-4E16-A95B-66F6F6AF17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7D3611-A368-48C2-BDB7-CD913F373C2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5339D0-03E8-43D9-BE0C-B25C65FF41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C2F783-C1F3-4A01-929A-FA1582DD522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511B10-02C9-47FE-9424-5792C7C724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C3B542-8E51-4D5C-A9D0-A20C171BE8E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211F66-A9C7-4631-BAD0-97CE443745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BB4ECA-B953-4AF8-8344-7E28D06E240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8D6C7B-C28B-4511-A54F-E7CDBCCC05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853640" y="320040"/>
            <a:ext cx="5618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TOPIC 1: FOOD, NUTRITION &amp; HEALTH — LESSON 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621720"/>
            <a:ext cx="7680600" cy="11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2f6b3a"/>
                </a:solidFill>
                <a:latin typeface="Verdana"/>
              </a:rPr>
              <a:t>Food Supply Chains: From Field to Shelf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2926080"/>
            <a:ext cx="76806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Arial"/>
              </a:rPr>
              <a:t>The Power of Supermarkets and Short Supply Chains — S6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3743640" y="320040"/>
            <a:ext cx="18392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INTRODUCTION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Every Meal Has a Journey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822960" y="1920240"/>
            <a:ext cx="7680600" cy="26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2f6b3a"/>
                </a:solidFill>
                <a:latin typeface="Arial"/>
              </a:rPr>
              <a:t>Food supply chain: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every step a food takes from the farm to your plate — and every business that takes a share of the price along the way.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A supermarket tomato may pass through four or five separate companies before you ever touch it. None of them is the farmer.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Keep one question in mind all lesson: who actually decides the price — the person who grew the food, or the shop that sells it?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3983760" y="320040"/>
            <a:ext cx="1359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CHAIN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The Five Links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822960" y="2148840"/>
            <a:ext cx="7680600" cy="3636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280" bIns="-82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Oval 5"/>
          <p:cNvSpPr/>
          <p:nvPr/>
        </p:nvSpPr>
        <p:spPr>
          <a:xfrm>
            <a:off x="1454040" y="2094120"/>
            <a:ext cx="164160" cy="164160"/>
          </a:xfrm>
          <a:prstGeom prst="ellipse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822960" y="2331720"/>
            <a:ext cx="14115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f6b3a"/>
                </a:solidFill>
                <a:latin typeface="Arial"/>
              </a:rPr>
              <a:t>Producer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Grows or rears the food. Carries the weather, disease and price risk.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Oval 7"/>
          <p:cNvSpPr/>
          <p:nvPr/>
        </p:nvSpPr>
        <p:spPr>
          <a:xfrm>
            <a:off x="2957040" y="2094120"/>
            <a:ext cx="164160" cy="164160"/>
          </a:xfrm>
          <a:prstGeom prst="ellipse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2326320" y="2331720"/>
            <a:ext cx="14115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f6b3a"/>
                </a:solidFill>
                <a:latin typeface="Arial"/>
              </a:rPr>
              <a:t>Processor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Washes, cuts, mills, bakes, cans, packs. Adds value — and cost.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Oval 9"/>
          <p:cNvSpPr/>
          <p:nvPr/>
        </p:nvSpPr>
        <p:spPr>
          <a:xfrm>
            <a:off x="4460400" y="2094120"/>
            <a:ext cx="164160" cy="164160"/>
          </a:xfrm>
          <a:prstGeom prst="ellipse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829680" y="2331720"/>
            <a:ext cx="14115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f6b3a"/>
                </a:solidFill>
                <a:latin typeface="Arial"/>
              </a:rPr>
              <a:t>Distributor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Stores, refrigerates and transports. Often a wholesaler you never see.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Oval 11"/>
          <p:cNvSpPr/>
          <p:nvPr/>
        </p:nvSpPr>
        <p:spPr>
          <a:xfrm>
            <a:off x="5963760" y="2094120"/>
            <a:ext cx="164160" cy="164160"/>
          </a:xfrm>
          <a:prstGeom prst="ellipse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5332680" y="2331720"/>
            <a:ext cx="14115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f6b3a"/>
                </a:solidFill>
                <a:latin typeface="Arial"/>
              </a:rPr>
              <a:t>Retailer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Supermarket, grocery or market stall. Sets the shelf price.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Oval 13"/>
          <p:cNvSpPr/>
          <p:nvPr/>
        </p:nvSpPr>
        <p:spPr>
          <a:xfrm>
            <a:off x="7467120" y="2094120"/>
            <a:ext cx="164160" cy="164160"/>
          </a:xfrm>
          <a:prstGeom prst="ellipse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6836040" y="2331720"/>
            <a:ext cx="142596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2f6b3a"/>
                </a:solidFill>
                <a:latin typeface="Arial"/>
              </a:rPr>
              <a:t>Consumer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262626"/>
                </a:solidFill>
                <a:latin typeface="Arial"/>
              </a:rPr>
              <a:t>You. The last link — and the only one who can change the chain.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5"/>
          <p:cNvSpPr/>
          <p:nvPr/>
        </p:nvSpPr>
        <p:spPr>
          <a:xfrm>
            <a:off x="822960" y="4663440"/>
            <a:ext cx="7680600" cy="11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Every link adds real work — and takes a share of the final price.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As a rule: the more links between the field and the shelf, the thinner the producer’s slice of what you pay.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3983760" y="320040"/>
            <a:ext cx="13590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CHAIN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The Chain in Pictures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4" descr="s_olive.jpg"/>
          <p:cNvPicPr/>
          <p:nvPr/>
        </p:nvPicPr>
        <p:blipFill>
          <a:blip r:embed="rId1"/>
          <a:stretch/>
        </p:blipFill>
        <p:spPr>
          <a:xfrm>
            <a:off x="1302840" y="1664280"/>
            <a:ext cx="2742840" cy="2057040"/>
          </a:xfrm>
          <a:prstGeom prst="rect">
            <a:avLst/>
          </a:prstGeom>
          <a:ln w="0">
            <a:noFill/>
          </a:ln>
        </p:spPr>
      </p:pic>
      <p:sp>
        <p:nvSpPr>
          <p:cNvPr id="94" name="TextBox 5"/>
          <p:cNvSpPr/>
          <p:nvPr/>
        </p:nvSpPr>
        <p:spPr>
          <a:xfrm>
            <a:off x="822960" y="3767400"/>
            <a:ext cx="370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f6b3a"/>
                </a:solidFill>
                <a:latin typeface="Arial"/>
              </a:rPr>
              <a:t>1. Producer — olive harvest, Sitia, Crete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Picture 6" descr="s_processing.jpg"/>
          <p:cNvPicPr/>
          <p:nvPr/>
        </p:nvPicPr>
        <p:blipFill>
          <a:blip r:embed="rId2"/>
          <a:stretch/>
        </p:blipFill>
        <p:spPr>
          <a:xfrm>
            <a:off x="5109120" y="1664280"/>
            <a:ext cx="3085920" cy="2057040"/>
          </a:xfrm>
          <a:prstGeom prst="rect">
            <a:avLst/>
          </a:prstGeom>
          <a:ln w="0">
            <a:noFill/>
          </a:ln>
        </p:spPr>
      </p:pic>
      <p:sp>
        <p:nvSpPr>
          <p:cNvPr id="96" name="TextBox 7"/>
          <p:cNvSpPr/>
          <p:nvPr/>
        </p:nvSpPr>
        <p:spPr>
          <a:xfrm>
            <a:off x="4800600" y="3767400"/>
            <a:ext cx="370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f6b3a"/>
                </a:solidFill>
                <a:latin typeface="Arial"/>
              </a:rPr>
              <a:t>2. Processor — packing line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Picture 8" descr="s_truck.jpg"/>
          <p:cNvPicPr/>
          <p:nvPr/>
        </p:nvPicPr>
        <p:blipFill>
          <a:blip r:embed="rId3"/>
          <a:stretch/>
        </p:blipFill>
        <p:spPr>
          <a:xfrm>
            <a:off x="1131480" y="4041720"/>
            <a:ext cx="3085920" cy="2057040"/>
          </a:xfrm>
          <a:prstGeom prst="rect">
            <a:avLst/>
          </a:prstGeom>
          <a:ln w="0">
            <a:noFill/>
          </a:ln>
        </p:spPr>
      </p:pic>
      <p:sp>
        <p:nvSpPr>
          <p:cNvPr id="98" name="TextBox 9"/>
          <p:cNvSpPr/>
          <p:nvPr/>
        </p:nvSpPr>
        <p:spPr>
          <a:xfrm>
            <a:off x="822960" y="6144840"/>
            <a:ext cx="370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f6b3a"/>
                </a:solidFill>
                <a:latin typeface="Arial"/>
              </a:rPr>
              <a:t>3. Distributor — refrigerated delivery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Picture 10" descr="s_supermarket.jpg"/>
          <p:cNvPicPr/>
          <p:nvPr/>
        </p:nvPicPr>
        <p:blipFill>
          <a:blip r:embed="rId4"/>
          <a:stretch/>
        </p:blipFill>
        <p:spPr>
          <a:xfrm>
            <a:off x="5220720" y="4041720"/>
            <a:ext cx="2862360" cy="2057040"/>
          </a:xfrm>
          <a:prstGeom prst="rect">
            <a:avLst/>
          </a:prstGeom>
          <a:ln w="0">
            <a:noFill/>
          </a:ln>
        </p:spPr>
      </p:pic>
      <p:sp>
        <p:nvSpPr>
          <p:cNvPr id="100" name="TextBox 11"/>
          <p:cNvSpPr/>
          <p:nvPr/>
        </p:nvSpPr>
        <p:spPr>
          <a:xfrm>
            <a:off x="4800600" y="6144840"/>
            <a:ext cx="3702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2f6b3a"/>
                </a:solidFill>
                <a:latin typeface="Arial"/>
              </a:rPr>
              <a:t>4. Retailer — supermarket shelves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2"/>
          <p:cNvSpPr/>
          <p:nvPr/>
        </p:nvSpPr>
        <p:spPr>
          <a:xfrm>
            <a:off x="822960" y="6473880"/>
            <a:ext cx="7680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5555"/>
                </a:solidFill>
                <a:latin typeface="Arial"/>
              </a:rPr>
              <a:t>Photos: Petro Stelte (CC BY-SA 4.0) · U.S. Department of Agriculture (CC BY 2.0) · "G och J" (CC BY 4.0) · Frankie Fouganthin (CC BY-SA 4.0), via Wikimedia Commons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3929400" y="320040"/>
            <a:ext cx="14673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MONEY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Who Gets the Money?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822960" y="1783080"/>
            <a:ext cx="7680600" cy="328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About 25%: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across the EU, farming captures roughly a quarter of the value added in the whole food chain. The other three quarters are created after the food leaves the farm.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And falling: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that share is slowly declining — even though the farm carries most of the risk.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61% vs 9%: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agriculture's share ranges from about 61% in Romania to about 9% in Luxembourg. The more industrialised the food system, the thinner the farmer’s slice.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The same tomato is worth more once it is washed, graded, packed, branded, refrigerated and placed at eye level.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822960" y="6263640"/>
            <a:ext cx="7680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5555"/>
                </a:solidFill>
                <a:latin typeface="Arial"/>
              </a:rPr>
              <a:t>Source: Eurostat, key figures on the food chain — agriculture’s value added.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4164120" y="320040"/>
            <a:ext cx="9979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POWER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The Power of Supermarkets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822960" y="1783080"/>
            <a:ext cx="7680600" cy="32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An hourglass: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millions of farmers at one end, millions of consumers at the other — and only a handful of large buyers in the middle. Whoever stands in the narrow part sets the terms.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Concentration: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EU-wide the top five grocery groups hold about 31% of the market, but in Finland and Sweden the top four hold close to 90%. Farmers sell in a national market, not an EU-wide one — so losing one buyer can mean losing everything.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Buyer power in practice: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pressure on price, own-brand products competing with the supplier’s own, payments demanded for shelf space and promotions, orders cancelled at short notice.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3550680" y="320040"/>
            <a:ext cx="2224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POLITICS OF FOOD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What the EU Banned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822960" y="1627560"/>
            <a:ext cx="7680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555555"/>
                </a:solidFill>
                <a:latin typeface="Arial"/>
              </a:rPr>
              <a:t>Directive (EU) 2019/633 on unfair trading practices sets a minimum list of practices a big buyer may no longer impose on a supplier.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5" name="Table 5"/>
          <p:cNvGraphicFramePr/>
          <p:nvPr/>
        </p:nvGraphicFramePr>
        <p:xfrm>
          <a:off x="822960" y="2286000"/>
          <a:ext cx="7680600" cy="3931560"/>
        </p:xfrm>
        <a:graphic>
          <a:graphicData uri="http://schemas.openxmlformats.org/drawingml/2006/table">
            <a:tbl>
              <a:tblPr/>
              <a:tblGrid>
                <a:gridCol w="4108320"/>
                <a:gridCol w="3572280"/>
              </a:tblGrid>
              <a:tr h="655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Banned practice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Why it hurt the supplier</a:t>
                      </a:r>
                      <a:endParaRPr b="0" lang="en-US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f6b3a"/>
                    </a:solidFill>
                  </a:tcPr>
                </a:tc>
              </a:tr>
              <a:tr h="655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Paying later than 30 days for perishable food (60 for the rest)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The farmer had already paid for seed, feed and labour.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Cancelling an order for perishable food at short notice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Harvested food cannot wait for a new buyer.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Changing the terms of the agreement unilaterally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The price agreed was no longer the price paid.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Charging the supplier for stocking, adverts, marketing or staff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The cost of selling was pushed back down the chain.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5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Threatening commercial retaliation for a complaint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262626"/>
                          </a:solidFill>
                          <a:latin typeface="Arial"/>
                        </a:rPr>
                        <a:t>Fear of losing the contract kept abuses invisible.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3588840" y="320040"/>
            <a:ext cx="21484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THE ALTERNATIVE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Short Supply Chains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822960" y="1719000"/>
            <a:ext cx="4800240" cy="420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500" spc="-1" strike="noStrike">
                <a:solidFill>
                  <a:srgbClr val="2f6b3a"/>
                </a:solidFill>
                <a:latin typeface="Arial"/>
              </a:rPr>
              <a:t>EU definition:</a:t>
            </a:r>
            <a:r>
              <a:rPr b="0" lang="en-US" sz="1500" spc="-1" strike="noStrike">
                <a:solidFill>
                  <a:srgbClr val="262626"/>
                </a:solidFill>
                <a:latin typeface="Arial"/>
              </a:rPr>
              <a:t>  a chain with no more than one intermediary between farmer and consumer (Regulation 1305/2013).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15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500" spc="-1" strike="noStrike">
                <a:solidFill>
                  <a:srgbClr val="2f6b3a"/>
                </a:solidFill>
                <a:latin typeface="Arial"/>
              </a:rPr>
              <a:t>Forms:</a:t>
            </a:r>
            <a:r>
              <a:rPr b="0" lang="en-US" sz="1500" spc="-1" strike="noStrike">
                <a:solidFill>
                  <a:srgbClr val="262626"/>
                </a:solidFill>
                <a:latin typeface="Arial"/>
              </a:rPr>
              <a:t>  farm-gate sales, the Greek λαϊκή αγορά and other farmers’ markets, vegetable box schemes, community-supported agriculture, producer cooperatives.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15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500" spc="-1" strike="noStrike">
                <a:solidFill>
                  <a:srgbClr val="2f6b3a"/>
                </a:solidFill>
                <a:latin typeface="Arial"/>
              </a:rPr>
              <a:t>A Greek original:</a:t>
            </a:r>
            <a:r>
              <a:rPr b="0" lang="en-US" sz="1500" spc="-1" strike="noStrike">
                <a:solidFill>
                  <a:srgbClr val="262626"/>
                </a:solidFill>
                <a:latin typeface="Arial"/>
              </a:rPr>
              <a:t>  λαϊκές αγορές were set up under Venizelos precisely so that producers could sell without middlemen — which is why the stalls still distinguish a παραγωγός from an επαγγελματίας, with the origin hand-written on every price card.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15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500" spc="-1" strike="noStrike">
                <a:solidFill>
                  <a:srgbClr val="2f6b3a"/>
                </a:solidFill>
                <a:latin typeface="Arial"/>
              </a:rPr>
              <a:t>Gains and limits:</a:t>
            </a:r>
            <a:r>
              <a:rPr b="0" lang="en-US" sz="1500" spc="-1" strike="noStrike">
                <a:solidFill>
                  <a:srgbClr val="262626"/>
                </a:solidFill>
                <a:latin typeface="Arial"/>
              </a:rPr>
              <a:t>  a bigger share of the price to the grower, fresher food, money kept in the local economy, a seller you can question — but small volumes, strictly seasonal, and not always cheaper for the buyer.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Picture 5" descr="s_heraklion.jpg"/>
          <p:cNvPicPr/>
          <p:nvPr/>
        </p:nvPicPr>
        <p:blipFill>
          <a:blip r:embed="rId1"/>
          <a:stretch/>
        </p:blipFill>
        <p:spPr>
          <a:xfrm>
            <a:off x="5806440" y="2143080"/>
            <a:ext cx="2697120" cy="2022840"/>
          </a:xfrm>
          <a:prstGeom prst="rect">
            <a:avLst/>
          </a:prstGeom>
          <a:ln w="0">
            <a:noFill/>
          </a:ln>
        </p:spPr>
      </p:pic>
      <p:sp>
        <p:nvSpPr>
          <p:cNvPr id="121" name="TextBox 6"/>
          <p:cNvSpPr/>
          <p:nvPr/>
        </p:nvSpPr>
        <p:spPr>
          <a:xfrm>
            <a:off x="5806440" y="4251960"/>
            <a:ext cx="26971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f6b3a"/>
                </a:solidFill>
                <a:latin typeface="Arial"/>
              </a:rPr>
              <a:t>λαϊκή αγορά, Heraklion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822960" y="6446520"/>
            <a:ext cx="7680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5555"/>
                </a:solidFill>
                <a:latin typeface="Arial"/>
              </a:rPr>
              <a:t>Photo: Hans Hillewaert (CC BY-SA 3.0), via Wikimedia Commons.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3579120" y="320040"/>
            <a:ext cx="2168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THINK CRITICALLY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Is "Local" Always Greener?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822960" y="1783080"/>
            <a:ext cx="7680600" cy="30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5–6%: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transport — all of it, from farm to processor to shop — accounts for only about 5 to 6% of the greenhouse gases from our food.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Where the emissions really are: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before the food ever moves: land-use change, fertiliser, and methane from ruminant animals.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And most transport emissions come from lorries on short domestic journeys, not from the ships and planes people picture.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So: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what you eat matters more than how far it travelled. The strongest case for short chains is economic, social and about freshness and transparency — not automatically carbon.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5"/>
          <p:cNvSpPr/>
          <p:nvPr/>
        </p:nvSpPr>
        <p:spPr>
          <a:xfrm>
            <a:off x="822960" y="6263640"/>
            <a:ext cx="768060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555555"/>
                </a:solidFill>
                <a:latin typeface="Arial"/>
              </a:rPr>
              <a:t>Source: Crippa et al. (2021), via Our World in Data, "Environmental impacts of food production".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 txBox="1"/>
          <p:nvPr/>
        </p:nvSpPr>
        <p:spPr>
          <a:xfrm>
            <a:off x="1976040" y="3271320"/>
            <a:ext cx="522972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https://www.youtube.com/watch?v=fzpma5RbvCY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4056120" y="320040"/>
            <a:ext cx="12142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WRAP-UP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We Don’t Forget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4"/>
          <p:cNvSpPr/>
          <p:nvPr/>
        </p:nvSpPr>
        <p:spPr>
          <a:xfrm>
            <a:off x="822960" y="1783080"/>
            <a:ext cx="7680600" cy="23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A food supply chain is every step and every business between the farm and the plate — and each one takes a share of what you pay.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Farming captures only about a quarter of the value added in the EU food chain, while a few large retailers stand at the narrow point of the chain and set the terms.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Short supply chains (at most one intermediary) return more of the price to the producer — but shorter does not automatically mean lower-carbon.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ectangle 5"/>
          <p:cNvSpPr/>
          <p:nvPr/>
        </p:nvSpPr>
        <p:spPr>
          <a:xfrm>
            <a:off x="822960" y="4846320"/>
            <a:ext cx="7680600" cy="1371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6"/>
          <p:cNvSpPr/>
          <p:nvPr/>
        </p:nvSpPr>
        <p:spPr>
          <a:xfrm>
            <a:off x="960120" y="4983480"/>
            <a:ext cx="740628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2f6b3a"/>
                </a:solidFill>
                <a:latin typeface="Arial"/>
              </a:rPr>
              <a:t>NEXT LESSON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Food processing: domestic, artisanal and industrial — what actually happens to food between the field and the packet.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2026-10-21T19:37:17Z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