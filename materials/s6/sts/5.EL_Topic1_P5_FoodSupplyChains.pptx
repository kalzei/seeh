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ΘΕΜΑ 1: ΤΡΟΦΗ, ΔΙΑΤΡΟΦΗ &amp; ΥΓΕΙΑ — ΜΑΘΗΜΑ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F6B3A"/>
                </a:solidFill>
                <a:latin typeface="Verdana"/>
              </a:rPr>
              <a:t>Αλυσίδα Εφοδιασμού Τροφίμων: Από το Χωράφι στο Ράφι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  <a:latin typeface="Arial"/>
              </a:rPr>
              <a:t>Η Ισχύς των Σούπερ Μάρκετ και οι Βραχείες Αλυσίδες — S6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ΕΙΣΑΓΩΓΗ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Κάθε Γεύμα Έχει Κάνει Ένα Ταξίδι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F6B3A"/>
                </a:solidFill>
                <a:latin typeface="Arial"/>
              </a:rPr>
              <a:t>•  Αλυσίδα εφοδιασμού τροφίμων:</a:t>
            </a:r>
            <a:r>
              <a:rPr sz="2000" b="0">
                <a:solidFill>
                  <a:srgbClr val="262626"/>
                </a:solidFill>
                <a:latin typeface="Arial"/>
              </a:rPr>
              <a:t>  κάθε στάδιο που διανύει ένα τρόφιμο από το χωράφι έως το πιάτο μας — και κάθε επιχείρηση που παίρνει μερίδιο από την τιμή στη διαδρομή.</a:t>
            </a:r>
          </a:p>
          <a:p>
            <a:pPr>
              <a:spcBef>
                <a:spcPts val="1600"/>
              </a:spcBef>
            </a:pPr>
            <a:r>
              <a:rPr sz="2000" b="0">
                <a:solidFill>
                  <a:srgbClr val="262626"/>
                </a:solidFill>
                <a:latin typeface="Arial"/>
              </a:rPr>
              <a:t>•  Μια ντομάτα του σούπερ μάρκετ μπορεί να έχει περάσει από τέσσερις ή πέντε διαφορετικές εταιρείες πριν την αγγίξουμε. Καμία από αυτές δεν είναι ο παραγωγός.</a:t>
            </a:r>
          </a:p>
          <a:p>
            <a:pPr>
              <a:spcBef>
                <a:spcPts val="1600"/>
              </a:spcBef>
            </a:pPr>
            <a:r>
              <a:rPr sz="2000" b="0">
                <a:solidFill>
                  <a:srgbClr val="262626"/>
                </a:solidFill>
                <a:latin typeface="Arial"/>
              </a:rPr>
              <a:t>•  Κρατήστε μια ερώτηση σε όλο το μάθημα: ποιος τελικά ορίζει την τιμή — αυτός που καλλιέργησε το τρόφιμο ή το κατάστημα που το πουλάει;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Η ΑΛΥΣΙΔΑ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Οι Πέντε Κρίκοι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7680960" cy="36576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3895" y="2093976"/>
            <a:ext cx="164592" cy="164592"/>
          </a:xfrm>
          <a:prstGeom prst="ellips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41183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6B3A"/>
                </a:solidFill>
                <a:latin typeface="Arial"/>
              </a:rPr>
              <a:t>Παραγωγός</a:t>
            </a:r>
          </a:p>
          <a:p>
            <a:r>
              <a:rPr sz="1300" b="0">
                <a:solidFill>
                  <a:srgbClr val="262626"/>
                </a:solidFill>
                <a:latin typeface="Arial"/>
              </a:rPr>
              <a:t>Καλλιεργεί ή εκτρέφει. Σηκώνει το ρίσκο καιρού, ασθενειών και τιμών.</a:t>
            </a:r>
          </a:p>
        </p:txBody>
      </p:sp>
      <p:sp>
        <p:nvSpPr>
          <p:cNvPr id="8" name="Oval 7"/>
          <p:cNvSpPr/>
          <p:nvPr/>
        </p:nvSpPr>
        <p:spPr>
          <a:xfrm>
            <a:off x="2957169" y="2093976"/>
            <a:ext cx="164592" cy="164592"/>
          </a:xfrm>
          <a:prstGeom prst="ellips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6233" y="2331720"/>
            <a:ext cx="141183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6B3A"/>
                </a:solidFill>
                <a:latin typeface="Arial"/>
              </a:rPr>
              <a:t>Μεταποιητής</a:t>
            </a:r>
          </a:p>
          <a:p>
            <a:r>
              <a:rPr sz="1300" b="0">
                <a:solidFill>
                  <a:srgbClr val="262626"/>
                </a:solidFill>
                <a:latin typeface="Arial"/>
              </a:rPr>
              <a:t>Πλένει, κόβει, αλέθει, ψήνει, συσκευάζει. Προσθέτει αξία — και κόστος.</a:t>
            </a:r>
          </a:p>
        </p:txBody>
      </p:sp>
      <p:sp>
        <p:nvSpPr>
          <p:cNvPr id="10" name="Oval 9"/>
          <p:cNvSpPr/>
          <p:nvPr/>
        </p:nvSpPr>
        <p:spPr>
          <a:xfrm>
            <a:off x="4460443" y="2093976"/>
            <a:ext cx="164592" cy="164592"/>
          </a:xfrm>
          <a:prstGeom prst="ellips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9507" y="2331720"/>
            <a:ext cx="141183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6B3A"/>
                </a:solidFill>
                <a:latin typeface="Arial"/>
              </a:rPr>
              <a:t>Διανομέας</a:t>
            </a:r>
          </a:p>
          <a:p>
            <a:r>
              <a:rPr sz="1300" b="0">
                <a:solidFill>
                  <a:srgbClr val="262626"/>
                </a:solidFill>
                <a:latin typeface="Arial"/>
              </a:rPr>
              <a:t>Αποθηκεύει, ψύχει και μεταφέρει. Συχνά ένας χονδρέμπορος που δεν βλέπουμε ποτέ.</a:t>
            </a:r>
          </a:p>
        </p:txBody>
      </p:sp>
      <p:sp>
        <p:nvSpPr>
          <p:cNvPr id="12" name="Oval 11"/>
          <p:cNvSpPr/>
          <p:nvPr/>
        </p:nvSpPr>
        <p:spPr>
          <a:xfrm>
            <a:off x="5963716" y="2093976"/>
            <a:ext cx="164592" cy="164592"/>
          </a:xfrm>
          <a:prstGeom prst="ellips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2780" y="2331720"/>
            <a:ext cx="141183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6B3A"/>
                </a:solidFill>
                <a:latin typeface="Arial"/>
              </a:rPr>
              <a:t>Λιανέμπορος</a:t>
            </a:r>
          </a:p>
          <a:p>
            <a:r>
              <a:rPr sz="1300" b="0">
                <a:solidFill>
                  <a:srgbClr val="262626"/>
                </a:solidFill>
                <a:latin typeface="Arial"/>
              </a:rPr>
              <a:t>Σούπερ μάρκετ, μπακάλικο ή πάγκος λαϊκής. Ορίζει την τιμή του ραφιού.</a:t>
            </a:r>
          </a:p>
        </p:txBody>
      </p:sp>
      <p:sp>
        <p:nvSpPr>
          <p:cNvPr id="14" name="Oval 13"/>
          <p:cNvSpPr/>
          <p:nvPr/>
        </p:nvSpPr>
        <p:spPr>
          <a:xfrm>
            <a:off x="7466990" y="2093976"/>
            <a:ext cx="164592" cy="164592"/>
          </a:xfrm>
          <a:prstGeom prst="ellips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6054" y="2331720"/>
            <a:ext cx="14264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6B3A"/>
                </a:solidFill>
                <a:latin typeface="Arial"/>
              </a:rPr>
              <a:t>Καταναλωτής</a:t>
            </a:r>
          </a:p>
          <a:p>
            <a:r>
              <a:rPr sz="1300" b="0">
                <a:solidFill>
                  <a:srgbClr val="262626"/>
                </a:solidFill>
                <a:latin typeface="Arial"/>
              </a:rPr>
              <a:t>Εμείς. Ο τελευταίος κρίκος — και ο μόνος που μπορεί να αλλάξει την αλυσίδα.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7680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Arial"/>
              </a:rPr>
              <a:t>•  Κάθε κρίκος προσθέτει πραγματική εργασία — και παίρνει μερίδιο από την τελική τιμή.</a:t>
            </a:r>
          </a:p>
          <a:p>
            <a:pPr>
              <a:spcBef>
                <a:spcPts val="1400"/>
              </a:spcBef>
            </a:pPr>
            <a:r>
              <a:rPr sz="1900" b="0">
                <a:solidFill>
                  <a:srgbClr val="262626"/>
                </a:solidFill>
                <a:latin typeface="Arial"/>
              </a:rPr>
              <a:t>•  Ως κανόνας: όσο περισσότεροι οι κρίκοι ανάμεσα στο χωράφι και στο ράφι, τόσο μικρότερο το μερίδιο του παραγωγού από ό,τι πληρώνουμε.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Η ΑΛΥΣΙΔΑ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Η Αλυσίδα σε Εικόνες</a:t>
            </a:r>
          </a:p>
        </p:txBody>
      </p:sp>
      <p:pic>
        <p:nvPicPr>
          <p:cNvPr id="5" name="Picture 4" descr="s_ol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19" y="1664208"/>
            <a:ext cx="27432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76732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B3A"/>
                </a:solidFill>
                <a:latin typeface="Arial"/>
              </a:rPr>
              <a:t>1. Παραγωγός — ελαιοσυλλογή, Σητεία Κρήτης</a:t>
            </a:r>
          </a:p>
        </p:txBody>
      </p:sp>
      <p:pic>
        <p:nvPicPr>
          <p:cNvPr id="7" name="Picture 6" descr="s_proces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10" y="1664208"/>
            <a:ext cx="30861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00600" y="376732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B3A"/>
                </a:solidFill>
                <a:latin typeface="Arial"/>
              </a:rPr>
              <a:t>2. Μεταποιητής — γραμμή συσκευασίας</a:t>
            </a:r>
          </a:p>
        </p:txBody>
      </p:sp>
      <p:pic>
        <p:nvPicPr>
          <p:cNvPr id="9" name="Picture 8" descr="s_tru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69" y="4041648"/>
            <a:ext cx="30861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14476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B3A"/>
                </a:solidFill>
                <a:latin typeface="Arial"/>
              </a:rPr>
              <a:t>3. Διανομέας — ψυγείο διανομής</a:t>
            </a:r>
          </a:p>
        </p:txBody>
      </p:sp>
      <p:pic>
        <p:nvPicPr>
          <p:cNvPr id="11" name="Picture 10" descr="s_supermark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859" y="4041648"/>
            <a:ext cx="2862801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614476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B3A"/>
                </a:solidFill>
                <a:latin typeface="Arial"/>
              </a:rPr>
              <a:t>4. Λιανέμπορος — ράφια σούπερ μάρκετ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rial"/>
              </a:rPr>
              <a:t>Φωτογραφίες: Petro Stelte (CC BY-SA 4.0) · U.S. Department of Agriculture (CC BY 2.0) · «G och J» (CC BY 4.0) · Frankie Fouganthin (CC BY-SA 4.0), μέσω Wikimedia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ΤΑ ΧΡΗΜΑΤΑ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Ποιος Παίρνει τα Χρήματα;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F6B3A"/>
                </a:solidFill>
                <a:latin typeface="Arial"/>
              </a:rPr>
              <a:t>•  Περίπου 25%:</a:t>
            </a:r>
            <a:r>
              <a:rPr sz="1800" b="0">
                <a:solidFill>
                  <a:srgbClr val="262626"/>
                </a:solidFill>
                <a:latin typeface="Arial"/>
              </a:rPr>
              <a:t>  στην ΕΕ, η γεωργία καρπώνεται περίπου το ένα τέταρτο της προστιθέμενης αξίας όλης της αλυσίδας. Τα υπόλοιπα τρία τέταρτα δημιουργούνται αφού το τρόφιμο φύγει από το χωράφι.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F6B3A"/>
                </a:solidFill>
                <a:latin typeface="Arial"/>
              </a:rPr>
              <a:t>•  Και μειώνεται:</a:t>
            </a:r>
            <a:r>
              <a:rPr sz="1800" b="0">
                <a:solidFill>
                  <a:srgbClr val="262626"/>
                </a:solidFill>
                <a:latin typeface="Arial"/>
              </a:rPr>
              <a:t>  το μερίδιο αυτό υποχωρεί σταθερά — αν και το χωράφι σηκώνει το μεγαλύτερο μέρος του ρίσκου.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F6B3A"/>
                </a:solidFill>
                <a:latin typeface="Arial"/>
              </a:rPr>
              <a:t>•  61% έναντι 9%:</a:t>
            </a:r>
            <a:r>
              <a:rPr sz="1800" b="0">
                <a:solidFill>
                  <a:srgbClr val="262626"/>
                </a:solidFill>
                <a:latin typeface="Arial"/>
              </a:rPr>
              <a:t>  το μερίδιο της γεωργίας κυμαίνεται από περίπου 61% στη Ρουμανία έως περίπου 9% στο Λουξεμβούργο. Όσο πιο βιομηχανοποιημένο το σύστημα, τόσο μικρότερο το κομμάτι του παραγωγού.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262626"/>
                </a:solidFill>
                <a:latin typeface="Arial"/>
              </a:rPr>
              <a:t>•  Η ίδια ντομάτα αξίζει περισσότερο όταν πλυθεί, διαλεχθεί, συσκευαστεί, μπει σε μάρκα, ψυχθεί και τοποθετηθεί στο ύψος των ματιών μας.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rial"/>
              </a:rPr>
              <a:t>Πηγή: Eurostat, βασικά μεγέθη της αλυσίδας τροφίμων — προστιθέμενη αξία της γεωργίας.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ΙΣΧΥΣ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Η Ισχύς των Σούπερ Μάρκετ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F6B3A"/>
                </a:solidFill>
                <a:latin typeface="Arial"/>
              </a:rPr>
              <a:t>•  Μια κλεψύδρα:</a:t>
            </a:r>
            <a:r>
              <a:rPr sz="1800" b="0">
                <a:solidFill>
                  <a:srgbClr val="262626"/>
                </a:solidFill>
                <a:latin typeface="Arial"/>
              </a:rPr>
              <a:t>  εκατομμύρια παραγωγοί στη μία άκρη, εκατομμύρια καταναλωτές στην άλλη — και μεταξύ τους μετρημένοι μεγάλοι αγοραστές. Όποιος στέκεται στο στενό σημείο, βάζει τους όρους.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F6B3A"/>
                </a:solidFill>
                <a:latin typeface="Arial"/>
              </a:rPr>
              <a:t>•  Συγκέντρωση:</a:t>
            </a:r>
            <a:r>
              <a:rPr sz="1800" b="0">
                <a:solidFill>
                  <a:srgbClr val="262626"/>
                </a:solidFill>
                <a:latin typeface="Arial"/>
              </a:rPr>
              <a:t>  σε επίπεδο ΕΕ οι πέντε μεγαλύτεροι όμιλοι κατέχουν περίπου το 31% της αγοράς, αλλά στη Φινλανδία και τη Σουηδία οι τέσσερις πρώτοι φτάνουν σχεδόν το 90%. Ο παραγωγός πουλάει σε εθνική αγορά, όχι ευρωπαϊκή.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F6B3A"/>
                </a:solidFill>
                <a:latin typeface="Arial"/>
              </a:rPr>
              <a:t>•  Η ισχύς στην πράξη:</a:t>
            </a:r>
            <a:r>
              <a:rPr sz="1800" b="0">
                <a:solidFill>
                  <a:srgbClr val="262626"/>
                </a:solidFill>
                <a:latin typeface="Arial"/>
              </a:rPr>
              <a:t>  πίεση τιμών, προϊόντα ιδιωτικής ετικέτας που ανταγωνίζονται τον ίδιο τον προμηθευτή, χρεώσεις για θέση στο ράφι και προσφορές, ακυρώσεις παραγγελιών την τελευταία στιγμή.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Η ΠΟΛΙΤΙΚΗ ΤΗΣ ΤΡΟΦΗΣ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Τι Απαγόρευσε η ΕΕ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Arial"/>
              </a:rPr>
              <a:t>Η Οδηγία (ΕΕ) 2019/633 για τις αθέμιτες εμπορικές πρακτικές ορίζει έναν ελάχιστο κατάλογο πρακτικών που δεν επιτρέπεται να επιβάλλει ένας μεγάλος αγοραστής.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768095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8420"/>
                <a:gridCol w="3572539"/>
              </a:tblGrid>
              <a:tr h="6553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Απαγορευμένη πρακτική</a:t>
                      </a:r>
                    </a:p>
                  </a:txBody>
                  <a:tcPr>
                    <a:solidFill>
                      <a:srgbClr val="2F6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Γιατί έβλαπτε τον προμηθευτή</a:t>
                      </a:r>
                    </a:p>
                  </a:txBody>
                  <a:tcPr>
                    <a:solidFill>
                      <a:srgbClr val="2F6B3A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Πληρωμή μετά τις 30 ημέρες για ευαλλοίωτα (60 για τα υπόλοιπα)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Ο παραγωγός είχε ήδη πληρώσει σπόρο, ζωοτροφές και εργασία.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Ακύρωση παραγγελίας ευαλλοίωτων σε σύντομο χρόνο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Το συγκομισμένο προϊόν δεν περιμένει νέο αγοραστή.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Μονομερής αλλαγή των όρων της σύμβασης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Η συμφωνημένη τιμή έπαυε να είναι η τιμή που πληρωνόταν.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Χρέωση του προμηθευτή για αποθήκευση, διαφήμιση ή προσωπικό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Το κόστος της πώλησης μετακυλιόταν πίσω στην αλυσίδα.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Απειλή εμπορικών αντιποίνων για μια καταγγελία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Ο φόβος απώλειας της σύμβασης κρατούσε τις καταχρήσεις αόρατες.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Η ΕΝΑΛΛΑΚΤΙΚΗ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Βραχείες Αλυσίδες Εφοδιασμού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F6B3A"/>
                </a:solidFill>
                <a:latin typeface="Arial"/>
              </a:rPr>
              <a:t>•  Ορισμός της ΕΕ:</a:t>
            </a:r>
            <a:r>
              <a:rPr sz="1500" b="0">
                <a:solidFill>
                  <a:srgbClr val="262626"/>
                </a:solidFill>
                <a:latin typeface="Arial"/>
              </a:rPr>
              <a:t>  αλυσίδα με το πολύ έναν ενδιάμεσο μεταξύ παραγωγού και καταναλωτή (Κανονισμός 1305/2013).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2F6B3A"/>
                </a:solidFill>
                <a:latin typeface="Arial"/>
              </a:rPr>
              <a:t>•  Μορφές:</a:t>
            </a:r>
            <a:r>
              <a:rPr sz="1500" b="0">
                <a:solidFill>
                  <a:srgbClr val="262626"/>
                </a:solidFill>
                <a:latin typeface="Arial"/>
              </a:rPr>
              <a:t>  πώληση από το κτήμα, λαϊκές αγορές, καλάθια λαχανικών, κοινοτικά υποστηριζόμενη γεωργία, αγροτικοί συνεταιρισμοί.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2F6B3A"/>
                </a:solidFill>
                <a:latin typeface="Arial"/>
              </a:rPr>
              <a:t>•  Ένα ελληνικό πρωτότυπο:</a:t>
            </a:r>
            <a:r>
              <a:rPr sz="1500" b="0">
                <a:solidFill>
                  <a:srgbClr val="262626"/>
                </a:solidFill>
                <a:latin typeface="Arial"/>
              </a:rPr>
              <a:t>  οι λαϊκές αγορές θεσπίστηκαν επί Βενιζέλου ακριβώς για να πουλούν οι παραγωγοί χωρίς μεσάζοντες — γι’ αυτό οι πάγκοι ξεχωρίζουν ακόμα τον παραγωγό από τον επαγγελματία, με την προέλευση γραμμένη στο χέρι σε κάθε ταμπελάκι.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2F6B3A"/>
                </a:solidFill>
                <a:latin typeface="Arial"/>
              </a:rPr>
              <a:t>•  Οφέλη και όρια:</a:t>
            </a:r>
            <a:r>
              <a:rPr sz="1500" b="0">
                <a:solidFill>
                  <a:srgbClr val="262626"/>
                </a:solidFill>
                <a:latin typeface="Arial"/>
              </a:rPr>
              <a:t>  μεγαλύτερο μερίδιο τιμής στον παραγωγό, πιο φρέσκα τρόφιμα, χρήμα που μένει στην τοπική οικονομία, ένας πωλητής που μπορείς να ρωτήσεις — αλλά μικρές ποσότητες, αυστηρή εποχικότητα και όχι πάντα φθηνότερη τιμή για τον καταναλωτή.</a:t>
            </a:r>
          </a:p>
        </p:txBody>
      </p:sp>
      <p:pic>
        <p:nvPicPr>
          <p:cNvPr id="6" name="Picture 5" descr="s_herakl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43124"/>
            <a:ext cx="2697480" cy="20231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06440" y="4251959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B3A"/>
                </a:solidFill>
                <a:latin typeface="Arial"/>
              </a:rPr>
              <a:t>Λαϊκή αγορά, Ηράκλειο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rial"/>
              </a:rPr>
              <a:t>Φωτογραφία: Hans Hillewaert (CC BY-SA 3.0), μέσω Wikimedia Commons.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ΚΡΙΤΙΚΗ ΣΚΕΨΗ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Είναι το Τοπικό πιο «Πράσινο»;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F6B3A"/>
                </a:solidFill>
                <a:latin typeface="Arial"/>
              </a:rPr>
              <a:t>•  5–6%:</a:t>
            </a:r>
            <a:r>
              <a:rPr sz="1800" b="0">
                <a:solidFill>
                  <a:srgbClr val="262626"/>
                </a:solidFill>
                <a:latin typeface="Arial"/>
              </a:rPr>
              <a:t>  ολόκληρη η μεταφορά — από το χωράφι στη μεταποίηση και στο κατάστημα — ευθύνεται μόλις για το 5 έως 6% των αερίων θερμοκηπίου της τροφής μας.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F6B3A"/>
                </a:solidFill>
                <a:latin typeface="Arial"/>
              </a:rPr>
              <a:t>•  Πού βρίσκονται πραγματικά οι εκπομπές:</a:t>
            </a:r>
            <a:r>
              <a:rPr sz="1800" b="0">
                <a:solidFill>
                  <a:srgbClr val="262626"/>
                </a:solidFill>
                <a:latin typeface="Arial"/>
              </a:rPr>
              <a:t>  πριν καν μετακινηθεί το τρόφιμο: αλλαγή χρήσης γης, λιπάσματα και μεθάνιο από τα μηρυκαστικά.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262626"/>
                </a:solidFill>
                <a:latin typeface="Arial"/>
              </a:rPr>
              <a:t>•  Και οι περισσότερες εκπομπές μεταφοράς προέρχονται από φορτηγά σε κοντινές εσωτερικές διαδρομές, όχι από τα πλοία και τα αεροπλάνα που φανταζόμαστε.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F6B3A"/>
                </a:solidFill>
                <a:latin typeface="Arial"/>
              </a:rPr>
              <a:t>•  Άρα:</a:t>
            </a:r>
            <a:r>
              <a:rPr sz="1800" b="0">
                <a:solidFill>
                  <a:srgbClr val="262626"/>
                </a:solidFill>
                <a:latin typeface="Arial"/>
              </a:rPr>
              <a:t>  το τι τρώμε μετράει περισσότερο από το πόσο μακριά ταξίδεψε. Το ισχυρότερο επιχείρημα υπέρ των βραχειών αλυσίδων είναι οικονομικό και κοινωνικό, και αφορά τη φρεσκάδα και τη διαφάνεια — όχι αυτόματα τον άνθρακα.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rial"/>
              </a:rPr>
              <a:t>Πηγή: Crippa κ.ά. (2021), μέσω Our World in Data, «Environmental impacts of food production».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ΣΥΝΟΨΗ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Δεν Ξεχνάμε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62626"/>
                </a:solidFill>
                <a:latin typeface="Arial"/>
              </a:rPr>
              <a:t>•  Αλυσίδα εφοδιασμού τροφίμων είναι κάθε στάδιο και κάθε επιχείρηση ανάμεσα στο χωράφι και στο πιάτο — και καθεμία παίρνει μερίδιο από ό,τι πληρώνουμε.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262626"/>
                </a:solidFill>
                <a:latin typeface="Arial"/>
              </a:rPr>
              <a:t>•  Η γεωργία καρπώνεται μόλις το ένα τέταρτο της προστιθέμενης αξίας της ευρωπαϊκής αλυσίδας, ενώ λίγοι μεγάλοι λιανέμποροι στέκονται στο στενό σημείο και ορίζουν τους όρους.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262626"/>
                </a:solidFill>
                <a:latin typeface="Arial"/>
              </a:rPr>
              <a:t>•  Οι βραχείες αλυσίδες (το πολύ ένας ενδιάμεσος) επιστρέφουν μεγαλύτερο μέρος της τιμής στον παραγωγό — αλλά «πιο κοντά» δεν σημαίνει αυτόματα και λιγότερος άνθρακας.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46320"/>
            <a:ext cx="7680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983480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F6B3A"/>
                </a:solidFill>
                <a:latin typeface="Arial"/>
              </a:rPr>
              <a:t>ΕΠΟΜΕΝΟ ΜΑΘΗΜΑ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Επεξεργασία τροφίμων: οικιακή, βιοτεχνική και βιομηχανική — τι συμβαίνει στην πράξη ανάμεσα στο χωράφι και στο πακέτο.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