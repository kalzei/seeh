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TOPIC 1: FOOD, NUTRITION &amp; HEALTH — LESSON 1</a:t>
            </a:r>
          </a:p>
        </p:txBody>
      </p:sp>
      <p:sp>
        <p:nvSpPr>
          <p:cNvPr id="4" name="TextBox 3"/>
          <p:cNvSpPr txBox="1"/>
          <p:nvPr/>
        </p:nvSpPr>
        <p:spPr>
          <a:xfrm>
            <a:off x="822960" y="621792"/>
            <a:ext cx="7680960" cy="914400"/>
          </a:xfrm>
          <a:prstGeom prst="rect">
            <a:avLst/>
          </a:prstGeom>
          <a:noFill/>
        </p:spPr>
        <p:txBody>
          <a:bodyPr wrap="square">
            <a:spAutoFit/>
          </a:bodyPr>
          <a:lstStyle/>
          <a:p>
            <a:r>
              <a:rPr sz="3600" b="1">
                <a:solidFill>
                  <a:srgbClr val="2F6B3A"/>
                </a:solidFill>
                <a:latin typeface="Verdana"/>
              </a:rPr>
              <a:t>Agricultural Production: What It Is &amp; How It Began</a:t>
            </a:r>
          </a:p>
        </p:txBody>
      </p:sp>
      <p:sp>
        <p:nvSpPr>
          <p:cNvPr id="5" name="TextBox 4"/>
          <p:cNvSpPr txBox="1"/>
          <p:nvPr/>
        </p:nvSpPr>
        <p:spPr>
          <a:xfrm>
            <a:off x="822960" y="2926080"/>
            <a:ext cx="7680960" cy="1371600"/>
          </a:xfrm>
          <a:prstGeom prst="rect">
            <a:avLst/>
          </a:prstGeom>
          <a:noFill/>
        </p:spPr>
        <p:txBody>
          <a:bodyPr wrap="square">
            <a:spAutoFit/>
          </a:bodyPr>
          <a:lstStyle/>
          <a:p>
            <a:pPr algn="l"/>
            <a:r>
              <a:rPr sz="1900" b="0">
                <a:solidFill>
                  <a:srgbClr val="555555"/>
                </a:solidFill>
                <a:latin typeface="Arial"/>
              </a:rPr>
              <a:t>12,000 years ago, everyone was a hunter-gatherer. What changed?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DEFINITION</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What Is Agricultural Production?</a:t>
            </a:r>
          </a:p>
        </p:txBody>
      </p:sp>
      <p:sp>
        <p:nvSpPr>
          <p:cNvPr id="5" name="TextBox 4"/>
          <p:cNvSpPr txBox="1"/>
          <p:nvPr/>
        </p:nvSpPr>
        <p:spPr>
          <a:xfrm>
            <a:off x="822960" y="1737360"/>
            <a:ext cx="7680960" cy="4754880"/>
          </a:xfrm>
          <a:prstGeom prst="rect">
            <a:avLst/>
          </a:prstGeom>
          <a:noFill/>
        </p:spPr>
        <p:txBody>
          <a:bodyPr wrap="square">
            <a:spAutoFit/>
          </a:bodyPr>
          <a:lstStyle/>
          <a:p>
            <a:r>
              <a:rPr sz="1700" b="1">
                <a:solidFill>
                  <a:srgbClr val="2F6B3A"/>
                </a:solidFill>
                <a:latin typeface="Arial"/>
              </a:rPr>
              <a:t>•  Agriculture:</a:t>
            </a:r>
            <a:r>
              <a:rPr sz="1700" b="0">
                <a:solidFill>
                  <a:srgbClr val="262626"/>
                </a:solidFill>
                <a:latin typeface="Arial"/>
              </a:rPr>
              <a:t>  all activities of cultivating land to produce plant products.</a:t>
            </a:r>
          </a:p>
          <a:p>
            <a:r>
              <a:rPr sz="1700" b="1">
                <a:solidFill>
                  <a:srgbClr val="2F6B3A"/>
                </a:solidFill>
                <a:latin typeface="Arial"/>
              </a:rPr>
              <a:t>•  Also includes:</a:t>
            </a:r>
            <a:r>
              <a:rPr sz="1700" b="0">
                <a:solidFill>
                  <a:srgbClr val="262626"/>
                </a:solidFill>
                <a:latin typeface="Arial"/>
              </a:rPr>
              <a:t>  harvesting the crop and its primary processing — not just growing it.</a:t>
            </a:r>
          </a:p>
          <a:p>
            <a:r>
              <a:rPr sz="1700" b="1">
                <a:solidFill>
                  <a:srgbClr val="2F6B3A"/>
                </a:solidFill>
                <a:latin typeface="Arial"/>
              </a:rPr>
              <a:t>•  Broader sense:</a:t>
            </a:r>
            <a:r>
              <a:rPr sz="1700" b="0">
                <a:solidFill>
                  <a:srgbClr val="262626"/>
                </a:solidFill>
                <a:latin typeface="Arial"/>
              </a:rPr>
              <a:t>  also includes livestock farming and fishing.</a:t>
            </a:r>
          </a:p>
          <a:p>
            <a:r>
              <a:rPr sz="1700" b="1">
                <a:solidFill>
                  <a:srgbClr val="2F6B3A"/>
                </a:solidFill>
                <a:latin typeface="Arial"/>
              </a:rPr>
              <a:t>•  Product destination:</a:t>
            </a:r>
            <a:r>
              <a:rPr sz="1700" b="0">
                <a:solidFill>
                  <a:srgbClr val="262626"/>
                </a:solidFill>
                <a:latin typeface="Arial"/>
              </a:rPr>
              <a:t>  human food, animal feed, or other needs (industrial, ornamental, etc.).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HISTORICAL OVERVIEW</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How Farming Began</a:t>
            </a:r>
          </a:p>
        </p:txBody>
      </p:sp>
      <p:sp>
        <p:nvSpPr>
          <p:cNvPr id="5" name="Rectangle 4"/>
          <p:cNvSpPr/>
          <p:nvPr/>
        </p:nvSpPr>
        <p:spPr>
          <a:xfrm>
            <a:off x="822960" y="2148840"/>
            <a:ext cx="7680960" cy="36576"/>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53895" y="2093976"/>
            <a:ext cx="164592" cy="164592"/>
          </a:xfrm>
          <a:prstGeom prst="ellipse">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1411833" cy="2377440"/>
          </a:xfrm>
          <a:prstGeom prst="rect">
            <a:avLst/>
          </a:prstGeom>
          <a:noFill/>
        </p:spPr>
        <p:txBody>
          <a:bodyPr wrap="square">
            <a:spAutoFit/>
          </a:bodyPr>
          <a:lstStyle/>
          <a:p>
            <a:r>
              <a:rPr sz="1300" b="1">
                <a:solidFill>
                  <a:srgbClr val="2F6B3A"/>
                </a:solidFill>
                <a:latin typeface="Arial"/>
              </a:rPr>
              <a:t>Hunter-Gatherer</a:t>
            </a:r>
          </a:p>
          <a:p>
            <a:r>
              <a:rPr sz="1100" b="0">
                <a:solidFill>
                  <a:srgbClr val="262626"/>
                </a:solidFill>
                <a:latin typeface="Arial"/>
              </a:rPr>
              <a:t>Constant movement; gathering fruit/roots, hunting</a:t>
            </a:r>
          </a:p>
        </p:txBody>
      </p:sp>
      <p:sp>
        <p:nvSpPr>
          <p:cNvPr id="8" name="Oval 7"/>
          <p:cNvSpPr/>
          <p:nvPr/>
        </p:nvSpPr>
        <p:spPr>
          <a:xfrm>
            <a:off x="2957169" y="2093976"/>
            <a:ext cx="164592" cy="164592"/>
          </a:xfrm>
          <a:prstGeom prst="ellipse">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6233" y="2331720"/>
            <a:ext cx="1411833" cy="2377440"/>
          </a:xfrm>
          <a:prstGeom prst="rect">
            <a:avLst/>
          </a:prstGeom>
          <a:noFill/>
        </p:spPr>
        <p:txBody>
          <a:bodyPr wrap="square">
            <a:spAutoFit/>
          </a:bodyPr>
          <a:lstStyle/>
          <a:p>
            <a:r>
              <a:rPr sz="1300" b="1">
                <a:solidFill>
                  <a:srgbClr val="2F6B3A"/>
                </a:solidFill>
                <a:latin typeface="Arial"/>
              </a:rPr>
              <a:t>The Discovery</a:t>
            </a:r>
          </a:p>
          <a:p>
            <a:r>
              <a:rPr sz="1100" b="0">
                <a:solidFill>
                  <a:srgbClr val="262626"/>
                </a:solidFill>
                <a:latin typeface="Arial"/>
              </a:rPr>
              <a:t>Seeds sprout! They can be replanted</a:t>
            </a:r>
          </a:p>
        </p:txBody>
      </p:sp>
      <p:sp>
        <p:nvSpPr>
          <p:cNvPr id="10" name="Oval 9"/>
          <p:cNvSpPr/>
          <p:nvPr/>
        </p:nvSpPr>
        <p:spPr>
          <a:xfrm>
            <a:off x="4460443" y="2093976"/>
            <a:ext cx="164592" cy="164592"/>
          </a:xfrm>
          <a:prstGeom prst="ellipse">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29507" y="2331720"/>
            <a:ext cx="1411833" cy="2377440"/>
          </a:xfrm>
          <a:prstGeom prst="rect">
            <a:avLst/>
          </a:prstGeom>
          <a:noFill/>
        </p:spPr>
        <p:txBody>
          <a:bodyPr wrap="square">
            <a:spAutoFit/>
          </a:bodyPr>
          <a:lstStyle/>
          <a:p>
            <a:r>
              <a:rPr sz="1300" b="1">
                <a:solidFill>
                  <a:srgbClr val="2F6B3A"/>
                </a:solidFill>
                <a:latin typeface="Arial"/>
              </a:rPr>
              <a:t>Fertile Crescent (12,000-9,800 BCE)</a:t>
            </a:r>
          </a:p>
          <a:p>
            <a:r>
              <a:rPr sz="1100" b="0">
                <a:solidFill>
                  <a:srgbClr val="262626"/>
                </a:solidFill>
                <a:latin typeface="Arial"/>
              </a:rPr>
              <a:t>First cereal cultivation in the Zagros mountains</a:t>
            </a:r>
          </a:p>
        </p:txBody>
      </p:sp>
      <p:sp>
        <p:nvSpPr>
          <p:cNvPr id="12" name="Oval 11"/>
          <p:cNvSpPr/>
          <p:nvPr/>
        </p:nvSpPr>
        <p:spPr>
          <a:xfrm>
            <a:off x="5963716" y="2093976"/>
            <a:ext cx="164592" cy="164592"/>
          </a:xfrm>
          <a:prstGeom prst="ellipse">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2780" y="2331720"/>
            <a:ext cx="1411833" cy="2377440"/>
          </a:xfrm>
          <a:prstGeom prst="rect">
            <a:avLst/>
          </a:prstGeom>
          <a:noFill/>
        </p:spPr>
        <p:txBody>
          <a:bodyPr wrap="square">
            <a:spAutoFit/>
          </a:bodyPr>
          <a:lstStyle/>
          <a:p>
            <a:r>
              <a:rPr sz="1300" b="1">
                <a:solidFill>
                  <a:srgbClr val="2F6B3A"/>
                </a:solidFill>
                <a:latin typeface="Arial"/>
              </a:rPr>
              <a:t>Tools &amp; Irrigation (4,000-7,000 BCE)</a:t>
            </a:r>
          </a:p>
          <a:p>
            <a:r>
              <a:rPr sz="1100" b="0">
                <a:solidFill>
                  <a:srgbClr val="262626"/>
                </a:solidFill>
                <a:latin typeface="Arial"/>
              </a:rPr>
              <a:t>Hoe, plough; life near rivers</a:t>
            </a:r>
          </a:p>
        </p:txBody>
      </p:sp>
      <p:sp>
        <p:nvSpPr>
          <p:cNvPr id="14" name="Oval 13"/>
          <p:cNvSpPr/>
          <p:nvPr/>
        </p:nvSpPr>
        <p:spPr>
          <a:xfrm>
            <a:off x="7466990" y="2093976"/>
            <a:ext cx="164592" cy="164592"/>
          </a:xfrm>
          <a:prstGeom prst="ellipse">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6054" y="2331720"/>
            <a:ext cx="1426464" cy="2377440"/>
          </a:xfrm>
          <a:prstGeom prst="rect">
            <a:avLst/>
          </a:prstGeom>
          <a:noFill/>
        </p:spPr>
        <p:txBody>
          <a:bodyPr wrap="square">
            <a:spAutoFit/>
          </a:bodyPr>
          <a:lstStyle/>
          <a:p>
            <a:r>
              <a:rPr sz="1300" b="1">
                <a:solidFill>
                  <a:srgbClr val="2F6B3A"/>
                </a:solidFill>
                <a:latin typeface="Arial"/>
              </a:rPr>
              <a:t>Permanent Settlement</a:t>
            </a:r>
          </a:p>
          <a:p>
            <a:r>
              <a:rPr sz="1100" b="0">
                <a:solidFill>
                  <a:srgbClr val="262626"/>
                </a:solidFill>
                <a:latin typeface="Arial"/>
              </a:rPr>
              <a:t>End of nomadic life; first villages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EVIDENCE</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The Zagros Discovery</a:t>
            </a:r>
          </a:p>
        </p:txBody>
      </p:sp>
      <p:sp>
        <p:nvSpPr>
          <p:cNvPr id="5" name="TextBox 4"/>
          <p:cNvSpPr txBox="1"/>
          <p:nvPr/>
        </p:nvSpPr>
        <p:spPr>
          <a:xfrm>
            <a:off x="822960" y="1737360"/>
            <a:ext cx="7680960" cy="4754880"/>
          </a:xfrm>
          <a:prstGeom prst="rect">
            <a:avLst/>
          </a:prstGeom>
          <a:noFill/>
        </p:spPr>
        <p:txBody>
          <a:bodyPr wrap="square">
            <a:spAutoFit/>
          </a:bodyPr>
          <a:lstStyle/>
          <a:p>
            <a:r>
              <a:rPr sz="1700" b="0">
                <a:solidFill>
                  <a:srgbClr val="262626"/>
                </a:solidFill>
                <a:latin typeface="Arial"/>
              </a:rPr>
              <a:t>•  At Chogha Golan, in the foothills of the Zagros Mountains (western Iran), archaeologists found evidence of cereal cultivation starting 12,000–9,800 years ago.</a:t>
            </a:r>
          </a:p>
          <a:p>
            <a:r>
              <a:rPr sz="1700" b="0">
                <a:solidFill>
                  <a:srgbClr val="262626"/>
                </a:solidFill>
                <a:latin typeface="Arial"/>
              </a:rPr>
              <a:t>•  Researchers from the University of Tübingen (led by archaeobotanist Simone Riehl) and the Iranian Center for Archaeological Research analysed over 30,000 plant remains excavated in 2009–2010, publishing their findings in the journal Science.</a:t>
            </a:r>
          </a:p>
          <a:p>
            <a:r>
              <a:rPr sz="1700" b="0">
                <a:solidFill>
                  <a:srgbClr val="262626"/>
                </a:solidFill>
                <a:latin typeface="Arial"/>
              </a:rPr>
              <a:t>•  Among the remains: barley, wheat, and lentils — some of the richest deposits of charred plant remains ever found in the Neolithic Middle East.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THE DEBATE</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One Origin, or Many?</a:t>
            </a:r>
          </a:p>
        </p:txBody>
      </p:sp>
      <p:sp>
        <p:nvSpPr>
          <p:cNvPr id="5" name="TextBox 4"/>
          <p:cNvSpPr txBox="1"/>
          <p:nvPr/>
        </p:nvSpPr>
        <p:spPr>
          <a:xfrm>
            <a:off x="822960" y="1737360"/>
            <a:ext cx="7680960" cy="4754880"/>
          </a:xfrm>
          <a:prstGeom prst="rect">
            <a:avLst/>
          </a:prstGeom>
          <a:noFill/>
        </p:spPr>
        <p:txBody>
          <a:bodyPr wrap="square">
            <a:spAutoFit/>
          </a:bodyPr>
          <a:lstStyle/>
          <a:p>
            <a:r>
              <a:rPr sz="1700" b="1">
                <a:solidFill>
                  <a:srgbClr val="2F6B3A"/>
                </a:solidFill>
                <a:latin typeface="Arial"/>
              </a:rPr>
              <a:t>•  Not one event:</a:t>
            </a:r>
            <a:r>
              <a:rPr sz="1700" b="0">
                <a:solidFill>
                  <a:srgbClr val="262626"/>
                </a:solidFill>
                <a:latin typeface="Arial"/>
              </a:rPr>
              <a:t>  the shift from foraging to farming happened at roughly the same time across the whole "Fertile Crescent," not at a single site.</a:t>
            </a:r>
          </a:p>
          <a:p>
            <a:r>
              <a:rPr sz="1700" b="1">
                <a:solidFill>
                  <a:srgbClr val="2F6B3A"/>
                </a:solidFill>
                <a:latin typeface="Arial"/>
              </a:rPr>
              <a:t>•  The Fertile Crescent:</a:t>
            </a:r>
            <a:r>
              <a:rPr sz="1700" b="0">
                <a:solidFill>
                  <a:srgbClr val="262626"/>
                </a:solidFill>
                <a:latin typeface="Arial"/>
              </a:rPr>
              <a:t>  the wetter, fertile parts of an otherwise dry Western Asia, plus the Nile Valley and Delta.</a:t>
            </a:r>
          </a:p>
          <a:p>
            <a:r>
              <a:rPr sz="1700" b="1">
                <a:solidFill>
                  <a:srgbClr val="2F6B3A"/>
                </a:solidFill>
                <a:latin typeface="Arial"/>
              </a:rPr>
              <a:t>•  Genetic evidence:</a:t>
            </a:r>
            <a:r>
              <a:rPr sz="1700" b="0">
                <a:solidFill>
                  <a:srgbClr val="262626"/>
                </a:solidFill>
                <a:latin typeface="Arial"/>
              </a:rPr>
              <a:t>  DNA studies of domesticated plants and animals support multiple, independent origins — people in different regions began experimenting with wild plants around the same time, after the last Ice Age.</a:t>
            </a:r>
          </a:p>
          <a:p>
            <a:r>
              <a:rPr sz="1700" b="1">
                <a:solidFill>
                  <a:srgbClr val="2F6B3A"/>
                </a:solidFill>
                <a:latin typeface="Arial"/>
              </a:rPr>
              <a:t>•  The result:</a:t>
            </a:r>
            <a:r>
              <a:rPr sz="1700" b="0">
                <a:solidFill>
                  <a:srgbClr val="262626"/>
                </a:solidFill>
                <a:latin typeface="Arial"/>
              </a:rPr>
              <a:t>  within a few thousand years, wild plant species were selected into new "domesticated" varieties, easier to grow on a wide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IMPACT</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How It Changed Our Lifestyle</a:t>
            </a:r>
          </a:p>
        </p:txBody>
      </p:sp>
      <p:sp>
        <p:nvSpPr>
          <p:cNvPr id="5" name="TextBox 4"/>
          <p:cNvSpPr txBox="1"/>
          <p:nvPr/>
        </p:nvSpPr>
        <p:spPr>
          <a:xfrm>
            <a:off x="822960" y="1737360"/>
            <a:ext cx="7680960" cy="4754880"/>
          </a:xfrm>
          <a:prstGeom prst="rect">
            <a:avLst/>
          </a:prstGeom>
          <a:noFill/>
        </p:spPr>
        <p:txBody>
          <a:bodyPr wrap="square">
            <a:spAutoFit/>
          </a:bodyPr>
          <a:lstStyle/>
          <a:p>
            <a:r>
              <a:rPr sz="1700" b="0">
                <a:solidFill>
                  <a:srgbClr val="262626"/>
                </a:solidFill>
                <a:latin typeface="Arial"/>
              </a:rPr>
              <a:t>•  From nomadic life to permanent settlement</a:t>
            </a:r>
          </a:p>
          <a:p>
            <a:r>
              <a:rPr sz="1700" b="0">
                <a:solidFill>
                  <a:srgbClr val="262626"/>
                </a:solidFill>
                <a:latin typeface="Arial"/>
              </a:rPr>
              <a:t>•  People gathering into the first villages</a:t>
            </a:r>
          </a:p>
          <a:p>
            <a:r>
              <a:rPr sz="1700" b="0">
                <a:solidFill>
                  <a:srgbClr val="262626"/>
                </a:solidFill>
                <a:latin typeface="Arial"/>
              </a:rPr>
              <a:t>•  Division of labour &amp; growth of trade</a:t>
            </a:r>
          </a:p>
          <a:p>
            <a:r>
              <a:rPr sz="1700" b="0">
                <a:solidFill>
                  <a:srgbClr val="262626"/>
                </a:solidFill>
                <a:latin typeface="Arial"/>
              </a:rPr>
              <a:t>•  Development of culture, technology,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STRUCTURE</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Agricultural Production Has 3 Branches</a:t>
            </a:r>
          </a:p>
        </p:txBody>
      </p:sp>
      <p:sp>
        <p:nvSpPr>
          <p:cNvPr id="5" name="Rectangle 4"/>
          <p:cNvSpPr/>
          <p:nvPr/>
        </p:nvSpPr>
        <p:spPr>
          <a:xfrm>
            <a:off x="822960" y="1737360"/>
            <a:ext cx="2468879"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2194560" cy="4480560"/>
          </a:xfrm>
          <a:prstGeom prst="rect">
            <a:avLst/>
          </a:prstGeom>
          <a:noFill/>
        </p:spPr>
        <p:txBody>
          <a:bodyPr wrap="square">
            <a:spAutoFit/>
          </a:bodyPr>
          <a:lstStyle/>
          <a:p>
            <a:r>
              <a:rPr sz="1500" b="1">
                <a:solidFill>
                  <a:srgbClr val="2F6B3A"/>
                </a:solidFill>
                <a:latin typeface="Arial"/>
              </a:rPr>
              <a:t>Plant Production</a:t>
            </a:r>
          </a:p>
          <a:p>
            <a:r>
              <a:rPr sz="1250" b="0">
                <a:solidFill>
                  <a:srgbClr val="262626"/>
                </a:solidFill>
                <a:latin typeface="Arial"/>
              </a:rPr>
              <a:t>Growing crops</a:t>
            </a:r>
          </a:p>
        </p:txBody>
      </p:sp>
      <p:sp>
        <p:nvSpPr>
          <p:cNvPr id="7" name="Rectangle 6"/>
          <p:cNvSpPr/>
          <p:nvPr/>
        </p:nvSpPr>
        <p:spPr>
          <a:xfrm>
            <a:off x="3428999" y="1737360"/>
            <a:ext cx="2468879"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59" y="1874519"/>
            <a:ext cx="2194560" cy="4480560"/>
          </a:xfrm>
          <a:prstGeom prst="rect">
            <a:avLst/>
          </a:prstGeom>
          <a:noFill/>
        </p:spPr>
        <p:txBody>
          <a:bodyPr wrap="square">
            <a:spAutoFit/>
          </a:bodyPr>
          <a:lstStyle/>
          <a:p>
            <a:r>
              <a:rPr sz="1500" b="1">
                <a:solidFill>
                  <a:srgbClr val="2F6B3A"/>
                </a:solidFill>
                <a:latin typeface="Arial"/>
              </a:rPr>
              <a:t>Animal Production</a:t>
            </a:r>
          </a:p>
          <a:p>
            <a:r>
              <a:rPr sz="1250" b="0">
                <a:solidFill>
                  <a:srgbClr val="262626"/>
                </a:solidFill>
                <a:latin typeface="Arial"/>
              </a:rPr>
              <a:t>Raising livestock</a:t>
            </a:r>
          </a:p>
        </p:txBody>
      </p:sp>
      <p:sp>
        <p:nvSpPr>
          <p:cNvPr id="9" name="Rectangle 8"/>
          <p:cNvSpPr/>
          <p:nvPr/>
        </p:nvSpPr>
        <p:spPr>
          <a:xfrm>
            <a:off x="6035040" y="1737360"/>
            <a:ext cx="2468879"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874519"/>
            <a:ext cx="2194560" cy="4480560"/>
          </a:xfrm>
          <a:prstGeom prst="rect">
            <a:avLst/>
          </a:prstGeom>
          <a:noFill/>
        </p:spPr>
        <p:txBody>
          <a:bodyPr wrap="square">
            <a:spAutoFit/>
          </a:bodyPr>
          <a:lstStyle/>
          <a:p>
            <a:r>
              <a:rPr sz="1500" b="1">
                <a:solidFill>
                  <a:srgbClr val="2F6B3A"/>
                </a:solidFill>
                <a:latin typeface="Arial"/>
              </a:rPr>
              <a:t>Fisheries</a:t>
            </a:r>
          </a:p>
          <a:p>
            <a:r>
              <a:rPr sz="1250" b="0">
                <a:solidFill>
                  <a:srgbClr val="262626"/>
                </a:solidFill>
                <a:latin typeface="Arial"/>
              </a:rPr>
              <a:t>Fish &amp; seafood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CLASSIFICATION</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4 Ways to Classify Plant Production</a:t>
            </a:r>
          </a:p>
        </p:txBody>
      </p:sp>
      <p:sp>
        <p:nvSpPr>
          <p:cNvPr id="5" name="Rectangle 4"/>
          <p:cNvSpPr/>
          <p:nvPr/>
        </p:nvSpPr>
        <p:spPr>
          <a:xfrm>
            <a:off x="822960" y="1737360"/>
            <a:ext cx="1817370"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1543050" cy="4480560"/>
          </a:xfrm>
          <a:prstGeom prst="rect">
            <a:avLst/>
          </a:prstGeom>
          <a:noFill/>
        </p:spPr>
        <p:txBody>
          <a:bodyPr wrap="square">
            <a:spAutoFit/>
          </a:bodyPr>
          <a:lstStyle/>
          <a:p>
            <a:r>
              <a:rPr sz="1500" b="1">
                <a:solidFill>
                  <a:srgbClr val="2F6B3A"/>
                </a:solidFill>
                <a:latin typeface="Arial"/>
              </a:rPr>
              <a:t>By Type</a:t>
            </a:r>
          </a:p>
          <a:p>
            <a:r>
              <a:rPr sz="1250" b="0">
                <a:solidFill>
                  <a:srgbClr val="262626"/>
                </a:solidFill>
                <a:latin typeface="Arial"/>
              </a:rPr>
              <a:t>Horticultural crops</a:t>
            </a:r>
          </a:p>
          <a:p>
            <a:r>
              <a:rPr sz="1250" b="0">
                <a:solidFill>
                  <a:srgbClr val="262626"/>
                </a:solidFill>
                <a:latin typeface="Arial"/>
              </a:rPr>
              <a:t>Arable (field) crops</a:t>
            </a:r>
          </a:p>
        </p:txBody>
      </p:sp>
      <p:sp>
        <p:nvSpPr>
          <p:cNvPr id="7" name="Rectangle 6"/>
          <p:cNvSpPr/>
          <p:nvPr/>
        </p:nvSpPr>
        <p:spPr>
          <a:xfrm>
            <a:off x="2777490" y="1737360"/>
            <a:ext cx="1817370"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14650" y="1874519"/>
            <a:ext cx="1543050" cy="4480560"/>
          </a:xfrm>
          <a:prstGeom prst="rect">
            <a:avLst/>
          </a:prstGeom>
          <a:noFill/>
        </p:spPr>
        <p:txBody>
          <a:bodyPr wrap="square">
            <a:spAutoFit/>
          </a:bodyPr>
          <a:lstStyle/>
          <a:p>
            <a:r>
              <a:rPr sz="1500" b="1">
                <a:solidFill>
                  <a:srgbClr val="2F6B3A"/>
                </a:solidFill>
                <a:latin typeface="Arial"/>
              </a:rPr>
              <a:t>By Use</a:t>
            </a:r>
          </a:p>
          <a:p>
            <a:r>
              <a:rPr sz="1250" b="0">
                <a:solidFill>
                  <a:srgbClr val="262626"/>
                </a:solidFill>
                <a:latin typeface="Arial"/>
              </a:rPr>
              <a:t>Human food</a:t>
            </a:r>
          </a:p>
          <a:p>
            <a:r>
              <a:rPr sz="1250" b="0">
                <a:solidFill>
                  <a:srgbClr val="262626"/>
                </a:solidFill>
                <a:latin typeface="Arial"/>
              </a:rPr>
              <a:t>Animal feed</a:t>
            </a:r>
          </a:p>
          <a:p>
            <a:r>
              <a:rPr sz="1250" b="0">
                <a:solidFill>
                  <a:srgbClr val="262626"/>
                </a:solidFill>
                <a:latin typeface="Arial"/>
              </a:rPr>
              <a:t>Other needs</a:t>
            </a:r>
          </a:p>
        </p:txBody>
      </p:sp>
      <p:sp>
        <p:nvSpPr>
          <p:cNvPr id="9" name="Rectangle 8"/>
          <p:cNvSpPr/>
          <p:nvPr/>
        </p:nvSpPr>
        <p:spPr>
          <a:xfrm>
            <a:off x="4732020" y="1737360"/>
            <a:ext cx="1817370"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69180" y="1874519"/>
            <a:ext cx="1543050" cy="4480560"/>
          </a:xfrm>
          <a:prstGeom prst="rect">
            <a:avLst/>
          </a:prstGeom>
          <a:noFill/>
        </p:spPr>
        <p:txBody>
          <a:bodyPr wrap="square">
            <a:spAutoFit/>
          </a:bodyPr>
          <a:lstStyle/>
          <a:p>
            <a:r>
              <a:rPr sz="1500" b="1">
                <a:solidFill>
                  <a:srgbClr val="2F6B3A"/>
                </a:solidFill>
                <a:latin typeface="Arial"/>
              </a:rPr>
              <a:t>By Technique</a:t>
            </a:r>
          </a:p>
          <a:p>
            <a:r>
              <a:rPr sz="1250" b="0">
                <a:solidFill>
                  <a:srgbClr val="262626"/>
                </a:solidFill>
                <a:latin typeface="Arial"/>
              </a:rPr>
              <a:t>Open field</a:t>
            </a:r>
          </a:p>
          <a:p>
            <a:r>
              <a:rPr sz="1250" b="0">
                <a:solidFill>
                  <a:srgbClr val="262626"/>
                </a:solidFill>
                <a:latin typeface="Arial"/>
              </a:rPr>
              <a:t>Covered (greenhouse)</a:t>
            </a:r>
          </a:p>
          <a:p>
            <a:r>
              <a:rPr sz="1250" b="0">
                <a:solidFill>
                  <a:srgbClr val="262626"/>
                </a:solidFill>
                <a:latin typeface="Arial"/>
              </a:rPr>
              <a:t>Hydroponic</a:t>
            </a:r>
          </a:p>
        </p:txBody>
      </p:sp>
      <p:sp>
        <p:nvSpPr>
          <p:cNvPr id="11" name="Rectangle 10"/>
          <p:cNvSpPr/>
          <p:nvPr/>
        </p:nvSpPr>
        <p:spPr>
          <a:xfrm>
            <a:off x="6686550" y="1737360"/>
            <a:ext cx="1817370" cy="4754880"/>
          </a:xfrm>
          <a:prstGeom prst="rect">
            <a:avLst/>
          </a:prstGeom>
          <a:solidFill>
            <a:srgbClr val="FFFFFF"/>
          </a:solidFill>
          <a:ln w="12700">
            <a:solidFill>
              <a:srgbClr val="2F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3710" y="1874519"/>
            <a:ext cx="1543050" cy="4480560"/>
          </a:xfrm>
          <a:prstGeom prst="rect">
            <a:avLst/>
          </a:prstGeom>
          <a:noFill/>
        </p:spPr>
        <p:txBody>
          <a:bodyPr wrap="square">
            <a:spAutoFit/>
          </a:bodyPr>
          <a:lstStyle/>
          <a:p>
            <a:r>
              <a:rPr sz="1500" b="1">
                <a:solidFill>
                  <a:srgbClr val="2F6B3A"/>
                </a:solidFill>
                <a:latin typeface="Arial"/>
              </a:rPr>
              <a:t>By Method</a:t>
            </a:r>
          </a:p>
          <a:p>
            <a:r>
              <a:rPr sz="1250" b="0">
                <a:solidFill>
                  <a:srgbClr val="262626"/>
                </a:solidFill>
                <a:latin typeface="Arial"/>
              </a:rPr>
              <a:t>Industrial</a:t>
            </a:r>
          </a:p>
          <a:p>
            <a:r>
              <a:rPr sz="1250" b="0">
                <a:solidFill>
                  <a:srgbClr val="262626"/>
                </a:solidFill>
                <a:latin typeface="Arial"/>
              </a:rPr>
              <a:t>Traditional</a:t>
            </a:r>
          </a:p>
          <a:p>
            <a:r>
              <a:rPr sz="1250" b="0">
                <a:solidFill>
                  <a:srgbClr val="262626"/>
                </a:solidFill>
                <a:latin typeface="Arial"/>
              </a:rPr>
              <a:t>Small-scale</a:t>
            </a:r>
          </a:p>
          <a:p>
            <a:r>
              <a:rPr sz="1250" b="0">
                <a:solidFill>
                  <a:srgbClr val="262626"/>
                </a:solidFill>
                <a:latin typeface="Arial"/>
              </a:rPr>
              <a:t>Organic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CLASSIFICATION IN DETAIL</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Plant Production by Crop Type</a:t>
            </a:r>
          </a:p>
        </p:txBody>
      </p:sp>
      <p:graphicFrame>
        <p:nvGraphicFramePr>
          <p:cNvPr id="5" name="Table 4"/>
          <p:cNvGraphicFramePr>
            <a:graphicFrameLocks noGrp="1"/>
          </p:cNvGraphicFramePr>
          <p:nvPr/>
        </p:nvGraphicFramePr>
        <p:xfrm>
          <a:off x="822960" y="1737360"/>
          <a:ext cx="7680958" cy="4754880"/>
        </p:xfrm>
        <a:graphic>
          <a:graphicData uri="http://schemas.openxmlformats.org/drawingml/2006/table">
            <a:tbl>
              <a:tblPr firstRow="1" bandRow="1">
                <a:tableStyleId>{5C22544A-7EE6-4342-B048-85BDC9FD1C3A}</a:tableStyleId>
              </a:tblPr>
              <a:tblGrid>
                <a:gridCol w="1786269"/>
                <a:gridCol w="2322150"/>
                <a:gridCol w="3572539"/>
              </a:tblGrid>
              <a:tr h="594360">
                <a:tc>
                  <a:txBody>
                    <a:bodyPr wrap="square"/>
                    <a:lstStyle/>
                    <a:p>
                      <a:r>
                        <a:rPr sz="1300" b="1">
                          <a:solidFill>
                            <a:srgbClr val="FFFFFF"/>
                          </a:solidFill>
                          <a:latin typeface="Arial"/>
                        </a:rPr>
                        <a:t>Category</a:t>
                      </a:r>
                    </a:p>
                  </a:txBody>
                  <a:tcPr>
                    <a:solidFill>
                      <a:srgbClr val="2F6B3A"/>
                    </a:solidFill>
                  </a:tcPr>
                </a:tc>
                <a:tc>
                  <a:txBody>
                    <a:bodyPr wrap="square"/>
                    <a:lstStyle/>
                    <a:p>
                      <a:r>
                        <a:rPr sz="1300" b="1">
                          <a:solidFill>
                            <a:srgbClr val="FFFFFF"/>
                          </a:solidFill>
                          <a:latin typeface="Arial"/>
                        </a:rPr>
                        <a:t>Sub-group</a:t>
                      </a:r>
                    </a:p>
                  </a:txBody>
                  <a:tcPr>
                    <a:solidFill>
                      <a:srgbClr val="2F6B3A"/>
                    </a:solidFill>
                  </a:tcPr>
                </a:tc>
                <a:tc>
                  <a:txBody>
                    <a:bodyPr wrap="square"/>
                    <a:lstStyle/>
                    <a:p>
                      <a:r>
                        <a:rPr sz="1300" b="1">
                          <a:solidFill>
                            <a:srgbClr val="FFFFFF"/>
                          </a:solidFill>
                          <a:latin typeface="Arial"/>
                        </a:rPr>
                        <a:t>Examples</a:t>
                      </a:r>
                    </a:p>
                  </a:txBody>
                  <a:tcPr>
                    <a:solidFill>
                      <a:srgbClr val="2F6B3A"/>
                    </a:solidFill>
                  </a:tcPr>
                </a:tc>
              </a:tr>
              <a:tr h="594360">
                <a:tc>
                  <a:txBody>
                    <a:bodyPr wrap="square"/>
                    <a:lstStyle/>
                    <a:p>
                      <a:r>
                        <a:rPr sz="1200" b="0">
                          <a:solidFill>
                            <a:srgbClr val="262626"/>
                          </a:solidFill>
                          <a:latin typeface="Arial"/>
                        </a:rPr>
                        <a:t>Horticultural</a:t>
                      </a:r>
                    </a:p>
                  </a:txBody>
                  <a:tcPr>
                    <a:solidFill>
                      <a:srgbClr val="FFFFFF"/>
                    </a:solidFill>
                  </a:tcPr>
                </a:tc>
                <a:tc>
                  <a:txBody>
                    <a:bodyPr wrap="square"/>
                    <a:lstStyle/>
                    <a:p>
                      <a:r>
                        <a:rPr sz="1200" b="0">
                          <a:solidFill>
                            <a:srgbClr val="262626"/>
                          </a:solidFill>
                          <a:latin typeface="Arial"/>
                        </a:rPr>
                        <a:t>Tree &amp; vine crops</a:t>
                      </a:r>
                    </a:p>
                  </a:txBody>
                  <a:tcPr>
                    <a:solidFill>
                      <a:srgbClr val="FFFFFF"/>
                    </a:solidFill>
                  </a:tcPr>
                </a:tc>
                <a:tc>
                  <a:txBody>
                    <a:bodyPr wrap="square"/>
                    <a:lstStyle/>
                    <a:p>
                      <a:r>
                        <a:rPr sz="1200" b="0">
                          <a:solidFill>
                            <a:srgbClr val="262626"/>
                          </a:solidFill>
                          <a:latin typeface="Arial"/>
                        </a:rPr>
                        <a:t>Fruit trees, vineyards</a:t>
                      </a:r>
                    </a:p>
                  </a:txBody>
                  <a:tcPr>
                    <a:solidFill>
                      <a:srgbClr val="FFFFFF"/>
                    </a:solidFill>
                  </a:tcPr>
                </a:tc>
              </a:tr>
              <a:tr h="594360">
                <a:tc>
                  <a:txBody>
                    <a:bodyPr wrap="square"/>
                    <a:lstStyle/>
                    <a:p>
                      <a:r>
                        <a:rPr sz="1200" b="0">
                          <a:solidFill>
                            <a:srgbClr val="262626"/>
                          </a:solidFill>
                          <a:latin typeface="Arial"/>
                        </a:rPr>
                        <a:t>Horticultural</a:t>
                      </a:r>
                    </a:p>
                  </a:txBody>
                  <a:tcPr>
                    <a:solidFill>
                      <a:srgbClr val="FFFFFF"/>
                    </a:solidFill>
                  </a:tcPr>
                </a:tc>
                <a:tc>
                  <a:txBody>
                    <a:bodyPr wrap="square"/>
                    <a:lstStyle/>
                    <a:p>
                      <a:r>
                        <a:rPr sz="1200" b="0">
                          <a:solidFill>
                            <a:srgbClr val="262626"/>
                          </a:solidFill>
                          <a:latin typeface="Arial"/>
                        </a:rPr>
                        <a:t>Vegetable crops</a:t>
                      </a:r>
                    </a:p>
                  </a:txBody>
                  <a:tcPr>
                    <a:solidFill>
                      <a:srgbClr val="FFFFFF"/>
                    </a:solidFill>
                  </a:tcPr>
                </a:tc>
                <a:tc>
                  <a:txBody>
                    <a:bodyPr wrap="square"/>
                    <a:lstStyle/>
                    <a:p>
                      <a:r>
                        <a:rPr sz="1200" b="0">
                          <a:solidFill>
                            <a:srgbClr val="262626"/>
                          </a:solidFill>
                          <a:latin typeface="Arial"/>
                        </a:rPr>
                        <a:t>Vegetables</a:t>
                      </a:r>
                    </a:p>
                  </a:txBody>
                  <a:tcPr>
                    <a:solidFill>
                      <a:srgbClr val="FFFFFF"/>
                    </a:solidFill>
                  </a:tcPr>
                </a:tc>
              </a:tr>
              <a:tr h="594360">
                <a:tc>
                  <a:txBody>
                    <a:bodyPr wrap="square"/>
                    <a:lstStyle/>
                    <a:p>
                      <a:r>
                        <a:rPr sz="1200" b="0">
                          <a:solidFill>
                            <a:srgbClr val="262626"/>
                          </a:solidFill>
                          <a:latin typeface="Arial"/>
                        </a:rPr>
                        <a:t>Arable</a:t>
                      </a:r>
                    </a:p>
                  </a:txBody>
                  <a:tcPr>
                    <a:solidFill>
                      <a:srgbClr val="FFFFFF"/>
                    </a:solidFill>
                  </a:tcPr>
                </a:tc>
                <a:tc>
                  <a:txBody>
                    <a:bodyPr wrap="square"/>
                    <a:lstStyle/>
                    <a:p>
                      <a:r>
                        <a:rPr sz="1200" b="0">
                          <a:solidFill>
                            <a:srgbClr val="262626"/>
                          </a:solidFill>
                          <a:latin typeface="Arial"/>
                        </a:rPr>
                        <a:t>Cereals (winter)</a:t>
                      </a:r>
                    </a:p>
                  </a:txBody>
                  <a:tcPr>
                    <a:solidFill>
                      <a:srgbClr val="FFFFFF"/>
                    </a:solidFill>
                  </a:tcPr>
                </a:tc>
                <a:tc>
                  <a:txBody>
                    <a:bodyPr wrap="square"/>
                    <a:lstStyle/>
                    <a:p>
                      <a:r>
                        <a:rPr sz="1200" b="0">
                          <a:solidFill>
                            <a:srgbClr val="262626"/>
                          </a:solidFill>
                          <a:latin typeface="Arial"/>
                        </a:rPr>
                        <a:t>Wheat, barley, oats, rye</a:t>
                      </a:r>
                    </a:p>
                  </a:txBody>
                  <a:tcPr>
                    <a:solidFill>
                      <a:srgbClr val="FFFFFF"/>
                    </a:solidFill>
                  </a:tcPr>
                </a:tc>
              </a:tr>
              <a:tr h="594360">
                <a:tc>
                  <a:txBody>
                    <a:bodyPr wrap="square"/>
                    <a:lstStyle/>
                    <a:p>
                      <a:r>
                        <a:rPr sz="1200" b="0">
                          <a:solidFill>
                            <a:srgbClr val="262626"/>
                          </a:solidFill>
                          <a:latin typeface="Arial"/>
                        </a:rPr>
                        <a:t>Arable</a:t>
                      </a:r>
                    </a:p>
                  </a:txBody>
                  <a:tcPr>
                    <a:solidFill>
                      <a:srgbClr val="FFFFFF"/>
                    </a:solidFill>
                  </a:tcPr>
                </a:tc>
                <a:tc>
                  <a:txBody>
                    <a:bodyPr wrap="square"/>
                    <a:lstStyle/>
                    <a:p>
                      <a:r>
                        <a:rPr sz="1200" b="0">
                          <a:solidFill>
                            <a:srgbClr val="262626"/>
                          </a:solidFill>
                          <a:latin typeface="Arial"/>
                        </a:rPr>
                        <a:t>Cereals (spring)</a:t>
                      </a:r>
                    </a:p>
                  </a:txBody>
                  <a:tcPr>
                    <a:solidFill>
                      <a:srgbClr val="FFFFFF"/>
                    </a:solidFill>
                  </a:tcPr>
                </a:tc>
                <a:tc>
                  <a:txBody>
                    <a:bodyPr wrap="square"/>
                    <a:lstStyle/>
                    <a:p>
                      <a:r>
                        <a:rPr sz="1200" b="0">
                          <a:solidFill>
                            <a:srgbClr val="262626"/>
                          </a:solidFill>
                          <a:latin typeface="Arial"/>
                        </a:rPr>
                        <a:t>Corn, rice, sorghum</a:t>
                      </a:r>
                    </a:p>
                  </a:txBody>
                  <a:tcPr>
                    <a:solidFill>
                      <a:srgbClr val="FFFFFF"/>
                    </a:solidFill>
                  </a:tcPr>
                </a:tc>
              </a:tr>
              <a:tr h="594360">
                <a:tc>
                  <a:txBody>
                    <a:bodyPr wrap="square"/>
                    <a:lstStyle/>
                    <a:p>
                      <a:r>
                        <a:rPr sz="1200" b="0">
                          <a:solidFill>
                            <a:srgbClr val="262626"/>
                          </a:solidFill>
                          <a:latin typeface="Arial"/>
                        </a:rPr>
                        <a:t>Arable</a:t>
                      </a:r>
                    </a:p>
                  </a:txBody>
                  <a:tcPr>
                    <a:solidFill>
                      <a:srgbClr val="FFFFFF"/>
                    </a:solidFill>
                  </a:tcPr>
                </a:tc>
                <a:tc>
                  <a:txBody>
                    <a:bodyPr wrap="square"/>
                    <a:lstStyle/>
                    <a:p>
                      <a:r>
                        <a:rPr sz="1200" b="0">
                          <a:solidFill>
                            <a:srgbClr val="262626"/>
                          </a:solidFill>
                          <a:latin typeface="Arial"/>
                        </a:rPr>
                        <a:t>Industrial plants</a:t>
                      </a:r>
                    </a:p>
                  </a:txBody>
                  <a:tcPr>
                    <a:solidFill>
                      <a:srgbClr val="FFFFFF"/>
                    </a:solidFill>
                  </a:tcPr>
                </a:tc>
                <a:tc>
                  <a:txBody>
                    <a:bodyPr wrap="square"/>
                    <a:lstStyle/>
                    <a:p>
                      <a:r>
                        <a:rPr sz="1200" b="0">
                          <a:solidFill>
                            <a:srgbClr val="262626"/>
                          </a:solidFill>
                          <a:latin typeface="Arial"/>
                        </a:rPr>
                        <a:t>Cotton, tobacco, sugar beet</a:t>
                      </a:r>
                    </a:p>
                  </a:txBody>
                  <a:tcPr>
                    <a:solidFill>
                      <a:srgbClr val="FFFFFF"/>
                    </a:solidFill>
                  </a:tcPr>
                </a:tc>
              </a:tr>
              <a:tr h="594360">
                <a:tc>
                  <a:txBody>
                    <a:bodyPr wrap="square"/>
                    <a:lstStyle/>
                    <a:p>
                      <a:r>
                        <a:rPr sz="1200" b="0">
                          <a:solidFill>
                            <a:srgbClr val="262626"/>
                          </a:solidFill>
                          <a:latin typeface="Arial"/>
                        </a:rPr>
                        <a:t>Arable</a:t>
                      </a:r>
                    </a:p>
                  </a:txBody>
                  <a:tcPr>
                    <a:solidFill>
                      <a:srgbClr val="FFFFFF"/>
                    </a:solidFill>
                  </a:tcPr>
                </a:tc>
                <a:tc>
                  <a:txBody>
                    <a:bodyPr wrap="square"/>
                    <a:lstStyle/>
                    <a:p>
                      <a:r>
                        <a:rPr sz="1200" b="0">
                          <a:solidFill>
                            <a:srgbClr val="262626"/>
                          </a:solidFill>
                          <a:latin typeface="Arial"/>
                        </a:rPr>
                        <a:t>Legumes (winter)</a:t>
                      </a:r>
                    </a:p>
                  </a:txBody>
                  <a:tcPr>
                    <a:solidFill>
                      <a:srgbClr val="FFFFFF"/>
                    </a:solidFill>
                  </a:tcPr>
                </a:tc>
                <a:tc>
                  <a:txBody>
                    <a:bodyPr wrap="square"/>
                    <a:lstStyle/>
                    <a:p>
                      <a:r>
                        <a:rPr sz="1200" b="0">
                          <a:solidFill>
                            <a:srgbClr val="262626"/>
                          </a:solidFill>
                          <a:latin typeface="Arial"/>
                        </a:rPr>
                        <a:t>Vetch, pea, broad bean, lentil, chickling vetch</a:t>
                      </a:r>
                    </a:p>
                  </a:txBody>
                  <a:tcPr>
                    <a:solidFill>
                      <a:srgbClr val="FFFFFF"/>
                    </a:solidFill>
                  </a:tcPr>
                </a:tc>
              </a:tr>
              <a:tr h="594360">
                <a:tc>
                  <a:txBody>
                    <a:bodyPr wrap="square"/>
                    <a:lstStyle/>
                    <a:p>
                      <a:r>
                        <a:rPr sz="1200" b="0">
                          <a:solidFill>
                            <a:srgbClr val="262626"/>
                          </a:solidFill>
                          <a:latin typeface="Arial"/>
                        </a:rPr>
                        <a:t>Arable</a:t>
                      </a:r>
                    </a:p>
                  </a:txBody>
                  <a:tcPr>
                    <a:solidFill>
                      <a:srgbClr val="FFFFFF"/>
                    </a:solidFill>
                  </a:tcPr>
                </a:tc>
                <a:tc>
                  <a:txBody>
                    <a:bodyPr wrap="square"/>
                    <a:lstStyle/>
                    <a:p>
                      <a:r>
                        <a:rPr sz="1200" b="0">
                          <a:solidFill>
                            <a:srgbClr val="262626"/>
                          </a:solidFill>
                          <a:latin typeface="Arial"/>
                        </a:rPr>
                        <a:t>Legumes (spring)</a:t>
                      </a:r>
                    </a:p>
                  </a:txBody>
                  <a:tcPr>
                    <a:solidFill>
                      <a:srgbClr val="FFFFFF"/>
                    </a:solidFill>
                  </a:tcPr>
                </a:tc>
                <a:tc>
                  <a:txBody>
                    <a:bodyPr wrap="square"/>
                    <a:lstStyle/>
                    <a:p>
                      <a:r>
                        <a:rPr sz="1200" b="0">
                          <a:solidFill>
                            <a:srgbClr val="262626"/>
                          </a:solidFill>
                          <a:latin typeface="Arial"/>
                        </a:rPr>
                        <a:t>Beans, soybean, peanut, chickpea, alfalfa</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none">
            <a:spAutoFit/>
          </a:bodyPr>
          <a:lstStyle/>
          <a:p>
            <a:r>
              <a:rPr sz="1200" b="1">
                <a:solidFill>
                  <a:srgbClr val="2F6B3A"/>
                </a:solidFill>
                <a:latin typeface="Arial"/>
              </a:rPr>
              <a:t>NEXT LESSON</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2F6B3A"/>
                </a:solidFill>
                <a:latin typeface="Verdana"/>
              </a:rPr>
              <a:t>Next Time…</a:t>
            </a:r>
          </a:p>
        </p:txBody>
      </p:sp>
      <p:sp>
        <p:nvSpPr>
          <p:cNvPr id="5" name="TextBox 4"/>
          <p:cNvSpPr txBox="1"/>
          <p:nvPr/>
        </p:nvSpPr>
        <p:spPr>
          <a:xfrm>
            <a:off x="822960" y="1737360"/>
            <a:ext cx="7680960" cy="4754880"/>
          </a:xfrm>
          <a:prstGeom prst="rect">
            <a:avLst/>
          </a:prstGeom>
          <a:noFill/>
        </p:spPr>
        <p:txBody>
          <a:bodyPr wrap="square">
            <a:spAutoFit/>
          </a:bodyPr>
          <a:lstStyle/>
          <a:p>
            <a:r>
              <a:rPr sz="1700" b="0">
                <a:solidFill>
                  <a:srgbClr val="262626"/>
                </a:solidFill>
                <a:latin typeface="Arial"/>
              </a:rPr>
              <a:t>•  We'll compare the 4 farming methods.</a:t>
            </a:r>
          </a:p>
          <a:p>
            <a:r>
              <a:rPr sz="1700" b="0">
                <a:solidFill>
                  <a:srgbClr val="262626"/>
                </a:solidFill>
                <a:latin typeface="Arial"/>
              </a:rPr>
              <a:t>•  Which produces cheaper food?</a:t>
            </a:r>
          </a:p>
          <a:p>
            <a:r>
              <a:rPr sz="1700" b="0">
                <a:solidFill>
                  <a:srgbClr val="262626"/>
                </a:solidFill>
                <a:latin typeface="Arial"/>
              </a:rPr>
              <a:t>•  Which is more sustainable for the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