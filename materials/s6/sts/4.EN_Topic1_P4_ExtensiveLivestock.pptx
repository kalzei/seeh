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TOPIC 1: FOOD, NUTRITION &amp; HEALTH — 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2F6B3A"/>
                </a:solidFill>
                <a:latin typeface="Verdana"/>
              </a:rPr>
              <a:t>Extensive Livestock Farming, Agriculture &amp; Meat Consumption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55555"/>
                </a:solidFill>
                <a:latin typeface="Arial"/>
              </a:rPr>
              <a:t>Environmental, Social and Economic Evidence — S6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What Is Extensive Livestock Farming?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F6B3A"/>
                </a:solidFill>
                <a:latin typeface="Arial"/>
              </a:rPr>
              <a:t>•  Definition:</a:t>
            </a:r>
            <a:r>
              <a:rPr sz="2100" b="0">
                <a:solidFill>
                  <a:srgbClr val="262626"/>
                </a:solidFill>
                <a:latin typeface="Arial"/>
              </a:rPr>
              <a:t>  rearing animals over large areas by natural grazing, with low stocking density and minimal inputs — the African Sahel, the South American Pampas, Australia, Central Asia.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Rising demand:</a:t>
            </a:r>
            <a:r>
              <a:rPr sz="2100" b="0">
                <a:solidFill>
                  <a:srgbClr val="262626"/>
                </a:solidFill>
                <a:latin typeface="Arial"/>
              </a:rPr>
              <a:t>  global demand for meat is expected to rise by more than 70% by 2050 (FAO, 2021).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The central dilemma:</a:t>
            </a:r>
            <a:r>
              <a:rPr sz="2100" b="0">
                <a:solidFill>
                  <a:srgbClr val="262626"/>
                </a:solidFill>
                <a:latin typeface="Arial"/>
              </a:rPr>
              <a:t>  despite the differences from intensive feedlots, the sheer scale of extensive livestock farming puts serious pressure on natural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LAND &amp; FORESTS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Land Use and the Destruction of Forests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2468879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B3A"/>
                </a:solidFill>
                <a:latin typeface="Arial"/>
              </a:rPr>
              <a:t>30% of the land surface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Extensive livestock farming is the single largest use of agricultural land.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It occupies 30% of the Earth’s ice-free land surface.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8999" y="1737360"/>
            <a:ext cx="2468879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59" y="1874519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B3A"/>
                </a:solidFill>
                <a:latin typeface="Arial"/>
              </a:rPr>
              <a:t>80% of deforestation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According to the FAO, 80% of the destruction of the Amazon rainforest is directly linked to cattle rearing.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Mainly Brazil and Argentina — the Amazon and the Cerrado savanna.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737360"/>
            <a:ext cx="2468879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874519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B3A"/>
                </a:solidFill>
                <a:latin typeface="Arial"/>
              </a:rPr>
              <a:t>Desertification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Continuous grazing causes soil compaction, erosion and desertification.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Clear examples: Mongolia and sub-Saharan Africa.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Greenhouse Gases &amp; the Carbon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F6B3A"/>
                </a:solidFill>
                <a:latin typeface="Arial"/>
              </a:rPr>
              <a:t>•  14.5% of emissions:</a:t>
            </a:r>
            <a:r>
              <a:rPr sz="2100" b="0">
                <a:solidFill>
                  <a:srgbClr val="262626"/>
                </a:solidFill>
                <a:latin typeface="Arial"/>
              </a:rPr>
              <a:t>  livestock farming is responsible for 14.5% of all global greenhouse-gas emissions (FAO, 2023).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Methane is 28 times more powerful:</a:t>
            </a:r>
            <a:r>
              <a:rPr sz="2100" b="0">
                <a:solidFill>
                  <a:srgbClr val="262626"/>
                </a:solidFill>
                <a:latin typeface="Arial"/>
              </a:rPr>
              <a:t>  ruminants (cattle, sheep) produce methane (CH₄) through enteric fermentation; it has 28 times the warming power of carbon dioxide (CO₂) over a 100-year horizon.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Low productivity per animal:</a:t>
            </a:r>
            <a:r>
              <a:rPr sz="2100" b="0">
                <a:solidFill>
                  <a:srgbClr val="262626"/>
                </a:solidFill>
                <a:latin typeface="Arial"/>
              </a:rPr>
              <a:t>  because productivity is lower in extensive systems, more animals and more land are needed — so emissions per kilogram of protein are higher.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Water Consumption &amp; Eutrophication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F6B3A"/>
                </a:solidFill>
                <a:latin typeface="Arial"/>
              </a:rPr>
              <a:t>•  15,000 litres per kilogram:</a:t>
            </a:r>
            <a:r>
              <a:rPr sz="2100" b="0">
                <a:solidFill>
                  <a:srgbClr val="262626"/>
                </a:solidFill>
                <a:latin typeface="Arial"/>
              </a:rPr>
              <a:t>  the water footprint of producing beef is estimated at 15,000 litres per kilogram (Hoekstra, 2012).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Pressure in dry regions:</a:t>
            </a:r>
            <a:r>
              <a:rPr sz="2100" b="0">
                <a:solidFill>
                  <a:srgbClr val="262626"/>
                </a:solidFill>
                <a:latin typeface="Arial"/>
              </a:rPr>
              <a:t>  severe water scarcity is seen in drought-prone areas such as the Australian outback.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Water pollution:</a:t>
            </a:r>
            <a:r>
              <a:rPr sz="2100" b="0">
                <a:solidFill>
                  <a:srgbClr val="262626"/>
                </a:solidFill>
                <a:latin typeface="Arial"/>
              </a:rPr>
              <a:t>  nutrient run-off from manure causes eutrophication and contaminates rivers and lakes.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Resource Use, Livelihoods &amp; the Nutrition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F6B3A"/>
                </a:solidFill>
                <a:latin typeface="Arial"/>
              </a:rPr>
              <a:t>•  80% of land for under 20% of calories:</a:t>
            </a:r>
            <a:r>
              <a:rPr sz="2100" b="0">
                <a:solidFill>
                  <a:srgbClr val="262626"/>
                </a:solidFill>
                <a:latin typeface="Arial"/>
              </a:rPr>
              <a:t>  80% of the world’s agricultural land is used for livestock and animal feed, yet it delivers less than 20% of the total calories people consume.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Local communities &amp; conflict:</a:t>
            </a:r>
            <a:r>
              <a:rPr sz="2100" b="0">
                <a:solidFill>
                  <a:srgbClr val="262626"/>
                </a:solidFill>
                <a:latin typeface="Arial"/>
              </a:rPr>
              <a:t>  livestock is central to the identity of pastoralist peoples (the Maasai in Kenya/Tanzania, the Fulani in West Africa), but the privatisation of land causes marginalisation and conflict over water and pasture (the Sahel, northern Nigeria).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Global inequality:</a:t>
            </a:r>
            <a:r>
              <a:rPr sz="2100" b="0">
                <a:solidFill>
                  <a:srgbClr val="262626"/>
                </a:solidFill>
                <a:latin typeface="Arial"/>
              </a:rPr>
              <a:t>  overconsumption of meat and chronic disease in rich countries, set against undernutrition in poorer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POLITICS &amp;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Economic Incentives &amp; Environmental Injustice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F6B3A"/>
                </a:solidFill>
                <a:latin typeface="Arial"/>
              </a:rPr>
              <a:t>•  State subsidies:</a:t>
            </a:r>
            <a:r>
              <a:rPr sz="2100" b="0">
                <a:solidFill>
                  <a:srgbClr val="262626"/>
                </a:solidFill>
                <a:latin typeface="Arial"/>
              </a:rPr>
              <a:t>  billions of euros and dollars go to animal feed, tax exemptions and access to land in the EU and the USA, keeping meat artificially cheap.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Environmental injustice in trade:</a:t>
            </a:r>
            <a:r>
              <a:rPr sz="2100" b="0">
                <a:solidFill>
                  <a:srgbClr val="262626"/>
                </a:solidFill>
                <a:latin typeface="Arial"/>
              </a:rPr>
              <a:t>  regions of Latin America and Africa bear the ecological damage in order to supply the markets of Europe, China and North America.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Corporate power:</a:t>
            </a:r>
            <a:r>
              <a:rPr sz="2100" b="0">
                <a:solidFill>
                  <a:srgbClr val="262626"/>
                </a:solidFill>
                <a:latin typeface="Arial"/>
              </a:rPr>
              <a:t>  multinational companies control the production chain and lobby for the weakening of environmental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Animal Rights &amp; Dietary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F6B3A"/>
                </a:solidFill>
                <a:latin typeface="Arial"/>
              </a:rPr>
              <a:t>•  Welfare challenges:</a:t>
            </a:r>
            <a:r>
              <a:rPr sz="2100" b="0">
                <a:solidFill>
                  <a:srgbClr val="262626"/>
                </a:solidFill>
                <a:latin typeface="Arial"/>
              </a:rPr>
              <a:t>  animals are exposed to extreme weather, disease and parasites, to painful practices (branding, castration) and to exhausting transport.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Symbolism &amp; culture:</a:t>
            </a:r>
            <a:r>
              <a:rPr sz="2100" b="0">
                <a:solidFill>
                  <a:srgbClr val="262626"/>
                </a:solidFill>
                <a:latin typeface="Arial"/>
              </a:rPr>
              <a:t>  meat has historically been linked to strength, celebration and prosperity — which is why dietary change provokes resistance.</a:t>
            </a:r>
          </a:p>
          <a:p>
            <a:pPr>
              <a:spcBef>
                <a:spcPts val="1000"/>
              </a:spcBef>
            </a:pPr>
            <a:r>
              <a:rPr sz="2100" b="1">
                <a:solidFill>
                  <a:srgbClr val="2F6B3A"/>
                </a:solidFill>
                <a:latin typeface="Arial"/>
              </a:rPr>
              <a:t>•  New trends:</a:t>
            </a:r>
            <a:r>
              <a:rPr sz="2100" b="0">
                <a:solidFill>
                  <a:srgbClr val="262626"/>
                </a:solidFill>
                <a:latin typeface="Arial"/>
              </a:rPr>
              <a:t>  a growing shift towards vegetarian/vegan and reducetarian diets.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B3A"/>
                </a:solidFill>
                <a:latin typeface="Arial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6B3A"/>
                </a:solidFill>
                <a:latin typeface="Verdana"/>
              </a:rPr>
              <a:t>Practices for Transition — "Less but Better"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2468879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B3A"/>
                </a:solidFill>
                <a:latin typeface="Arial"/>
              </a:rPr>
              <a:t>Good farming practices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Rotational grazing.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Silvopastoral systems that enrich the soil with organic matter.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8999" y="1737360"/>
            <a:ext cx="2468879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59" y="1874519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B3A"/>
                </a:solidFill>
                <a:latin typeface="Arial"/>
              </a:rPr>
              <a:t>Alternative proteins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Plant-based options.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Cultured (lab-grown) meat.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737360"/>
            <a:ext cx="2468879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874519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B3A"/>
                </a:solidFill>
                <a:latin typeface="Arial"/>
              </a:rPr>
              <a:t>Circular economy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Use of byproducts.</a:t>
            </a:r>
          </a:p>
          <a:p>
            <a:r>
              <a:rPr sz="1600" b="0">
                <a:solidFill>
                  <a:srgbClr val="262626"/>
                </a:solidFill>
                <a:latin typeface="Arial"/>
              </a:rPr>
              <a:t>Use of land unsuitable for crops.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F6B3A"/>
                </a:solidFill>
                <a:latin typeface="Arial"/>
              </a:rPr>
              <a:t>•  Conclusion:</a:t>
            </a:r>
            <a:r>
              <a:rPr sz="2100" b="0">
                <a:solidFill>
                  <a:srgbClr val="262626"/>
                </a:solidFill>
                <a:latin typeface="Arial"/>
              </a:rPr>
              <a:t>  a transition to the "less but better meat" model, to maintain ecological 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