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41EB07-263F-44B0-8759-A14CE154F7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1C9811-B262-430E-ABA3-972F1083C3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4CC83E7-F06B-4413-ADB3-14063B4D84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243FB53-7A2B-40B4-BB89-74742BBA81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E6761F6-28F8-4928-97BF-0BF5F18588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F55DA892-0295-4B3E-95D8-2BF46396777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CE2C1CF4-93B3-47C6-9114-95552160A7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688C714-45EF-46C2-BEC4-4CC9441210D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BBF113C-13B2-4E71-859B-A345080A27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2D7C166-A68D-40B9-83DD-ACE26AC581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111E0E3-86EE-4A71-85FC-5C44D3F057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9501BA-E816-41D4-A43A-78AFF5EE7E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5285EC-4491-49CD-8D7D-70296DB32E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0AC825-936E-4D42-9B34-2B0B7214D85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D58547-45D3-49FA-9B40-99F3F3CF965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94E8BC-37F3-47BC-A876-FA53609771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BF8650-3F8F-4F25-A443-634C9FC947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16A5351-8F90-4FB7-8B05-4795242DBA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DCBD3A-CEF6-4E5A-8B08-EA16C2D2469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0CAE390-6F10-4C7C-BA09-ACCA8C6A98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561BD3-5F20-402F-8D99-CF4FFEA5CBA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2760F37-494D-4D39-8AC8-11096F3194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872000" y="320040"/>
            <a:ext cx="55821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ΘΕΜΑ 1: ΤΡΟΦΗ, ΔΙΑΤΡΟΦΗ &amp; ΥΓΕΙΑ — ΜΑΘΗΜΑ 4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621720"/>
            <a:ext cx="7680600" cy="191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2f6b3a"/>
                </a:solidFill>
                <a:latin typeface="Verdana"/>
              </a:rPr>
              <a:t>Εκτεταμένη Κτηνοτροφία, Γεωργία &amp; Κατανάλωση Κρέατος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2926080"/>
            <a:ext cx="768060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555555"/>
                </a:solidFill>
                <a:latin typeface="Arial"/>
              </a:rPr>
              <a:t>Περιβαλλοντικά, Κοινωνικά και Οικονομικά Δεδομένα — S6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4032360" y="320040"/>
            <a:ext cx="12614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ΕΙΣΑΓΩΓΗ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Τι Είναι η Εκτεταμένη Κτηνοτροφία;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822960" y="1737360"/>
            <a:ext cx="7680600" cy="38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Ορισμός: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εκτροφή ζώων σε μεγάλες εκτάσεις με φυσική βόσκηση, χαμηλή πυκνότητα ζώων και ελάχιστες εισροές — Σαχέλ Αφρικής, Πάμπας Ν. Αμερικής, Αυστραλία, Κεντρική Ασία.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Αύξηση ζήτησης: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παγκόσμια ζήτηση για κρέας αναμένεται να αυξηθεί πάνω από 70% έως το 2050 (FAO, 2021).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Το κεντρικό δίλημμα: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παρά τις διαφορές από τις εντατικές μονάδες (feedlots), η μεγάλη κλίμακα της εκτεταμένης κτηνοτροφίας προκαλεί σοβαρές πιέσεις στους φυσικούς πόρους.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3996720" y="320040"/>
            <a:ext cx="13330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ΓΗ &amp; ΔΑΣΗ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Χρήση Γης και Καταστροφή των Δασών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ctangle 4"/>
          <p:cNvSpPr/>
          <p:nvPr/>
        </p:nvSpPr>
        <p:spPr>
          <a:xfrm>
            <a:off x="822960" y="1737360"/>
            <a:ext cx="2468520" cy="365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960120" y="1874520"/>
            <a:ext cx="2194200" cy="23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30% της στεριάς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Η εκτεταμένη κτηνοτροφία είναι η μεγαλύτερη χρήση γεωργικής γης.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Καταλαμβάνει το 30% της ελεύθερης από πάγους επιφάνειας της Γης.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3429000" y="1737360"/>
            <a:ext cx="2468520" cy="365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3566160" y="1874520"/>
            <a:ext cx="2194200" cy="334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80% της αποψίλωσης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Κατά τον FAO, το 80% της καταστροφής του τροπικού δάσους του Αμαζονίου σχετίζεται άμεσα με την εκτροφή βοοειδών.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Κυρίως Βραζιλία και Αργεντινή — Αμαζόνιος και σαβάνα Cerrado.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8"/>
          <p:cNvSpPr/>
          <p:nvPr/>
        </p:nvSpPr>
        <p:spPr>
          <a:xfrm>
            <a:off x="6035040" y="1737360"/>
            <a:ext cx="2468520" cy="365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6172200" y="1874520"/>
            <a:ext cx="2194200" cy="25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Ερημοποίηση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Η συνεχής βόσκηση προκαλεί συμπίεση του εδάφους, διάβρωση και ερημοποίηση.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Χαρακτηριστικά παραδείγματα: Μογγολία και Υποσαχάρια Αφρική.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457200" y="5798160"/>
            <a:ext cx="9001800" cy="602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FAO = Food and Agriculture Organization of the United Nations — Οργανισμός Τροφίμων και Γεωργίας των Ηνωμένων Εθνών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224240" y="320040"/>
            <a:ext cx="8776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ΚΛΙΜΑ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Αέρια Θερμοκηπίου &amp; Αποτύπωμα Άνθρακα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822960" y="1737360"/>
            <a:ext cx="7680600" cy="38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14,5% των εκπομπών: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κτηνοτροφία ευθύνεται για το 14,5% των συνολικών παγκόσμιων εκπομπών αερίων θερμοκηπίου (FAO, 2023).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Μεθάνιο 28 φορές ισχυρότερο: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τα μηρυκαστικά (βοοειδή, πρόβατα) παράγουν μεθάνιο (CH₄) κατά την εντερική ζύμωση· έχει 28 φορές μεγαλύτερη θερμαντική ικανότητα από το διοξείδιο του άνθρακα (CO₂) σε ορίζοντα 100 ετών.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Χαμηλή παραγωγικότητα ανά ζώο: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επειδή η παραγωγικότητα είναι χαμηλότερη στα εκτεταμένα συστήματα, απαιτούνται περισσότερα ζώα και περισσότερη γη — άρα υψηλότερες εκπομπές ανά κιλό πρωτεΐνης.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4266360" y="320040"/>
            <a:ext cx="79380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ΝΕΡΟ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822960" y="621720"/>
            <a:ext cx="76806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Κατανάλωση Νερού &amp; Ευτροφισμός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822960" y="1737360"/>
            <a:ext cx="7680600" cy="322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15.000 λίτρα ανά κιλό: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το υδατικό αποτύπωμα της παραγωγής βόειου κρέατος υπολογίζεται στα 15.000 λίτρα ανά κιλό (Hoekstra, 2012).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Πίεση σε ξηρές περιοχές: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έντονο πρόβλημα λειψυδρίας παρατηρείται σε περιοχές με ξηρασία, όπως η αυστραλιανή ενδοχώρα.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Ρύπανση υδάτων: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απορροή θρεπτικών ουσιών από την κοπριά προκαλεί ευτροφισμό και μόλυνση σε ποτάμια και λίμνες.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4034520" y="320040"/>
            <a:ext cx="12571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ΚΟΙΝΩΝΙΑ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Χρήση Πόρων, Βιοπορισμός &amp; Διατροφικό Χάσμα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822960" y="1737360"/>
            <a:ext cx="7680600" cy="45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80% της γης για &lt;20% των θερμίδων: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το 80% της γεωργικής γης παγκοσμίως χρησιμοποιείται για κτηνοτροφία και ζωοτροφές, αλλά αποδίδει λιγότερο από το 20% των συνολικών θερμίδων που καταναλώνει ο άνθρωπος.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Τοπικές κοινωνίες &amp; συγκρούσεις: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η κτηνοτροφία είναι κεντρικό στοιχείο ταυτότητας για νομαδικούς πληθυσμούς (Μασάι στην Κένυα/Τανζανία, Φουλάνι στη Δυτική Αφρική), όμως η ιδιωτικοποίηση της γης προκαλεί περιθωριοποίηση και συγκρούσεις για νερό και βοσκοτόπους (Σαχέλ, Βόρεια Νιγηρία).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Παγκόσμια ανισότητα: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υπερκατανάλωση κρέατος και χρόνια νοσήματα στις πλούσιες χώρες, έναντι υποσιτισμού σε φτωχότερες περιοχές.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3288600" y="320040"/>
            <a:ext cx="274896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ΠΟΛΙΤΙΚΗ &amp; ΟΙΚΟΝΟΜΙΑ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Οικονομικά Κίνητρα &amp; Περιβαλλοντική Αδικία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822960" y="1737360"/>
            <a:ext cx="7680600" cy="354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Κρατικές επιδοτήσεις: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δισεκατομμύρια ευρώ και δολαρίων διατίθενται σε ΕΕ και ΗΠΑ για ζωοτροφές, φοροαπαλλαγές και πρόσβαση σε γη, κρατώντας το κρέας τεχνητά φθηνό.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Περιβαλλοντική αδικία στο εμπόριο: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περιοχές της Λατινικής Αμερικής και της Αφρικής υφίστανται την οικολογική ζημιά για να τροφοδοτούν τις αγορές της Ευρώπης, της Κίνας και της Βόρειας Αμερικής.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Εταιρική ισχύς: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πολυεθνικές εταιρείες ελέγχουν την αλυσίδα παραγωγής και ασκούν πιέσεις για εξασθένηση των περιβαλλοντικών κανόνων.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4224240" y="320040"/>
            <a:ext cx="87768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ΗΘΙΚΗ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Δικαιώματα των Ζώων &amp; Διατροφικές Τάσεις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822960" y="1737360"/>
            <a:ext cx="7680600" cy="29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Προκλήσεις ευζωίας: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τα ζώα εκτίθενται σε ακραίο καιρό, ασθένειες και παράσιτα, σε οδυνηρές πρακτικές (σημάδεμα, ευνουχισμός) και σε εξαντλητικές μεταφορές.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Συμβολισμός &amp; κουλτούρα: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το κρέας συνδέεται ιστορικά με τη δύναμη, τη γιορτή και την ευημερία — γι' αυτό η αλλαγή διατροφής προκαλεί αντιδράσεις.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Νέες τάσεις: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αυξανόμενη στροφή προς χορτοφαγικές (vegetarian/vegan) και μειωτικές (reducetarian) διατροφές.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6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319680" cy="6857640"/>
          </a:xfrm>
          <a:prstGeom prst="rect">
            <a:avLst/>
          </a:prstGeom>
          <a:solidFill>
            <a:srgbClr val="2f6b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3828240" y="320040"/>
            <a:ext cx="16700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2f6b3a"/>
                </a:solidFill>
                <a:latin typeface="Arial"/>
              </a:rPr>
              <a:t>ΒΙΩΣΙΜΟΤΗΤΑ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822960" y="621720"/>
            <a:ext cx="7680600" cy="106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2f6b3a"/>
                </a:solidFill>
                <a:latin typeface="Verdana"/>
              </a:rPr>
              <a:t>Πρακτικές Μετάβασης — «Λιγότερο αλλά Καλύτερο»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4"/>
          <p:cNvSpPr/>
          <p:nvPr/>
        </p:nvSpPr>
        <p:spPr>
          <a:xfrm>
            <a:off x="822960" y="1737360"/>
            <a:ext cx="246852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960120" y="1874520"/>
            <a:ext cx="2194200" cy="261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Ορθές γεωργικές πρακτικές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Περιστροφική βόσκηση.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Δενδρολιβαδικά (silvopastoral) συστήματα που εμπλουτίζουν το έδαφος με οργανική ύλη.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ectangle 6"/>
          <p:cNvSpPr/>
          <p:nvPr/>
        </p:nvSpPr>
        <p:spPr>
          <a:xfrm>
            <a:off x="3429000" y="1737360"/>
            <a:ext cx="246852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7"/>
          <p:cNvSpPr/>
          <p:nvPr/>
        </p:nvSpPr>
        <p:spPr>
          <a:xfrm>
            <a:off x="3566160" y="1874520"/>
            <a:ext cx="2194200" cy="13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Εναλλακτικές πρωτεΐνες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Φυτικές επιλογές.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Καλλιεργημένο (εργαστηριακό) κρέας.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 8"/>
          <p:cNvSpPr/>
          <p:nvPr/>
        </p:nvSpPr>
        <p:spPr>
          <a:xfrm>
            <a:off x="6035040" y="1737360"/>
            <a:ext cx="2468520" cy="2834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f6b3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6172200" y="1874520"/>
            <a:ext cx="2194200" cy="18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2f6b3a"/>
                </a:solidFill>
                <a:latin typeface="Arial"/>
              </a:rPr>
              <a:t>Κυκλική οικονομία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Αξιοποίηση υποπροϊόντων.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62626"/>
                </a:solidFill>
                <a:latin typeface="Arial"/>
              </a:rPr>
              <a:t>Χρήση γης ακατάλληλης για καλλιέργεια.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822960" y="4800600"/>
            <a:ext cx="7680600" cy="10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•  </a:t>
            </a:r>
            <a:r>
              <a:rPr b="1" lang="en-US" sz="2100" spc="-1" strike="noStrike">
                <a:solidFill>
                  <a:srgbClr val="2f6b3a"/>
                </a:solidFill>
                <a:latin typeface="Arial"/>
              </a:rPr>
              <a:t>Συμπέρασμα:</a:t>
            </a:r>
            <a:r>
              <a:rPr b="0" lang="en-US" sz="2100" spc="-1" strike="noStrike">
                <a:solidFill>
                  <a:srgbClr val="262626"/>
                </a:solidFill>
                <a:latin typeface="Arial"/>
              </a:rPr>
              <a:t>  μετάβαση στο μοντέλο «λιγότερο αλλά καλύτερο κρέας» για τη διατήρηση των οικολογικών ισορροπιών.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"/>
          <p:cNvSpPr txBox="1"/>
          <p:nvPr/>
        </p:nvSpPr>
        <p:spPr>
          <a:xfrm>
            <a:off x="1576440" y="3082320"/>
            <a:ext cx="528156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https://www.youtube.com/watch?v=pwHINnhp8PQ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600200" y="2057400"/>
            <a:ext cx="4800600" cy="68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Τι παράγει η Ελλάδα;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2026-10-12T14:34:19Z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