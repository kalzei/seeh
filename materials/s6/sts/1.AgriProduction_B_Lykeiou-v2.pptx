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  <a:p>
            <a:pPr>
              <a:spcAft>
                <a:spcPts val="1600"/>
              </a:spcAft>
              <a:defRPr sz="3200" b="1">
                <a:solidFill>
                  <a:srgbClr val="1E2D24"/>
                </a:solidFill>
                <a:latin typeface="Georgia"/>
              </a:defRPr>
            </a:pPr>
            <a:r>
              <a:t>Αγροτική Παραγωγή:</a:t>
            </a:r>
            <a:br/>
            <a:r>
              <a:t>Τι Είναι &amp; Πώς Ξεκίνησε</a:t>
            </a:r>
          </a:p>
          <a:p>
            <a:pPr>
              <a:defRPr sz="1500">
                <a:solidFill>
                  <a:srgbClr val="5C6B60"/>
                </a:solidFill>
                <a:latin typeface="Arial"/>
              </a:defRPr>
            </a:pPr>
            <a:r>
              <a:t>Πριν 12.000 χρόνια, όλοι οι άνθρωποι ήταν κυνηγοί-τροφοσυλλέκτες. Πώς η ανακάλυψη της γεωργίας άλλαξε για πάντα τον ανθρώπινο πολιτισμό;</a:t>
            </a:r>
          </a:p>
        </p:txBody>
      </p:sp>
      <p:pic>
        <p:nvPicPr>
          <p:cNvPr id="3" name="Picture 2" descr="ancient_agricul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846320" cy="27049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1. Ορισμός &amp; Σκοπός της Γεωργικής Παραγωγής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Εννοιολογικός Ορισμός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Γεωργία: Το σύνολο των δραστηριοτήτων καλλιέργειας της γης για την παραγωγή φυτικών προϊόντων.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Ευρύτερη Έννοια: Περιλαμβάνει τη Φυτική Παραγωγή, την Κτηνοτροφία (Ζωική) και την Αλιεία.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Αποτελεί τη βάση της ανθρώπινης επιβίωσης και της οικονομίας.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Προορισμός Προϊόντων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Ανθρώπινη Διατροφή: Άμεση κατακάλυψη τροφικών αναγκών (δημητριακά, φρούτα, λαχανικά).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Ζωοτροφές: Υποστήριξη της κτηνοτροφίας (βοσκοτόπια, καλαμπόκι, τριφύλλι).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Βιομηχανία &amp; Άλλες Χρήσεις: Βαμβάκι, βιοκαύσιμα, φαρμακευτικά &amp; καλλωπιστικά φυτά.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2. Ιστορική Αναδρομή: Η Γέννηση της Γεωργίας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cient_agricul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840480" cy="21435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46320" y="1645920"/>
            <a:ext cx="6583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6F40"/>
                </a:solidFill>
                <a:latin typeface="Georgia"/>
              </a:defRPr>
            </a:pPr>
            <a:r>
              <a:t>1. Συλλέκτης - Κυνηγός</a:t>
            </a:r>
          </a:p>
          <a:p>
            <a:pPr>
              <a:defRPr sz="1100">
                <a:solidFill>
                  <a:srgbClr val="1E2D24"/>
                </a:solidFill>
                <a:latin typeface="Arial"/>
              </a:defRPr>
            </a:pPr>
            <a:r>
              <a:t>Συνεχής μετακίνηση, συλλογή καρπών &amp; κυνήγι.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2514600"/>
            <a:ext cx="6583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6F40"/>
                </a:solidFill>
                <a:latin typeface="Georgia"/>
              </a:defRPr>
            </a:pPr>
            <a:r>
              <a:t>2. Η Ανακάλυψη</a:t>
            </a:r>
          </a:p>
          <a:p>
            <a:pPr>
              <a:defRPr sz="1100">
                <a:solidFill>
                  <a:srgbClr val="1E2D24"/>
                </a:solidFill>
                <a:latin typeface="Arial"/>
              </a:defRPr>
            </a:pPr>
            <a:r>
              <a:t>Παρατήρηση ότι οι σπόροι φυτρώνουν και επαναφυτεύονται.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383280"/>
            <a:ext cx="6583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6F40"/>
                </a:solidFill>
                <a:latin typeface="Georgia"/>
              </a:defRPr>
            </a:pPr>
            <a:r>
              <a:t>3. Εύφορη Ημισέληνος</a:t>
            </a:r>
          </a:p>
          <a:p>
            <a:pPr>
              <a:defRPr sz="1100">
                <a:solidFill>
                  <a:srgbClr val="1E2D24"/>
                </a:solidFill>
                <a:latin typeface="Arial"/>
              </a:defRPr>
            </a:pPr>
            <a:r>
              <a:t>12.000 - 9.800 π.Χ. | Πρώτη καλλιέργεια δημητριακών (Ζάγρος).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251960"/>
            <a:ext cx="6583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6F40"/>
                </a:solidFill>
                <a:latin typeface="Georgia"/>
              </a:defRPr>
            </a:pPr>
            <a:r>
              <a:t>4. Εργαλεία &amp; Άρδευση</a:t>
            </a:r>
          </a:p>
          <a:p>
            <a:pPr>
              <a:defRPr sz="1100">
                <a:solidFill>
                  <a:srgbClr val="1E2D24"/>
                </a:solidFill>
                <a:latin typeface="Arial"/>
              </a:defRPr>
            </a:pPr>
            <a:r>
              <a:t>4.000 - 7.000 π.Χ. | Τσάπα, λισγάρι &amp; εγκατάσταση κοντά σε ποτάμια.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5120640"/>
            <a:ext cx="65836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6F40"/>
                </a:solidFill>
                <a:latin typeface="Georgia"/>
              </a:defRPr>
            </a:pPr>
            <a:r>
              <a:t>5. Μόνιμη Εγκατάσταση</a:t>
            </a:r>
          </a:p>
          <a:p>
            <a:pPr>
              <a:defRPr sz="1100">
                <a:solidFill>
                  <a:srgbClr val="1E2D24"/>
                </a:solidFill>
                <a:latin typeface="Arial"/>
              </a:defRPr>
            </a:pPr>
            <a:r>
              <a:t>Τέλος νομαδικής ζωής &amp; δημιουργία των πρώτων χωριών.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3. Επιπτώσεις στον Τρόπο Ζωής &amp; τον Πολιτισμό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Μόνιμη Εγκατάσταση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Μετάβαση από τον νομαδισμό στη μόνιμη κατοικία.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Δημιουργία των πρώτων οργανωμένων οικισμών &amp; χωριών.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Οικονομία &amp; Εμπόριο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Παραγωγή πλεονάσματος τροφής.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Ανάπτυξη ανταλλακτικού εμπορίου &amp; εξειδίκευση εργασίας.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Κοινωνική Δομή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Καταμερισμός ρόλων στην κοινωνία.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Ανάπτυξη διοικητικών &amp; κοινωνικών θεσμών.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Πολιτισμός &amp; Επιστήμες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Ανάπτυξη τεχνολογίας, γραφής &amp; αριθμητικής.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Μελέτη εποχών, αστρονομίας &amp; ημερολογίου.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11480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4. Οι 3 Βασικοί Κλάδοι της Γεωργικής Παραγωγής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ranches_of_agricul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754880" cy="26538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60720" y="173736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1. Φυτική Παραγωγή</a:t>
            </a:r>
          </a:p>
          <a:p>
            <a:pPr>
              <a:defRPr sz="1200">
                <a:solidFill>
                  <a:srgbClr val="1E2D24"/>
                </a:solidFill>
                <a:latin typeface="Arial"/>
              </a:defRPr>
            </a:pPr>
            <a:r>
              <a:t>Καλλιέργεια φυτών για διατροφή, ζωοτροφές &amp; βιομηχανική χρήση (δημητριακά, κηπευτικά, δενδρώδεις).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320040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2. Ζωική Παραγωγή</a:t>
            </a:r>
          </a:p>
          <a:p>
            <a:pPr>
              <a:defRPr sz="1200">
                <a:solidFill>
                  <a:srgbClr val="1E2D24"/>
                </a:solidFill>
                <a:latin typeface="Arial"/>
              </a:defRPr>
            </a:pPr>
            <a:r>
              <a:t>Εκτροφή ζώων για παραγωγή γάλακτος, κρέατος, αυγών &amp; άλλων παραγώγων (κτηνοτροφία).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4663440"/>
            <a:ext cx="5669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3. Αλιεία &amp; Υδατοκαλλιέργειες</a:t>
            </a:r>
          </a:p>
          <a:p>
            <a:pPr>
              <a:defRPr sz="1200">
                <a:solidFill>
                  <a:srgbClr val="1E2D24"/>
                </a:solidFill>
                <a:latin typeface="Arial"/>
              </a:defRPr>
            </a:pPr>
            <a:r>
              <a:t>Αλιεύση και εκτροφή ψαριών &amp; θαλασσινών σε φυσικά ή τεχνητά υδάτινα περιβάλλοντα.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5. Ταξινόμηση της Φυτικής Παραγωγής (4 Κριτήρια)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1. Ως προς το Είδος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Δενδροκηπευτικές καλλιέργειες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Φυτά μεγάλης καλλιέργειας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2. Ως προς τη Χρήση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Ανθρώπινη διατροφή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Ζωοτροφές &amp; Βιομηχανία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3. Ως προς την Τεχνική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Υπαίθρια καλλιέργεια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Υπό κάλυψη (θερμοκήπιο) &amp; Υδροπονική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4. Ως προς τη Μέθοδο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Βιομηχανική, Παραδοσιακή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Μικρής κλίμακας &amp; Βιολογική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411480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24"/>
                </a:solidFill>
                <a:latin typeface="Arial"/>
              </a:defRPr>
            </a:pPr>
            <a:r>
              <a:t>Β' ΛΥΚΕΙΟΥ | ΤΡΟΦΗ, ΔΙΑΤΡΟΦΗ &amp; ΥΓΕΙΑ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D24"/>
                </a:solidFill>
                <a:latin typeface="Georgia"/>
              </a:defRPr>
            </a:pPr>
            <a:r>
              <a:t>Ανακεφαλαίωση &amp; Ερωτήματα για το Επόμενο Μάθημα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254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2E6F40"/>
                </a:solidFill>
                <a:latin typeface="Georgia"/>
              </a:defRPr>
            </a:pPr>
            <a:r>
              <a:t>Τι Μάθαμε Σήμερα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Η γεωργία ξεκίνησε πριν 12.000 χρόνια στην Εύφορη Ημισέληνο.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Άλλαξε ριζικά την κοινωνία: μόνιμη εγκατάσταση, εμπόριο, επιστήμες.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Διακρίνεται σε 3 κλάδους: Φυτική, Ζωική &amp; Αλιεία.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Η φυτική παραγωγή ταξινομείται με 4 βασικά κριτήρια.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120640" cy="508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D97724"/>
                </a:solidFill>
                <a:latin typeface="Georgia"/>
              </a:defRPr>
            </a:pPr>
            <a:r>
              <a:t>Την Επόμενη Φορά...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Θα συγκρίνουμε τις 4 μεθόδους καλλιέργειας.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Ποια μέθοδος παράγει το πιο φθηνό φαγητό;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Ποια είναι η πιο βιώσιμη για το περιβάλλον;</a:t>
            </a:r>
          </a:p>
          <a:p>
            <a:pPr>
              <a:spcAft>
                <a:spcPts val="400"/>
              </a:spcAft>
              <a:defRPr sz="1300">
                <a:solidFill>
                  <a:srgbClr val="1E2D24"/>
                </a:solidFill>
                <a:latin typeface="Arial"/>
              </a:defRPr>
            </a:pPr>
            <a:r>
              <a:t>• Πώς επηρεάζεται η υγεία μας και το μέλλον του πλανήτη;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5120640" cy="50800"/>
          </a:xfrm>
          <a:prstGeom prst="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