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7F16AF-6296-4833-A238-E5C30E8D50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04688D-67C2-4083-BAC2-504A6ED07F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AC1AC6-D4CD-42F3-ACB7-CCA469E4D4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122C342-E824-4E79-9280-B021D46CC6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0FC324-73DB-4C27-B5F0-80147C0C52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1D6E30E-C1BD-4592-8347-E7B36F031D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DCB5F49-89CC-4CF9-8C0F-0316AD8F2F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C322AB3-CB55-44CC-8FF6-9AD2A09901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EEFBE79-76A7-45BE-BE6F-C3C5D68284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1B97711-F6B2-4B47-807B-40E3FB838F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B67F36E-E934-47F6-BBC6-8F9A295C54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3AFA20-E2AA-4DB2-A148-87E55FDAAC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DF2FB6-50BD-4A80-A7BA-733C38A523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741684C-B06C-4DD1-8670-92E923CEA8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A15A16-05D7-4023-A660-13EBB9B115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998F09-045B-4BCC-9710-596EBD6E87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73EE73-8C59-48D4-918D-56D9031A97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A8CF32-46CB-4517-AE2E-B702CEC52A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9D49A5-5572-4574-83A8-92996B8BD5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769F00-1A37-4AFC-AEA3-A3E4223B4F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39E62DC-860F-4CAD-9DE4-4C6EB48A36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7B4003-D936-4378-9691-C9E9AD06FF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1872000" y="320040"/>
            <a:ext cx="5581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ΘΕΜΑ 1: ΤΡΟΦΗ, ΔΙΑΤΡΟΦΗ &amp; ΥΓΕΙΑ — ΜΑΘΗΜΑ 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822960" y="621720"/>
            <a:ext cx="768024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2f6b3a"/>
                </a:solidFill>
                <a:latin typeface="Verdana"/>
              </a:rPr>
              <a:t>Ζωική Παραγωγή: Προϊόντα, Ηθική &amp; Βιωσιμότητα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822960" y="2926080"/>
            <a:ext cx="7680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Είναι η κτηνοτροφία αναγκαιότητα για να τραφεί ο κόσμος — ή πολυτέλεια;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2"/>
          <p:cNvSpPr/>
          <p:nvPr/>
        </p:nvSpPr>
        <p:spPr>
          <a:xfrm>
            <a:off x="4082760" y="320040"/>
            <a:ext cx="1160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ΟΡΙΣΜΟΣ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Τι Είναι η Ζωική Παραγωγή;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822960" y="1327680"/>
            <a:ext cx="7680240" cy="23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Ζωική παραγωγή: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βασικός κλάδος της γεωργίας — η συστηματική εκτροφή αγροτικών ζώων για την παραγωγή ζωικών προϊόντων.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Συνδέεται με: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τη φυτική παραγωγή και την αλιεία, ως τους 3 κλάδους της γεωργικής παραγωγής (Μάθημα 1).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Σήμερα: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θα δούμε τι παράγει, από πού προήλθε, και τη συζήτηση γύρω από το κόστος και τα οφέλη της.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457200" y="3886200"/>
            <a:ext cx="8457840" cy="277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010400" y="320040"/>
            <a:ext cx="1305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ΠΡΟΪΟΝΤΑ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Ζωικά Προϊόντα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4"/>
          <p:cNvSpPr/>
          <p:nvPr/>
        </p:nvSpPr>
        <p:spPr>
          <a:xfrm>
            <a:off x="822960" y="1737360"/>
            <a:ext cx="377136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960120" y="1874520"/>
            <a:ext cx="349704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Κρέας, γάλα, αυγά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Για άμεση ανθρώπινη κατανάλωση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4732200" y="1737360"/>
            <a:ext cx="377136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4869360" y="1874520"/>
            <a:ext cx="349704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Μαλλί, δέρμα, κοπριά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Πρώτη ύλη για τη βιομηχανία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822960" y="3566160"/>
            <a:ext cx="7680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Τα προϊόντα μπορεί να προορίζονται για την ανθρώπινη διατροφή Ή ως πρώτη ύλη για τη βιομηχανική παραγωγή.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3572280" y="320040"/>
            <a:ext cx="2181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ΣΥΝΟΛΙΚΗ ΕΙΚΟΝΑ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621720"/>
            <a:ext cx="7680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Φυτική &amp; Ζωική Παραγωγή: Μια Αμφίδρομη Σχέση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1737360"/>
            <a:ext cx="76802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Η γεωργία τρέφει τα ζώα: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αποτελεί τη βασικότερη πηγή ζωοτροφών για την ανάπτυξη της κτηνοτροφίας.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Η κτηνοτροφία τρέφει το χώμα: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κοπριά αναζωογονεί και εμπλουτίζει τη γη.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Το αποτέλεσμα: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ένα ισορροπημένο κύκλωμα — απαραίτητο για μια αειφόρα, οικολογική παραγωγή.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245840" y="320040"/>
            <a:ext cx="834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ΔΟΜΗ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Κλάδοι της Ζωικής Παραγωγής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822960" y="1737360"/>
            <a:ext cx="3771360" cy="191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960120" y="1874520"/>
            <a:ext cx="349704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Κτηνοτροφία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Βοοτροφία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Αιγοπροβατοτροφία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Χοιροτροφία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Πτηνοτροφία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6"/>
          <p:cNvSpPr/>
          <p:nvPr/>
        </p:nvSpPr>
        <p:spPr>
          <a:xfrm>
            <a:off x="4732200" y="1737360"/>
            <a:ext cx="3771360" cy="191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4869360" y="1874520"/>
            <a:ext cx="3497040" cy="159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Άλλοι κλάδοι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Υδατοκαλλιέργειες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Μικρά αγροτικά ζώα (π.χ. κονικλοτροφία)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Γουνοφόρα ζώα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Σηροτροφία (μεταξοσκώληκες)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822960" y="4023360"/>
            <a:ext cx="7680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Η μελισσοκομία βρίσκεται στο μεταίχμιο μεταξύ ζωικής και φυτικής παραγωγής.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562320" y="4800600"/>
            <a:ext cx="2409120" cy="189468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3200400" y="4753080"/>
            <a:ext cx="2285640" cy="199692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3"/>
          <a:stretch/>
        </p:blipFill>
        <p:spPr>
          <a:xfrm>
            <a:off x="5715000" y="5029200"/>
            <a:ext cx="287568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149000" y="320040"/>
            <a:ext cx="1028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ΙΣΤΟΡΙΑ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822960" y="621720"/>
            <a:ext cx="7680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Εξημέρωση: Από το Άγριο στο Αγρόκτημα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822960" y="1737360"/>
            <a:ext cx="7680240" cy="425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Άγριοι πρόγονοι: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άγρια πρόβατα, άγρια άλογα, αγριοκάτσικα και αγριόχοιροι ζούσαν ελεύθερα πριν την εξημέρωση.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Χρονολόγηση: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εξημέρωση των ζώων συνέβη παράλληλα με αυτή των φυτών, στη Νεολιθική εποχή (8.000–12.000 χρόνια πριν).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Γιατί είχε σημασία: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εκτροφή ζώων &amp; η καλλιέργεια φυτών έδωσαν πολύ μεγαλύτερη ασφάλεια από το κυνήγι, το ψάρεμα και τη συλλογή καρπών.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Νέα εργαλεία: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το αλέτρι, η σέλα, ο τροχός και η επεξεργασία μαλλιού έθεσαν τις βάσεις για τη γεωργία και την κτηνοτροφία.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Επιπτώσεις: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καταμερισμός εργασίας, ανάπτυξη εμπορικών σχέσεων, και ανάπτυξη πολιτισμού, τεχνολογίας &amp; επιστήμης.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18360" y="813960"/>
            <a:ext cx="9143280" cy="512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0" y="457200"/>
            <a:ext cx="9019440" cy="524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3844080" y="320040"/>
            <a:ext cx="1637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ΠΑΡΑΓΟΝΤΕΣ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822960" y="621720"/>
            <a:ext cx="7680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Τι Καθορίζει την Ποσότητα (και την Ποιότητα)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822960" y="1737360"/>
            <a:ext cx="768024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Γενετικά: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το γενετικό δυναμικό του ζώου (π.χ. η φυλή Holstein για γάλα· η φυλή Angus για κρέας).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Περιβάλλον: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οι συνθήκες διαβίωσης του ζώου.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Οικονομία: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οι κοινωνικο-οικονομικές συνθήκες που επικρατούν στην αγορά.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4177800" y="320040"/>
            <a:ext cx="97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ΟΦΕΛΗ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Τροφή Υψηλής Βιολογικής Αξίας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822960" y="1737360"/>
            <a:ext cx="768024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Υψηλή βιολογική αξία: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το κρέας, το γάλα και τα αυγά είναι πλούσια σε πρωτεΐνες, βιταμίνες, ανόργανα άλατα &amp; ιχνοστοιχεία.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Απαραίτητα αμινοξέα: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ο ανθρώπινος οργανισμός δεν μπορεί να συνθέσει αυτά τα 8 αμινοξέα — πρέπει να προσληφθούν από την τροφή.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Ισοζύγιο αζώτου: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έλλειψη ενός και μόνο απαραίτητου αμινοξέος οδηγεί σε αρνητικό ισοζύγιο αζώτου, με σοβαρές επιπτώσεις στην υγεία.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3963960" y="320040"/>
            <a:ext cx="1398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ΟΙ ΑΡΙΘΜΟΙ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Πόσο Μακριά Φτάνει 1 kg Γάλα;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9" name="Table 4"/>
          <p:cNvGraphicFramePr/>
          <p:nvPr/>
        </p:nvGraphicFramePr>
        <p:xfrm>
          <a:off x="822960" y="1737360"/>
          <a:ext cx="7680600" cy="353556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Ανάγκη σε θρεπτικό συστατικό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Κάλυψη από 1 kg γάλακτος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Απαραίτητα αμινοξέα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Καλύπτει ή ξεπερνά το 100% των αναγκών για 6 από τα 8 απαραίτητα αμινοξέα (100–162%)· οι δύο εξαιρέσεις είναι η φαινυλαλανίνη (77%) και η μεθειονίνη, η χαμηλότερη με 36%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Ασβέστιο (Ca)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0,5 kg γάλακτος καλύπτει το ~75% των ημερήσιων αναγκών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Βιταμίνη Β12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~84% των ημερήσιων αναγκών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Βιταμίνη Β2 (Ριβοφλαβίνη)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~90% των ημερήσιων αναγκών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5"/>
          <p:cNvSpPr/>
          <p:nvPr/>
        </p:nvSpPr>
        <p:spPr>
          <a:xfrm>
            <a:off x="822960" y="5760720"/>
            <a:ext cx="7680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(Αναφορά: άνδρας 70 kg, ηλικίας 25 ετών, κανονική απασχόληση — Bogner &amp; Koegel, 1984)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3888360" y="320040"/>
            <a:ext cx="1549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Η ΑΛΛΗ ΟΨΗ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Το Κόστος της Στέρησης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822960" y="1737360"/>
            <a:ext cx="768024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Στις αναπτυσσόμενες χώρες: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ανεπαρκής κατανάλωση ζωικών προϊόντων συνδέεται με αυξημένη παιδική θνησιμότητα, καθυστέρηση της διανοητικής και σωματικής ανάπτυξης, και μειωμένη αποδοτικότητα των ενηλίκων.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Προβληματισμοί: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Είναι αποδοτική η μετατροπή πόρων σε ζωικά προϊόντα; Υπάρχει υπερβολικός τροφικός ανταγωνισμός ανθρώπου-ζώων; Είναι η ζωική παραγωγή πολυτέλεια;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685800" y="685800"/>
            <a:ext cx="617184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Αποτελεσματικότητα Ζωικής σε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σχέση με Φυτική Παραγωγή;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Ας το συζητήσουμε την επόμενη φορά!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156960" y="15480"/>
            <a:ext cx="88664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3642120" y="320040"/>
            <a:ext cx="2041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ΑΠΟΔΟΤΙΚΟΤΗΤΑ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22960" y="621720"/>
            <a:ext cx="7680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Ζωική vs Φυτική Παραγωγή: Απόδοση ανά Εισροή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0" name="Table 4"/>
          <p:cNvGraphicFramePr/>
          <p:nvPr/>
        </p:nvGraphicFramePr>
        <p:xfrm>
          <a:off x="822960" y="1737360"/>
          <a:ext cx="7680600" cy="42368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Προϊόν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Πρωτεΐνη (kg/εκτάριο/έτος)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Ενέργεια (MJ/εκτάριο/έτος)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Αραβόσιτος (φυτικό)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430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83.700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Πατάτες (φυτικό)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420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100.460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Σίτος (φυτικό)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350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58.600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Ρύζι (φυτικό)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320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87.900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Κόνικλοι (ζωικό)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7.400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Ορνίθια (ζωικό)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92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4.600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Αμνοί (ζωικό)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4.800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Βοοειδή (ζωικό)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42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7.900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" name=""/>
          <p:cNvSpPr txBox="1"/>
          <p:nvPr/>
        </p:nvSpPr>
        <p:spPr>
          <a:xfrm>
            <a:off x="1143000" y="6172200"/>
            <a:ext cx="703872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Παραγωγή πρωτεΐνης (kg) και ενέργειας (MJ) ανά έτος και εκτάριο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γης από φυτικά και ζωικά προϊόντα (από Spedding &amp; Hoaxey, 1975)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3963960" y="320040"/>
            <a:ext cx="1398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ΟΙ ΑΡΙΘΜΟΙ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822960" y="621720"/>
            <a:ext cx="7680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Πόσους Ανθρώπους Μπορεί να Τρέφει 1 Εκτάριο για 1 Χρόνο;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5" name="Table 4"/>
          <p:cNvGraphicFramePr/>
          <p:nvPr/>
        </p:nvGraphicFramePr>
        <p:xfrm>
          <a:off x="822960" y="1737360"/>
          <a:ext cx="7680600" cy="33552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Προϊόν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Από πρωτεΐνη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Από ενέργεια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Σόγια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Ρύζι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Σίτος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6,3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8,4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Αραβόσιτος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5,2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10,4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Πατάτες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9,5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10,5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Γάλα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2,5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Ορνίθειο κρέας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2,5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Χοίρειο κρέας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1,4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Βόειο κρέας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" name="TextBox 5"/>
          <p:cNvSpPr/>
          <p:nvPr/>
        </p:nvSpPr>
        <p:spPr>
          <a:xfrm>
            <a:off x="822960" y="5120640"/>
            <a:ext cx="7680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(Spedding, 1979)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156960" y="15480"/>
            <a:ext cx="88664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2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6"/>
          <p:cNvSpPr/>
          <p:nvPr/>
        </p:nvSpPr>
        <p:spPr>
          <a:xfrm>
            <a:off x="3200400" y="320040"/>
            <a:ext cx="2577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ΤΟ ΜΕΓΑΛΟ </a:t>
            </a: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ΕΡΩΤΗΜΑ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777960" y="2057400"/>
            <a:ext cx="7680240" cy="25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Τροφικός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ανταγωνισμός: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τα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ζώα καταναλώνουν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τροφές που θα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μπορούσε να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καταναλώσει άμεσα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ο άνθρωπος.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Απώλειες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μετατροπής: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100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θερμίδες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δημητριακών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γίνονται: 100%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ψωμί, αλλά μόνο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33% χοίρειο κρέας,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25% αυγά, 20%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γάλα, 10% βόειο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κρέας, 8% κρέας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πουλερικών.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"/>
          <p:cNvSpPr/>
          <p:nvPr/>
        </p:nvSpPr>
        <p:spPr>
          <a:xfrm>
            <a:off x="822960" y="621720"/>
            <a:ext cx="76802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f6b3a"/>
                </a:solidFill>
                <a:latin typeface="Verdana"/>
              </a:rPr>
              <a:t>Η Ζωική </a:t>
            </a:r>
            <a:r>
              <a:rPr b="1" lang="en-US" sz="2800" spc="-1" strike="noStrike">
                <a:solidFill>
                  <a:srgbClr val="2f6b3a"/>
                </a:solidFill>
                <a:latin typeface="Verdana"/>
              </a:rPr>
              <a:t>Παραγωγή &amp; </a:t>
            </a:r>
            <a:r>
              <a:rPr b="1" lang="en-US" sz="2800" spc="-1" strike="noStrike">
                <a:solidFill>
                  <a:srgbClr val="2f6b3a"/>
                </a:solidFill>
                <a:latin typeface="Verdana"/>
              </a:rPr>
              <a:t>το </a:t>
            </a:r>
            <a:r>
              <a:rPr b="1" lang="en-US" sz="2800" spc="-1" strike="noStrike">
                <a:solidFill>
                  <a:srgbClr val="2f6b3a"/>
                </a:solidFill>
                <a:latin typeface="Verdana"/>
              </a:rPr>
              <a:t>Παγκόσμιο </a:t>
            </a:r>
            <a:r>
              <a:rPr b="1" lang="en-US" sz="2800" spc="-1" strike="noStrike">
                <a:solidFill>
                  <a:srgbClr val="2f6b3a"/>
                </a:solidFill>
                <a:latin typeface="Verdana"/>
              </a:rPr>
              <a:t>Επισιτιστικό </a:t>
            </a:r>
            <a:r>
              <a:rPr b="1" lang="en-US" sz="2800" spc="-1" strike="noStrike">
                <a:solidFill>
                  <a:srgbClr val="2f6b3a"/>
                </a:solidFill>
                <a:latin typeface="Verdana"/>
              </a:rPr>
              <a:t>Πρόβλημα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3200400" y="320040"/>
            <a:ext cx="2577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ΤΟ ΜΕΓΑΛΟ ΕΡΩΤΗΜΑ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822960" y="1464840"/>
            <a:ext cx="7680240" cy="46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Σε μεγάλη κλίμακα: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το 2001, πάνω από 680 εκατομμύρια τόνοι δημητριακών διοχετεύτηκαν στην κτηνοτροφία παγκοσμίως· στις αναπτυγμένες χώρες το 60% της παραγωγής δημητριακών καταλήγει στα ζώα (Δανία και ΗΠΑ χρησιμοποιούν μόνο 8% και 13% για άμεση ανθρώπινη διατροφή).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Εν τω μεταξύ: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στις αναπτυσσόμενες χώρες τα διαθέσιμα δημητριακά είναι ~161 kg/κάτοικο/έτος — λιγότερο από 0,5 kg την ημέρα.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Το παράδοξο: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η παγκόσμια παραγωγή τροφίμων επαρκεί για 2.700 θερμίδες/κάτοικο/ημέρα — όμως υποσιτίζονται περίπου 850 εκατομμύρια άνθρωποι. Το πρόβλημα είναι η κατανομή, όχι η συνολική παραγωγή.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164160" y="1039680"/>
            <a:ext cx="88664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392760" y="228600"/>
            <a:ext cx="8065440" cy="623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88720" y="228600"/>
            <a:ext cx="8626680" cy="667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249840" y="228960"/>
            <a:ext cx="8780760" cy="662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3895920" y="320040"/>
            <a:ext cx="1533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Η ΣΥΖΗΤΗΣΗ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822960" y="621720"/>
            <a:ext cx="7680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Πρέπει να Συρρικνώσουμε τη Ζωική Παραγωγή;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822960" y="1737360"/>
            <a:ext cx="3771360" cy="475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960120" y="1874520"/>
            <a:ext cx="3497040" cy="26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Η περίπτωση ΥΠΕΡ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Τα φυτά αξιοποιούν τους πόρους πολύ πιο αποδοτικά (βλ. τους πίνακες).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Λιγότερη κτηνοτροφία θα μπορούσε να συμβάλει στην επίλυση του παγκόσμιου επισιτιστικού προβλήματος.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6"/>
          <p:cNvSpPr/>
          <p:nvPr/>
        </p:nvSpPr>
        <p:spPr>
          <a:xfrm>
            <a:off x="4732200" y="1737360"/>
            <a:ext cx="3771360" cy="475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4869360" y="1874520"/>
            <a:ext cx="3497040" cy="456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Η περίπτωση ΚΑΤΑ / επιπλοκές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Πάνω από το 25% της επιφάνειας της γης είναι βοσκότοποι ακατάλληλοι για καλλιέργεια.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Τα μηρυκαστικά μετατρέπουν άχρηστη βλάστηση &amp; υποπροϊόντα καλλιεργειών σε τρόφιμα υψηλής αξίας — χωρίς ανταγωνισμό με τον άνθρωπο.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Στις αναπτυσσόμενες χώρες, οι μικτές εκμεταλλεύσεις βασίζονται στα ζώα για τη γονιμότητα του εδάφους, την εργασία &amp; τις μεταφορές.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Η επέκταση της καλλιεργούμενης γης σε ακατάλληλες εκτάσεις αυξάνει τον κίνδυνο διάβρωσης &amp; χρήσης φυτοφαρμάκων.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3860280" y="320040"/>
            <a:ext cx="1605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ΠΕΡΙΒΑΛΛΟΝ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Άλλες Περιβαλλοντικές Ανησυχίες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822960" y="1737360"/>
            <a:ext cx="768024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Η υπερβόσκηση καταστρέφει τη γη.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Η εντατική εκτροφή χοίρων &amp; πουλερικών μολύνει τα επιφανειακά και υπόγεια ύδατα με κόπρο.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Μεγάλο υδατικό αποτύπωμα: ~4.000 λίτρα νερού ανά kg παραγόμενου βόειου κρέατος.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Η εντατικοποίηση μειώνει τη βιοποικιλότητα.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Ευθύνεται για περίπου το 14% όλων των ανθρωπογενών εκπομπών αερίων του θερμοκηπίου.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3341160" y="320040"/>
            <a:ext cx="2643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ΕΝΑ ΑΚΟΜΗ ΕΡΩΤΗΜΑ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822960" y="621720"/>
            <a:ext cx="7680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Θα Μπορούσαν οι Άνθρωποι να Ζήσουν Χωρίς Ζωικά Προϊόντα;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822960" y="2333520"/>
            <a:ext cx="76802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Κατ' αρχήν, ναι — η επιβίωση χωρίς ζωικά τρόφιμα είναι δυνατή, ΑΝ τα φυτικά τρόφιμα συνδυαστούν προσεκτικά για να καλύψουν όλες τις διατροφικές ανάγκες.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Αυτό απαιτεί καλή γνώση διατροφής και ένα καλά μορφωμένο πληθυσμό — όχι μια απλή αντικατάσταση.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443400" y="320040"/>
            <a:ext cx="2439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ΕΡΓΑΣΙΑ ΓΙΑ ΤΟ ΣΠΙΤΙ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822960" y="621720"/>
            <a:ext cx="76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Η Σειρά σου: Το Essay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822960" y="1737360"/>
            <a:ext cx="768024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Η εργασία: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διάλεξε μία πλευρά και γράψε ένα essay 300–400 λέξεων υπερασπιζόμενος/η τη θέση σου — είσαι υπέρ ή κατά της διατήρησης της ζωικής παραγωγής;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Βάση: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σημερινή συζήτηση στην τάξη, καθώς και δική σου έρευνα σε επιστημονικά websites.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Για σκέψη: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οικονομικά, κοινωνικά, οικολογικά/περιβαλλοντικά, και διατροφικά οφέλη ή μειονεκτήματα.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Συμβουλή: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δόμησε τα επιχειρήματά σου επιστημονικά — θέση, τεκμηρίωση, συλλογισμός.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2026-10-03T21:08:31Z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