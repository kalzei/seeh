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584E2D-0CEA-49C7-93D0-A00B52C792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207070-0B5C-42B0-BE14-E37D72DA06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4D0A1FD-6557-4E91-82E1-0618F68151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404DC6B-155A-4976-AB67-EE0C8DFBE5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B399D3D-C2CB-4D68-A72C-D3BB734D34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42F285F-FB5B-4D10-B850-FEF915DD48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E87A514-E692-4ACD-84BE-4F52CE8207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20D0BD3-4BD4-4F3C-BF1A-765A945EC2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5EFB230-2BFA-495D-9C30-E074261DB1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05BB383-A1DD-47CB-A852-40D5456E15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1B95AB61-A294-4354-AE56-343ABFB465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A15B7C1-9C41-4D09-A333-4C0A3C1053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E06846D-79CE-407C-9352-B401BDD649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1EF09D3-B4BB-415E-A8BB-B0C52599E8C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234B6AA-107D-467F-B380-CA8E40D9CE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517572E-1B83-4558-81C0-DD8BE1177D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02D56FA-1517-40E9-81C0-C55768C310E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BAA46AE-0291-4D16-A97F-31221D81D05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93CF1C2-32A1-4DD1-82AC-0CDE72891D2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3815EAB-DA50-4A49-B5EB-9135F184B37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F693041-07F5-4EB8-80E0-237779734A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55FA16B-0F6C-4EE4-939D-12B73EE7BC0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731520" y="1097280"/>
            <a:ext cx="5668200" cy="20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300" spc="-1" strike="noStrike">
                <a:solidFill>
                  <a:srgbClr val="d97724"/>
                </a:solidFill>
                <a:latin typeface="Arial"/>
              </a:rPr>
              <a:t>S6 | FOOD, NUTRITION &amp; HEALTH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b="1" lang="en-US" sz="3200" spc="-1" strike="noStrike">
                <a:solidFill>
                  <a:srgbClr val="1e2d24"/>
                </a:solidFill>
                <a:latin typeface="Georgia"/>
              </a:rPr>
              <a:t>Comparing Farming</a:t>
            </a:r>
            <a:br>
              <a:rPr sz="3200"/>
            </a:br>
            <a:r>
              <a:rPr b="1" lang="en-US" sz="3200" spc="-1" strike="noStrike">
                <a:solidFill>
                  <a:srgbClr val="1e2d24"/>
                </a:solidFill>
                <a:latin typeface="Georgia"/>
              </a:rPr>
              <a:t> Methods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c6b60"/>
                </a:solidFill>
                <a:latin typeface="Arial"/>
              </a:rPr>
              <a:t>Which method feeds the planet, and at what environmental &amp; social cost? A detailed comparison of the 4 production models.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Picture 2" descr="industrial_vs_organic_farming.png"/>
          <p:cNvPicPr/>
          <p:nvPr/>
        </p:nvPicPr>
        <p:blipFill>
          <a:blip r:embed="rId1"/>
          <a:stretch/>
        </p:blipFill>
        <p:spPr>
          <a:xfrm>
            <a:off x="6583680" y="1371600"/>
            <a:ext cx="4845240" cy="270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4854240" y="365760"/>
            <a:ext cx="2451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S6 | FOOD, NUTRITION &amp; HEALTH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731520" y="685800"/>
            <a:ext cx="10697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Industrial-Scale Plant Production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ectangle 3"/>
          <p:cNvSpPr/>
          <p:nvPr/>
        </p:nvSpPr>
        <p:spPr>
          <a:xfrm>
            <a:off x="731520" y="1417320"/>
            <a:ext cx="10697400" cy="2448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800" bIns="-198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Rectangle 4"/>
          <p:cNvSpPr/>
          <p:nvPr/>
        </p:nvSpPr>
        <p:spPr>
          <a:xfrm>
            <a:off x="731520" y="1737360"/>
            <a:ext cx="10697400" cy="4968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" name="Rounded Rectangle 5"/>
          <p:cNvSpPr/>
          <p:nvPr/>
        </p:nvSpPr>
        <p:spPr>
          <a:xfrm>
            <a:off x="731520" y="1737360"/>
            <a:ext cx="1069740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7840" rIns="177840" tIns="12708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Methods of industrial farming: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innovation in agricultural machinery and cultivation methods,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genetic technology,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creating new markets for consumption,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applying patent protection to genetic information and global trade.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These methods are widespread in developed nations and increasingly common worldwide.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Most of the meat, dairy, eggs, fruit, and vegetables sold in supermarkets are produced this way.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1"/>
          <p:cNvSpPr/>
          <p:nvPr/>
        </p:nvSpPr>
        <p:spPr>
          <a:xfrm>
            <a:off x="4854240" y="365760"/>
            <a:ext cx="2451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S6 | FOOD, NUTRITION &amp; HEALTH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731520" y="685800"/>
            <a:ext cx="10697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Industrial Agriculture: Advantages &amp; Disadvantages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tangle 3"/>
          <p:cNvSpPr/>
          <p:nvPr/>
        </p:nvSpPr>
        <p:spPr>
          <a:xfrm>
            <a:off x="731520" y="1417320"/>
            <a:ext cx="10697400" cy="2448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800" bIns="-198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" name="Rectangle 4"/>
          <p:cNvSpPr/>
          <p:nvPr/>
        </p:nvSpPr>
        <p:spPr>
          <a:xfrm>
            <a:off x="731520" y="1737360"/>
            <a:ext cx="5119560" cy="4968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Rounded Rectangle 5"/>
          <p:cNvSpPr/>
          <p:nvPr/>
        </p:nvSpPr>
        <p:spPr>
          <a:xfrm>
            <a:off x="731520" y="1737360"/>
            <a:ext cx="511956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7840" rIns="127080" tIns="12708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2e6f40"/>
                </a:solidFill>
                <a:latin typeface="Georgia"/>
              </a:rPr>
              <a:t>Advantages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1e2d24"/>
                </a:solidFill>
                <a:latin typeface="Arial"/>
              </a:rPr>
              <a:t>Cheap and abundant food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1e2d24"/>
                </a:solidFill>
                <a:latin typeface="Arial"/>
              </a:rPr>
              <a:t>Convenience for the consumer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1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100" spc="-1" strike="noStrike">
                <a:solidFill>
                  <a:srgbClr val="1e2d24"/>
                </a:solidFill>
                <a:latin typeface="Arial"/>
              </a:rPr>
              <a:t>Contributes to the economy at many levels, from growers to harvesting companies, processors to retailers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ectangle 6"/>
          <p:cNvSpPr/>
          <p:nvPr/>
        </p:nvSpPr>
        <p:spPr>
          <a:xfrm>
            <a:off x="6309360" y="1737360"/>
            <a:ext cx="5119560" cy="4968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Rounded Rectangle 7"/>
          <p:cNvSpPr/>
          <p:nvPr/>
        </p:nvSpPr>
        <p:spPr>
          <a:xfrm>
            <a:off x="6309360" y="1737360"/>
            <a:ext cx="511956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7840" rIns="127080" tIns="12708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d97724"/>
                </a:solidFill>
                <a:latin typeface="Georgia"/>
              </a:rPr>
              <a:t>Disadvantages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Environmental and social cost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Damage to fisheries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Cleaning surface and underground water contaminated with animal waste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Increased health risks from pesticides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1" lang="en-US" sz="1800" spc="-1" strike="noStrike">
                <a:solidFill>
                  <a:srgbClr val="1e2d24"/>
                </a:solidFill>
                <a:latin typeface="Arial"/>
              </a:rPr>
              <a:t>Increased ozone pollution from methane byproducts of livestock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1" lang="en-US" sz="1800" spc="-1" strike="noStrike">
                <a:solidFill>
                  <a:srgbClr val="1e2d24"/>
                </a:solidFill>
                <a:latin typeface="Arial"/>
              </a:rPr>
              <a:t>Global warming from heavy use of fossil fuels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731520" y="365760"/>
            <a:ext cx="1069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S6 | FOOD, NUTRITION &amp; HEALTH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731520" y="685800"/>
            <a:ext cx="10697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1. Industrial Agriculture: Characteristics &amp; Assessment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ectangle 3"/>
          <p:cNvSpPr/>
          <p:nvPr/>
        </p:nvSpPr>
        <p:spPr>
          <a:xfrm>
            <a:off x="731520" y="1417320"/>
            <a:ext cx="10727640" cy="2448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Rounded Rectangle 4"/>
          <p:cNvSpPr/>
          <p:nvPr/>
        </p:nvSpPr>
        <p:spPr>
          <a:xfrm>
            <a:off x="731520" y="1737360"/>
            <a:ext cx="511956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2100" spc="-1" strike="noStrike">
                <a:solidFill>
                  <a:srgbClr val="2e6f40"/>
                </a:solidFill>
                <a:latin typeface="Georgia"/>
              </a:rPr>
              <a:t>Definition &amp; Advantages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d24"/>
                </a:solidFill>
                <a:latin typeface="Arial"/>
              </a:rPr>
              <a:t>Definition: use of modern machinery, genetic technology &amp; intensive inputs.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d24"/>
                </a:solidFill>
                <a:latin typeface="Arial"/>
              </a:rPr>
              <a:t>Cheap &amp; Abundant Food: high productivity per unit of land.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600" spc="-1" strike="noStrike">
                <a:solidFill>
                  <a:srgbClr val="1e2d24"/>
                </a:solidFill>
                <a:latin typeface="Arial"/>
              </a:rPr>
              <a:t>Convenience for consumers &amp; a major boost to the economy.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ectangle 5"/>
          <p:cNvSpPr/>
          <p:nvPr/>
        </p:nvSpPr>
        <p:spPr>
          <a:xfrm>
            <a:off x="731520" y="1737360"/>
            <a:ext cx="5119560" cy="4968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ounded Rectangle 6"/>
          <p:cNvSpPr/>
          <p:nvPr/>
        </p:nvSpPr>
        <p:spPr>
          <a:xfrm>
            <a:off x="6309360" y="1737360"/>
            <a:ext cx="511956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2200" spc="-1" strike="noStrike">
                <a:solidFill>
                  <a:srgbClr val="d97724"/>
                </a:solidFill>
                <a:latin typeface="Georgia"/>
              </a:rPr>
              <a:t>Environmental &amp; Social Cost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Water Pollution: from excessive use of synthetic fertilisers &amp; pesticides.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Greenhouse Gas Emissions: high energy use &amp; carbon footprint.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Biodiversity Loss: due to monoculture &amp; soil degradation</a:t>
            </a:r>
            <a:r>
              <a:rPr b="0" lang="en-US" sz="1300" spc="-1" strike="noStrike">
                <a:solidFill>
                  <a:srgbClr val="1e2d24"/>
                </a:solidFill>
                <a:latin typeface="Arial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ectangle 7"/>
          <p:cNvSpPr/>
          <p:nvPr/>
        </p:nvSpPr>
        <p:spPr>
          <a:xfrm>
            <a:off x="6309360" y="1737360"/>
            <a:ext cx="5119560" cy="49680"/>
          </a:xfrm>
          <a:prstGeom prst="rect">
            <a:avLst/>
          </a:prstGeom>
          <a:solidFill>
            <a:srgbClr val="d977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854240" y="365760"/>
            <a:ext cx="2451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S6 | FOOD, NUTRITION &amp; HEALTH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731520" y="685800"/>
            <a:ext cx="10697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Traditional Plant Production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3"/>
          <p:cNvSpPr/>
          <p:nvPr/>
        </p:nvSpPr>
        <p:spPr>
          <a:xfrm>
            <a:off x="731520" y="1417320"/>
            <a:ext cx="10697400" cy="2448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800" bIns="-198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731520" y="1737360"/>
            <a:ext cx="10697400" cy="4968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ounded Rectangle 5"/>
          <p:cNvSpPr/>
          <p:nvPr/>
        </p:nvSpPr>
        <p:spPr>
          <a:xfrm>
            <a:off x="731520" y="1737360"/>
            <a:ext cx="1069740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7840" rIns="177840" tIns="12708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Traditional farming can be defined as the original style of food production and cultivation.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Its characteristics are: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1.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Extensive use of local or indigenous knowledge, and of spiritual and superstitious beliefs, in agricultural decision-making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2.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Heavy use of primitive or low-technology tools, such as the axe, hoe, and digging stick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3.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Use of techniques such as fire and crop rotation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4.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Fallowing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5.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Absence of accountability or responsibility toward the environment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6.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No surplus production — only enough for the farmer and their family. This is also known as subsistence farming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It remains the dominant food-production practice used by half of the world's population today.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731520" y="365760"/>
            <a:ext cx="1069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S6 | FOOD, NUTRITION &amp; HEALTH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731520" y="685800"/>
            <a:ext cx="10697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2. Traditional Agriculture: Subsistence Farming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731520" y="1417320"/>
            <a:ext cx="10727640" cy="2448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Rounded Rectangle 4"/>
          <p:cNvSpPr/>
          <p:nvPr/>
        </p:nvSpPr>
        <p:spPr>
          <a:xfrm>
            <a:off x="731520" y="1737360"/>
            <a:ext cx="511956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2200" spc="-1" strike="noStrike">
                <a:solidFill>
                  <a:srgbClr val="2e6f40"/>
                </a:solidFill>
                <a:latin typeface="Georgia"/>
              </a:rPr>
              <a:t>Characteristics &amp; Techniques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An ancient style of production based on local &amp; indigenous knowledge.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Low technology: use of basic tools (axe, hoe, digging stick).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Practices: slash-and-burn &amp; crop rotation, fallowing.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Subsistence Farming: no surplus production for trade.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731520" y="1737360"/>
            <a:ext cx="5119560" cy="4968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ounded Rectangle 6"/>
          <p:cNvSpPr/>
          <p:nvPr/>
        </p:nvSpPr>
        <p:spPr>
          <a:xfrm>
            <a:off x="6309360" y="1737360"/>
            <a:ext cx="511956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2200" spc="-1" strike="noStrike">
                <a:solidFill>
                  <a:srgbClr val="d97724"/>
                </a:solidFill>
                <a:latin typeface="Georgia"/>
              </a:rPr>
              <a:t>Its Importance Today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The Dominant Practice: the main method for 50% of the world's population.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Low environmental footprint, but very low productivity.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Requires a very high amount of human labour.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7"/>
          <p:cNvSpPr/>
          <p:nvPr/>
        </p:nvSpPr>
        <p:spPr>
          <a:xfrm>
            <a:off x="6309360" y="1737360"/>
            <a:ext cx="5119560" cy="49680"/>
          </a:xfrm>
          <a:prstGeom prst="rect">
            <a:avLst/>
          </a:prstGeom>
          <a:solidFill>
            <a:srgbClr val="d977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4854240" y="365760"/>
            <a:ext cx="2451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S6 | FOOD, NUTRITION &amp; HEALTH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731520" y="685800"/>
            <a:ext cx="10697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Small-Scale Plant Production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3"/>
          <p:cNvSpPr/>
          <p:nvPr/>
        </p:nvSpPr>
        <p:spPr>
          <a:xfrm>
            <a:off x="731520" y="1417320"/>
            <a:ext cx="10697400" cy="2448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800" bIns="-198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Rectangle 4"/>
          <p:cNvSpPr/>
          <p:nvPr/>
        </p:nvSpPr>
        <p:spPr>
          <a:xfrm>
            <a:off x="731520" y="1737360"/>
            <a:ext cx="10697400" cy="4968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Rounded Rectangle 5"/>
          <p:cNvSpPr/>
          <p:nvPr/>
        </p:nvSpPr>
        <p:spPr>
          <a:xfrm>
            <a:off x="731520" y="1737360"/>
            <a:ext cx="1069740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7840" rIns="177840" tIns="12708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Uses less machinery and more human labour.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Typically uses more sustainable methods to maintain soil productivity and control pests: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1.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Polyculture,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2.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Reduced tillage,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3.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Crop rotation,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4.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Nutrient recycling (e.g. composting, …),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5.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Biological pest control, and/or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6.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Encouraging biodiversity, and reduced use of pesticides and fertilisers,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7.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Mechanical cultivation and other techniques (e.g. mulching with dead leaves, …)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Small-scale growers usually sell their products through small local markets.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They often trade directly with consumers.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4854240" y="365760"/>
            <a:ext cx="2451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S6 | FOOD, NUTRITION &amp; HEALTH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731520" y="685800"/>
            <a:ext cx="10697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Small-Scale Farming: Advantages &amp; Disadvantages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3"/>
          <p:cNvSpPr/>
          <p:nvPr/>
        </p:nvSpPr>
        <p:spPr>
          <a:xfrm>
            <a:off x="731520" y="1417320"/>
            <a:ext cx="10697400" cy="2448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800" bIns="-198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ectangle 4"/>
          <p:cNvSpPr/>
          <p:nvPr/>
        </p:nvSpPr>
        <p:spPr>
          <a:xfrm>
            <a:off x="731520" y="1737360"/>
            <a:ext cx="5119560" cy="4968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ounded Rectangle 5"/>
          <p:cNvSpPr/>
          <p:nvPr/>
        </p:nvSpPr>
        <p:spPr>
          <a:xfrm>
            <a:off x="731520" y="1737360"/>
            <a:ext cx="511956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7840" rIns="127080" tIns="12708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2e6f40"/>
                </a:solidFill>
                <a:latin typeface="Georgia"/>
              </a:rPr>
              <a:t>Advantages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1" lang="en-US" sz="1800" spc="-1" strike="noStrike">
                <a:solidFill>
                  <a:srgbClr val="1e2d24"/>
                </a:solidFill>
                <a:latin typeface="Arial"/>
              </a:rPr>
              <a:t>Reduced emissions from transport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Food quality (fresher produce, less need for processing)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Gastronomy (heirloom varieties)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Polyculture and sustainable farming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Boosts local economies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Reduced energy consumption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6"/>
          <p:cNvSpPr/>
          <p:nvPr/>
        </p:nvSpPr>
        <p:spPr>
          <a:xfrm>
            <a:off x="6309360" y="1737360"/>
            <a:ext cx="5119560" cy="4968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Rounded Rectangle 7"/>
          <p:cNvSpPr/>
          <p:nvPr/>
        </p:nvSpPr>
        <p:spPr>
          <a:xfrm>
            <a:off x="6309360" y="1737360"/>
            <a:ext cx="511956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7840" rIns="127080" tIns="12708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d97724"/>
                </a:solidFill>
                <a:latin typeface="Georgia"/>
              </a:rPr>
              <a:t>Disadvantages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Increased cost for the consumer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Impact on countries that rely economically on food exports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4854240" y="365760"/>
            <a:ext cx="2451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S6 | FOOD, NUTRITION &amp; HEALTH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731520" y="685800"/>
            <a:ext cx="10697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Organic Plant Production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3"/>
          <p:cNvSpPr/>
          <p:nvPr/>
        </p:nvSpPr>
        <p:spPr>
          <a:xfrm>
            <a:off x="731520" y="1417320"/>
            <a:ext cx="10697400" cy="2448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800" bIns="-198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ectangle 4"/>
          <p:cNvSpPr/>
          <p:nvPr/>
        </p:nvSpPr>
        <p:spPr>
          <a:xfrm>
            <a:off x="731520" y="1737360"/>
            <a:ext cx="10697400" cy="4968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ounded Rectangle 5"/>
          <p:cNvSpPr/>
          <p:nvPr/>
        </p:nvSpPr>
        <p:spPr>
          <a:xfrm>
            <a:off x="731520" y="1737360"/>
            <a:ext cx="1069740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77840" rIns="177840" tIns="12708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Minimises or completely avoids the use of synthetic fertilisers and herbicides, plant growth regulators, hormones, and feed additives.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•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Organic growers rely on: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1.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Crop rotation (alternating crops for harvest),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2.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Crop residues,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3.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Fallowing,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4.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Animal manure, and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2e6f40"/>
                </a:solidFill>
                <a:latin typeface="Arial"/>
              </a:rPr>
              <a:t>5. </a:t>
            </a: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Mechanical cultivation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000" spc="-1" strike="noStrike">
                <a:solidFill>
                  <a:srgbClr val="1e2d24"/>
                </a:solidFill>
                <a:latin typeface="Arial"/>
              </a:rPr>
              <a:t>to maintain soil productivity, enrich it with nutrients for plants, and control weeds, insects, and pests.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731520" y="365760"/>
            <a:ext cx="1069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S6 | FOOD, NUTRITION &amp; HEALTH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731520" y="685800"/>
            <a:ext cx="10697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3. Small-Scale &amp; 4. Organic Farming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 3"/>
          <p:cNvSpPr/>
          <p:nvPr/>
        </p:nvSpPr>
        <p:spPr>
          <a:xfrm>
            <a:off x="731520" y="1417320"/>
            <a:ext cx="10727640" cy="2448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ounded Rectangle 4"/>
          <p:cNvSpPr/>
          <p:nvPr/>
        </p:nvSpPr>
        <p:spPr>
          <a:xfrm>
            <a:off x="731520" y="1737360"/>
            <a:ext cx="511956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2200" spc="-1" strike="noStrike">
                <a:solidFill>
                  <a:srgbClr val="2e6f40"/>
                </a:solidFill>
                <a:latin typeface="Georgia"/>
              </a:rPr>
              <a:t>Small-Scale Farming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Less machinery, more human labour.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Practices: polyculture, crop rotation, composting.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Advantages: fewer emissions, fresher food, boosts the local economy.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Disadvantage: higher cost for the consumer.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 5"/>
          <p:cNvSpPr/>
          <p:nvPr/>
        </p:nvSpPr>
        <p:spPr>
          <a:xfrm>
            <a:off x="731520" y="1737360"/>
            <a:ext cx="5119560" cy="4968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Rounded Rectangle 6"/>
          <p:cNvSpPr/>
          <p:nvPr/>
        </p:nvSpPr>
        <p:spPr>
          <a:xfrm>
            <a:off x="6309360" y="1737360"/>
            <a:ext cx="511956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2200" spc="-1" strike="noStrike">
                <a:solidFill>
                  <a:srgbClr val="d97724"/>
                </a:solidFill>
                <a:latin typeface="Georgia"/>
              </a:rPr>
              <a:t>Organic Farming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Completely avoids synthetic fertilisers, herbicides &amp; hormones.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Practices: animal manure, crop residues, fallowing.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Protects the soil, human health &amp; the ecosystem.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 7"/>
          <p:cNvSpPr/>
          <p:nvPr/>
        </p:nvSpPr>
        <p:spPr>
          <a:xfrm>
            <a:off x="6309360" y="1737360"/>
            <a:ext cx="5119560" cy="49680"/>
          </a:xfrm>
          <a:prstGeom prst="rect">
            <a:avLst/>
          </a:prstGeom>
          <a:solidFill>
            <a:srgbClr val="d977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731520" y="365760"/>
            <a:ext cx="1069740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d97724"/>
                </a:solidFill>
                <a:latin typeface="Arial"/>
              </a:rPr>
              <a:t>S6 | FOOD, NUTRITION &amp; HEALTH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731520" y="685800"/>
            <a:ext cx="1069740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e2d24"/>
                </a:solidFill>
                <a:latin typeface="Georgia"/>
              </a:rPr>
              <a:t>4. Comparison Table of the 4 Methods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3"/>
          <p:cNvSpPr/>
          <p:nvPr/>
        </p:nvSpPr>
        <p:spPr>
          <a:xfrm>
            <a:off x="731520" y="1417320"/>
            <a:ext cx="10727640" cy="2448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/>
            <a:endParaRPr b="0" lang="en-US" sz="21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10" name="Table 5"/>
          <p:cNvGraphicFramePr/>
          <p:nvPr/>
        </p:nvGraphicFramePr>
        <p:xfrm>
          <a:off x="457200" y="1737360"/>
          <a:ext cx="10971360" cy="4892040"/>
        </p:xfrm>
        <a:graphic>
          <a:graphicData uri="http://schemas.openxmlformats.org/drawingml/2006/table">
            <a:tbl>
              <a:tblPr/>
              <a:tblGrid>
                <a:gridCol w="2194200"/>
                <a:gridCol w="2194200"/>
                <a:gridCol w="2194200"/>
                <a:gridCol w="2194200"/>
                <a:gridCol w="2194920"/>
              </a:tblGrid>
              <a:tr h="977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Industrial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Traditional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Small-Scale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4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Organic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6f40"/>
                    </a:solidFill>
                  </a:tcPr>
                </a:tc>
              </a:tr>
              <a:tr h="977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Consumer Cost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Low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Varies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High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High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7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Environmental Footprint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High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Low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Low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Low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  <a:tr h="977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Productivity/Land Area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Very High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Low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Moderate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Moderate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1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Human Labour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Low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Very High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High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e2d24"/>
                          </a:solidFill>
                          <a:latin typeface="Arial"/>
                        </a:rPr>
                        <a:t>High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/>
          <p:nvPr/>
        </p:nvSpPr>
        <p:spPr>
          <a:xfrm>
            <a:off x="731520" y="365760"/>
            <a:ext cx="10697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d97724"/>
                </a:solidFill>
                <a:latin typeface="Arial"/>
              </a:rPr>
              <a:t>S6 | FOOD, NUTRITION &amp; HEALTH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731520" y="685800"/>
            <a:ext cx="10697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e2d24"/>
                </a:solidFill>
                <a:latin typeface="Georgia"/>
              </a:rPr>
              <a:t>5. Exam Practice (B-Test / Extended Question)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3"/>
          <p:cNvSpPr/>
          <p:nvPr/>
        </p:nvSpPr>
        <p:spPr>
          <a:xfrm>
            <a:off x="731520" y="1417320"/>
            <a:ext cx="10727640" cy="24480"/>
          </a:xfrm>
          <a:prstGeom prst="rect">
            <a:avLst/>
          </a:prstGeom>
          <a:solidFill>
            <a:srgbClr val="2e6f4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731520" y="1737360"/>
            <a:ext cx="10697400" cy="4388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3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ctr">
            <a:no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2200" spc="-1" strike="noStrike">
                <a:solidFill>
                  <a:srgbClr val="d97724"/>
                </a:solidFill>
                <a:latin typeface="Georgia"/>
              </a:rPr>
              <a:t>Exam Question (12 Marks)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“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Compare industrial-scale agricultural production with small-scale agricultural production in terms of cost, productivity, and environmental impact.”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Guidelines for Writing Your Answer: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1. Definition: briefly state the definition of each method (technology vs. human labour).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2. Comparative Data: analyse consumer cost (low vs. high) and productivity per unit of land.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3. Environmental Impact: contrast the pollution/greenhouse gases of industrial farming with the biodiversity/crop rotation of small-scale farming.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• </a:t>
            </a:r>
            <a:r>
              <a:rPr b="0" lang="en-US" sz="1800" spc="-1" strike="noStrike">
                <a:solidFill>
                  <a:srgbClr val="1e2d24"/>
                </a:solidFill>
                <a:latin typeface="Arial"/>
              </a:rPr>
              <a:t>4. Conclusion: emphasise the importance of sustainability for the future.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5"/>
          <p:cNvSpPr/>
          <p:nvPr/>
        </p:nvSpPr>
        <p:spPr>
          <a:xfrm>
            <a:off x="731520" y="1737360"/>
            <a:ext cx="10697400" cy="49680"/>
          </a:xfrm>
          <a:prstGeom prst="rect">
            <a:avLst/>
          </a:prstGeom>
          <a:solidFill>
            <a:srgbClr val="d9772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2026-10-03T20:44:28Z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