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1527137-0618-49C3-81DE-1BBAACF1E9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74A2112-D9AD-43EE-B378-35F5D268E4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69AFEF2-3C79-4351-A414-9C4167EB58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E7918F0-4B1B-4CEE-8BAE-3422244D49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EA6C032-CA7A-4735-9E9C-43F2A1A6C3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58DD9286-56E7-4804-987A-5C32957729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823F49AB-A590-4FDC-8AF1-385726E70A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B53CBC14-3A72-4790-B4CB-94A5178C46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C117D601-022F-4571-B647-B48AD88145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1255E1DA-F1DC-4D79-A5AE-B1531CBEC4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3BBADD9B-D1E4-4199-BF9D-124502B1D9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DE705C1-CC1F-4AB6-B5B3-A9A4077A6F5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A198FE7-42ED-4326-A595-911E277A2B2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2246F4C-24E9-481A-873D-B63821E233A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9CDA515-0A5E-4394-AF2C-ACB78FC85F0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58E289B-7133-412B-AA4C-C9136F7EDF2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B9477DD-5C16-449B-BDE3-7823151D13F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53F93F2-1CA8-4372-B5A4-274A6A63926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72E97A5-D83A-4C64-80D6-FF9315E8682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9C8842A-173D-440E-B0B8-104283937C3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A5B2EC1-52BB-4E51-8CE9-DB2FCE505F6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51E31FD-B92A-41A7-A01D-62AA9D2F007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1"/>
          <p:cNvSpPr/>
          <p:nvPr/>
        </p:nvSpPr>
        <p:spPr>
          <a:xfrm>
            <a:off x="731520" y="1097280"/>
            <a:ext cx="5668560" cy="37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300" spc="-1" strike="noStrike">
                <a:solidFill>
                  <a:srgbClr val="d97724"/>
                </a:solidFill>
                <a:latin typeface="Arial"/>
              </a:rPr>
              <a:t>Β' ΛΥΚΕΙΟΥ | ΤΡΟΦΗ, ΔΙΑΤΡΟΦΗ &amp; ΥΓΕΙΑ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b="1" lang="en-US" sz="3200" spc="-1" strike="noStrike">
                <a:solidFill>
                  <a:srgbClr val="1e2d24"/>
                </a:solidFill>
                <a:latin typeface="Georgia"/>
              </a:rPr>
              <a:t>Σύγκριση Μεθόδων</a:t>
            </a:r>
            <a:br>
              <a:rPr sz="3200"/>
            </a:br>
            <a:r>
              <a:rPr b="1" lang="en-US" sz="3200" spc="-1" strike="noStrike">
                <a:solidFill>
                  <a:srgbClr val="1e2d24"/>
                </a:solidFill>
                <a:latin typeface="Georgia"/>
              </a:rPr>
              <a:t>Καλλιέργειας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5c6b60"/>
                </a:solidFill>
                <a:latin typeface="Arial"/>
              </a:rPr>
              <a:t>Ποια μέθοδος τρέφει τον πλανήτη και με τι περιβαλλοντικό &amp; κοινωνικό κόστος; Αναλυτική σύγκριση των 4 μοντέλων παραγωγής.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" name="Picture 2" descr="industrial_vs_organic_farming.png"/>
          <p:cNvPicPr/>
          <p:nvPr/>
        </p:nvPicPr>
        <p:blipFill>
          <a:blip r:embed="rId1"/>
          <a:stretch/>
        </p:blipFill>
        <p:spPr>
          <a:xfrm>
            <a:off x="6583680" y="1371600"/>
            <a:ext cx="4845600" cy="270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1634760" y="457200"/>
            <a:ext cx="7508880" cy="6112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1863360" y="0"/>
            <a:ext cx="8423280" cy="685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1"/>
          <p:cNvSpPr/>
          <p:nvPr/>
        </p:nvSpPr>
        <p:spPr>
          <a:xfrm>
            <a:off x="731520" y="365760"/>
            <a:ext cx="10697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d97724"/>
                </a:solidFill>
                <a:latin typeface="Arial"/>
              </a:rPr>
              <a:t>Β' ΛΥΚΕΙΟΥ | ΤΡΟΦΗ, ΔΙΑΤΡΟΦΗ &amp; ΥΓΕΙΑ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2"/>
          <p:cNvSpPr/>
          <p:nvPr/>
        </p:nvSpPr>
        <p:spPr>
          <a:xfrm>
            <a:off x="731520" y="685800"/>
            <a:ext cx="10697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1e2d24"/>
                </a:solidFill>
                <a:latin typeface="Georgia"/>
              </a:rPr>
              <a:t>1. Βιομηχανική Γεωργία: Χαρακτηριστικά &amp; Αποτίμηση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Rectangle 3"/>
          <p:cNvSpPr/>
          <p:nvPr/>
        </p:nvSpPr>
        <p:spPr>
          <a:xfrm>
            <a:off x="731520" y="1417320"/>
            <a:ext cx="10728000" cy="24840"/>
          </a:xfrm>
          <a:prstGeom prst="rect">
            <a:avLst/>
          </a:prstGeom>
          <a:solidFill>
            <a:srgbClr val="2e6f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" name="Rounded Rectangle 4"/>
          <p:cNvSpPr/>
          <p:nvPr/>
        </p:nvSpPr>
        <p:spPr>
          <a:xfrm>
            <a:off x="731520" y="1737360"/>
            <a:ext cx="5119920" cy="438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3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18288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rgbClr val="2e6f40"/>
                </a:solidFill>
                <a:latin typeface="Georgia"/>
              </a:rPr>
              <a:t>Ορισμός &amp; Πλεονεκτήματα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Ορισμός: Χρήση σύγχρονων μηχανημάτων, γενετικής τεχνολογίας &amp; εντατικών εισροών.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Φτηνό &amp; Άφθονο Φαγητό: Υψηλή παραγωγικότητα ανά στρέμμα.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Ευκολία για τον καταναλωτή &amp; σημαντική ώθηση στην οικονομία.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Rectangle 5"/>
          <p:cNvSpPr/>
          <p:nvPr/>
        </p:nvSpPr>
        <p:spPr>
          <a:xfrm>
            <a:off x="731520" y="1737360"/>
            <a:ext cx="5119920" cy="50040"/>
          </a:xfrm>
          <a:prstGeom prst="rect">
            <a:avLst/>
          </a:prstGeom>
          <a:solidFill>
            <a:srgbClr val="2e6f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" name="Rounded Rectangle 6"/>
          <p:cNvSpPr/>
          <p:nvPr/>
        </p:nvSpPr>
        <p:spPr>
          <a:xfrm>
            <a:off x="6309360" y="1737360"/>
            <a:ext cx="5119920" cy="438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3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18288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rgbClr val="d97724"/>
                </a:solidFill>
                <a:latin typeface="Georgia"/>
              </a:rPr>
              <a:t>Περιβαλλοντικό &amp; Κοινωνικό Κόστος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Ρύπανση Υδάτων: Από αλόγιστη χρήση συνθετικών λιπασμάτων &amp; φυτοφαρμάκων.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Εκπομπές Θερμοκηπίου: Υψηλό ενεργειακό &amp; ανθρακικό αποτύπωμα.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Μείωση Βιοποικιλότητας: Λόγω μονοκαλλιέργειας &amp; υποβάθμισης εδαφών.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Rectangle 7"/>
          <p:cNvSpPr/>
          <p:nvPr/>
        </p:nvSpPr>
        <p:spPr>
          <a:xfrm>
            <a:off x="6309360" y="1737360"/>
            <a:ext cx="5119920" cy="50040"/>
          </a:xfrm>
          <a:prstGeom prst="rect">
            <a:avLst/>
          </a:prstGeom>
          <a:solidFill>
            <a:srgbClr val="d977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" descr=""/>
          <p:cNvPicPr/>
          <p:nvPr/>
        </p:nvPicPr>
        <p:blipFill>
          <a:blip r:embed="rId1"/>
          <a:stretch/>
        </p:blipFill>
        <p:spPr>
          <a:xfrm>
            <a:off x="2057400" y="228600"/>
            <a:ext cx="8146080" cy="6400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1"/>
          <p:cNvSpPr/>
          <p:nvPr/>
        </p:nvSpPr>
        <p:spPr>
          <a:xfrm>
            <a:off x="731520" y="365760"/>
            <a:ext cx="10697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d97724"/>
                </a:solidFill>
                <a:latin typeface="Arial"/>
              </a:rPr>
              <a:t>Β' ΛΥΚΕΙΟΥ | ΤΡΟΦΗ, ΔΙΑΤΡΟΦΗ &amp; ΥΓΕΙΑ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2"/>
          <p:cNvSpPr/>
          <p:nvPr/>
        </p:nvSpPr>
        <p:spPr>
          <a:xfrm>
            <a:off x="731520" y="685800"/>
            <a:ext cx="10697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1e2d24"/>
                </a:solidFill>
                <a:latin typeface="Georgia"/>
              </a:rPr>
              <a:t>2. Παραδοσιακή Γεωργία: Η Γεωργία Επιβίωσης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Rectangle 3"/>
          <p:cNvSpPr/>
          <p:nvPr/>
        </p:nvSpPr>
        <p:spPr>
          <a:xfrm>
            <a:off x="731520" y="1417320"/>
            <a:ext cx="10728000" cy="24840"/>
          </a:xfrm>
          <a:prstGeom prst="rect">
            <a:avLst/>
          </a:prstGeom>
          <a:solidFill>
            <a:srgbClr val="2e6f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Rounded Rectangle 4"/>
          <p:cNvSpPr/>
          <p:nvPr/>
        </p:nvSpPr>
        <p:spPr>
          <a:xfrm>
            <a:off x="731520" y="1737360"/>
            <a:ext cx="5119920" cy="438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3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18288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rgbClr val="2e6f40"/>
                </a:solidFill>
                <a:latin typeface="Georgia"/>
              </a:rPr>
              <a:t>Χαρακτηριστικά &amp; Τεχνικές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Αρχέγονο στυλ παραγωγής βασισμένο σε τοπική &amp; γηγενή γνώση.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Χαμηλή τεχνολογία: Χρήση βασικών εργαλείων (τσεκούρι, σκαπάνη, ραβδί).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Πρακτικές: Φωτιά &amp; εναλλαγή καλλιεργειών, αγρανάπαυση.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Γεωργία Επιβίωσης: Καμία πλεονάζουσα παραγωγή για εμπόριο.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Rectangle 5"/>
          <p:cNvSpPr/>
          <p:nvPr/>
        </p:nvSpPr>
        <p:spPr>
          <a:xfrm>
            <a:off x="731520" y="1737360"/>
            <a:ext cx="5119920" cy="50040"/>
          </a:xfrm>
          <a:prstGeom prst="rect">
            <a:avLst/>
          </a:prstGeom>
          <a:solidFill>
            <a:srgbClr val="2e6f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" name="Rounded Rectangle 6"/>
          <p:cNvSpPr/>
          <p:nvPr/>
        </p:nvSpPr>
        <p:spPr>
          <a:xfrm>
            <a:off x="6309360" y="1737360"/>
            <a:ext cx="5119920" cy="438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3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18288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rgbClr val="d97724"/>
                </a:solidFill>
                <a:latin typeface="Georgia"/>
              </a:rPr>
              <a:t>Η Σημασία της Σήμερα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Κυρίαρχη Πρακτική: Αποτελεί την κύρια μέθοδο για το 50% του παγκόσμιου πληθυσμού.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Χαμηλό περιβαλλοντικό αποτύπωμα αλλά πολύ χαμηλή παραγωγικότητα.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Απαιτεί πολύ υψηλή ανθρώπινη εργασία.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Rectangle 7"/>
          <p:cNvSpPr/>
          <p:nvPr/>
        </p:nvSpPr>
        <p:spPr>
          <a:xfrm>
            <a:off x="6309360" y="1737360"/>
            <a:ext cx="5119920" cy="50040"/>
          </a:xfrm>
          <a:prstGeom prst="rect">
            <a:avLst/>
          </a:prstGeom>
          <a:solidFill>
            <a:srgbClr val="d977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" descr=""/>
          <p:cNvPicPr/>
          <p:nvPr/>
        </p:nvPicPr>
        <p:blipFill>
          <a:blip r:embed="rId1"/>
          <a:stretch/>
        </p:blipFill>
        <p:spPr>
          <a:xfrm>
            <a:off x="2057400" y="282960"/>
            <a:ext cx="8146080" cy="6346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2286000" y="360"/>
            <a:ext cx="8000640" cy="6734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2167920" y="457200"/>
            <a:ext cx="7922880" cy="5943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731520" y="365760"/>
            <a:ext cx="10697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d97724"/>
                </a:solidFill>
                <a:latin typeface="Arial"/>
              </a:rPr>
              <a:t>Β' ΛΥΚΕΙΟΥ | ΤΡΟΦΗ, ΔΙΑΤΡΟΦΗ &amp; ΥΓΕΙΑ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731520" y="685800"/>
            <a:ext cx="10697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1e2d24"/>
                </a:solidFill>
                <a:latin typeface="Georgia"/>
              </a:rPr>
              <a:t>3. Μικρής Κλίμακας &amp; 4. Βιολογική Γεωργία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Rectangle 3"/>
          <p:cNvSpPr/>
          <p:nvPr/>
        </p:nvSpPr>
        <p:spPr>
          <a:xfrm>
            <a:off x="731520" y="1417320"/>
            <a:ext cx="10728000" cy="24840"/>
          </a:xfrm>
          <a:prstGeom prst="rect">
            <a:avLst/>
          </a:prstGeom>
          <a:solidFill>
            <a:srgbClr val="2e6f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Rounded Rectangle 4"/>
          <p:cNvSpPr/>
          <p:nvPr/>
        </p:nvSpPr>
        <p:spPr>
          <a:xfrm>
            <a:off x="731520" y="1737360"/>
            <a:ext cx="5119920" cy="438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3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18288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rgbClr val="2e6f40"/>
                </a:solidFill>
                <a:latin typeface="Georgia"/>
              </a:rPr>
              <a:t>Μικρής Κλίμακας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Λιγότερα μηχανήματα, περισσότερη ανθρώπινη εργασία.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Πρακτικές: Πολυκαλλιέργεια, αμειψισπορά, κομποστοποίηση.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Πλεονεκτήματα: Λιγότερες εκπομπές, φρέσκο φαγητό, τόνωση τοπικής οικονομίας.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Μειονέκτημα: Υψηλότερο κόστος για τον καταναλωτή.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Rectangle 5"/>
          <p:cNvSpPr/>
          <p:nvPr/>
        </p:nvSpPr>
        <p:spPr>
          <a:xfrm>
            <a:off x="731520" y="1737360"/>
            <a:ext cx="5119920" cy="50040"/>
          </a:xfrm>
          <a:prstGeom prst="rect">
            <a:avLst/>
          </a:prstGeom>
          <a:solidFill>
            <a:srgbClr val="2e6f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Rounded Rectangle 6"/>
          <p:cNvSpPr/>
          <p:nvPr/>
        </p:nvSpPr>
        <p:spPr>
          <a:xfrm>
            <a:off x="6309360" y="1737360"/>
            <a:ext cx="5119920" cy="438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3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18288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rgbClr val="d97724"/>
                </a:solidFill>
                <a:latin typeface="Georgia"/>
              </a:rPr>
              <a:t>Βιολογική Γεωργία (Organic)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Αποφεύγει πλήρως συνθετικά λιπάσματα, ζιζανιοκτόνα &amp; ορμόνες.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Πρακτικές: Ζωικά λιπάσματα, υπολείμματα συγκομιδών, αγρανάπαυση.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Προστασία του εδάφους, της υγείας &amp; του οικοσυστήματος.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ectangle 7"/>
          <p:cNvSpPr/>
          <p:nvPr/>
        </p:nvSpPr>
        <p:spPr>
          <a:xfrm>
            <a:off x="6309360" y="1737360"/>
            <a:ext cx="5119920" cy="50040"/>
          </a:xfrm>
          <a:prstGeom prst="rect">
            <a:avLst/>
          </a:prstGeom>
          <a:solidFill>
            <a:srgbClr val="d977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731520" y="365760"/>
            <a:ext cx="10697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d97724"/>
                </a:solidFill>
                <a:latin typeface="Arial"/>
              </a:rPr>
              <a:t>Β' ΛΥΚΕΙΟΥ | ΤΡΟΦΗ, ΔΙΑΤΡΟΦΗ &amp; ΥΓΕΙΑ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731520" y="685800"/>
            <a:ext cx="10697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1e2d24"/>
                </a:solidFill>
                <a:latin typeface="Georgia"/>
              </a:rPr>
              <a:t>4. Συγκριτικός Πίνακας των 4 Μεθόδων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angle 3"/>
          <p:cNvSpPr/>
          <p:nvPr/>
        </p:nvSpPr>
        <p:spPr>
          <a:xfrm>
            <a:off x="731520" y="1417320"/>
            <a:ext cx="10728000" cy="24840"/>
          </a:xfrm>
          <a:prstGeom prst="rect">
            <a:avLst/>
          </a:prstGeom>
          <a:solidFill>
            <a:srgbClr val="2e6f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2" name="Picture 4" descr="industrial_vs_organic_farming.png"/>
          <p:cNvPicPr/>
          <p:nvPr/>
        </p:nvPicPr>
        <p:blipFill>
          <a:blip r:embed="rId1"/>
          <a:stretch/>
        </p:blipFill>
        <p:spPr>
          <a:xfrm>
            <a:off x="731520" y="1737360"/>
            <a:ext cx="3839760" cy="214272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83" name="Table 5"/>
          <p:cNvGraphicFramePr/>
          <p:nvPr/>
        </p:nvGraphicFramePr>
        <p:xfrm>
          <a:off x="4754880" y="1737360"/>
          <a:ext cx="6674040" cy="4388400"/>
        </p:xfrm>
        <a:graphic>
          <a:graphicData uri="http://schemas.openxmlformats.org/drawingml/2006/table">
            <a:tbl>
              <a:tblPr/>
              <a:tblGrid>
                <a:gridCol w="1334880"/>
                <a:gridCol w="1334880"/>
                <a:gridCol w="1334880"/>
                <a:gridCol w="1334880"/>
                <a:gridCol w="1334880"/>
              </a:tblGrid>
              <a:tr h="877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Κριτήριο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6f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Βιομηχανική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6f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Παραδοσιακή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6f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Μικρής Κλίμακας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6f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Βιολογική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6f40"/>
                    </a:solidFill>
                  </a:tcPr>
                </a:tc>
              </a:tr>
              <a:tr h="877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Κόστος Καταναλωτή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Χαμηλό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Ποικίλλει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Υψηλό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Υψηλό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7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Περιβαλλοντικό Αποτύπωμα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Υψηλό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Χαμηλό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Χαμηλό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Χαμηλό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</a:tr>
              <a:tr h="877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Παραγωγικότητα/Έκταση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Πολύ Υψηλή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Χαμηλή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Μέτρια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Μέτρια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7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Ανθρώπινη Εργασία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Χαμηλή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Πολύ Υψηλή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Υψηλή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Υψηλή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731520" y="365760"/>
            <a:ext cx="10697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d97724"/>
                </a:solidFill>
                <a:latin typeface="Arial"/>
              </a:rPr>
              <a:t>Β' ΛΥΚΕΙΟΥ | ΤΡΟΦΗ, ΔΙΑΤΡΟΦΗ &amp; ΥΓΕΙΑ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731520" y="685800"/>
            <a:ext cx="10697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1e2d24"/>
                </a:solidFill>
                <a:latin typeface="Georgia"/>
              </a:rPr>
              <a:t>5. Εξάσκηση Εξετάσεων (B-Test / Θέμα Β)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ectangle 3"/>
          <p:cNvSpPr/>
          <p:nvPr/>
        </p:nvSpPr>
        <p:spPr>
          <a:xfrm>
            <a:off x="731520" y="1417320"/>
            <a:ext cx="10728000" cy="24840"/>
          </a:xfrm>
          <a:prstGeom prst="rect">
            <a:avLst/>
          </a:prstGeom>
          <a:solidFill>
            <a:srgbClr val="2e6f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Rounded Rectangle 4"/>
          <p:cNvSpPr/>
          <p:nvPr/>
        </p:nvSpPr>
        <p:spPr>
          <a:xfrm>
            <a:off x="761760" y="1417320"/>
            <a:ext cx="10697760" cy="438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3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18288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rgbClr val="d97724"/>
                </a:solidFill>
                <a:latin typeface="Georgia"/>
              </a:rPr>
              <a:t>Θέμα Εξέτασης (12 Μονάδες)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•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«Να συγκρίνετε τη γεωργική παραγωγή βιομηχανικής κλίμακας με τη γεωργική παραγωγή μικρής κλίμακας ως προς το κόστος, την παραγωγικότητα και τις περιβαλλοντικές επιπτώσεις.»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Οδηγίες Σύνταξης Απάντησης: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1. Ορισμός: Αναφέρετε εντοπίως τον ορισμό της κάθε μεθόδου (τεχνολογία vs ανθρώπινη εργασία).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2. Συγκριτικά Στοιχεία: Αναλύστε το κόστος καταναλωτή (χαμηλό vs υψηλό) και την παραγωγικότητα ανά στρέμμα.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3. Περιβαλλοντικές Επιπτώσεις: Αντιπαραβάλετε τη ρύπανση/αέρια θερμοκηπίου της βιομηχανικής με τη βιοποικιλότητα/αμειψισπορά της μικρής κλίμακας.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4. Συμπέρασμα: Τονίστε τη σημασία της βιωσιμότητας για το μέλλον.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ectangle 5"/>
          <p:cNvSpPr/>
          <p:nvPr/>
        </p:nvSpPr>
        <p:spPr>
          <a:xfrm>
            <a:off x="731520" y="1737360"/>
            <a:ext cx="10697760" cy="50040"/>
          </a:xfrm>
          <a:prstGeom prst="rect">
            <a:avLst/>
          </a:prstGeom>
          <a:solidFill>
            <a:srgbClr val="d977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2026-09-27T19:14:21Z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