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</p:sld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3B9261-AAF5-4AB7-B587-686DE9240A8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D4C8075-4927-4BD1-8708-ABC33EE08DB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6C1CD2A-0322-4F15-A337-CBB0D9ADCD6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DC9BEC2-B243-4539-AE81-75D3535735D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23BB191F-6B7F-431A-BC0D-63F3E795B04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D1031459-81C1-4E1D-8331-D38DA200C60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894CCCA2-D4C4-468D-A89E-1F9D2FA2822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32A817C3-9B34-4F55-9D9B-4E24078B420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860A615F-608B-4C83-A88C-21EBED72B5D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ED223F88-44A2-41BB-B551-1B1B5A357C4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C3E0A85E-A5D1-4493-B7C3-C8567AE8E39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9BCFFC32-1B45-4934-93FD-B44A3090E88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1D43A5C-AF65-45DB-9909-D83077784CF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A67B655-3B86-4B94-9BAE-088EDD63BF7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E26160C-2D5B-4B2F-958D-28902DE521A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D438326-F037-4240-A68A-52443C38AA6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Master title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B1E2F74-E34B-4BC5-BC16-95D47FBA432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7A6E3A8-B207-481F-A742-9FC875C860E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121D694-8003-449B-8878-617D9DC2B98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C0F70BB-E4EA-43AA-BEC5-BDBE2EF0AB9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9C494FE-B6BC-4321-B100-A8E2D5C0997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</a:t>
            </a: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2E08288-52E5-468D-B035-9C2254E279E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ED32D17-CDFA-4D7F-A60E-2FC50E63E5A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ftr" idx="3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sldNum" idx="3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503FC84-088D-4C45-86EE-D6A74C5763F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dt" idx="3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" name="TextBox 2"/>
          <p:cNvSpPr/>
          <p:nvPr/>
        </p:nvSpPr>
        <p:spPr>
          <a:xfrm>
            <a:off x="1853640" y="320040"/>
            <a:ext cx="56188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f6b3a"/>
                </a:solidFill>
                <a:latin typeface="Arial"/>
              </a:rPr>
              <a:t>TOPIC 1: FOOD, NUTRITION &amp; HEALTH — LESSON 3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3"/>
          <p:cNvSpPr/>
          <p:nvPr/>
        </p:nvSpPr>
        <p:spPr>
          <a:xfrm>
            <a:off x="822960" y="621720"/>
            <a:ext cx="7680600" cy="219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600" spc="-1" strike="noStrike">
                <a:solidFill>
                  <a:srgbClr val="2f6b3a"/>
                </a:solidFill>
                <a:latin typeface="Verdana"/>
              </a:rPr>
              <a:t>Animal Production: Products, Ethics &amp; Sustainability</a:t>
            </a:r>
            <a:endParaRPr b="0" lang="en-US" sz="4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Box 4"/>
          <p:cNvSpPr/>
          <p:nvPr/>
        </p:nvSpPr>
        <p:spPr>
          <a:xfrm>
            <a:off x="822960" y="2926080"/>
            <a:ext cx="768060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555555"/>
                </a:solidFill>
                <a:latin typeface="Arial"/>
              </a:rPr>
              <a:t>Is animal farming a necessity for feeding the world — or a luxury?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" name="TextBox 2"/>
          <p:cNvSpPr/>
          <p:nvPr/>
        </p:nvSpPr>
        <p:spPr>
          <a:xfrm>
            <a:off x="3960000" y="320040"/>
            <a:ext cx="140652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f6b3a"/>
                </a:solidFill>
                <a:latin typeface="Arial"/>
              </a:rPr>
              <a:t>DEFINITION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3"/>
          <p:cNvSpPr/>
          <p:nvPr/>
        </p:nvSpPr>
        <p:spPr>
          <a:xfrm>
            <a:off x="822960" y="621720"/>
            <a:ext cx="76806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f6b3a"/>
                </a:solidFill>
                <a:latin typeface="Verdana"/>
              </a:rPr>
              <a:t>What Is Animal Production?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Box 4"/>
          <p:cNvSpPr/>
          <p:nvPr/>
        </p:nvSpPr>
        <p:spPr>
          <a:xfrm>
            <a:off x="822960" y="1737360"/>
            <a:ext cx="7680600" cy="20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Animal production: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a core branch of agriculture — the systematic rearing of farm animals to produce animal products.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Sits alongside: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plant production and fisheries as the 3 branches of agricultural production (Lesson 1).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Today: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we'll look at what it produces, where it came from, and the debate around its costs and benefits.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" name="TextBox 2"/>
          <p:cNvSpPr/>
          <p:nvPr/>
        </p:nvSpPr>
        <p:spPr>
          <a:xfrm>
            <a:off x="4056120" y="320040"/>
            <a:ext cx="12142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f6b3a"/>
                </a:solidFill>
                <a:latin typeface="Arial"/>
              </a:rPr>
              <a:t>OUTPUTS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Box 3"/>
          <p:cNvSpPr/>
          <p:nvPr/>
        </p:nvSpPr>
        <p:spPr>
          <a:xfrm>
            <a:off x="822960" y="621720"/>
            <a:ext cx="76806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f6b3a"/>
                </a:solidFill>
                <a:latin typeface="Verdana"/>
              </a:rPr>
              <a:t>Animal Products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Rectangle 4"/>
          <p:cNvSpPr/>
          <p:nvPr/>
        </p:nvSpPr>
        <p:spPr>
          <a:xfrm>
            <a:off x="822960" y="1737360"/>
            <a:ext cx="3771720" cy="1462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b3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TextBox 5"/>
          <p:cNvSpPr/>
          <p:nvPr/>
        </p:nvSpPr>
        <p:spPr>
          <a:xfrm>
            <a:off x="960120" y="1874520"/>
            <a:ext cx="3497400" cy="62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2f6b3a"/>
                </a:solidFill>
                <a:latin typeface="Arial"/>
              </a:rPr>
              <a:t>Meat, milk, eggs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For direct human consumption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Rectangle 6"/>
          <p:cNvSpPr/>
          <p:nvPr/>
        </p:nvSpPr>
        <p:spPr>
          <a:xfrm>
            <a:off x="4732200" y="1737360"/>
            <a:ext cx="3771720" cy="1462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b3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" name="TextBox 7"/>
          <p:cNvSpPr/>
          <p:nvPr/>
        </p:nvSpPr>
        <p:spPr>
          <a:xfrm>
            <a:off x="4869360" y="1874520"/>
            <a:ext cx="3497400" cy="62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2f6b3a"/>
                </a:solidFill>
                <a:latin typeface="Arial"/>
              </a:rPr>
              <a:t>Wool, hide, manure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Raw material for industry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Box 8"/>
          <p:cNvSpPr/>
          <p:nvPr/>
        </p:nvSpPr>
        <p:spPr>
          <a:xfrm>
            <a:off x="822960" y="3566160"/>
            <a:ext cx="768060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Products can be destined for human food OR as raw material for industrial production.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TextBox 2"/>
          <p:cNvSpPr/>
          <p:nvPr/>
        </p:nvSpPr>
        <p:spPr>
          <a:xfrm>
            <a:off x="3629160" y="320040"/>
            <a:ext cx="2067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f6b3a"/>
                </a:solidFill>
                <a:latin typeface="Arial"/>
              </a:rPr>
              <a:t>THE BIG PICTURE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Box 3"/>
          <p:cNvSpPr/>
          <p:nvPr/>
        </p:nvSpPr>
        <p:spPr>
          <a:xfrm>
            <a:off x="822960" y="621720"/>
            <a:ext cx="768060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f6b3a"/>
                </a:solidFill>
                <a:latin typeface="Verdana"/>
              </a:rPr>
              <a:t>Plant &amp; Animal Production: A Two-Way Relationship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Box 4"/>
          <p:cNvSpPr/>
          <p:nvPr/>
        </p:nvSpPr>
        <p:spPr>
          <a:xfrm>
            <a:off x="822960" y="1737360"/>
            <a:ext cx="7680600" cy="20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Plants feed animals: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agriculture is the main source of feed for livestock.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Animals feed the soil: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manure enriches and revitalises the land.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The result: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a balanced cycle — necessary for sustainable, ecological production.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" name="TextBox 2"/>
          <p:cNvSpPr/>
          <p:nvPr/>
        </p:nvSpPr>
        <p:spPr>
          <a:xfrm>
            <a:off x="3906000" y="320040"/>
            <a:ext cx="151452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f6b3a"/>
                </a:solidFill>
                <a:latin typeface="Arial"/>
              </a:rPr>
              <a:t>STRUCTURE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Box 3"/>
          <p:cNvSpPr/>
          <p:nvPr/>
        </p:nvSpPr>
        <p:spPr>
          <a:xfrm>
            <a:off x="822960" y="621720"/>
            <a:ext cx="76806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f6b3a"/>
                </a:solidFill>
                <a:latin typeface="Verdana"/>
              </a:rPr>
              <a:t>Branches of Animal Production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Rectangle 4"/>
          <p:cNvSpPr/>
          <p:nvPr/>
        </p:nvSpPr>
        <p:spPr>
          <a:xfrm>
            <a:off x="822960" y="1737360"/>
            <a:ext cx="3771720" cy="1919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b3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" name="TextBox 5"/>
          <p:cNvSpPr/>
          <p:nvPr/>
        </p:nvSpPr>
        <p:spPr>
          <a:xfrm>
            <a:off x="960120" y="1874520"/>
            <a:ext cx="3497400" cy="13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2f6b3a"/>
                </a:solidFill>
                <a:latin typeface="Arial"/>
              </a:rPr>
              <a:t>Livestock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Cattle farming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Sheep &amp; goat farming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Pig farming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Poultry farming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Rectangle 6"/>
          <p:cNvSpPr/>
          <p:nvPr/>
        </p:nvSpPr>
        <p:spPr>
          <a:xfrm>
            <a:off x="4732200" y="1737360"/>
            <a:ext cx="3771720" cy="1919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b3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" name="TextBox 7"/>
          <p:cNvSpPr/>
          <p:nvPr/>
        </p:nvSpPr>
        <p:spPr>
          <a:xfrm>
            <a:off x="4869360" y="1874520"/>
            <a:ext cx="3497400" cy="13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2f6b3a"/>
                </a:solidFill>
                <a:latin typeface="Arial"/>
              </a:rPr>
              <a:t>Other branches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Aquaculture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Small farm animals (e.g. rabbits)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Fur animals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Sericulture (silkworms)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Box 8"/>
          <p:cNvSpPr/>
          <p:nvPr/>
        </p:nvSpPr>
        <p:spPr>
          <a:xfrm>
            <a:off x="822960" y="4023360"/>
            <a:ext cx="76806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1300" spc="-1" strike="noStrike">
                <a:solidFill>
                  <a:srgbClr val="262626"/>
                </a:solidFill>
                <a:latin typeface="Arial"/>
              </a:rPr>
              <a:t>Beekeeping sits at the boundary between animal and plant production.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" name="TextBox 2"/>
          <p:cNvSpPr/>
          <p:nvPr/>
        </p:nvSpPr>
        <p:spPr>
          <a:xfrm>
            <a:off x="4097880" y="320040"/>
            <a:ext cx="11304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f6b3a"/>
                </a:solidFill>
                <a:latin typeface="Arial"/>
              </a:rPr>
              <a:t>HISTORY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Box 3"/>
          <p:cNvSpPr/>
          <p:nvPr/>
        </p:nvSpPr>
        <p:spPr>
          <a:xfrm>
            <a:off x="822960" y="621720"/>
            <a:ext cx="76806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f6b3a"/>
                </a:solidFill>
                <a:latin typeface="Verdana"/>
              </a:rPr>
              <a:t>Domestication: From Wild to Farm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Box 4"/>
          <p:cNvSpPr/>
          <p:nvPr/>
        </p:nvSpPr>
        <p:spPr>
          <a:xfrm>
            <a:off x="822960" y="1737360"/>
            <a:ext cx="7680600" cy="361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Wild ancestors: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wild sheep, wild horses, wild goats, wild boars roamed free before domestication.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Timing: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animal domestication happened alongside plant domestication, in the Neolithic era (~8,000–12,000 years ago).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Why it mattered: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raising animals and growing crops gave far more security than hunting, fishing and gathering alone.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New tools: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the plough, the saddle, the wheel, and wool processing all laid the foundations for farming and animal husbandry.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Knock-on effects: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division of labour, trade, and the growth of culture, technology and science.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" descr=""/>
          <p:cNvPicPr/>
          <p:nvPr/>
        </p:nvPicPr>
        <p:blipFill>
          <a:blip r:embed="rId1"/>
          <a:stretch/>
        </p:blipFill>
        <p:spPr>
          <a:xfrm>
            <a:off x="18720" y="814320"/>
            <a:ext cx="9142920" cy="5128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360" y="457200"/>
            <a:ext cx="9019080" cy="5247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" name="TextBox 2"/>
          <p:cNvSpPr/>
          <p:nvPr/>
        </p:nvSpPr>
        <p:spPr>
          <a:xfrm>
            <a:off x="4097880" y="320040"/>
            <a:ext cx="11304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f6b3a"/>
                </a:solidFill>
                <a:latin typeface="Arial"/>
              </a:rPr>
              <a:t>HISTORY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Box 3"/>
          <p:cNvSpPr/>
          <p:nvPr/>
        </p:nvSpPr>
        <p:spPr>
          <a:xfrm>
            <a:off x="822960" y="621720"/>
            <a:ext cx="76806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f6b3a"/>
                </a:solidFill>
                <a:latin typeface="Verdana"/>
              </a:rPr>
              <a:t>Where It Began: Early Centers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Rectangle 4"/>
          <p:cNvSpPr/>
          <p:nvPr/>
        </p:nvSpPr>
        <p:spPr>
          <a:xfrm>
            <a:off x="822960" y="1737360"/>
            <a:ext cx="3771720" cy="448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b3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" name="TextBox 5"/>
          <p:cNvSpPr/>
          <p:nvPr/>
        </p:nvSpPr>
        <p:spPr>
          <a:xfrm>
            <a:off x="960120" y="1874520"/>
            <a:ext cx="3497400" cy="184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2f6b3a"/>
                </a:solidFill>
                <a:latin typeface="Arial"/>
              </a:rPr>
              <a:t>Early Plant Cultivation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Middle East (Fertile Crescent)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Central America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South America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Central Africa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Western China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SE Asia &amp; South Pacific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Rectangle 6"/>
          <p:cNvSpPr/>
          <p:nvPr/>
        </p:nvSpPr>
        <p:spPr>
          <a:xfrm>
            <a:off x="4732200" y="1737360"/>
            <a:ext cx="3771720" cy="448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b3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" name="TextBox 7"/>
          <p:cNvSpPr/>
          <p:nvPr/>
        </p:nvSpPr>
        <p:spPr>
          <a:xfrm>
            <a:off x="4869360" y="1874520"/>
            <a:ext cx="3497400" cy="23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2f6b3a"/>
                </a:solidFill>
                <a:latin typeface="Arial"/>
              </a:rPr>
              <a:t>Early Animal Domestication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Middle East/Turkey: horse, camel, cattle, sheep, goat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China: pig, chicken, goose, dog, buffalo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Central America: turkey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South America: llama, alpaca, guinea pig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Africa: donkey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" name="TextBox 2"/>
          <p:cNvSpPr/>
          <p:nvPr/>
        </p:nvSpPr>
        <p:spPr>
          <a:xfrm>
            <a:off x="4058280" y="320040"/>
            <a:ext cx="12099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f6b3a"/>
                </a:solidFill>
                <a:latin typeface="Arial"/>
              </a:rPr>
              <a:t>FACTORS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Box 3"/>
          <p:cNvSpPr/>
          <p:nvPr/>
        </p:nvSpPr>
        <p:spPr>
          <a:xfrm>
            <a:off x="822960" y="621720"/>
            <a:ext cx="768060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f6b3a"/>
                </a:solidFill>
                <a:latin typeface="Verdana"/>
              </a:rPr>
              <a:t>What Determines How Much (and How Good)?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Box 4"/>
          <p:cNvSpPr/>
          <p:nvPr/>
        </p:nvSpPr>
        <p:spPr>
          <a:xfrm>
            <a:off x="822960" y="1737360"/>
            <a:ext cx="7680600" cy="168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Genetics: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the animal's genetic potential (e.g. Holstein cattle bred for milk; Angus cattle bred for meat).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Environment: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the animal's living conditions.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Economics: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socio-economic conditions prevailing in the market.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8" name="TextBox 2"/>
          <p:cNvSpPr/>
          <p:nvPr/>
        </p:nvSpPr>
        <p:spPr>
          <a:xfrm>
            <a:off x="4037760" y="320040"/>
            <a:ext cx="12510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f6b3a"/>
                </a:solidFill>
                <a:latin typeface="Arial"/>
              </a:rPr>
              <a:t>BENEFITS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Box 3"/>
          <p:cNvSpPr/>
          <p:nvPr/>
        </p:nvSpPr>
        <p:spPr>
          <a:xfrm>
            <a:off x="822960" y="621720"/>
            <a:ext cx="76806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f6b3a"/>
                </a:solidFill>
                <a:latin typeface="Verdana"/>
              </a:rPr>
              <a:t>High Biological Value Food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Box 4"/>
          <p:cNvSpPr/>
          <p:nvPr/>
        </p:nvSpPr>
        <p:spPr>
          <a:xfrm>
            <a:off x="822960" y="1737360"/>
            <a:ext cx="7680600" cy="23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High biological value: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meat, milk and eggs are rich in protein, vitamins, minerals and trace elements.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Essential amino acids: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the body cannot make these 8 amino acids itself — they must come from food.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Nitrogen balance: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missing even ONE essential amino acid causes a negative nitrogen balance, with serious health consequences.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2" name="TextBox 2"/>
          <p:cNvSpPr/>
          <p:nvPr/>
        </p:nvSpPr>
        <p:spPr>
          <a:xfrm>
            <a:off x="3779280" y="320040"/>
            <a:ext cx="17676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f6b3a"/>
                </a:solidFill>
                <a:latin typeface="Arial"/>
              </a:rPr>
              <a:t>THE NUMBERS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Box 3"/>
          <p:cNvSpPr/>
          <p:nvPr/>
        </p:nvSpPr>
        <p:spPr>
          <a:xfrm>
            <a:off x="822960" y="621720"/>
            <a:ext cx="76806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f6b3a"/>
                </a:solidFill>
                <a:latin typeface="Verdana"/>
              </a:rPr>
              <a:t>How Far Does 1 kg of Milk Go?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24" name="Table 4"/>
          <p:cNvGraphicFramePr/>
          <p:nvPr/>
        </p:nvGraphicFramePr>
        <p:xfrm>
          <a:off x="822960" y="1737360"/>
          <a:ext cx="7680600" cy="3406680"/>
        </p:xfrm>
        <a:graphic>
          <a:graphicData uri="http://schemas.openxmlformats.org/drawingml/2006/table">
            <a:tbl>
              <a:tblPr/>
              <a:tblGrid>
                <a:gridCol w="3025800"/>
                <a:gridCol w="4654800"/>
              </a:tblGrid>
              <a:tr h="5850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Nutrient need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f6b3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Coverage from 1 kg of milk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f6b3a"/>
                    </a:solidFill>
                  </a:tcPr>
                </a:tc>
              </a:tr>
              <a:tr h="5850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Essential amino acids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Meets/exceeds 100% of need for 6 of the 8 essential amino acids (100–162%); the two exceptions are phenylalanine (77%) and methionine, the lowest at 36%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50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Calcium (Ca)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0.5 kg of milk alone covers ~75% of daily need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50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Vitamin B12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~84% of daily need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50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Vitamin B2 (Riboflavin)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~90% of daily need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5" name="TextBox 5"/>
          <p:cNvSpPr/>
          <p:nvPr/>
        </p:nvSpPr>
        <p:spPr>
          <a:xfrm>
            <a:off x="822960" y="4937760"/>
            <a:ext cx="76806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1300" spc="-1" strike="noStrike">
                <a:solidFill>
                  <a:srgbClr val="262626"/>
                </a:solidFill>
                <a:latin typeface="Arial"/>
              </a:rPr>
              <a:t>(Reference: 70 kg adult male, age 25, normal activity — Bogner &amp; Koegel, 1984)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7" name="TextBox 2"/>
          <p:cNvSpPr/>
          <p:nvPr/>
        </p:nvSpPr>
        <p:spPr>
          <a:xfrm>
            <a:off x="3665160" y="320040"/>
            <a:ext cx="1996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f6b3a"/>
                </a:solidFill>
                <a:latin typeface="Arial"/>
              </a:rPr>
              <a:t>THE OTHER SIDE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Box 3"/>
          <p:cNvSpPr/>
          <p:nvPr/>
        </p:nvSpPr>
        <p:spPr>
          <a:xfrm>
            <a:off x="822960" y="621720"/>
            <a:ext cx="76806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f6b3a"/>
                </a:solidFill>
                <a:latin typeface="Verdana"/>
              </a:rPr>
              <a:t>The Cost of Going Without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Box 4"/>
          <p:cNvSpPr/>
          <p:nvPr/>
        </p:nvSpPr>
        <p:spPr>
          <a:xfrm>
            <a:off x="822960" y="1737360"/>
            <a:ext cx="7680600" cy="20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In developing countries: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insufficient consumption of animal products is linked to increased child mortality, delayed mental and physical development, and reduced adult productivity.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Open questions: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Is turning resources into animal products efficient? Is there too much food competition between humans and animals? Is animal production a luxury?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1" name="TextBox 2"/>
          <p:cNvSpPr/>
          <p:nvPr/>
        </p:nvSpPr>
        <p:spPr>
          <a:xfrm>
            <a:off x="822960" y="2377440"/>
            <a:ext cx="7680600" cy="16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2f6b3a"/>
                </a:solidFill>
                <a:latin typeface="Verdana"/>
              </a:rPr>
              <a:t>Animal vs. Plant Production: How Efficient Is It?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262626"/>
                </a:solidFill>
                <a:latin typeface="Arial"/>
              </a:rPr>
              <a:t>Let's discuss it next lesson!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3" name="TextBox 2"/>
          <p:cNvSpPr/>
          <p:nvPr/>
        </p:nvSpPr>
        <p:spPr>
          <a:xfrm>
            <a:off x="3929400" y="320040"/>
            <a:ext cx="14673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f6b3a"/>
                </a:solidFill>
                <a:latin typeface="Arial"/>
              </a:rPr>
              <a:t>EFFICIENCY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Box 3"/>
          <p:cNvSpPr/>
          <p:nvPr/>
        </p:nvSpPr>
        <p:spPr>
          <a:xfrm>
            <a:off x="822960" y="621720"/>
            <a:ext cx="76806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f6b3a"/>
                </a:solidFill>
                <a:latin typeface="Verdana"/>
              </a:rPr>
              <a:t>What Does “Efficient” Mean Here?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Box 4"/>
          <p:cNvSpPr/>
          <p:nvPr/>
        </p:nvSpPr>
        <p:spPr>
          <a:xfrm>
            <a:off x="822960" y="1737360"/>
            <a:ext cx="7680600" cy="361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Inputs: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feed, housing, veterinary care, labour.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Outputs: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animal products (meat, milk, eggs, etc.).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Efficiency ratio: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outputs ÷ inputs — e.g. protein or energy produced per unit of feed/energy consumed, or protein produced per hectare of land.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The finding: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the efficiency with which farm animals convert available resources into food is relatively low.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Unit reminder: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1 hectare (ha) = 10,000 m².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7" name="TextBox 2"/>
          <p:cNvSpPr/>
          <p:nvPr/>
        </p:nvSpPr>
        <p:spPr>
          <a:xfrm>
            <a:off x="3929400" y="320040"/>
            <a:ext cx="14673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f6b3a"/>
                </a:solidFill>
                <a:latin typeface="Arial"/>
              </a:rPr>
              <a:t>EFFICIENCY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Box 3"/>
          <p:cNvSpPr/>
          <p:nvPr/>
        </p:nvSpPr>
        <p:spPr>
          <a:xfrm>
            <a:off x="822960" y="621720"/>
            <a:ext cx="768060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f6b3a"/>
                </a:solidFill>
                <a:latin typeface="Verdana"/>
              </a:rPr>
              <a:t>Animal vs Plant Production: Output per Input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Box 4"/>
          <p:cNvSpPr/>
          <p:nvPr/>
        </p:nvSpPr>
        <p:spPr>
          <a:xfrm>
            <a:off x="822960" y="1737360"/>
            <a:ext cx="768060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Efficiency: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output ÷ input — protein or energy produced per unit of feed/energy consumed.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The pattern: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plants convert land and resources into food far more efficiently than animals do.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40" name="Table 5"/>
          <p:cNvGraphicFramePr/>
          <p:nvPr/>
        </p:nvGraphicFramePr>
        <p:xfrm>
          <a:off x="822960" y="1737360"/>
          <a:ext cx="7680600" cy="3019680"/>
        </p:xfrm>
        <a:graphic>
          <a:graphicData uri="http://schemas.openxmlformats.org/drawingml/2006/table">
            <a:tbl>
              <a:tblPr/>
              <a:tblGrid>
                <a:gridCol w="3162600"/>
                <a:gridCol w="2259000"/>
                <a:gridCol w="2259000"/>
              </a:tblGrid>
              <a:tr h="3351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Product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f6b3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Protein (kg/ha/yr)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f6b3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Energy (MJ/ha/yr)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f6b3a"/>
                    </a:solidFill>
                  </a:tcPr>
                </a:tc>
              </a:tr>
              <a:tr h="3351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Corn (plant)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430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83,700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51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Potatoes (plant)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420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100,460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51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Wheat (plant)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350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58,600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51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Rice (plant)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320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87,900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51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Rabbits (animal)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180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7,400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51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Poultry (animal)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92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4,600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51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Lamb (animal)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43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4,800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51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Cattle (animal)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42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7,900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1" name=""/>
          <p:cNvSpPr txBox="1"/>
          <p:nvPr/>
        </p:nvSpPr>
        <p:spPr>
          <a:xfrm>
            <a:off x="812880" y="5257800"/>
            <a:ext cx="7645320" cy="513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Protein production (kg) and energy (MJ) per hectare of land per year from plant and animal products (from Spedding &amp; Hoaxey, 1975)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3" name="TextBox 2"/>
          <p:cNvSpPr/>
          <p:nvPr/>
        </p:nvSpPr>
        <p:spPr>
          <a:xfrm>
            <a:off x="3779280" y="320040"/>
            <a:ext cx="17676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f6b3a"/>
                </a:solidFill>
                <a:latin typeface="Arial"/>
              </a:rPr>
              <a:t>THE NUMBERS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Box 3"/>
          <p:cNvSpPr/>
          <p:nvPr/>
        </p:nvSpPr>
        <p:spPr>
          <a:xfrm>
            <a:off x="822960" y="621720"/>
            <a:ext cx="768060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f6b3a"/>
                </a:solidFill>
                <a:latin typeface="Verdana"/>
              </a:rPr>
              <a:t>How Many People Could 1 Hectare Feed for a Year?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45" name="Table 4"/>
          <p:cNvGraphicFramePr/>
          <p:nvPr/>
        </p:nvGraphicFramePr>
        <p:xfrm>
          <a:off x="822960" y="1737360"/>
          <a:ext cx="7680600" cy="3355200"/>
        </p:xfrm>
        <a:graphic>
          <a:graphicData uri="http://schemas.openxmlformats.org/drawingml/2006/table">
            <a:tbl>
              <a:tblPr/>
              <a:tblGrid>
                <a:gridCol w="3025800"/>
                <a:gridCol w="2327400"/>
                <a:gridCol w="2327400"/>
              </a:tblGrid>
              <a:tr h="329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Product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f6b3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From protein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f6b3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From energy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f6b3a"/>
                    </a:solidFill>
                  </a:tcPr>
                </a:tc>
              </a:tr>
              <a:tr h="329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Soybean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14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Rice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7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14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Wheat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6.3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8.4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Corn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5.2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10.4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Potatoes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9.5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10.5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Milk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2.5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Poultry meat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2.5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Pork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1.4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Beef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6" name="TextBox 5"/>
          <p:cNvSpPr/>
          <p:nvPr/>
        </p:nvSpPr>
        <p:spPr>
          <a:xfrm>
            <a:off x="822960" y="5212080"/>
            <a:ext cx="76806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1300" spc="-1" strike="noStrike">
                <a:solidFill>
                  <a:srgbClr val="262626"/>
                </a:solidFill>
                <a:latin typeface="Arial"/>
              </a:rPr>
              <a:t>(Spedding, 1979)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8" name="TextBox 2"/>
          <p:cNvSpPr/>
          <p:nvPr/>
        </p:nvSpPr>
        <p:spPr>
          <a:xfrm>
            <a:off x="3779280" y="320040"/>
            <a:ext cx="17676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f6b3a"/>
                </a:solidFill>
                <a:latin typeface="Arial"/>
              </a:rPr>
              <a:t>THE NUMBERS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Box 3"/>
          <p:cNvSpPr/>
          <p:nvPr/>
        </p:nvSpPr>
        <p:spPr>
          <a:xfrm>
            <a:off x="822960" y="621720"/>
            <a:ext cx="76806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f6b3a"/>
                </a:solidFill>
                <a:latin typeface="Verdana"/>
              </a:rPr>
              <a:t>The Energy Cost of Food Production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50" name="Table 4"/>
          <p:cNvGraphicFramePr/>
          <p:nvPr/>
        </p:nvGraphicFramePr>
        <p:xfrm>
          <a:off x="822960" y="1737360"/>
          <a:ext cx="7680600" cy="3378960"/>
        </p:xfrm>
        <a:graphic>
          <a:graphicData uri="http://schemas.openxmlformats.org/drawingml/2006/table">
            <a:tbl>
              <a:tblPr/>
              <a:tblGrid>
                <a:gridCol w="3840480"/>
                <a:gridCol w="3840480"/>
              </a:tblGrid>
              <a:tr h="399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Product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f6b3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Energy (MJ) in liquid fuel per kg of protein produced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f6b3a"/>
                    </a:solidFill>
                  </a:tcPr>
                </a:tc>
              </a:tr>
              <a:tr h="399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Feed beans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9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Wheat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42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9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Potatoes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59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9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Milk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121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9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Poultry meat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165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9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Pork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268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9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Beef*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326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1" name="TextBox 5"/>
          <p:cNvSpPr/>
          <p:nvPr/>
        </p:nvSpPr>
        <p:spPr>
          <a:xfrm>
            <a:off x="822960" y="5120640"/>
            <a:ext cx="76806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1300" spc="-1" strike="noStrike">
                <a:solidFill>
                  <a:srgbClr val="262626"/>
                </a:solidFill>
                <a:latin typeface="Arial"/>
              </a:rPr>
              <a:t>* Semi-intensive fattening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3" name="TextBox 2"/>
          <p:cNvSpPr/>
          <p:nvPr/>
        </p:nvSpPr>
        <p:spPr>
          <a:xfrm>
            <a:off x="3539520" y="320040"/>
            <a:ext cx="22474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f6b3a"/>
                </a:solidFill>
                <a:latin typeface="Arial"/>
              </a:rPr>
              <a:t>THE BIG QUESTION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Box 3"/>
          <p:cNvSpPr/>
          <p:nvPr/>
        </p:nvSpPr>
        <p:spPr>
          <a:xfrm>
            <a:off x="822960" y="621720"/>
            <a:ext cx="768060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f6b3a"/>
                </a:solidFill>
                <a:latin typeface="Verdana"/>
              </a:rPr>
              <a:t>Animal Production &amp; the Global Food Problem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Box 4"/>
          <p:cNvSpPr/>
          <p:nvPr/>
        </p:nvSpPr>
        <p:spPr>
          <a:xfrm>
            <a:off x="822960" y="1737360"/>
            <a:ext cx="7680600" cy="457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Feed competition: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animals eat food that humans could eat directly.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Conversion losses: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100 calories of cereal become: 100% as bread, but only 33% as pork, 25% as eggs, 20% as milk, 10% as beef, 8% as poultry.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At scale: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in 2001, over 680 million tonnes of cereal went to livestock worldwide; in developed countries ~60% of cereal production is fed to animals (Denmark and the US use only 8% and 13% for direct human food).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Meanwhile: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people in developing countries get by on ~161 kg of cereal a year — under 0.5 kg a day.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The paradox: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global food supply is enough for 2,700 kcal/person/day — yet ~850 million people are undernourished. The problem is distribution, not total production.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7" name="TextBox 2"/>
          <p:cNvSpPr/>
          <p:nvPr/>
        </p:nvSpPr>
        <p:spPr>
          <a:xfrm>
            <a:off x="3539520" y="320040"/>
            <a:ext cx="22474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f6b3a"/>
                </a:solidFill>
                <a:latin typeface="Arial"/>
              </a:rPr>
              <a:t>THE BIG QUESTION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Box 3"/>
          <p:cNvSpPr/>
          <p:nvPr/>
        </p:nvSpPr>
        <p:spPr>
          <a:xfrm>
            <a:off x="822960" y="621720"/>
            <a:ext cx="768060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f6b3a"/>
                </a:solidFill>
                <a:latin typeface="Verdana"/>
              </a:rPr>
              <a:t>Where Undernutrition Is Concentrated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59" name="Table 4"/>
          <p:cNvGraphicFramePr/>
          <p:nvPr/>
        </p:nvGraphicFramePr>
        <p:xfrm>
          <a:off x="822960" y="1737360"/>
          <a:ext cx="7680600" cy="4072680"/>
        </p:xfrm>
        <a:graphic>
          <a:graphicData uri="http://schemas.openxmlformats.org/drawingml/2006/table">
            <a:tbl>
              <a:tblPr/>
              <a:tblGrid>
                <a:gridCol w="3840480"/>
                <a:gridCol w="3840480"/>
              </a:tblGrid>
              <a:tr h="436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Region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f6b3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Undernourished population (millions, 1999–2001)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f6b3a"/>
                    </a:solidFill>
                  </a:tcPr>
                </a:tc>
              </a:tr>
              <a:tr h="436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India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214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6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Sub-Saharan Africa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198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6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Asia &amp; Pacific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156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6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China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135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6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Latin America &amp; Caribbean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53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6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Near East &amp; North Africa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41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6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Countries in transition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34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6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Industrialized countries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10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0" name="TextBox 5"/>
          <p:cNvSpPr/>
          <p:nvPr/>
        </p:nvSpPr>
        <p:spPr>
          <a:xfrm>
            <a:off x="822960" y="5760720"/>
            <a:ext cx="76806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1300" spc="-1" strike="noStrike">
                <a:solidFill>
                  <a:srgbClr val="262626"/>
                </a:solidFill>
                <a:latin typeface="Arial"/>
              </a:rPr>
              <a:t>(UN, 2003)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2" name="TextBox 2"/>
          <p:cNvSpPr/>
          <p:nvPr/>
        </p:nvSpPr>
        <p:spPr>
          <a:xfrm>
            <a:off x="3889800" y="320040"/>
            <a:ext cx="15465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f6b3a"/>
                </a:solidFill>
                <a:latin typeface="Arial"/>
              </a:rPr>
              <a:t>THE DEBATE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Box 3"/>
          <p:cNvSpPr/>
          <p:nvPr/>
        </p:nvSpPr>
        <p:spPr>
          <a:xfrm>
            <a:off x="822960" y="621720"/>
            <a:ext cx="768060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f6b3a"/>
                </a:solidFill>
                <a:latin typeface="Verdana"/>
              </a:rPr>
              <a:t>Should We Shrink Animal Production?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Rectangle 4"/>
          <p:cNvSpPr/>
          <p:nvPr/>
        </p:nvSpPr>
        <p:spPr>
          <a:xfrm>
            <a:off x="822960" y="1737360"/>
            <a:ext cx="3771720" cy="475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b3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5" name="TextBox 5"/>
          <p:cNvSpPr/>
          <p:nvPr/>
        </p:nvSpPr>
        <p:spPr>
          <a:xfrm>
            <a:off x="960120" y="1874520"/>
            <a:ext cx="3497400" cy="13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2f6b3a"/>
                </a:solidFill>
                <a:latin typeface="Arial"/>
              </a:rPr>
              <a:t>The case FOR shrinking it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Plants use resources far more efficiently (see the tables).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Less livestock could ease the global food problem.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Rectangle 6"/>
          <p:cNvSpPr/>
          <p:nvPr/>
        </p:nvSpPr>
        <p:spPr>
          <a:xfrm>
            <a:off x="4732200" y="1737360"/>
            <a:ext cx="3771720" cy="475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b3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7" name="TextBox 7"/>
          <p:cNvSpPr/>
          <p:nvPr/>
        </p:nvSpPr>
        <p:spPr>
          <a:xfrm>
            <a:off x="4869360" y="1874520"/>
            <a:ext cx="3497400" cy="359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2f6b3a"/>
                </a:solidFill>
                <a:latin typeface="Arial"/>
              </a:rPr>
              <a:t>The case AGAINST / complications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&gt;25% of Earth’s land is pasture unsuitable for crops.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Ruminants turn useless vegetation &amp; crop byproducts into high-value food — no competition with humans there.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In developing countries, mixed farms rely on animals for soil fertility, labour &amp; transport.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Expanding cropland into marginal land risks erosion &amp; more pesticide use.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9" name="TextBox 2"/>
          <p:cNvSpPr/>
          <p:nvPr/>
        </p:nvSpPr>
        <p:spPr>
          <a:xfrm>
            <a:off x="3773160" y="320040"/>
            <a:ext cx="1779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f6b3a"/>
                </a:solidFill>
                <a:latin typeface="Arial"/>
              </a:rPr>
              <a:t>ENVIRONMENT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Box 3"/>
          <p:cNvSpPr/>
          <p:nvPr/>
        </p:nvSpPr>
        <p:spPr>
          <a:xfrm>
            <a:off x="822960" y="621720"/>
            <a:ext cx="76806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f6b3a"/>
                </a:solidFill>
                <a:latin typeface="Verdana"/>
              </a:rPr>
              <a:t>Other Environmental Concerns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Box 4"/>
          <p:cNvSpPr/>
          <p:nvPr/>
        </p:nvSpPr>
        <p:spPr>
          <a:xfrm>
            <a:off x="822960" y="1737360"/>
            <a:ext cx="7680600" cy="26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Overgrazing damages land.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Intensive pig &amp; poultry farming pollutes surface and groundwater with manure.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Huge water footprint: ~4,000 litres of water per kg of beef produced.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Intensification reduces biodiversity.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Responsible for around 14% of all human-caused greenhouse gas emissions.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3" name="TextBox 2"/>
          <p:cNvSpPr/>
          <p:nvPr/>
        </p:nvSpPr>
        <p:spPr>
          <a:xfrm>
            <a:off x="3388320" y="320040"/>
            <a:ext cx="254952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f6b3a"/>
                </a:solidFill>
                <a:latin typeface="Arial"/>
              </a:rPr>
              <a:t>ONE MORE QUESTION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Box 3"/>
          <p:cNvSpPr/>
          <p:nvPr/>
        </p:nvSpPr>
        <p:spPr>
          <a:xfrm>
            <a:off x="822960" y="621720"/>
            <a:ext cx="768060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f6b3a"/>
                </a:solidFill>
                <a:latin typeface="Verdana"/>
              </a:rPr>
              <a:t>Could Humans Live Without Animal Products?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Box 4"/>
          <p:cNvSpPr/>
          <p:nvPr/>
        </p:nvSpPr>
        <p:spPr>
          <a:xfrm>
            <a:off x="822960" y="1737360"/>
            <a:ext cx="7680600" cy="168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In principle, yes — survival without animal foods is possible, IF plant foods are carefully combined to meet all nutritional needs.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That requires good nutrition knowledge and a well-educated population — not a simple swap.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7" name="TextBox 2"/>
          <p:cNvSpPr/>
          <p:nvPr/>
        </p:nvSpPr>
        <p:spPr>
          <a:xfrm>
            <a:off x="3906000" y="320040"/>
            <a:ext cx="151452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f6b3a"/>
                </a:solidFill>
                <a:latin typeface="Arial"/>
              </a:rPr>
              <a:t>HOMEWORK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Box 3"/>
          <p:cNvSpPr/>
          <p:nvPr/>
        </p:nvSpPr>
        <p:spPr>
          <a:xfrm>
            <a:off x="822960" y="621720"/>
            <a:ext cx="76806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f6b3a"/>
                </a:solidFill>
                <a:latin typeface="Verdana"/>
              </a:rPr>
              <a:t>Your Turn: The Essay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Box 4"/>
          <p:cNvSpPr/>
          <p:nvPr/>
        </p:nvSpPr>
        <p:spPr>
          <a:xfrm>
            <a:off x="822960" y="1737360"/>
            <a:ext cx="7680600" cy="29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The task: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pick a side and write a 150–200 word essay defending it — are you for or against maintaining animal production?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Base it on: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today's class discussion plus your own research on scientific websites.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Food for thought: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economic, social, ecological/environmental, and nutritional pros and cons.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Tip: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structure your arguments scientifically — claim, evidence, reasoning.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2026-10-11T16:45:21Z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