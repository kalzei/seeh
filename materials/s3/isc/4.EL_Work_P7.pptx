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1A3824E-4066-4498-9A2C-F4594EA42A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104CFB4-A1ED-4A51-92E8-18F6E9FF1A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A68B743-89AC-4078-915F-C4184A724F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DAB782B-6429-4DAD-8B3F-84470AF275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A481D99-F3EF-4EA5-820E-C4D280D35D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5F9D9D9-21DA-404C-8ABE-14057E024A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B4C01EB-7A55-4EDF-9F8E-4AADB8BB7A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304103E-A1C6-4D75-BE87-F06B0F4B4B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6F7F1AE-6C3D-4983-98A4-A8AFB98C0C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7C3FBB20-2BE1-4CB9-A595-A9CF748571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3307C5B0-623E-4A64-89A5-778CFE0C75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6D6ECBF-826B-4495-83E1-6B20A99FA99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354397B-895E-41BF-9662-8DF391EA982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360C08E-9A7A-4AE1-A4EB-D1DF567B2A5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52E2960-52F3-4858-9AB2-380D7A0B0C8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1B2EF66-B733-4098-BA70-EA1355FCDD6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F584FF3-7B0E-4490-9BB9-DF880AC189A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291E3E9-EB1C-461F-AEB4-8092B48B690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606FB46-6A0F-4C70-BED1-118FFB86694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9ADC2B5-1194-4347-9906-69B986CE582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E9885F3-749A-4839-B46A-3D33FAC5D1B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75413FF-2E11-4C03-B0AE-CF5900A26D1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1"/>
          <p:cNvSpPr/>
          <p:nvPr/>
        </p:nvSpPr>
        <p:spPr>
          <a:xfrm>
            <a:off x="4182840" y="320040"/>
            <a:ext cx="3826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ΤΆΞΗ S3 • ΜΆΘΗΜΑ ΕΠΙΣΤΗΜΏΝ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2"/>
          <p:cNvSpPr/>
          <p:nvPr/>
        </p:nvSpPr>
        <p:spPr>
          <a:xfrm>
            <a:off x="2971800" y="2514600"/>
            <a:ext cx="60084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0f172a"/>
                </a:solidFill>
                <a:latin typeface="Verdana"/>
              </a:rPr>
              <a:t>Γενικευμένη Επιστήμη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3200400" y="5747400"/>
            <a:ext cx="52329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45556c"/>
                </a:solidFill>
                <a:latin typeface="Arial"/>
              </a:rPr>
              <a:t>Καλλιόπη Ζεϊνάκη  •  Ευρωπαϊκό Σχολείο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1"/>
          <p:cNvSpPr/>
          <p:nvPr/>
        </p:nvSpPr>
        <p:spPr>
          <a:xfrm>
            <a:off x="5409000" y="621720"/>
            <a:ext cx="15552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0f172a"/>
                </a:solidFill>
                <a:latin typeface="Verdana"/>
              </a:rPr>
              <a:t>Έργο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2"/>
          <p:cNvSpPr/>
          <p:nvPr/>
        </p:nvSpPr>
        <p:spPr>
          <a:xfrm>
            <a:off x="640800" y="3004200"/>
            <a:ext cx="11263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45556c"/>
                </a:solidFill>
                <a:latin typeface="Arial"/>
              </a:rPr>
              <a:t>Πότε ένα Σπρώξιμο Γίνεται Πρόοδος: Τι Εννοεί η Φυσική με το «Έργο»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1"/>
          <p:cNvSpPr/>
          <p:nvPr/>
        </p:nvSpPr>
        <p:spPr>
          <a:xfrm>
            <a:off x="4184280" y="320040"/>
            <a:ext cx="3825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ea580c"/>
                </a:solidFill>
                <a:latin typeface="Arial"/>
              </a:rPr>
              <a:t>ΤΙ ΘΕΩΡΕΊΤΑΙ ΈΡΓΟ;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2"/>
          <p:cNvSpPr/>
          <p:nvPr/>
        </p:nvSpPr>
        <p:spPr>
          <a:xfrm>
            <a:off x="1271160" y="1828800"/>
            <a:ext cx="9930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f172a"/>
                </a:solidFill>
                <a:latin typeface="Verdana"/>
              </a:rPr>
              <a:t>Δεν Είναι Κάθε Προσπάθεια «Έργο» — Όχι στη Φυσική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3"/>
          <p:cNvSpPr/>
          <p:nvPr/>
        </p:nvSpPr>
        <p:spPr>
          <a:xfrm>
            <a:off x="930960" y="3200400"/>
            <a:ext cx="10727280" cy="31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</a:t>
            </a:r>
            <a:r>
              <a:rPr b="1" lang="en-US" sz="2600" spc="-1" strike="noStrike">
                <a:solidFill>
                  <a:srgbClr val="ea580c"/>
                </a:solidFill>
                <a:latin typeface="Arial"/>
              </a:rPr>
              <a:t>  </a:t>
            </a:r>
            <a:r>
              <a:rPr b="1" lang="en-US" sz="2600" spc="-1" strike="noStrike">
                <a:solidFill>
                  <a:srgbClr val="ea580c"/>
                </a:solidFill>
                <a:latin typeface="Arial"/>
              </a:rPr>
              <a:t>Καθημερινή έννοια: </a:t>
            </a:r>
            <a:r>
              <a:rPr b="0" lang="en-US" sz="2600" spc="-1" strike="noStrike">
                <a:solidFill>
                  <a:srgbClr val="1e293b"/>
                </a:solidFill>
                <a:latin typeface="Arial"/>
              </a:rPr>
              <a:t>το «έργο» μπορεί να σημαίνει σχεδόν κάθε προσπάθεια — μελέτη, καθαριότητα, σκέψη.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600" spc="-1" strike="noStrike">
                <a:solidFill>
                  <a:srgbClr val="ea580c"/>
                </a:solidFill>
                <a:latin typeface="Arial"/>
              </a:rPr>
              <a:t>Έννοια στη Φυσική: </a:t>
            </a:r>
            <a:r>
              <a:rPr b="0" lang="en-US" sz="2600" spc="-1" strike="noStrike">
                <a:solidFill>
                  <a:srgbClr val="1e293b"/>
                </a:solidFill>
                <a:latin typeface="Arial"/>
              </a:rPr>
              <a:t>έργο παράγεται μόνο όταν μια δύναμη προκαλεί μετατόπιση ενός σώματος.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600" spc="-1" strike="noStrike">
                <a:solidFill>
                  <a:srgbClr val="ea580c"/>
                </a:solidFill>
                <a:latin typeface="Arial"/>
              </a:rPr>
              <a:t>Ο κανόνας: </a:t>
            </a:r>
            <a:r>
              <a:rPr b="0" lang="en-US" sz="2600" spc="-1" strike="noStrike">
                <a:solidFill>
                  <a:srgbClr val="1e293b"/>
                </a:solidFill>
                <a:latin typeface="Arial"/>
              </a:rPr>
              <a:t>αν δεν υπάρχει μετατόπιση, δεν παράγεται έργο — όσο μεγάλη δύναμη ή προσπάθεια και να ασκείται.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1"/>
          <p:cNvSpPr/>
          <p:nvPr/>
        </p:nvSpPr>
        <p:spPr>
          <a:xfrm>
            <a:off x="5054400" y="93240"/>
            <a:ext cx="2082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ΔΡΑΣΤΗΡΙΌΤΗΤΑ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2"/>
          <p:cNvSpPr/>
          <p:nvPr/>
        </p:nvSpPr>
        <p:spPr>
          <a:xfrm>
            <a:off x="4609440" y="457200"/>
            <a:ext cx="3153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f172a"/>
                </a:solidFill>
                <a:latin typeface="Verdana"/>
              </a:rPr>
              <a:t>Παράγεται Έργο;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0" name="Table 3"/>
          <p:cNvGraphicFramePr/>
          <p:nvPr/>
        </p:nvGraphicFramePr>
        <p:xfrm>
          <a:off x="680400" y="939240"/>
          <a:ext cx="10864440" cy="5690160"/>
        </p:xfrm>
        <a:graphic>
          <a:graphicData uri="http://schemas.openxmlformats.org/drawingml/2006/table">
            <a:tbl>
              <a:tblPr/>
              <a:tblGrid>
                <a:gridCol w="5432400"/>
                <a:gridCol w="5432400"/>
              </a:tblGrid>
              <a:tr h="7027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Περίπτωση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Παράγεται έργο;</a:t>
                      </a:r>
                      <a:endParaRPr b="0" lang="en-US" sz="2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</a:tr>
              <a:tr h="7027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Ένας αρσιβαρίστας σηκώνει μια μπάρα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7027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Ένα άτομο σπρώχνει έναν τοίχο (δεν κινείται)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771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Ένα άτομο στέκεται ακίνητο κρατώντας μια βαριά τσάντα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7027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Ένα βιβλίο σπρώχνεται πάνω σε ένα γραφείο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7027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Ένα βιβλίο πέφτει από ένα γραφείο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7027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Ένα άτομο κατεβαίνει τις σκάλες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702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Ένα αυτοκίνητο επιταχύνει σε επίπεδο δρόμο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3791880" y="320040"/>
            <a:ext cx="46098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ea580c"/>
                </a:solidFill>
                <a:latin typeface="Arial"/>
              </a:rPr>
              <a:t>ΥΠΟΛΟΓΙΣΜΌΣ ΤΟΥ ΈΡΓΟΥ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3060360" y="1114560"/>
            <a:ext cx="47116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f172a"/>
                </a:solidFill>
                <a:latin typeface="Verdana"/>
              </a:rPr>
              <a:t>Έργο = Δύναμη × Απόσταση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822960" y="1900080"/>
            <a:ext cx="7099200" cy="23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ea580c"/>
                </a:solidFill>
                <a:latin typeface="Arial"/>
              </a:rPr>
              <a:t>Τύπος: </a:t>
            </a:r>
            <a:r>
              <a:rPr b="0" lang="en-US" sz="2100" spc="-1" strike="noStrike">
                <a:solidFill>
                  <a:srgbClr val="1e293b"/>
                </a:solidFill>
                <a:latin typeface="Arial"/>
              </a:rPr>
              <a:t>W = F × D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ea580c"/>
                </a:solidFill>
                <a:latin typeface="Arial"/>
              </a:rPr>
              <a:t>Μονάδα μέτρησης: </a:t>
            </a:r>
            <a:r>
              <a:rPr b="0" lang="en-US" sz="2100" spc="-1" strike="noStrike">
                <a:solidFill>
                  <a:srgbClr val="1e293b"/>
                </a:solidFill>
                <a:latin typeface="Arial"/>
              </a:rPr>
              <a:t>το Joule (J) — 1 Joule είναι το έργο που παράγεται όταν μια δύναμη 1 Newton (N) μετατοπίζει ένα σώμα κατά 1 μέτρο (m).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ea580c"/>
                </a:solidFill>
                <a:latin typeface="Arial"/>
              </a:rPr>
              <a:t>Αντιστροφή τύπου: </a:t>
            </a:r>
            <a:r>
              <a:rPr b="0" lang="en-US" sz="2100" spc="-1" strike="noStrike">
                <a:solidFill>
                  <a:srgbClr val="1e293b"/>
                </a:solidFill>
                <a:latin typeface="Arial"/>
              </a:rPr>
              <a:t>F = W ÷ D,  και  D = W ÷ F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Isosceles Triangle 4"/>
          <p:cNvSpPr/>
          <p:nvPr/>
        </p:nvSpPr>
        <p:spPr>
          <a:xfrm>
            <a:off x="8300160" y="1900080"/>
            <a:ext cx="2399400" cy="199944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ea58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65" name="Connector 5"/>
          <p:cNvCxnSpPr/>
          <p:nvPr/>
        </p:nvCxnSpPr>
        <p:spPr>
          <a:xfrm>
            <a:off x="8599680" y="3049920"/>
            <a:ext cx="1800720" cy="720"/>
          </a:xfrm>
          <a:prstGeom prst="straightConnector1">
            <a:avLst/>
          </a:prstGeom>
          <a:ln w="0">
            <a:solidFill>
              <a:srgbClr val="ea580c"/>
            </a:solidFill>
          </a:ln>
        </p:spPr>
      </p:cxnSp>
      <p:sp>
        <p:nvSpPr>
          <p:cNvPr id="66" name="TextBox 6"/>
          <p:cNvSpPr/>
          <p:nvPr/>
        </p:nvSpPr>
        <p:spPr>
          <a:xfrm>
            <a:off x="9237600" y="2149920"/>
            <a:ext cx="523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ea580c"/>
                </a:solidFill>
                <a:latin typeface="Verdana"/>
              </a:rPr>
              <a:t>W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8762400" y="3200040"/>
            <a:ext cx="374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ea580c"/>
                </a:solidFill>
                <a:latin typeface="Verdana"/>
              </a:rPr>
              <a:t>F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9878040" y="3200040"/>
            <a:ext cx="442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ea580c"/>
                </a:solidFill>
                <a:latin typeface="Verdana"/>
              </a:rPr>
              <a:t>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914400" y="5029200"/>
            <a:ext cx="10699200" cy="103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</a:rPr>
              <a:t>Παράδειγμα: πόσο έργο παράγεται όταν μια δύναμη 12 N μετατοπίζει ένα σώμα κατά 7 m;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W = F × D = 12 × 7 = 84 J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1371600" y="400320"/>
            <a:ext cx="8686440" cy="651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4800600" y="320040"/>
            <a:ext cx="2048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ea580c"/>
                </a:solidFill>
                <a:latin typeface="Arial"/>
              </a:rPr>
              <a:t>Η ΣΕΙΡΆ ΣΑΣ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1643040" y="916200"/>
            <a:ext cx="71352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</a:rPr>
              <a:t>Εξάσκηση: Αντιστροφή του Τύπου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822960" y="1900080"/>
            <a:ext cx="10727280" cy="31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0" lang="en-US" sz="2600" spc="-1" strike="noStrike">
                <a:solidFill>
                  <a:srgbClr val="1e293b"/>
                </a:solidFill>
                <a:latin typeface="Arial"/>
              </a:rPr>
              <a:t>Πόσο έργο παράγεται όταν μια δύναμη 30 N μετατοπίζει ένα σώμα κατά 25 m;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0" lang="en-US" sz="2600" spc="-1" strike="noStrike">
                <a:solidFill>
                  <a:srgbClr val="1e293b"/>
                </a:solidFill>
                <a:latin typeface="Arial"/>
              </a:rPr>
              <a:t>Τι μέγεθος δύναμης θα χρειαζόταν αν 550 J έργου μετακίνησαν ένα παιχνιδοαυτοκίνητο κατά 50 m;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0" lang="en-US" sz="2600" spc="-1" strike="noStrike">
                <a:solidFill>
                  <a:srgbClr val="1e293b"/>
                </a:solidFill>
                <a:latin typeface="Arial"/>
              </a:rPr>
              <a:t>Πόση απόσταση θα διανύσει ένα σώμα αν μια δύναμη 30 N παράγει έργο 1200 J;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4509000" y="320040"/>
            <a:ext cx="31744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ea580c"/>
                </a:solidFill>
                <a:latin typeface="Arial"/>
              </a:rPr>
              <a:t>ΑΝΑΚΕΦΑΛΑΊΩΣΗ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3657600" y="1083600"/>
            <a:ext cx="4094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f172a"/>
                </a:solidFill>
                <a:latin typeface="Verdana"/>
              </a:rPr>
              <a:t>Το Έργο, με μια Ματιά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6" name="Table 3"/>
          <p:cNvGraphicFramePr/>
          <p:nvPr/>
        </p:nvGraphicFramePr>
        <p:xfrm>
          <a:off x="822960" y="1900080"/>
          <a:ext cx="10727640" cy="3326040"/>
        </p:xfrm>
        <a:graphic>
          <a:graphicData uri="http://schemas.openxmlformats.org/drawingml/2006/table">
            <a:tbl>
              <a:tblPr/>
              <a:tblGrid>
                <a:gridCol w="5364000"/>
                <a:gridCol w="5364000"/>
              </a:tblGrid>
              <a:tr h="559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Όρος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2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Σημασία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</a:tr>
              <a:tr h="559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Έργο (W)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Ενέργεια που μεταφέρεται όταν μια δύναμη μετατοπίζει ένα σώμα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59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Τύπος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W = F × 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  <a:tr h="559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Μονάδα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Joule (J) = 1 N επί 1 m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59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Χωρίς μετατόπιση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f172a"/>
                          </a:solidFill>
                          <a:latin typeface="Calibri"/>
                        </a:rPr>
                        <a:t>= μηδενικό έργο, ακόμη και με μεγάλη δύναμη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3899880" y="320040"/>
            <a:ext cx="4392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ΣΥΝΔΕΣΗ ΜΕ ΤΟ ΕΠΟΜΕΝΟ ΜΑΘΗΜΑ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3638160" y="1083600"/>
            <a:ext cx="41338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f172a"/>
                </a:solidFill>
                <a:latin typeface="Verdana"/>
              </a:rPr>
              <a:t>Μία Ερώτηση Ακόμα...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ectangle 3"/>
          <p:cNvSpPr/>
          <p:nvPr/>
        </p:nvSpPr>
        <p:spPr>
          <a:xfrm>
            <a:off x="457200" y="2332800"/>
            <a:ext cx="10743840" cy="3153240"/>
          </a:xfrm>
          <a:prstGeom prst="rect">
            <a:avLst/>
          </a:prstGeom>
          <a:solidFill>
            <a:srgbClr val="fdebdd"/>
          </a:solidFill>
          <a:ln w="19050">
            <a:solidFill>
              <a:srgbClr val="ea58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90000" tIns="2286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Arial"/>
              </a:rPr>
              <a:t>Η ανύψωση βαριών φορτίων απαιτεί πολύ έργο — πώς λοιπόν οι γερανοί, τα καρότσια, και ακόμη τα πόμολα πορτών το κάνουν να φαίνεται πιο εύκολο;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→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Επόμενο μάθημα: Απλές Μηχανές &amp; Μοχλοί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2026-10-03T20:32:54Z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