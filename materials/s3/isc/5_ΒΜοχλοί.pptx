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emf" ContentType="image/x-emf"/>
  <Override PartName="/ppt/media/image3.emf" ContentType="image/x-emf"/>
  <Override PartName="/ppt/media/image6.png" ContentType="image/png"/>
  <Override PartName="/ppt/media/image4.png" ContentType="image/png"/>
  <Override PartName="/ppt/media/image5.emf" ContentType="image/x-emf"/>
  <Override PartName="/ppt/media/image7.emf" ContentType="image/x-emf"/>
  <Override PartName="/ppt/embeddings/oleObject1.docx" ContentType="application/vnd.openxmlformats-officedocument.wordprocessingml.document"/>
  <Override PartName="/ppt/embeddings/oleObject2.docx" ContentType="application/vnd.openxmlformats-officedocument.wordprocessingml.document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69D752F-4C9F-4185-899D-AF35A2A8B83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3AC3A4F-E550-4025-A77E-F7666A05840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ECC828AD-C390-456C-A7F1-7B780B64C4CE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package" Target="../embeddings/oleObject1.docx"/><Relationship Id="rId2" Type="http://schemas.openxmlformats.org/officeDocument/2006/relationships/image" Target="../media/image2.emf"/><Relationship Id="rId3" Type="http://schemas.openxmlformats.org/officeDocument/2006/relationships/package" Target="../embeddings/oleObject2.docx"/><Relationship Id="rId4" Type="http://schemas.openxmlformats.org/officeDocument/2006/relationships/image" Target="../media/image3.emf"/><Relationship Id="rId5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package" Target="../embeddings/oleObject1.docx"/><Relationship Id="rId2" Type="http://schemas.openxmlformats.org/officeDocument/2006/relationships/image" Target="../media/image5.emf"/><Relationship Id="rId3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package" Target="../embeddings/oleObject1.docx"/><Relationship Id="rId2" Type="http://schemas.openxmlformats.org/officeDocument/2006/relationships/image" Target="../media/image7.emf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1"/>
          <p:cNvSpPr/>
          <p:nvPr/>
        </p:nvSpPr>
        <p:spPr>
          <a:xfrm>
            <a:off x="2514600" y="93240"/>
            <a:ext cx="38023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ea580c"/>
                </a:solidFill>
                <a:latin typeface="Arial"/>
              </a:rPr>
              <a:t>ΤΑΞΗ S3 • ΜΑΘΗΜΑ ΕΠΙΣΤΗΜΩΝ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TextBox 2"/>
          <p:cNvSpPr/>
          <p:nvPr/>
        </p:nvSpPr>
        <p:spPr>
          <a:xfrm>
            <a:off x="260280" y="2057400"/>
            <a:ext cx="8141040" cy="13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0f172a"/>
                </a:solidFill>
                <a:latin typeface="Verdana"/>
              </a:rPr>
              <a:t>      </a:t>
            </a:r>
            <a:r>
              <a:rPr b="1" lang="en-US" sz="4000" spc="-1" strike="noStrike">
                <a:solidFill>
                  <a:srgbClr val="0f172a"/>
                </a:solidFill>
                <a:latin typeface="Verdana"/>
              </a:rPr>
              <a:t>Απλά Μηχανήματα- Μοχλοί 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0f172a"/>
                </a:solidFill>
                <a:latin typeface="Verdana"/>
              </a:rPr>
              <a:t>	</a:t>
            </a:r>
            <a:r>
              <a:rPr b="1" lang="en-US" sz="4000" spc="-1" strike="noStrike">
                <a:solidFill>
                  <a:srgbClr val="0f172a"/>
                </a:solidFill>
                <a:latin typeface="Verdana"/>
              </a:rPr>
              <a:t>	</a:t>
            </a:r>
            <a:r>
              <a:rPr b="1" lang="en-US" sz="4000" spc="-1" strike="noStrike">
                <a:solidFill>
                  <a:srgbClr val="0f172a"/>
                </a:solidFill>
                <a:latin typeface="Verdana"/>
              </a:rPr>
              <a:t>	</a:t>
            </a:r>
            <a:r>
              <a:rPr b="1" lang="en-US" sz="4000" spc="-1" strike="noStrike">
                <a:solidFill>
                  <a:srgbClr val="0f172a"/>
                </a:solidFill>
                <a:latin typeface="Verdana"/>
              </a:rPr>
              <a:t>	</a:t>
            </a:r>
            <a:r>
              <a:rPr b="1" lang="en-US" sz="4000" spc="-1" strike="noStrike">
                <a:solidFill>
                  <a:srgbClr val="0f172a"/>
                </a:solidFill>
                <a:latin typeface="Verdana"/>
              </a:rPr>
              <a:t>	</a:t>
            </a:r>
            <a:r>
              <a:rPr b="1" lang="en-US" sz="4000" spc="-1" strike="noStrike">
                <a:solidFill>
                  <a:srgbClr val="0f172a"/>
                </a:solidFill>
                <a:latin typeface="Verdana"/>
              </a:rPr>
              <a:t>Στο σώμα μας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" descr=""/>
          <p:cNvPicPr/>
          <p:nvPr/>
        </p:nvPicPr>
        <p:blipFill>
          <a:blip r:embed="rId1"/>
          <a:stretch/>
        </p:blipFill>
        <p:spPr>
          <a:xfrm>
            <a:off x="1355040" y="3600"/>
            <a:ext cx="7395120" cy="566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867"/>
          </a:bodyPr>
          <a:p>
            <a:pPr marL="228600" indent="0">
              <a:spcAft>
                <a:spcPts val="1766"/>
              </a:spcAft>
              <a:buNone/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</a:rPr>
              <a:t>Μοχλοί στο σώμα μας</a:t>
            </a:r>
            <a:endParaRPr b="1" lang="en-US" sz="2400" spc="-1" strike="noStrike">
              <a:solidFill>
                <a:srgbClr val="000000"/>
              </a:solidFill>
              <a:latin typeface="Times New Roman"/>
            </a:endParaRPr>
          </a:p>
          <a:p>
            <a:pPr marL="228600" indent="-228600">
              <a:spcAft>
                <a:spcPts val="1766"/>
              </a:spcAft>
              <a:buNone/>
            </a:pPr>
            <a:r>
              <a:rPr b="0" lang="en-US" sz="2400" spc="-1" strike="noStrike" u="sng">
                <a:solidFill>
                  <a:srgbClr val="000000"/>
                </a:solidFill>
                <a:uFillTx/>
                <a:latin typeface="Times New Roman"/>
              </a:rPr>
              <a:t>1ου είδους — Κεφάλι στον αυχένα:</a:t>
            </a: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 η άρθρωση (ψηλά στη σπονδυλική στήλη) είναι το υπομόχλιο, οι μύες του σβέρκου (πίσω) ασκούν την προσπάθεια, το βάρος του κεφαλιού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  <a:p>
            <a:pPr marL="228600" indent="0">
              <a:spcAft>
                <a:spcPts val="1766"/>
              </a:spcAft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(μπροστά) είναι το φορτίο.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  <a:p>
            <a:pPr marL="228600" indent="-228600">
              <a:spcAft>
                <a:spcPts val="1766"/>
              </a:spcAft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400" spc="-1" strike="noStrike" u="sng">
                <a:solidFill>
                  <a:srgbClr val="000000"/>
                </a:solidFill>
                <a:uFillTx/>
                <a:latin typeface="Times New Roman"/>
              </a:rPr>
              <a:t>2ου είδους — Στάση στις μύτες των ποδιών:</a:t>
            </a: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 τα δάχτυλα του ποδιού είναι το υπομόχλιο, το βάρος του σώματος (στον αστράγαλο) είναι το φορτίο στη μέση, ο μυς (στη φτέρνα) ασκεί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  <a:p>
            <a:pPr marL="228600" indent="0">
              <a:spcAft>
                <a:spcPts val="1766"/>
              </a:spcAft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την προσπάθεια στο άλλο άκρο.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  <a:p>
            <a:pPr marL="228600" indent="-228600">
              <a:spcAft>
                <a:spcPts val="1766"/>
              </a:spcAft>
              <a:buNone/>
            </a:pPr>
            <a:r>
              <a:rPr b="0" lang="en-US" sz="2400" spc="-1" strike="noStrike" u="sng">
                <a:solidFill>
                  <a:srgbClr val="000000"/>
                </a:solidFill>
                <a:uFillTx/>
                <a:latin typeface="Times New Roman"/>
              </a:rPr>
              <a:t>3ου είδους — Λύγισμα αγκώνα (δικέφαλος):</a:t>
            </a: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 ο αγκώνας είναι το υπομόχλιο, ο δικέφαλος μυς (κοντά στον αγκώνα) ασκεί την προσπάθεια, το χέρι/αντικείμενο (πιο μακριά) είναι το φορτίο.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210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228600" indent="-228600">
              <a:spcAft>
                <a:spcPts val="1766"/>
              </a:spcAft>
              <a:buNone/>
            </a:pPr>
            <a:r>
              <a:rPr b="0" lang="en-US" sz="2400" spc="-1" strike="noStrike" u="sng">
                <a:solidFill>
                  <a:srgbClr val="000000"/>
                </a:solidFill>
                <a:uFillTx/>
                <a:latin typeface="Times New Roman"/>
              </a:rPr>
              <a:t>Ισορροπία μοχλού (ιδανική περίπτωση, χωρίς τριβή):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  <a:p>
            <a:pPr marL="228600" indent="-228600">
              <a:spcAft>
                <a:spcPts val="1766"/>
              </a:spcAft>
              <a:buNone/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  <a:p>
            <a:pPr marL="228600" indent="-228600">
              <a:spcAft>
                <a:spcPts val="1766"/>
              </a:spcAft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Δύναμη(προσπάθειας) × απόστασή της από το υπομόχλιο = Δύναμη(φορτίου) × απόστασή του από το υπομόχλιο.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graphicFrame>
        <p:nvGraphicFramePr>
          <p:cNvPr id="15" name=""/>
          <p:cNvGraphicFramePr/>
          <p:nvPr/>
        </p:nvGraphicFramePr>
        <p:xfrm>
          <a:off x="1992600" y="2298600"/>
          <a:ext cx="6119640" cy="1079640"/>
        </p:xfrm>
        <a:graphic>
          <a:graphicData uri="http://schemas.openxmlformats.org/presentationml/2006/ole">
            <p:oleObj progId="Word.Document.12" r:id="rId1" spid="">
              <p:embed/>
              <p:pic>
                <p:nvPicPr>
                  <p:cNvPr id="16" name="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992600" y="2298600"/>
                    <a:ext cx="6119640" cy="107964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17" name=""/>
          <p:cNvGraphicFramePr/>
          <p:nvPr/>
        </p:nvGraphicFramePr>
        <p:xfrm>
          <a:off x="402120" y="1875600"/>
          <a:ext cx="8596080" cy="1514160"/>
        </p:xfrm>
        <a:graphic>
          <a:graphicData uri="http://schemas.openxmlformats.org/presentationml/2006/ole">
            <p:oleObj progId="Word.Document.12" r:id="rId3" spid="">
              <p:embed/>
              <p:pic>
                <p:nvPicPr>
                  <p:cNvPr id="18" name="" descr=""/>
                  <p:cNvPicPr/>
                  <p:nvPr/>
                </p:nvPicPr>
                <p:blipFill>
                  <a:blip r:embed="rId4"/>
                  <a:stretch/>
                </p:blipFill>
                <p:spPr>
                  <a:xfrm>
                    <a:off x="402120" y="1875600"/>
                    <a:ext cx="8596080" cy="15141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" descr=""/>
          <p:cNvPicPr/>
          <p:nvPr/>
        </p:nvPicPr>
        <p:blipFill>
          <a:blip r:embed="rId1"/>
          <a:stretch/>
        </p:blipFill>
        <p:spPr>
          <a:xfrm>
            <a:off x="1652400" y="738720"/>
            <a:ext cx="6800400" cy="4200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Παράδειγμα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1. Τραμπάλα: Το παιδί Α (βάρος 480 N) κάθεται σε απόσταση 1,5 m από το υπομόχλιο. Σε ποια απόσταση πρέπει να καθίσει το παιδί Β (βάρος 420 N) στην άλλη άκρη, ώστε η τραμπάλα να ισορροπήσει;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Από τη δύναμη στο έργο και τελικά στην ενέργεια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766"/>
              </a:spcAft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Η Αναλογία του "Σούπερ Μάρκετ" για εύκολη κατανόηση: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  <a:p>
            <a:pPr indent="0">
              <a:spcAft>
                <a:spcPts val="1766"/>
              </a:spcAft>
              <a:buNone/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</a:rPr>
              <a:t>Ενέργεια:</a:t>
            </a: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 Είναι τα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</a:rPr>
              <a:t>χρήματα</a:t>
            </a: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 που έχετε στο πορτοφόλι σας (η ικανότητά σας να αγοράσετε κάτι).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  <a:p>
            <a:pPr indent="0">
              <a:spcAft>
                <a:spcPts val="1766"/>
              </a:spcAft>
              <a:buNone/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</a:rPr>
              <a:t>Δύναμη:</a:t>
            </a: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Είναι το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</a:rPr>
              <a:t>σπρώξιμο</a:t>
            </a: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 που βάζετε για να κυλήσει το καρότσι στους διαδρόμους.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  <a:p>
            <a:pPr indent="0">
              <a:spcAft>
                <a:spcPts val="1766"/>
              </a:spcAft>
              <a:buNone/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</a:rPr>
              <a:t>Έργο:</a:t>
            </a: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 Είναι η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</a:rPr>
              <a:t>συναλλαγή</a:t>
            </a:r>
            <a:r>
              <a:rPr b="0" lang="en-US" sz="2400" spc="-1" strike="noStrike">
                <a:solidFill>
                  <a:srgbClr val="000000"/>
                </a:solidFill>
                <a:latin typeface="Times New Roman"/>
              </a:rPr>
              <a:t> στο ταμείο (το ποσό των χρημάτων που μεταφέρεται από εσάς στο κατάστημα καθώς μετακινείτε το καρότσι).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graphicFrame>
        <p:nvGraphicFramePr>
          <p:cNvPr id="24" name=""/>
          <p:cNvGraphicFramePr/>
          <p:nvPr/>
        </p:nvGraphicFramePr>
        <p:xfrm>
          <a:off x="1992600" y="2298600"/>
          <a:ext cx="6119640" cy="1079640"/>
        </p:xfrm>
        <a:graphic>
          <a:graphicData uri="http://schemas.openxmlformats.org/presentationml/2006/ole">
            <p:oleObj progId="Word.Document.12" r:id="rId1" spid="">
              <p:embed/>
              <p:pic>
                <p:nvPicPr>
                  <p:cNvPr id="25" name="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992600" y="2298600"/>
                    <a:ext cx="6119640" cy="107964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" descr=""/>
          <p:cNvPicPr/>
          <p:nvPr/>
        </p:nvPicPr>
        <p:blipFill>
          <a:blip r:embed="rId1"/>
          <a:stretch/>
        </p:blipFill>
        <p:spPr>
          <a:xfrm>
            <a:off x="308520" y="685800"/>
            <a:ext cx="9067680" cy="4114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→ 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Επόμενο μάθημα: από πού προέρχεται η "ενέργεια" που μας επιτρέπει να κάνουμε έργο;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8" name=""/>
          <p:cNvGraphicFramePr/>
          <p:nvPr/>
        </p:nvGraphicFramePr>
        <p:xfrm>
          <a:off x="1992600" y="2298600"/>
          <a:ext cx="6119640" cy="1079640"/>
        </p:xfrm>
        <a:graphic>
          <a:graphicData uri="http://schemas.openxmlformats.org/presentationml/2006/ole">
            <p:oleObj progId="Word.Document.12" r:id="rId1" spid="">
              <p:embed/>
              <p:pic>
                <p:nvPicPr>
                  <p:cNvPr id="29" name="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992600" y="2298600"/>
                    <a:ext cx="6119640" cy="107964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2026-10-11T09:30:38Z</dcterms:created>
  <dc:creator/>
  <dc:description/>
  <dc:language>en-US</dc:language>
  <cp:lastModifiedBy/>
  <dcterms:modified xsi:type="dcterms:W3CDTF">2026-10-11T09:48:46Z</dcterms:modified>
  <cp:revision>2</cp:revision>
  <dc:subject/>
  <dc:title/>
</cp:coreProperties>
</file>