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1F02815-E8FD-4C87-89E3-CBE38E17B0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F611807-81EB-4AF5-B4A4-70EE1B660A5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39714F8-4CF6-48CB-8C17-B5A73FD1B4A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FEF2F3B-955F-4205-954E-74B32391749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86127095-D872-47F5-8E6C-B48B8310B33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270365B1-C2A9-4815-BB23-E75BDD1EA37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2D29B241-1697-413D-A8ED-D53FC121F70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B94CD421-0517-4758-A8C9-CEE6F9154E4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A1BED8FF-151E-4BFF-882C-4090914E5D5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DBE8D370-8499-460C-A2EE-6FF8865B305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5699548B-3004-4FDC-8D1A-D7979862FA6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36C4B25-CED8-40FE-AE41-683E00E6E58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13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944513D-BB88-4B42-BA4D-B90BB670B2E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7BB7DC1-1B63-4528-9909-31106DD4256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A802FA9-F42F-4928-8BA5-21A20BC0BDD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DCE4B62-8AD7-410A-BF47-AC3436C16E6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B96C5F3-2DFF-4013-8F3F-E7EBD3944E1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F32FA7A-270E-4869-857A-B507C9DC733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ACEFA99-3C3C-40C7-9029-62DD2BE9ADC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B5D9706-E111-4A9A-94D2-5E1D3EFA0D8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B45CCF1-5520-4EBB-BAD5-3F2B31F0848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7639148-922A-41EE-AFF3-F7B9110AAB7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1"/>
          <p:cNvSpPr/>
          <p:nvPr/>
        </p:nvSpPr>
        <p:spPr>
          <a:xfrm>
            <a:off x="4194720" y="320040"/>
            <a:ext cx="3802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a580c"/>
                </a:solidFill>
                <a:latin typeface="Arial"/>
              </a:rPr>
              <a:t>ΤΑΞΗ S3 • ΜΑΘΗΜΑ ΕΠΙΣΤΗΜΩΝ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Box 2"/>
          <p:cNvSpPr/>
          <p:nvPr/>
        </p:nvSpPr>
        <p:spPr>
          <a:xfrm>
            <a:off x="4842720" y="621720"/>
            <a:ext cx="268740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0f172a"/>
                </a:solidFill>
                <a:latin typeface="Verdana"/>
              </a:rPr>
              <a:t>Ενέργεια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Box 3"/>
          <p:cNvSpPr/>
          <p:nvPr/>
        </p:nvSpPr>
        <p:spPr>
          <a:xfrm>
            <a:off x="262440" y="1600200"/>
            <a:ext cx="118490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45556c"/>
                </a:solidFill>
                <a:latin typeface="Arial"/>
              </a:rPr>
              <a:t>Δύναμη, Έργο, Ενέργεια — τρεις έννοιες που συνδέονται στενά, αλλά δεν είναι το ίδιο πράγμα.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1"/>
          <p:cNvSpPr/>
          <p:nvPr/>
        </p:nvSpPr>
        <p:spPr>
          <a:xfrm>
            <a:off x="4735800" y="320040"/>
            <a:ext cx="2720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a580c"/>
                </a:solidFill>
                <a:latin typeface="Arial"/>
              </a:rPr>
              <a:t>ΣΥΝΔΕΣΗ ΜΕ ΤΟ ΕΡΓΟ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Box 2"/>
          <p:cNvSpPr/>
          <p:nvPr/>
        </p:nvSpPr>
        <p:spPr>
          <a:xfrm>
            <a:off x="3156480" y="621720"/>
            <a:ext cx="605988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f172a"/>
                </a:solidFill>
                <a:latin typeface="Verdana"/>
              </a:rPr>
              <a:t>Από το Έργο στην Ενέργεια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Box 3"/>
          <p:cNvSpPr/>
          <p:nvPr/>
        </p:nvSpPr>
        <p:spPr>
          <a:xfrm>
            <a:off x="822960" y="1737360"/>
            <a:ext cx="10726920" cy="31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Παράδειγμα 1: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ένας ποδοσφαιριστής ασκεί δύναμη στην μπάλα καθώς την κλοτσάει. Το έργο αυτής της δύναμης εκφράζει την ενέργεια που μεταφέρεται στην μπάλα — η μπάλα αποκτά κινητική ενέργεια.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Παράδειγμα 2: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ένας αρσιβαρίστας ασκεί δύναμη στη μπάρα που ανυψώνει. Η μπάρα αποκτά δυναμική ενέργεια, καθώς ανεβαίνει σε ύψος.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Η ιδέα: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κάθε φορά που γίνεται έργο, μεταφέρεται ενέργεια από ένα σώμα σε άλλο, ή μετατρέπεται από μια μορφή σε άλλη.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1"/>
          <p:cNvSpPr/>
          <p:nvPr/>
        </p:nvSpPr>
        <p:spPr>
          <a:xfrm>
            <a:off x="5487840" y="320040"/>
            <a:ext cx="1216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a580c"/>
                </a:solidFill>
                <a:latin typeface="Arial"/>
              </a:rPr>
              <a:t>ΟΡΙΣΜΟΣ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Box 2"/>
          <p:cNvSpPr/>
          <p:nvPr/>
        </p:nvSpPr>
        <p:spPr>
          <a:xfrm>
            <a:off x="3992400" y="621720"/>
            <a:ext cx="43880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f172a"/>
                </a:solidFill>
                <a:latin typeface="Verdana"/>
              </a:rPr>
              <a:t>Τι Είναι η Ενέργεια;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Box 3"/>
          <p:cNvSpPr/>
          <p:nvPr/>
        </p:nvSpPr>
        <p:spPr>
          <a:xfrm>
            <a:off x="822960" y="1737360"/>
            <a:ext cx="10377720" cy="17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Η ενέργεια είναι η ικανότητα ενός σώματος ή συστήματος να παράγει έργο.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685800" y="2743200"/>
            <a:ext cx="107434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Με απλά λόγια, ενέργεια είναι η ικανότητα ενός σώματος να </a:t>
            </a: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προκαλεί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αλλαγές στον εαυτό του ή στο περιβάλλον του (π.χ. να μετακινείται, να θερμαίνεται, να αλλάζει σχήμα ή να παράγει έργο).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838800" y="4572000"/>
            <a:ext cx="87616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Μονάδα μέτρησης: Στο Διεθνές Σύστημα (S.I.) τη μετράμε σε Joules (J).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101160" y="427320"/>
            <a:ext cx="12013920" cy="71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Εμφανίζεται με διάφορες μορφές: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κινητική, δυναμική, θερμική, ηλεκτρική, φωτεινή, χημική, και άλλες.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2514600" y="1085760"/>
            <a:ext cx="7086240" cy="5314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>
            <a:off x="0" y="457200"/>
            <a:ext cx="11715120" cy="71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Μετατρέπεται από μια μορφή σε άλλη: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π.χ. χημική ενέργεια → θερμική ενέργεια όταν καίμε ξύλα.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" name="" descr=""/>
          <p:cNvPicPr/>
          <p:nvPr/>
        </p:nvPicPr>
        <p:blipFill>
          <a:blip r:embed="rId1"/>
          <a:stretch/>
        </p:blipFill>
        <p:spPr>
          <a:xfrm>
            <a:off x="2886120" y="1157400"/>
            <a:ext cx="5800320" cy="547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/>
          <p:nvPr/>
        </p:nvSpPr>
        <p:spPr>
          <a:xfrm>
            <a:off x="0" y="427320"/>
            <a:ext cx="12108240" cy="71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Διατηρείται: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κατά τις μετατροπές της, η συνολική ποσότητα ενέργειας παραμένει σταθερή — δεν δημιουργείται και δεν καταστρέφεται.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" name="" descr=""/>
          <p:cNvPicPr/>
          <p:nvPr/>
        </p:nvPicPr>
        <p:blipFill>
          <a:blip r:embed="rId1"/>
          <a:stretch/>
        </p:blipFill>
        <p:spPr>
          <a:xfrm>
            <a:off x="3657600" y="1591920"/>
            <a:ext cx="5028840" cy="3776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5102280" y="320040"/>
            <a:ext cx="1987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a580c"/>
                </a:solidFill>
                <a:latin typeface="Arial"/>
              </a:rPr>
              <a:t>ΟΙ ΜΟΡΦΕΣ ΤΗΣ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3918240" y="621720"/>
            <a:ext cx="453600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f172a"/>
                </a:solidFill>
                <a:latin typeface="Verdana"/>
              </a:rPr>
              <a:t>6 Μορφές Ενέργειας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69" name="Table 3"/>
          <p:cNvGraphicFramePr/>
          <p:nvPr/>
        </p:nvGraphicFramePr>
        <p:xfrm>
          <a:off x="822960" y="1737360"/>
          <a:ext cx="10727280" cy="4122360"/>
        </p:xfrm>
        <a:graphic>
          <a:graphicData uri="http://schemas.openxmlformats.org/drawingml/2006/table">
            <a:tbl>
              <a:tblPr/>
              <a:tblGrid>
                <a:gridCol w="3575880"/>
                <a:gridCol w="3575880"/>
                <a:gridCol w="3575880"/>
              </a:tblGrid>
              <a:tr h="5853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Μορφή</a:t>
                      </a:r>
                      <a:endParaRPr b="0" lang="en-US" sz="1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Τι Είναι</a:t>
                      </a:r>
                      <a:endParaRPr b="0" lang="en-US" sz="1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Παράδειγμα</a:t>
                      </a:r>
                      <a:endParaRPr b="0" lang="en-US" sz="1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a580c"/>
                    </a:solidFill>
                  </a:tcPr>
                </a:tc>
              </a:tr>
              <a:tr h="5853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Κινητική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Σχετίζεται με την κίνηση ενός σώματος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Μια μπάλα που κινείται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5853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Δυναμική (Βαρυτική)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Αποθηκεύεται λόγω θέσης/ύψους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Μια μπάρα ψηλά στον αέρα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</a:tr>
              <a:tr h="5853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Θερμική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Σχετίζεται με τη θερμοκρασία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Ζεστό νερό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5853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Ηλεκτρική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Σχετίζεται με τη ροή ηλεκτρονίων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Ρεύμα σε καλώδιο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</a:tr>
              <a:tr h="5853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Φωτεινή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Μεταφέρεται από το φως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Ηλιακές ακτίνες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5853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Χημική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Αποθηκεύεται σε χημικούς δεσμούς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Τροφή, καύσιμα, μπαταρίες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1"/>
          <p:cNvSpPr/>
          <p:nvPr/>
        </p:nvSpPr>
        <p:spPr>
          <a:xfrm>
            <a:off x="4690080" y="320040"/>
            <a:ext cx="2811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a580c"/>
                </a:solidFill>
                <a:latin typeface="Arial"/>
              </a:rPr>
              <a:t>ΜΕΤΑΦΟΡΑ ΕΝΕΡΓΕΙΑΣ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2463840" y="621720"/>
            <a:ext cx="744516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f172a"/>
                </a:solidFill>
                <a:latin typeface="Verdana"/>
              </a:rPr>
              <a:t>3 Τρόποι Μεταφοράς Θερμότητας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3"/>
          <p:cNvSpPr/>
          <p:nvPr/>
        </p:nvSpPr>
        <p:spPr>
          <a:xfrm>
            <a:off x="822960" y="1737360"/>
            <a:ext cx="10726920" cy="277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Αγωγή (με επαφή):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η θερμότητα περνάει απευθείας από σώμα σε σώμα που βρίσκονται σε επαφή. Π.χ. ένα μεταλλικό κουτάλι μέσα σε ζεστό νερό ζεσταίνεται.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Μεταφορά/Ρεύματα (σε υγρά/αέρια):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οι θερμότερες μάζες ανεβαίνουν, οι ψυχρότερες κατεβαίνουν. Π.χ. ο ζεστός αέρας από ένα καλοριφέρ ανεβαίνει.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Ακτινοβολία (χωρίς επαφή ή μέσο):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η θερμότητα ταξιδεύει ως ηλεκτρομαγνητικά κύματα, ακόμα και μέσα στο κενό. Π.χ. ο Ήλιος ζεσταίνει τη Γη.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4629960" y="320040"/>
            <a:ext cx="2931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a580c"/>
                </a:solidFill>
                <a:latin typeface="Arial"/>
              </a:rPr>
              <a:t>ΜΕΤΑΤΡΟΠΗ ΕΝΕΡΓΕΙΑΣ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3147120" y="621720"/>
            <a:ext cx="60782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f172a"/>
                </a:solidFill>
                <a:latin typeface="Verdana"/>
              </a:rPr>
              <a:t>Η Ενέργεια Αλλάζει Μορφή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5" name="Table 3"/>
          <p:cNvGraphicFramePr/>
          <p:nvPr/>
        </p:nvGraphicFramePr>
        <p:xfrm>
          <a:off x="822960" y="1737360"/>
          <a:ext cx="10727640" cy="4097520"/>
        </p:xfrm>
        <a:graphic>
          <a:graphicData uri="http://schemas.openxmlformats.org/drawingml/2006/table">
            <a:tbl>
              <a:tblPr/>
              <a:tblGrid>
                <a:gridCol w="5364000"/>
                <a:gridCol w="5364000"/>
              </a:tblGrid>
              <a:tr h="5853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Από → Σε</a:t>
                      </a:r>
                      <a:endParaRPr b="0" lang="en-US" sz="1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Παράδειγμα</a:t>
                      </a:r>
                      <a:endParaRPr b="0" lang="en-US" sz="1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a580c"/>
                    </a:solidFill>
                  </a:tcPr>
                </a:tc>
              </a:tr>
              <a:tr h="5853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Χημική → Θερμική + Φωτεινή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Καύση ξύλων στο τζάκι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5853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Κινητική ↔ Δυναμική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Μπάλα που πετάγεται ψηλά και ξαναπέφτει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</a:tr>
              <a:tr h="5853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Ηλεκτρική → Φωτεινή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Λάμπα φωτισμού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5853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Ηλιακή → Χημική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Φωτοσύνθεση στα φυτά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</a:tr>
              <a:tr h="5853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Ηλεκτρική → Μηχανική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Ανεμιστήρας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5853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Θερμική → Κινητική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Ατμός που ανεβαίνει από βραστό νερό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/>
          <p:nvPr/>
        </p:nvSpPr>
        <p:spPr>
          <a:xfrm>
            <a:off x="4708440" y="320040"/>
            <a:ext cx="2774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a580c"/>
                </a:solidFill>
                <a:latin typeface="Arial"/>
              </a:rPr>
              <a:t>ΕΝΑΣ ΒΑΣΙΚΟΣ ΝΟΜΟΣ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1817640" y="621720"/>
            <a:ext cx="873756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f172a"/>
                </a:solidFill>
                <a:latin typeface="Verdana"/>
              </a:rPr>
              <a:t>Διατήρηση — αλλά όχι χωρίς Απώλειες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3"/>
          <p:cNvSpPr/>
          <p:nvPr/>
        </p:nvSpPr>
        <p:spPr>
          <a:xfrm>
            <a:off x="822960" y="1737360"/>
            <a:ext cx="10726920" cy="41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Ο νόμος: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η ενέργεια δεν μπορεί να δημιουργηθεί ή να καταστραφεί — μόνο να μεταφερθεί ή να μετατραπεί.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Αλλά: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κανένα σύστημα δεν είναι τέλειο. Σε κάθε μετατροπή, ένα μέρος της ενέργειας "χάνεται" — συνήθως ως θερμότητα που διαχέεται στο περιβάλλον.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Παράδειγμα: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ένα καλώδιο που ζεσταίνεται πίσω από μια τηλεόραση δεν κάνει καμία χρήσιμη εργασία — είναι χαμένη ενέργεια.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Παράδειγμα με τριβή: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όταν δύο επιφάνειες τρίβονται, εκτελείται έργο εναντίον της τριβής, που θερμαίνει τις επιφάνειες — λιπαντικό ανάμεσά τους μειώνει αυτή την απώλεια.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"/>
          <p:cNvSpPr/>
          <p:nvPr/>
        </p:nvSpPr>
        <p:spPr>
          <a:xfrm>
            <a:off x="4770360" y="320040"/>
            <a:ext cx="2651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a580c"/>
                </a:solidFill>
                <a:latin typeface="Arial"/>
              </a:rPr>
              <a:t>ΜΕΛΕΤΗ ΠΕΡΙΠΤΩΣΗΣ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4103640" y="621720"/>
            <a:ext cx="416556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f172a"/>
                </a:solidFill>
                <a:latin typeface="Verdana"/>
              </a:rPr>
              <a:t>Ο Αλεξιπτωτιστής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3"/>
          <p:cNvSpPr/>
          <p:nvPr/>
        </p:nvSpPr>
        <p:spPr>
          <a:xfrm>
            <a:off x="822960" y="1737360"/>
            <a:ext cx="10726920" cy="37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Όταν ένας αλεξιπτωτιστής πηδάει από αεροπλάνο, χάνει ύψος — άρα χάνει δυναμική ενέργεια.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Ταυτόχρονα αυξάνεται η ταχύτητά του — άρα κερδίζει κινητική ενέργεια.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Αλλά: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δεν μετατρέπεται ΟΛΗ η δυναμική ενέργεια σε κινητική — μέρος της μεταφέρεται στον αέρα (ωθεί τα σωματίδια του αέρα γύρω του) και αποθηκεύεται ως εσωτερική ενέργεια.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Το συμπέρασμα: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η ενέργεια διατηρείται συνολικά, αλλά δεν μετατρέπεται ποτέ 100% στη μορφή που θέλουμε.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1"/>
          <p:cNvSpPr/>
          <p:nvPr/>
        </p:nvSpPr>
        <p:spPr>
          <a:xfrm>
            <a:off x="4993560" y="320040"/>
            <a:ext cx="2205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a580c"/>
                </a:solidFill>
                <a:latin typeface="Arial"/>
              </a:rPr>
              <a:t>ΑΝΑΚΕΦΑΛΑΙΩΣΗ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2"/>
          <p:cNvSpPr/>
          <p:nvPr/>
        </p:nvSpPr>
        <p:spPr>
          <a:xfrm>
            <a:off x="3360600" y="621720"/>
            <a:ext cx="56516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f172a"/>
                </a:solidFill>
                <a:latin typeface="Verdana"/>
              </a:rPr>
              <a:t>Η Ενέργεια, με μια Ματιά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3"/>
          <p:cNvSpPr/>
          <p:nvPr/>
        </p:nvSpPr>
        <p:spPr>
          <a:xfrm>
            <a:off x="822960" y="1737360"/>
            <a:ext cx="10726920" cy="277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Η ενέργεια είναι η ικανότητα να παράγεται έργο — εμφανίζεται σε πολλές μορφές (κινητική, δυναμική, θερμική, ηλεκτρική, φωτεινή, χημική).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Μεταφέρεται με αγωγή, μεταφορά(ρεύματα) ή ακτινοβολία, και μετατρέπεται συνεχώς από μια μορφή σε άλλη.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Διατηρείται πάντα συνολικά — δεν δημιουργείται, δεν καταστρέφεται — αλλά κάθε μετατροπή έχει απώλειες, συνήθως ως θερμότητα.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 txBox="1"/>
          <p:nvPr/>
        </p:nvSpPr>
        <p:spPr>
          <a:xfrm>
            <a:off x="914400" y="2971800"/>
            <a:ext cx="9601200" cy="99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https://www.youtube.com/watch?v=30CjC3x7ggo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1600200" y="685800"/>
            <a:ext cx="75438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Δείτε εδώ τις μορφές ενέργειας..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2026-10-19T14:47:51Z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