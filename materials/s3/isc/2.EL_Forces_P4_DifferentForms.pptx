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EFB679-3278-4844-8B6A-07196763E3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DE43F65-85DD-463B-A926-7617F12C87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F4F0EB7-CEB8-4EEB-BACE-785F9F5C59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B0D7E56-F274-470B-A103-07F9ABF801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B328AE6-13B0-491A-B185-8043B78DB3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3AA95A1-1540-4B01-AF63-826424AC346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C41411A-610B-4DE8-9F25-FE39F0B0BE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6338DE12-E8AE-4986-8B31-E785AC83E3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2E2BB4BE-FB59-4FF7-B0C0-5184974E10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B33D9EAC-E30B-4C06-A24B-D8B84459775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13DF9FB6-7E11-4046-B5DE-8EFA24F708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4A4F5211-0ADE-400A-AF75-1725D3F226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0FEF8D2-E399-4074-9DF5-7F03C5BDA61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8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9A434C2-B2B7-4674-A252-8A9369C6501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0AB8642-6D3B-4362-B4C1-8DFD439459B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E035806-3300-45D7-962A-56913E4D6B8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4509169-ADEC-413C-8B53-8E780D1DFB7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DD4502F-3B69-4094-AFBF-8491D1AE6F2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34A129D-07FB-4959-AAAE-2CEA5CD34B4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73559B3-5102-4D75-A3BA-C7790771884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B6042A5-A7F7-473F-B2CC-5794CCD1626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FAA8720-F1E6-4190-A8BC-749F8E79DAF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85204C8-F0DE-4519-91B4-A02C82BF2DB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E272B1D-E8EE-41B6-B4CD-F6313143C47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"/>
          <p:cNvSpPr/>
          <p:nvPr/>
        </p:nvSpPr>
        <p:spPr>
          <a:xfrm>
            <a:off x="731520" y="1828800"/>
            <a:ext cx="6217200" cy="18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300" spc="-1" strike="noStrike">
                <a:solidFill>
                  <a:srgbClr val="ea580c"/>
                </a:solidFill>
                <a:latin typeface="Arial"/>
              </a:rPr>
              <a:t>YEAR S3 • SCIENCE COURSE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800"/>
              </a:spcAft>
            </a:pPr>
            <a:r>
              <a:rPr b="1" lang="en-US" sz="4000" spc="-1" strike="noStrike">
                <a:solidFill>
                  <a:srgbClr val="0F172A"/>
                </a:solidFill>
                <a:latin typeface="Verdana"/>
              </a:rPr>
              <a:t>Integrated Science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000" spc="-1" strike="noStrike">
                <a:solidFill>
                  <a:srgbClr val="0F172A"/>
                </a:solidFill>
                <a:latin typeface="Arial"/>
              </a:rPr>
              <a:t>Kalliopi Zeinaki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45556C"/>
                </a:solidFill>
                <a:latin typeface="Arial"/>
              </a:rPr>
              <a:t>European School of Heraklion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Oval 2"/>
          <p:cNvSpPr/>
          <p:nvPr/>
        </p:nvSpPr>
        <p:spPr>
          <a:xfrm>
            <a:off x="7498080" y="2743200"/>
            <a:ext cx="4022640" cy="1370880"/>
          </a:xfrm>
          <a:prstGeom prst="ellipse">
            <a:avLst/>
          </a:prstGeom>
          <a:noFill/>
          <a:ln w="19050">
            <a:solidFill>
              <a:srgbClr val="94a3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" name="Oval 3"/>
          <p:cNvSpPr/>
          <p:nvPr/>
        </p:nvSpPr>
        <p:spPr>
          <a:xfrm rot="3600000">
            <a:off x="7498080" y="2742480"/>
            <a:ext cx="4022640" cy="1370880"/>
          </a:xfrm>
          <a:prstGeom prst="ellipse">
            <a:avLst/>
          </a:prstGeom>
          <a:noFill/>
          <a:ln w="19050">
            <a:solidFill>
              <a:srgbClr val="94a3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" name="Oval 4"/>
          <p:cNvSpPr/>
          <p:nvPr/>
        </p:nvSpPr>
        <p:spPr>
          <a:xfrm rot="7200000">
            <a:off x="7498800" y="2743200"/>
            <a:ext cx="4022640" cy="1370880"/>
          </a:xfrm>
          <a:prstGeom prst="ellipse">
            <a:avLst/>
          </a:prstGeom>
          <a:noFill/>
          <a:ln w="19050">
            <a:solidFill>
              <a:srgbClr val="94a3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" name="Oval 5"/>
          <p:cNvSpPr/>
          <p:nvPr/>
        </p:nvSpPr>
        <p:spPr>
          <a:xfrm>
            <a:off x="9253800" y="3173040"/>
            <a:ext cx="511200" cy="511200"/>
          </a:xfrm>
          <a:prstGeom prst="ellipse">
            <a:avLst/>
          </a:prstGeom>
          <a:solidFill>
            <a:srgbClr val="ea58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" name="Oval 6"/>
          <p:cNvSpPr/>
          <p:nvPr/>
        </p:nvSpPr>
        <p:spPr>
          <a:xfrm>
            <a:off x="11317680" y="3581280"/>
            <a:ext cx="163800" cy="163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" name="Oval 7"/>
          <p:cNvSpPr/>
          <p:nvPr/>
        </p:nvSpPr>
        <p:spPr>
          <a:xfrm>
            <a:off x="7886520" y="3787560"/>
            <a:ext cx="163800" cy="163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" name="Oval 8"/>
          <p:cNvSpPr/>
          <p:nvPr/>
        </p:nvSpPr>
        <p:spPr>
          <a:xfrm>
            <a:off x="9078120" y="2671200"/>
            <a:ext cx="163800" cy="163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2"/>
          <p:cNvSpPr/>
          <p:nvPr/>
        </p:nvSpPr>
        <p:spPr>
          <a:xfrm>
            <a:off x="822960" y="621720"/>
            <a:ext cx="10728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0F172A"/>
                </a:solidFill>
                <a:latin typeface="Verdana"/>
              </a:rPr>
              <a:t>Διαφορετικές Μορφές Δυνάμεων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Box 3"/>
          <p:cNvSpPr/>
          <p:nvPr/>
        </p:nvSpPr>
        <p:spPr>
          <a:xfrm>
            <a:off x="457200" y="1617480"/>
            <a:ext cx="1072800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900" spc="-1" strike="noStrike">
                <a:solidFill>
                  <a:srgbClr val="45556C"/>
                </a:solidFill>
                <a:latin typeface="Arial"/>
              </a:rPr>
              <a:t>Ίδια ιδέα, διαφορετικές μεταμφιέσεις: μια ώθηση ή έλξη που εμφανίζεται ως βαρύτητα, τριβή, ελαστική δύναμη, ή μαγνητισμός.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457200" y="2572200"/>
            <a:ext cx="5028840" cy="3828240"/>
          </a:xfrm>
          <a:prstGeom prst="rect">
            <a:avLst/>
          </a:prstGeom>
          <a:ln w="0">
            <a:noFill/>
          </a:ln>
        </p:spPr>
      </p:pic>
      <p:pic>
        <p:nvPicPr>
          <p:cNvPr id="66" name="" descr=""/>
          <p:cNvPicPr/>
          <p:nvPr/>
        </p:nvPicPr>
        <p:blipFill>
          <a:blip r:embed="rId2"/>
          <a:stretch/>
        </p:blipFill>
        <p:spPr>
          <a:xfrm>
            <a:off x="6172200" y="2667240"/>
            <a:ext cx="5501880" cy="3733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5687280" y="320040"/>
            <a:ext cx="999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a580c"/>
                </a:solidFill>
                <a:latin typeface="Arial"/>
              </a:rPr>
              <a:t>ΒΑΡΥΤΗΤΑ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822960" y="621720"/>
            <a:ext cx="10728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Verdana"/>
              </a:rPr>
              <a:t>Η Δύναμη που Δεν Μπορούμε να Αποφύγουμε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822960" y="1737360"/>
            <a:ext cx="10728000" cy="17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Βαρύτητα: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  τραβάει κάθε αντικείμενο προς το κέντρο της Γης.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Βάρος: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  η δύναμη που ασκεί η βαρύτητα σε ένα αντικείμενο — γι' αυτό πιέζεις την καρέκλα σου αυτή τη στιγμή.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Στη Σελήνη: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  η βαρύτητα είναι πιο αδύναμη, γι' αυτό οι αστροναύτες πηδούν πολύ πιο ψηλά χωρίς να αλλάξει τίποτα στο σώμα τους.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6629400" y="3657600"/>
            <a:ext cx="4314600" cy="287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5868000" y="320040"/>
            <a:ext cx="637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a580c"/>
                </a:solidFill>
                <a:latin typeface="Arial"/>
              </a:rPr>
              <a:t>ΤΡΙΒΗ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822960" y="621720"/>
            <a:ext cx="10728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Verdana"/>
              </a:rPr>
              <a:t>Η Δύναμη με Διπλή Προσωπικότητα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822960" y="1737360"/>
            <a:ext cx="10728000" cy="148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Τριβή: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  η δύναμη ανάμεσα σε δύο επιφάνειες σε επαφή που αντιστέκεται στη σχετική τους κίνηση.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Ως εμπόδιο: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  η τριβή επιβραδύνει ένα έλκηθρο, ή φθείρει τα παπούτσια σου.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Ως σύμμαχος: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  η τριβή επιτρέπει στα παπούτσια σου να «πιάνουν» το έδαφος — χωρίς αυτήν, θα γλιστρούσες σαν να ήσουν μόνιμα στον πάγο.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2743200" y="3643560"/>
            <a:ext cx="5971320" cy="298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5371200" y="320040"/>
            <a:ext cx="1631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a580c"/>
                </a:solidFill>
                <a:latin typeface="Arial"/>
              </a:rPr>
              <a:t>ΕΛΑΣΤΙΚΗ ΔΥΝΑΜΗ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822960" y="621720"/>
            <a:ext cx="10728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Verdana"/>
              </a:rPr>
              <a:t>Η Δύναμη που Θέλει το Σχήμα της Πίσω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822960" y="1737360"/>
            <a:ext cx="10728000" cy="12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Ελαστική δύναμη: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  εμφανίζεται σε τεντωμένα ή συμπιεσμένα υλικά, όπως ελατήρια ή λαστιχάκια.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Δύναμη επαναφοράς: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  πάντα δρα για να επαναφέρει το αντικείμενο στο αρχικό του σχήμα.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Παράδειγμα: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  τεντώνεις ένα λαστιχάκι και το αφήνεις — δεν παραμένει τεντωμένο, επιστρέφει πίσω.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3429000" y="3200400"/>
            <a:ext cx="2304360" cy="3314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5299560" y="320040"/>
            <a:ext cx="1774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a580c"/>
                </a:solidFill>
                <a:latin typeface="Arial"/>
              </a:rPr>
              <a:t>ΜΑΓΝΗΤΙΚΗ ΔΥΝΑΜΗ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822960" y="621720"/>
            <a:ext cx="10728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Verdana"/>
              </a:rPr>
              <a:t>Η Δύναμη που Δρα Χωρίς Επαφή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822960" y="1737360"/>
            <a:ext cx="10728000" cy="17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Μαγνητική δύναμη: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  μια δύναμη που ασκούν οι μαγνήτες σε ορισμένα μέταλλα, ή μεταξύ τους, χωρίς επαφή.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Έλξη &amp; Άπωση: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  οι μαγνήτες μπορούν να έλκονται ή να απωθούνται ανάλογα με τον προσανατολισμό τους.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Δρα από απόσταση: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  όπως ακριβώς η βαρύτητα — δεν απαιτείται επαφή.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8620560" y="3296160"/>
            <a:ext cx="2580480" cy="3332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"/>
          <p:cNvSpPr/>
          <p:nvPr/>
        </p:nvSpPr>
        <p:spPr>
          <a:xfrm>
            <a:off x="5421240" y="320040"/>
            <a:ext cx="153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a580c"/>
                </a:solidFill>
                <a:latin typeface="Arial"/>
              </a:rPr>
              <a:t>ΑΝΑΚΕΦΑΛΑΙΩΣΗ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822960" y="621720"/>
            <a:ext cx="10728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Verdana"/>
              </a:rPr>
              <a:t>Οι Τέσσερις Δυνάμεις, Δίπλα-Δίπλα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85" name="Table 3"/>
          <p:cNvGraphicFramePr/>
          <p:nvPr/>
        </p:nvGraphicFramePr>
        <p:xfrm>
          <a:off x="822960" y="1737360"/>
          <a:ext cx="10727280" cy="4753800"/>
        </p:xfrm>
        <a:graphic>
          <a:graphicData uri="http://schemas.openxmlformats.org/drawingml/2006/table">
            <a:tbl>
              <a:tblPr/>
              <a:tblGrid>
                <a:gridCol w="3575880"/>
                <a:gridCol w="3575880"/>
                <a:gridCol w="3575880"/>
              </a:tblGrid>
              <a:tr h="950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Δύναμη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Επαφής ή Απόστασης;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Τι Κάνει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</a:tr>
              <a:tr h="950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Βαρύτητα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Απόστασης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Τραβάει τα αντικείμενα προς το κέντρο της Γης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950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Τριβή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Επαφής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Αντιστέκεται στην κίνηση μεταξύ επιφανειών σε επαφή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950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Ελαστική Δύναμη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Επαφής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Επαναφέρει ένα τεντωμένο/συμπιεσμένο αντικείμενο στο σχήμα του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950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Μαγνητική Δύναμη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Απόστασης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Έλκει ή απωθεί ορισμένα υλικά, χωρίς επαφή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4734720" y="320040"/>
            <a:ext cx="2904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a580c"/>
                </a:solidFill>
                <a:latin typeface="Arial"/>
              </a:rPr>
              <a:t>ΓΕΦΥΡΑ ΓΙΑ ΤΟ ΕΠΟΜΕΝΟ ΜΑΘΗΜΑ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822960" y="621720"/>
            <a:ext cx="10728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Verdana"/>
              </a:rPr>
              <a:t>Μία Ερώτηση Απομένει...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Rectangle 3"/>
          <p:cNvSpPr/>
          <p:nvPr/>
        </p:nvSpPr>
        <p:spPr>
          <a:xfrm>
            <a:off x="822960" y="2011680"/>
            <a:ext cx="10728000" cy="2010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4"/>
          <p:cNvSpPr/>
          <p:nvPr/>
        </p:nvSpPr>
        <p:spPr>
          <a:xfrm>
            <a:off x="1097280" y="2512800"/>
            <a:ext cx="1017936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262626"/>
                </a:solidFill>
                <a:latin typeface="Arial"/>
              </a:rPr>
              <a:t>Κάθε υπολογισμός δύναμης που έχετε κάνει μέχρι τώρα εξαρτάται από τη μάζα ενός σώματος — αλλά ποια είναι η πραγματική διαφορά ανάμεσα στη μάζα και το βάρος;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i="1" lang="en-US" sz="1400" spc="-1" strike="noStrike">
                <a:solidFill>
                  <a:srgbClr val="ea580c"/>
                </a:solidFill>
                <a:latin typeface="Arial"/>
              </a:rPr>
              <a:t>→ </a:t>
            </a:r>
            <a:r>
              <a:rPr b="0" i="1" lang="en-US" sz="1400" spc="-1" strike="noStrike">
                <a:solidFill>
                  <a:srgbClr val="ea580c"/>
                </a:solidFill>
                <a:latin typeface="Arial"/>
              </a:rPr>
              <a:t>Επόμενο μάθημα: Μάζα και Βάρος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2026-09-21T14:16:49Z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