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586D0-A95C-4A76-B664-81ACCD1597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F3C9AF-73F8-4780-A6CD-15E071F3CE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B56739D5-3A7B-4F23-9A63-FFF6ED2244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7A31048-56C4-48CD-977A-F9702D8ABA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883EBBF-9ABA-4F24-89D4-71C7DD03E9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35F9D70-8084-4B55-AE4A-4CA2F04514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E608A5DF-1C1D-496B-9623-9CDACBCB3C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5A5CDFA-CED3-4C52-B572-C8ECC722394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F52A612-9CFF-4E52-BEAF-620EFB1854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1813D538-6B4D-42ED-BBB3-FA7BD3F49F3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305D989B-CF45-44D2-9841-FC3497C2C4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64E3129-6CF3-4649-88BE-711D6F8958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63D64F-52D1-415F-A6B7-DB263CE3C9E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858EC7-DC28-4EC6-A4FE-F0E0C725113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4E2E99-523C-4A0E-BD35-CDBD6C99CF5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E4EE11-8E3A-44B6-B3DD-35C95A493A0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B7B64D-13F3-4D88-BCB1-84F4248B3A9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45E09D-6334-4B1F-96C4-406B27C772A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07647D-F78C-4FF5-B61A-3D82A8C4422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EBF23C-EBE4-4253-8642-53DE9874406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C25D42-5C9E-4192-8AFC-932751626F1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9572D3-AA44-44E0-B7A7-073BB142DF0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4281120" y="621720"/>
            <a:ext cx="381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0F172A"/>
                </a:solidFill>
                <a:latin typeface="Verdana"/>
              </a:rPr>
              <a:t>Μάζα και Βάρος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792720" y="1600200"/>
            <a:ext cx="10788120" cy="6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45556C"/>
                </a:solidFill>
                <a:latin typeface="Arial"/>
              </a:rPr>
              <a:t>Γιατί οι αστροναύτες πηδούν τόσο πιο ψηλά στη Σελήνη — έγιναν πιο ελαφριοί, ή άλλαξε κάτι άλλο; 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45556C"/>
                </a:solidFill>
                <a:latin typeface="Arial"/>
              </a:rPr>
              <a:t>Μέχρι το τέλος του μαθήματος θα μπορείς να εξηγήσεις ακριβώς τι άλλαξε, και τι όχι.</a:t>
            </a:r>
            <a:endParaRPr b="0" lang="en-US" sz="1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5516280" y="320040"/>
            <a:ext cx="1159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ΔΙΕΡΕΥΝΗΣΗ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1531800" y="621720"/>
            <a:ext cx="93099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Το Ίδιο Αντικείμενο, Δύο Διαφορετικοί Αριθμοί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822960" y="1737360"/>
            <a:ext cx="10727640" cy="21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Βήμα 1: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ζυγίζουμε ένα αντικείμενο ~1 kg σε μια ζυγαριά. Διάβασε τον αριθμό προσεκτικά — αυτή είναι η μάζα του αντικειμένου, σε κιλά (kg).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Βήμα 2: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τώρα κρεμάμε το ίδιο ακριβώς αντικείμενο σε δυναμόμετρο. Διάβασε και αυτόν τον αριθμό — θα είναι διαφορετικός, σε newton (N). Αυτό είναι το βάρος του.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Το αίνιγμα: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ίδιο αντικείμενο, ίδια στιγμή, δύο διαφορετικά όργανα, δύο διαφορετικοί αριθμοί. Αν τίποτα δεν άλλαξε στο αντικείμενο ανάμεσα στις δύο μετρήσεις, γιατί δεν ταιριάζουν οι αριθμοί;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Καθημερινή παγίδα: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στην καθημερινή γλώσσα λέμε «πόσο ζυγίζεις;» εννοώντας στην ουσία τη μάζα — αυτό το μάθημα ξεδιαλύνει τα δύο.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5085720" y="320040"/>
            <a:ext cx="2020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Η ΕΠΙΣΤΗΜΗ — ΜΕΡΟΣ 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4574520" y="621720"/>
            <a:ext cx="32245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Τι Είναι η Μάζα;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822960" y="1737360"/>
            <a:ext cx="1072764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Ορισμός: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η μάζα είναι η ποσότητα ύλης — η ποσότητα «υλικού» — που περιέχει ένα αντικείμενο. Περισσότερη ύλη σημαίνει περισσότερη μάζα.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Μονάδα: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μετριέται σε κιλά (kg); μικρότερες ποσότητες σε γραμμάρια (g), όπου 1000 g = 1 kg.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Βασική ιδιότητα: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η μάζα δεν αλλάζει ανάλογα με το πού βρίσκεται το αντικείμενο. Ένα σακί ρύζι 5 kg έχει μάζα 5 kg στη Γη, στη Σελήνη, στο διάστημα — παντού.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Όργανο μέτρησης: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μετριέται με ζυγαριά, που συγκρίνει το αντικείμενο με γνωστές μάζες (ή με ένα βαθμονομημένο ελατήριο στο εσωτερικό της).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5085720" y="320040"/>
            <a:ext cx="202068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Η ΕΠΙΣΤΗΜΗ — ΜΕΡΟΣ 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414320" y="621720"/>
            <a:ext cx="35445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Τι Είναι το Βάρος;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1737360"/>
            <a:ext cx="1072764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Ορισμός: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το βάρος είναι δύναμη — συγκεκριμένα, η δύναμη με την οποία η βαρύτητα έλκει τη μάζα ενός αντικειμένου. Επειδή είναι δύναμη, μετριέται σε newton (N), όπως κάθε άλλη δύναμη.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Ο τύπος: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Β = m × g, όπου m είναι η μάζα (kg) και g είναι η τοπική ένταση του βαρυτικού πεδίου.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Τι είναι το g;: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το g δείχνει πόσο έντονα έλκει η βαρύτητα σε έναν τόπο· στη Γη, g ≈ 9,8 N έλξης για κάθε 1 kg μάζας, γραμμένο ως g ≈ 9,8 N/kg.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Βασική ιδιότητα: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το βάρος αλλάζει αν αλλάξεις τόπο, επειδή το g αλλάζει από κόσμο σε κόσμο — ακόμα και όταν η μάζα του αντικειμένου παραμένει ακριβώς η ίδια.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5074920" y="320040"/>
            <a:ext cx="20419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ΛΥΜΕΝΑ ΠΑΡΑΔΕΙΓΜΑΤΑ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3345480" y="621720"/>
            <a:ext cx="56826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Κάνουμε τους Υπολογισμούς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822960" y="1737360"/>
            <a:ext cx="10727640" cy="13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Παράδειγμα 1: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ένα σακί έχει μάζα m = 50 kg. Το βάρος του στη Γη είναι Β = m × g = 50 × 9,8 = 490 N.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Παράδειγμα 2: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το ίδιο σακί 50 kg, μεταφερμένο στη Σελήνη (g ≈ 1,6 N/kg): Β = 50 × 1,6 = 80 N — πολύ πιο ελαφρό στο σήκωμα, αν και είναι το ίδιο ακριβώς σακί, με την ίδια ακριβώς μάζα.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Το μοτίβο: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παρατήρησε ότι η μάζα (50 kg) δεν αλλάζει ανάμεσα στα δύο παραδείγματα — μόνο το g αλλάζει, και αυτό αλλάζει το βάρος.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1"/>
          <p:cNvSpPr/>
          <p:nvPr/>
        </p:nvSpPr>
        <p:spPr>
          <a:xfrm>
            <a:off x="5477400" y="320040"/>
            <a:ext cx="123732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ΔΟΚΙΜΑΣΕ ΤΟ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4117320" y="621720"/>
            <a:ext cx="4138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Γη εναντίον Σελήνης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822960" y="1737360"/>
            <a:ext cx="10727640" cy="19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Στη Γη: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ένας μαθητής 40 kg ζυγίζει Β = 40 × 9,8 ≈ 392 N — αυτή είναι η δύναμη με την οποία η βαρύτητα τον τραβάει προς το έδαφος, και η δύναμη που τα πόδια του πρέπει να νικήσουν κάθε φορά που πηδάει.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Στη Σελήνη: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η βαρύτητα είναι πιο αδύναμη εκεί (g ≈ 1,6 N/kg), οπότε ο ίδιος μαθητής ζυγίζει μόνο 40 × 1,6 = 64 N — περίπου το ένα έκτο του βάρους του στη Γη.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Τι άλλαξε;: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η μάζα του μαθητή παραμένει ακριβώς 40 kg και στους δύο κόσμους. Μόνο το βάρος άλλαξε — γι’ αυτό οι ίδιοι μύες, σπρώχνοντας ενάντια σε πολύ μικρότερο βάρος, μπορούν να τον εκτοξεύσουν τόσο πιο ψηλά.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1"/>
          <p:cNvSpPr/>
          <p:nvPr/>
        </p:nvSpPr>
        <p:spPr>
          <a:xfrm>
            <a:off x="4973760" y="320040"/>
            <a:ext cx="22446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ΣΤΟ ΗΛΙΑΚΟ ΜΑΣ ΣΥΣΤΗΜΑ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3139560" y="621720"/>
            <a:ext cx="60940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Ίδια Μάζα, Διαφορετικό Βάρος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86" name="Table 3"/>
          <p:cNvGraphicFramePr/>
          <p:nvPr/>
        </p:nvGraphicFramePr>
        <p:xfrm>
          <a:off x="822960" y="1737360"/>
          <a:ext cx="10727640" cy="2599560"/>
        </p:xfrm>
        <a:graphic>
          <a:graphicData uri="http://schemas.openxmlformats.org/drawingml/2006/table">
            <a:tbl>
              <a:tblPr/>
              <a:tblGrid>
                <a:gridCol w="3575880"/>
                <a:gridCol w="3575880"/>
                <a:gridCol w="3575880"/>
              </a:tblGrid>
              <a:tr h="519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Κόσμος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g (N/kg)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Βάρος αντικειμένου 40 kg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519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Γη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9,8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392 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19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Σελήνη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1,6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64 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19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Άρης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3,7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148 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5198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Δίας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24,8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992 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87" name="TextBox 4"/>
          <p:cNvSpPr/>
          <p:nvPr/>
        </p:nvSpPr>
        <p:spPr>
          <a:xfrm>
            <a:off x="822960" y="4500000"/>
            <a:ext cx="107276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Γιατί η διαφορά;: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οι μεγαλύτεροι, πιο μαζικοί πλανήτες έλκουν πιο έντονα — γι’ αυτό το g είναι πολύ μεγαλύτερο στον Δία απ’ ότι στη Σελήνη.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5330880" y="320040"/>
            <a:ext cx="15300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ΑΝΑΚΕΦΑΛΑΙΩΣΗ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3257640" y="621720"/>
            <a:ext cx="585792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Μάζα και Βάρος, Δίπλα-Δίπλα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90" name="Table 3"/>
          <p:cNvGraphicFramePr/>
          <p:nvPr/>
        </p:nvGraphicFramePr>
        <p:xfrm>
          <a:off x="822960" y="1737360"/>
          <a:ext cx="10727640" cy="1999800"/>
        </p:xfrm>
        <a:graphic>
          <a:graphicData uri="http://schemas.openxmlformats.org/drawingml/2006/table">
            <a:tbl>
              <a:tblPr/>
              <a:tblGrid>
                <a:gridCol w="2682000"/>
                <a:gridCol w="2682000"/>
                <a:gridCol w="2682000"/>
                <a:gridCol w="2682000"/>
              </a:tblGrid>
              <a:tr h="666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Μέγεθος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Μονάδα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Σταθερότητα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Εργαλείο Μέτρησης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a580c"/>
                    </a:solidFill>
                  </a:tcPr>
                </a:tc>
              </a:tr>
              <a:tr h="666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Μάζα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kg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Ίδια παντού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Ζυγαριά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6663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Βάρος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N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Αλλάζει με τη βαρύτητα (Β=m×g)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262626"/>
                          </a:solidFill>
                          <a:latin typeface="Calibri"/>
                        </a:rPr>
                        <a:t>Δυναμόμετρο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91" name="TextBox 4"/>
          <p:cNvSpPr/>
          <p:nvPr/>
        </p:nvSpPr>
        <p:spPr>
          <a:xfrm>
            <a:off x="822960" y="3899880"/>
            <a:ext cx="1072764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•  </a:t>
            </a:r>
            <a:r>
              <a:rPr b="1" lang="en-US" sz="1700" spc="-1" strike="noStrike">
                <a:solidFill>
                  <a:srgbClr val="ea580c"/>
                </a:solidFill>
                <a:latin typeface="Arial"/>
              </a:rPr>
              <a:t>Να θυμάσαι: </a:t>
            </a:r>
            <a:r>
              <a:rPr b="0" lang="en-US" sz="1700" spc="-1" strike="noStrike">
                <a:solidFill>
                  <a:srgbClr val="1E293B"/>
                </a:solidFill>
                <a:latin typeface="Arial"/>
              </a:rPr>
              <a:t>η μάζα απαντά στο «πόσο υλικό;»· το βάρος απαντά στο «πόσο έντονα το τραβάει η βαρύτητα, αυτή τη στιγμή, εδώ;»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4644360" y="320040"/>
            <a:ext cx="29030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ea580c"/>
                </a:solidFill>
                <a:latin typeface="Arial"/>
              </a:rPr>
              <a:t>ΓΕΦΥΡΑ ΓΙΑ ΤΟ ΕΠΟΜΕΝΟ ΜΑΘΗΜΑ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3975480" y="621720"/>
            <a:ext cx="442224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Verdana"/>
              </a:rPr>
              <a:t>Μία Ερώτηση Ακόμα...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 3"/>
          <p:cNvSpPr/>
          <p:nvPr/>
        </p:nvSpPr>
        <p:spPr>
          <a:xfrm>
            <a:off x="822960" y="2011680"/>
            <a:ext cx="10727640" cy="2010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74320" rIns="90000" tIns="2286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62626"/>
                </a:solidFill>
                <a:latin typeface="Arial"/>
              </a:rPr>
              <a:t>Αν ένα ρόβερ στον Άρη έχει μάζα 900 kg, είναι αυτός ο ίδιος αριθμός που θα χρησιμοποιούσε η NASA για να υπολογίσει πόσο πιέζει το έδαφος του Άρη;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ea580c"/>
                </a:solidFill>
                <a:latin typeface="Arial"/>
              </a:rPr>
              <a:t>→ </a:t>
            </a:r>
            <a:r>
              <a:rPr b="0" lang="en-US" sz="1400" spc="-1" strike="noStrike">
                <a:solidFill>
                  <a:srgbClr val="ea580c"/>
                </a:solidFill>
                <a:latin typeface="Arial"/>
              </a:rPr>
              <a:t>Μάθημα 6: Ανακεφαλαίωση Δυνάμεων &amp; Εξάσκηση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2026-09-23T12:39:45Z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