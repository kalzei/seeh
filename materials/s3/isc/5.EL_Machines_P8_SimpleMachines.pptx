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media/image5.png" ContentType="image/png"/>
  <Override PartName="/ppt/media/image8.jpeg" ContentType="image/jpe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282F53-F8FB-4740-9452-0F9C6E9FC9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3665BC4-96CE-4C35-9453-DEF50FB113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0FD7940-D8F1-4863-BB06-3F2D45378F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D33CF06-D10B-43D4-9BD9-2CCA06D515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2720323-FA15-4487-882E-E976327C88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DA6660E-1B74-4968-98F0-D1AE82A229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2B874FB-C32B-46CB-B62A-83B36EC6B3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832C812-E7CD-40D1-9A38-9FF40BA932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0437F9C-77C2-4C6E-AAA7-6AC470F4DD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27EC029-20BB-4526-978F-9218959317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A8C92ED-5C17-4FEB-824D-54E8C7C2DD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A7803B8-55F8-4007-A006-A685CD37579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F6063A-8A9B-4331-8AD3-5827CAA434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1629F33-9CB8-40A6-AFCA-E9E3689239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08F49B1-3EE5-4607-B5B6-FF576C2ADE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C0A1446-40F4-4783-9A63-A3607D4BF0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5F7EE4C-56DD-44A9-B06B-7A47556B68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D02A23-B9A9-40EA-8C5E-2C61A93164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412C62D-D475-44FE-935A-5652B7EAE4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55D7B8A-D2F4-477E-83F6-81629E9AB0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DB8E0B-D228-4EE1-ACB1-8D88BC2A01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6962A6-B081-4B7B-B035-2ACAAE7D49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share.google/M0HowgdbnI2d7OGZe" TargetMode="External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4194720" y="320040"/>
            <a:ext cx="3802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ΤΑΞΗ S3 • ΜΑΘΗΜΑ ΕΠΙΣΤΗΜΩΝ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3685320" y="621720"/>
            <a:ext cx="50025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Απλά Μηχανήματα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132840" y="1600200"/>
            <a:ext cx="12107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45556c"/>
                </a:solidFill>
                <a:latin typeface="Arial"/>
              </a:rPr>
              <a:t>Πώς οι άνθρωποι πολλαπλασιάζουν τη δύναμή τους — χωρίς κινητήρες, μόνο με έξυπνη φυσική.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1"/>
          <p:cNvSpPr/>
          <p:nvPr/>
        </p:nvSpPr>
        <p:spPr>
          <a:xfrm>
            <a:off x="5222160" y="320040"/>
            <a:ext cx="1747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ΤΟ ΕΡΕΘΙΣΜΑ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2"/>
          <p:cNvSpPr/>
          <p:nvPr/>
        </p:nvSpPr>
        <p:spPr>
          <a:xfrm>
            <a:off x="2887200" y="621720"/>
            <a:ext cx="65984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Πώς Χτίστηκαν οι Πυραμίδες;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3"/>
          <p:cNvSpPr/>
          <p:nvPr/>
        </p:nvSpPr>
        <p:spPr>
          <a:xfrm>
            <a:off x="822960" y="1343880"/>
            <a:ext cx="10727280" cy="31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Οι αρχαίοι Αιγύπτιοι έκοψαν, μετέφεραν και τοποθέτησαν πέτρινα μπλοκ που ζύγιζαν περίπου 9.000 κιλά — χωρίς γερανούς, φορτηγά ή μπουλντόζες.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Η ερώτηση: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πώς είναι δυνατόν να μετακινήσεις κάτι τόσο βαρύ, μόνο με τα χέρια σου και λίγα εργαλεία;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Η απάντηση: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με απλά μηχανήματα —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εργαλεία που πολλαπλασιάζουν τη δύναμή μας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και διευκολύνουν την εργασία.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7517160" y="3129120"/>
            <a:ext cx="4369680" cy="349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5487840" y="320040"/>
            <a:ext cx="1216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ΟΡΙΣΜΟΣ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1802160" y="621720"/>
            <a:ext cx="87685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6 Απλά Μηχανήματα, Παντού Γύρω Μας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Picture 4" descr="Απλές_Μηχανές_0.png"/>
          <p:cNvPicPr/>
          <p:nvPr/>
        </p:nvPicPr>
        <p:blipFill>
          <a:blip r:embed="rId1"/>
          <a:stretch/>
        </p:blipFill>
        <p:spPr>
          <a:xfrm>
            <a:off x="228600" y="1487520"/>
            <a:ext cx="7086240" cy="308412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429680" y="2286000"/>
            <a:ext cx="4457160" cy="406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Table 1"/>
          <p:cNvGraphicFramePr/>
          <p:nvPr/>
        </p:nvGraphicFramePr>
        <p:xfrm>
          <a:off x="2080800" y="1395000"/>
          <a:ext cx="6217200" cy="4830480"/>
        </p:xfrm>
        <a:graphic>
          <a:graphicData uri="http://schemas.openxmlformats.org/drawingml/2006/table">
            <a:tbl>
              <a:tblPr/>
              <a:tblGrid>
                <a:gridCol w="2072520"/>
                <a:gridCol w="2072520"/>
                <a:gridCol w="2072520"/>
              </a:tblGrid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Μηχάνημα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Πώς Βοηθά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Παράδειγμα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Μοχλός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Αυξάνει/μειώνει τη δύναμη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Σφήνα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Κόβει/χωρίζει αντικείμενα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Βίδα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Μετατρέπει στροφική σε γραμμική κίνηση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Κεκλιμένο Επίπεδο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Μειώνει τη δύναμη για ανύψωση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Τροχός &amp; Άξονας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Μειώνει την τριβή στην κίνηση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Τροχαλία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Αλλάζει τη διεύθυνση της δύναμης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62" name="TextBox 6"/>
          <p:cNvSpPr/>
          <p:nvPr/>
        </p:nvSpPr>
        <p:spPr>
          <a:xfrm>
            <a:off x="1746720" y="78120"/>
            <a:ext cx="87685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6 Απλά Μηχανήματα, Παντού Γύρω Μας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able 4"/>
          <p:cNvGraphicFramePr/>
          <p:nvPr/>
        </p:nvGraphicFramePr>
        <p:xfrm>
          <a:off x="2080800" y="1395000"/>
          <a:ext cx="6217200" cy="4830480"/>
        </p:xfrm>
        <a:graphic>
          <a:graphicData uri="http://schemas.openxmlformats.org/drawingml/2006/table">
            <a:tbl>
              <a:tblPr/>
              <a:tblGrid>
                <a:gridCol w="2072520"/>
                <a:gridCol w="2072520"/>
                <a:gridCol w="2072520"/>
              </a:tblGrid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Μηχάνημα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Πώς Βοηθά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Παράδειγμα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Μοχλός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Αυξάνει/μειώνει τη δύναμη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Λοστός, ψαλίδι, πένσα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Σφήνα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Κόβει/χωρίζει αντικείμενα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Μαχαίρι, τσεκούρι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Βίδα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Μετατρέπει στροφική σε γραμμική κίνηση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Βίδες, καπάκια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Κεκλιμένο Επίπεδο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Μειώνει τη δύναμη για ανύψωση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Ράμπα, σκάλα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Τροχός &amp; Άξονας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Μειώνει την τριβή στην κίνηση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Ποδήλατο, αυτοκίνητο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Τροχαλία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Αλλάζει τη διεύθυνση της δύναμης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Γερανός, ανελκυστήρας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64" name="TextBox 7"/>
          <p:cNvSpPr/>
          <p:nvPr/>
        </p:nvSpPr>
        <p:spPr>
          <a:xfrm>
            <a:off x="1746720" y="78120"/>
            <a:ext cx="87685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6 Απλά Μηχανήματα, Παντού Γύρω Μας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4700160" y="320040"/>
            <a:ext cx="2791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ΤΟ ΠΡΩΤΟ ΜΗΧΑΝΗΜΑ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1358640" y="621720"/>
            <a:ext cx="96555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Ο Μοχλός: Προσπάθεια, Φορτίο, Υπομόχλιο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822960" y="1737360"/>
            <a:ext cx="6034320" cy="444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Ορισμός: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ο μοχλός είναι μια άκαμπτη δοκός που περιστρέφεται γύρω από ένα σταθερό σημείο στήριξης (υπομόχλιο).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Προσπάθεια (δύναμη εισόδου):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η δύναμη που ασκούμε εμείς.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Φορτίο (δύναμη εξόδου):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το βάρος που θέλουμε να μετακινήσουμε.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Ροπή: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η ικανότητα μιας δύναμης να περιστρέφει ένα σώμα γύρω από έναν άξονα — εξαρτάται και από το σημείο εφαρμογής της δύναμης, όχι μόνο από το μέγεθός της. (Γι' αυτό σπρώχνουμε μια πόρτα κοντά στο πόμολο, όχι κοντά στους μεντεσέδες.)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Picture 4" descr="Simple_Machines_Levers_3.jpeg"/>
          <p:cNvPicPr/>
          <p:nvPr/>
        </p:nvPicPr>
        <p:blipFill>
          <a:blip r:embed="rId1"/>
          <a:stretch/>
        </p:blipFill>
        <p:spPr>
          <a:xfrm>
            <a:off x="7223760" y="1920240"/>
            <a:ext cx="4205520" cy="236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745880" y="320040"/>
            <a:ext cx="270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ΚΑΤΗΓΟΡΙΕΣ ΜΟΧΛΩΝ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315320" y="621720"/>
            <a:ext cx="37422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3 Τύποι Μοχλών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1" name="Table 3"/>
          <p:cNvGraphicFramePr/>
          <p:nvPr/>
        </p:nvGraphicFramePr>
        <p:xfrm>
          <a:off x="1676520" y="1760040"/>
          <a:ext cx="7863480" cy="3399840"/>
        </p:xfrm>
        <a:graphic>
          <a:graphicData uri="http://schemas.openxmlformats.org/drawingml/2006/table">
            <a:tbl>
              <a:tblPr/>
              <a:tblGrid>
                <a:gridCol w="2621160"/>
                <a:gridCol w="2621160"/>
                <a:gridCol w="2621520"/>
              </a:tblGrid>
              <a:tr h="84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Τύπος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Διάταξη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Παραδείγματα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84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1ου Είδους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Υπομόχλιο ΑΝΑΜΕΣΑ σε προσπάθεια και φορτίο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84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2ου Είδους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Φορτίο ΑΝΑΜΕΣΑ σε υπομόχλιο και προσπάθεια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84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3ου Είδους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Προσπάθεια ΑΝΑΜΕΣΑ σε υπομόχλιο και φορτίο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Table 2"/>
          <p:cNvGraphicFramePr/>
          <p:nvPr/>
        </p:nvGraphicFramePr>
        <p:xfrm>
          <a:off x="1676880" y="1760400"/>
          <a:ext cx="7863480" cy="3399840"/>
        </p:xfrm>
        <a:graphic>
          <a:graphicData uri="http://schemas.openxmlformats.org/drawingml/2006/table">
            <a:tbl>
              <a:tblPr/>
              <a:tblGrid>
                <a:gridCol w="2621160"/>
                <a:gridCol w="2621160"/>
                <a:gridCol w="2621520"/>
              </a:tblGrid>
              <a:tr h="84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Τύπος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Διάταξη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Παραδείγματα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84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1ου Είδους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Υπομόχλιο ΑΝΑΜΕΣΑ σε προσπάθεια και φορτίο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Τραμπάλα, ψαλίδι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84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2ου Είδους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Φορτίο ΑΝΑΜΕΣΑ σε υπομόχλιο και προσπάθεια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Καροτσάκι, καρυοθραύστης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849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3ου Είδους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Προσπάθεια ΑΝΑΜΕΣΑ σε υπομόχλιο και φορτίο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Τσιμπιδάκι, σκούπα, καλάμι ψαρέματος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73" name="TextBox 4"/>
          <p:cNvSpPr/>
          <p:nvPr/>
        </p:nvSpPr>
        <p:spPr>
          <a:xfrm>
            <a:off x="4745880" y="320040"/>
            <a:ext cx="270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ΚΑΤΗΓΟΡΙΕΣ ΜΟΧΛΩΝ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4315320" y="621720"/>
            <a:ext cx="37422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3 Τύποι Μοχλών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Απλές_Μηχανές_-_Μοχλός_3.png"/>
          <p:cNvPicPr/>
          <p:nvPr/>
        </p:nvPicPr>
        <p:blipFill>
          <a:blip r:embed="rId1"/>
          <a:stretch/>
        </p:blipFill>
        <p:spPr>
          <a:xfrm>
            <a:off x="1976400" y="1143000"/>
            <a:ext cx="73958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707000" y="320040"/>
            <a:ext cx="277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Η ΜΑΘΗΜΑΤΙΚΗ ΣΧΕΣΗ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3490200" y="621720"/>
            <a:ext cx="53928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Μηχανικό Πλεονέκτημα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822960" y="1737360"/>
            <a:ext cx="6034320" cy="47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Μηχανικό πλεονέκτημα: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όταν η απόσταση της προσπάθειας από το υπομόχλιο είναι μεγαλύτερη από την απόσταση του φορτίου — μικρή δύναμη μπορεί να σηκώσει μεγάλο φορτίο!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Παράδειγμα: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ένας σιδερένιος λοστός κάτω από έναν βράχο — αν πατήσεις στην άκρη που είναι πιο μακριά από το σημείο στήριξης, χρειάζεσαι πολύ λιγότερη δύναμη για να σηκώσεις τον βράχο, γιατί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η απόσταση "πολλαπλασιάζει" τη δύναμή σου.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7054560" y="1828800"/>
            <a:ext cx="4614480" cy="365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914400" y="284400"/>
            <a:ext cx="9372240" cy="177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Παράδειγμα: ένας καρυοθραύστης — όσο πιο κοντά βάζεις το καρύδι στο σημείο στήριξης (τον μεντεσέ), τόσο λιγότερη δύναμη χρειάζεται το χέρι σου για να το σπάσεις, γιατί η απόσταση από το χέρι σου μέχρι τον μεντεσέ είναι πολύ μεγαλύτερη από την απόσταση του καρυδιού.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3200400" y="1828800"/>
            <a:ext cx="4350600" cy="422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705560" y="320040"/>
            <a:ext cx="278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ΕΝΑ ΑΛΛΟ ΜΗΧΑΝΗΜΑ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871520" y="621720"/>
            <a:ext cx="26298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Η Τροχαλία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822960" y="1737360"/>
            <a:ext cx="6034320" cy="47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Βρίσκουμε τροχαλίες σε γερανούς, ανελκυστήρες, πλοία και σημαιοστάτες.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Πώς βοηθά: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αλλάζει τη διεύθυνση της δύναμης (τραβάς προς τα κάτω, το φορτίο ανεβαίνει) και, με περισσότερες τροχαλίες, μειώνει τη δύναμη που χρειάζεται.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Μηχανικό πλεονέκτημα: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Με άλλα λόγια: όσες περισσότερες τροχαλίες χρησιμοποιείς, τόσο πιο εύκολα σηκώνεις το βάρος — αλλά πρέπει να τραβήξεις το σκοινί πολύ περισσότερο.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Δεν "κερδίζουμε" δύναμη από το πουθενά·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απλά την ανταλλάσσουμε με απόσταση.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Picture 4" descr="crane_pulley.jpg"/>
          <p:cNvPicPr/>
          <p:nvPr/>
        </p:nvPicPr>
        <p:blipFill>
          <a:blip r:embed="rId1"/>
          <a:stretch/>
        </p:blipFill>
        <p:spPr>
          <a:xfrm>
            <a:off x="8138160" y="1600200"/>
            <a:ext cx="3291120" cy="455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5059800" y="320040"/>
            <a:ext cx="2072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ΔΡΑΣΤΗΡΙΟΤΗΤΑ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4070160" y="621720"/>
            <a:ext cx="42328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Βρες το Μηχάνημα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822960" y="1737360"/>
            <a:ext cx="10727280" cy="27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Κοίτα γύρω σου στην τάξη ή σκέψου το σπίτι σου — πού κρύβονται απλά μηχανήματα;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Παραδείγματα για να ξεκινήσεις: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ψαλίδι, ανοιχτήρι μπουκαλιών, σκάλα, βίδα καρέκλας, πόμολο πόρτας, κουρτινόξυλο με τροχαλία.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Η πρόκληση: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για κάθε αντικείμενο, πες ποιο από τα 6 μηχανήματα είναι — και γιατί διευκολύνει την εργασία.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993560" y="320040"/>
            <a:ext cx="2205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ΑΝΑΚΕΦΑΛΑΙΩΣΗ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2193840" y="621720"/>
            <a:ext cx="79851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Τα Απλά Μηχανήματα, με μια Ματιά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822960" y="1737360"/>
            <a:ext cx="10727280" cy="37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Υπάρχουν 6 απλά μηχανήματα: μοχλός, σφήνα, βίδα, κεκλιμένο επίπεδο, τροχός &amp; άξονας, τροχαλία.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Όλα κάνουν το ίδιο βασικό πράγμα: αλλάζουν το μέγεθος ή τη διεύθυνση μιας δύναμης, για να γίνει η εργασία πιο εύκολη.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Ο μοχλός έχει 3 τύπους, ανάλογα με τη θέση του υπομοχλίου, της προσπάθειας και του φορτίου.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 txBox="1"/>
          <p:nvPr/>
        </p:nvSpPr>
        <p:spPr>
          <a:xfrm>
            <a:off x="2618640" y="1788840"/>
            <a:ext cx="6982560" cy="242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Δείτε αυτό το βίντεο, "εξήγησε μου πώς λειτουργεί ο μοχλός"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 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hlinkClick r:id="rId1"/>
              </a:rPr>
              <a:t>https://share.google/M0HowgdbnI2d7OGZe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 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3899880" y="320040"/>
            <a:ext cx="4392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ΣΥΝΔΕΣΗ ΜΕ ΤΟ ΕΠΟΜΕΝΟ ΜΑΘΗΜΑ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3156480" y="621720"/>
            <a:ext cx="6060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Από το Έργο στην Ενέργεια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 3"/>
          <p:cNvSpPr/>
          <p:nvPr/>
        </p:nvSpPr>
        <p:spPr>
          <a:xfrm>
            <a:off x="822960" y="2011680"/>
            <a:ext cx="10727280" cy="2010240"/>
          </a:xfrm>
          <a:prstGeom prst="rect">
            <a:avLst/>
          </a:prstGeom>
          <a:solidFill>
            <a:srgbClr val="fdebdd"/>
          </a:solidFill>
          <a:ln w="1905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90000" t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Είδαμε ότι τα μηχανήματα κάνουν την εργασία (το Έργο) πιο εύκολη. Αλλά από πού προέρχεται η "δύναμη" για να γίνει αυτό το έργο;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→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Επόμενο μάθημα: Ενέργεια — οι μορφές της, πώς μεταφέρεται και πώς μετατρέπεται.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2026-10-08T07:56:45Z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