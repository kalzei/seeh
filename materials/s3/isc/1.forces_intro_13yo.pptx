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63A1E18-41B5-4C7A-9487-52786424D11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Καλωσορίστε τους μαθητές! Ρωτήστε τους τι κάνει τα αντικείμενα να ξεκινούν ή να σταματούν να κινούνται.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CB602F-BE71-46C1-85DC-CD8D2720F70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Βασισμένο στον ορισμό της δύναμης: παραμορφώνει αντικείμενα ή μεταβάλλει την ταχύτητα.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D2943C-8694-4F67-A737-B122836B71A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Νιούτον είναι περίπου ίσο με το να κρατάς ένα μικρό μήλο στο χέρι σου.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3FE0FF-7194-47F4-A342-57C72941286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Οι δυνάμεις υπάρχουν πάντα σε ζεύγη αλληλεπίδρασης.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F7572A9-8F97-49DD-8346-611E22401D5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Κλείσε με μια σύντομη ερώτηση για να εμπλέξεις τους μαθητές.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7275D3-96AB-4093-9D10-BBF69C186AD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15FF51-8780-48D6-8EAE-72BF1C09E1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3E87F6-501D-42E9-9E72-48DDAA0FC6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F6D8B38-67C7-43E2-A569-C0DFF59CCC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DA7E73-BB80-4147-B777-086C7DFB18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F132297-F545-4DF5-B642-799CDD26E2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3469E6-621C-45C7-BDAD-5CAF977012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F2D75B4-2E92-40CC-B0B7-ADAEB868BE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45B1DE8-F506-4299-8433-F5E48D3B2B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18CB74A-1C5A-4934-8768-6C70663C28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FEDA3DD-D52F-4670-A9C0-1BA3847DF6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9782077-BE75-4B28-8DFE-A55BF40CA8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CB6313-C9A4-400A-8B59-2BDE849C65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6E0D28-1AD6-44E4-8528-3E50F86E4D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E4F37B-E5B5-4562-A26B-DF0983F1F3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7F06B9-D039-474D-A733-3B69DFE32A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771CDA-5806-456C-B50E-EF81764211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2AD7A8-A2B2-4D5B-AF60-7044B78230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EAA338-7F4C-465C-9D41-7E90E8D2CA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1CAEC7-CDD1-4EC6-B599-6635F9349D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4015E5-1B1E-43E7-99E4-6565C5CC3E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1B0E4B-184D-4FFD-9660-6A29C17EBC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9A199A-99A3-4FE4-BA85-9DE24F4E7E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731520" y="1645920"/>
            <a:ext cx="621756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300" spc="-1" strike="noStrike">
                <a:solidFill>
                  <a:srgbClr val="ea580c"/>
                </a:solidFill>
                <a:latin typeface="Arial"/>
              </a:rPr>
              <a:t>ΔΙΑΣΚΕΔΑΣΤΙΚΗ ΦΥΣΙΚΗ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Τι είναι η Δύναμη;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45556C"/>
                </a:solidFill>
                <a:latin typeface="Arial"/>
              </a:rPr>
              <a:t>Το μυστικό, αόρατο σπρώξιμο και τράβηγμα που κινεί τα πάντα στο σύμπαν μας!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Picture 2" descr="funny_push_pull_cat.png"/>
          <p:cNvPicPr/>
          <p:nvPr/>
        </p:nvPicPr>
        <p:blipFill>
          <a:blip r:embed="rId1"/>
          <a:stretch/>
        </p:blipFill>
        <p:spPr>
          <a:xfrm>
            <a:off x="7132320" y="1371600"/>
            <a:ext cx="4388760" cy="327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365760"/>
            <a:ext cx="10698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685800"/>
            <a:ext cx="106981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f172a"/>
                </a:solidFill>
                <a:latin typeface="Verdana"/>
              </a:rPr>
              <a:t>Οι Δυνάμεις Έχουν 2 Μεγάλες Υπερδυνάμεις: Κίνηση &amp; Σχήμα!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731520" y="1463040"/>
            <a:ext cx="10728360" cy="25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731520" y="1737360"/>
            <a:ext cx="33282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274320" bIns="274320" anchor="ctr">
            <a:noAutofit/>
          </a:bodyPr>
          <a:p>
            <a:pPr algn="ctr"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2563eb"/>
                </a:solidFill>
                <a:latin typeface="Verdana"/>
              </a:rPr>
              <a:t>1. Επιτάχυνση ή Επιβράδυνση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</a:rPr>
              <a:t>Μια δύναμη προκαλεί μεταβολές στην κίνηση! Κάνει τα ακίνητα αντικείμενα να ξεκινούν να κινούνται, ή επιβραδύνει αντικείμενα που ήδη κινούνται.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ounded Rectangle 5"/>
          <p:cNvSpPr/>
          <p:nvPr/>
        </p:nvSpPr>
        <p:spPr>
          <a:xfrm>
            <a:off x="4425840" y="1737360"/>
            <a:ext cx="33282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274320" bIns="274320" anchor="ctr">
            <a:noAutofit/>
          </a:bodyPr>
          <a:p>
            <a:pPr algn="ctr"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0d9488"/>
                </a:solidFill>
                <a:latin typeface="Verdana"/>
              </a:rPr>
              <a:t>2. Αλλαγή Κατεύθυνσης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</a:rPr>
              <a:t>Μια δύναμη αλλάζει την πορεία! Σκέψου μια ρακέτα τένις που κατευθύνει μια μπάλα πάνω από το δίχτυ ή το τιμόνι ενός ποδηλάτου που στρίβει.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8119800" y="1737360"/>
            <a:ext cx="332820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274320" bIns="274320" anchor="ctr">
            <a:noAutofit/>
          </a:bodyPr>
          <a:p>
            <a:pPr algn="ctr"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Verdana"/>
              </a:rPr>
              <a:t>3. Αλλαγή Σχήματος (Παραμόρφωση)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</a:rPr>
              <a:t>Οι δυνάμεις μπορούν να συνθλίψουν, να τεντώσουν, να λυγίσουν ή να πιέσουν αντικείμενα — όπως όταν συνθλίβουμε μια μπάλα από αφρό ή τεντώνουμε ένα ελατήριο!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731520" y="365760"/>
            <a:ext cx="10698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31520" y="685800"/>
            <a:ext cx="106981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f172a"/>
                </a:solidFill>
                <a:latin typeface="Verdana"/>
              </a:rPr>
              <a:t>Πώς Σχεδιάζουμε &amp; Μετράμε τη Δύναμη;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731520" y="1463040"/>
            <a:ext cx="10728360" cy="25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731520" y="1737360"/>
            <a:ext cx="6400440" cy="27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563eb"/>
                </a:solidFill>
                <a:latin typeface="Verdana"/>
              </a:rPr>
              <a:t>• </a:t>
            </a:r>
            <a:r>
              <a:rPr b="1" lang="en-US" sz="1700" spc="-1" strike="noStrike">
                <a:solidFill>
                  <a:srgbClr val="2563eb"/>
                </a:solidFill>
                <a:latin typeface="Verdana"/>
              </a:rPr>
              <a:t>Οι Δυνάμεις Σχεδιάζονται ως Βέλη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</a:rPr>
              <a:t>Οι δυνάμεις έχουν και μέγεθος και κατεύθυνση! Μια μεγαλύτερη δύναμη σημαίνει μεγαλύτερο βέλος.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1" lang="en-US" sz="1700" spc="-1" strike="noStrike">
                <a:solidFill>
                  <a:srgbClr val="2563eb"/>
                </a:solidFill>
                <a:latin typeface="Verdana"/>
              </a:rPr>
              <a:t>• </a:t>
            </a:r>
            <a:r>
              <a:rPr b="1" lang="en-US" sz="1700" spc="-1" strike="noStrike">
                <a:solidFill>
                  <a:srgbClr val="2563eb"/>
                </a:solidFill>
                <a:latin typeface="Verdana"/>
              </a:rPr>
              <a:t>Μετριέται σε Νιούτον (N)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</a:rPr>
              <a:t>Η μονάδα μέτρησης στο Διεθνές Σύστημα (SI) είναι το Νιούτον (1 N), που ονομάστηκε προς τιμήν του Σερ Ισαάκ Νιούτον.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1" lang="en-US" sz="1700" spc="-1" strike="noStrike">
                <a:solidFill>
                  <a:srgbClr val="2563eb"/>
                </a:solidFill>
                <a:latin typeface="Verdana"/>
              </a:rPr>
              <a:t>• </a:t>
            </a:r>
            <a:r>
              <a:rPr b="1" lang="en-US" sz="1700" spc="-1" strike="noStrike">
                <a:solidFill>
                  <a:srgbClr val="2563eb"/>
                </a:solidFill>
                <a:latin typeface="Verdana"/>
              </a:rPr>
              <a:t>Μετριέται με Δυναμόμετρα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</a:rPr>
              <a:t>Μετράμε τη δύναμη χρησιμοποιώντας δυναμόμετρα ελατηρίου! Όσο μεγαλύτερη η δύναμη που ασκείται, τόσο περισσότερο τεντώνει το ελατήριο (Νόμος του Hooke).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5" descr="funny_newton_apple.png"/>
          <p:cNvPicPr/>
          <p:nvPr/>
        </p:nvPicPr>
        <p:blipFill>
          <a:blip r:embed="rId1"/>
          <a:stretch/>
        </p:blipFill>
        <p:spPr>
          <a:xfrm>
            <a:off x="7315200" y="1737360"/>
            <a:ext cx="4205880" cy="31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731520" y="365760"/>
            <a:ext cx="10698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731520" y="685800"/>
            <a:ext cx="106981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f172a"/>
                </a:solidFill>
                <a:latin typeface="Verdana"/>
              </a:rPr>
              <a:t>Δυνάμεις Επαφής, Δυνάμεις από Απόσταση, &amp; Ομαδική Δράση!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731520" y="1463040"/>
            <a:ext cx="10728360" cy="25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ounded Rectangle 4"/>
          <p:cNvSpPr/>
          <p:nvPr/>
        </p:nvSpPr>
        <p:spPr>
          <a:xfrm>
            <a:off x="731520" y="1737360"/>
            <a:ext cx="5120280" cy="237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800" spc="-1" strike="noStrike">
                <a:solidFill>
                  <a:srgbClr val="2563eb"/>
                </a:solidFill>
                <a:latin typeface="Verdana"/>
              </a:rPr>
              <a:t>1. Δυνάμεις Επαφής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Τα αντικείμενα ΠΡΕΠΕΙ ΝΑ ΑΓΓΙΖΟΝΤΑΙ για να ασκήσουν δύναμη!</a:t>
            </a:r>
            <a:br>
              <a:rPr sz="1300"/>
            </a:b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• Σπρώξιμο ενός κουτιού ή σκέιτμπορντ</a:t>
            </a:r>
            <a:br>
              <a:rPr sz="1300"/>
            </a:b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• Η τριβή που σταματά τα λάστιχα του ποδηλάτου</a:t>
            </a:r>
            <a:br>
              <a:rPr sz="1300"/>
            </a:b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• Τράβηγμα σχοινιού στη διελκυστίνδα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5"/>
          <p:cNvSpPr/>
          <p:nvPr/>
        </p:nvSpPr>
        <p:spPr>
          <a:xfrm>
            <a:off x="6309360" y="1737360"/>
            <a:ext cx="5120280" cy="237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800" spc="-1" strike="noStrike">
                <a:solidFill>
                  <a:srgbClr val="0d9488"/>
                </a:solidFill>
                <a:latin typeface="Verdana"/>
              </a:rPr>
              <a:t>2. Δράση από Απόσταση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Δρα ΜΕΣΑ ΣΤΟ ΔΙΑΣΤΗΜΑ χωρίς επαφή!</a:t>
            </a:r>
            <a:br>
              <a:rPr sz="1300"/>
            </a:b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• Η βαρυτική δύναμη που μας τραβάει προς τα κάτω</a:t>
            </a:r>
            <a:br>
              <a:rPr sz="1300"/>
            </a:b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• Η μαγνητική δύναμη που κολλάει στο ψυγείο</a:t>
            </a:r>
            <a:br>
              <a:rPr sz="1300"/>
            </a:b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• Οι ηλεκτρικές δυνάμεις μεταξύ φορτίων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6"/>
          <p:cNvSpPr/>
          <p:nvPr/>
        </p:nvSpPr>
        <p:spPr>
          <a:xfrm>
            <a:off x="731520" y="4297680"/>
            <a:ext cx="10698120" cy="191988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2540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800" spc="-1" strike="noStrike">
                <a:solidFill>
                  <a:srgbClr val="ea580c"/>
                </a:solidFill>
                <a:latin typeface="Verdana"/>
              </a:rPr>
              <a:t>Χρυσός Κανόνας: Οι Δυνάμεις Εμφανίζονται Πάντα σε Ζεύγη!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Arial"/>
              </a:rPr>
              <a:t>Οι δυνάμεις εμφανίζονται πάντα μεταξύ δύο σωμάτων που αλληλεπιδρούν. Όταν το Σώμα Α ασκεί δύναμη στο Σώμα Β (Δράση), το Σώμα Β ασκεί ταυτόχρονα ίση και αντίθετη δύναμη στο Σώμα Α (Αντίδραση)!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731520" y="731520"/>
            <a:ext cx="10698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Σύνοψη: Τα 3 Βασικά Συμπεράσματα για τις Δυνάμεις!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ounded Rectangle 2"/>
          <p:cNvSpPr/>
          <p:nvPr/>
        </p:nvSpPr>
        <p:spPr>
          <a:xfrm>
            <a:off x="731520" y="1828800"/>
            <a:ext cx="1069812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13716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2563eb"/>
                </a:solidFill>
                <a:latin typeface="Verdana"/>
              </a:rPr>
              <a:t>1. Σπρώξιμο ή Τράβηγμα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2e8f0"/>
                </a:solidFill>
                <a:latin typeface="Arial"/>
              </a:rPr>
              <a:t>Η δύναμη είναι η αιτία που παραμορφώνει ένα αντικείμενο ή μεταβάλλει την ταχύτητά του (μέγεθος και κατεύθυνση).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3"/>
          <p:cNvSpPr/>
          <p:nvPr/>
        </p:nvSpPr>
        <p:spPr>
          <a:xfrm>
            <a:off x="731520" y="3154680"/>
            <a:ext cx="1069812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13716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0d9488"/>
                </a:solidFill>
                <a:latin typeface="Verdana"/>
              </a:rPr>
              <a:t>2. Μέγεθος &amp; Κατεύθυνση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2e8f0"/>
                </a:solidFill>
                <a:latin typeface="Arial"/>
              </a:rPr>
              <a:t>Μετριέται σε Νιούτον (N) με δυναμόμετρα ελατηρίου, και σχεδιάζεται με βέλη που δείχνουν την κατεύθυνση της δύναμης.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ounded Rectangle 4"/>
          <p:cNvSpPr/>
          <p:nvPr/>
        </p:nvSpPr>
        <p:spPr>
          <a:xfrm>
            <a:off x="731520" y="4480560"/>
            <a:ext cx="10698120" cy="1142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13716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Verdana"/>
              </a:rPr>
              <a:t>3. Ζεύγη Δράσης &amp; Αντίδρασης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2e8f0"/>
                </a:solidFill>
                <a:latin typeface="Arial"/>
              </a:rPr>
              <a:t>Οι δυνάμεις είναι αλληλεπιδράσεις — το Σώμα Α ασκεί δύναμη στο Β, και το Β ασκεί ίση και αντίθετη δύναμη στο Α!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957600" y="5989320"/>
            <a:ext cx="10245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a580c"/>
                </a:solidFill>
                <a:latin typeface="Arial"/>
              </a:rPr>
              <a:t>Γρήγορη Συζήτηση: Κοίταξε τριγύρω σου αυτή τη στιγμή — ποιες δυνάμεις ασκούνται στο θρανίο ή στην καρέκλα σου;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2026-09-15T15:18:42Z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