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7" r:id="rId25"/>
    <p:sldId id="262" r:id="rId19"/>
    <p:sldId id="263" r:id="rId20"/>
    <p:sldId id="264" r:id="rId21"/>
    <p:sldId id="265" r:id="rId22"/>
    <p:sldId id="266" r:id="rId2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presProps" Target="presProps.xml"/><Relationship Id="rId25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D18AEA-B40E-428F-8D0D-3E5AC47ED0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ECD180-7776-4BE5-B67F-00318A9F55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3F3720E-60F7-4BD7-B6B0-15B0B1D784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74F5EFA-A8C0-499B-AB42-97195CA249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3E5516F-705B-40A1-9769-7873CF80562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87B00A5-A788-4793-9295-8B5F73C8F00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52EE810C-93E2-4E04-AE29-041ED4BF81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809EA43-A5B0-4203-89A5-E496B201784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F4B4EB5A-48A7-4E53-882A-53FA8FCEF9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2B1FF6D-B6D4-49DA-90CD-228C0667235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79F69081-C60A-4C51-B23C-162A2C7703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814602A-EE67-4CB2-8165-1F53D4BD0DF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774ED9-CA62-4B25-A803-C0BB75F7F25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587730-42A8-406F-9A0C-0F2EE5AA7E1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5CA2F5A-4DDC-40C5-A43D-97CE0D94DED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492B7F-F8BA-4C8F-A62D-A1B26848D8E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2BC152-8C6B-4627-BC1F-77838E6C52F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33220D-5865-4321-A34C-3AC420E90A3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93E36B-2C49-425F-8C31-99804E50701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C9900E4-0E19-49FD-BBA7-C5350B7A98C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255FFF-0986-4CB6-8831-B63CECEFA65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C578D8-2DB1-4914-98E9-A1533421494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822960" y="320040"/>
            <a:ext cx="7680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b4f72"/>
                </a:solidFill>
                <a:latin typeface="Arial"/>
              </a:rPr>
              <a:t>S5 GEOGRAPHY · YEAR OVERVIEW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822960" y="658440"/>
            <a:ext cx="76806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1b4f72"/>
                </a:solidFill>
                <a:latin typeface="Verdana"/>
              </a:rPr>
              <a:t>Welcome to S5 Geography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822960" y="3108960"/>
            <a:ext cx="7680600" cy="10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555555"/>
                </a:solidFill>
                <a:latin typeface="Arial"/>
              </a:rPr>
              <a:t>Four themes, four very different lenses on how the world works — from the rocks beneath your feet to the food on your plate.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822960" y="320040"/>
            <a:ext cx="7680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b4f72"/>
                </a:solidFill>
                <a:latin typeface="Arial"/>
              </a:rPr>
              <a:t>The Big Picture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822960" y="65844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1b4f72"/>
                </a:solidFill>
                <a:latin typeface="Verdana"/>
              </a:rPr>
              <a:t>This Year's Four Themes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ectangle 4"/>
          <p:cNvSpPr/>
          <p:nvPr/>
        </p:nvSpPr>
        <p:spPr>
          <a:xfrm>
            <a:off x="822960" y="1737360"/>
            <a:ext cx="183060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960120" y="1874520"/>
            <a:ext cx="1556280" cy="26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1b4f72"/>
                </a:solidFill>
                <a:latin typeface="Arial"/>
              </a:rPr>
              <a:t>1. Dynamic Landscapes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Weathering &amp; erosion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Coastal, fluvial, glacial, aeolian landforms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~15 lessons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ectangle 6"/>
          <p:cNvSpPr/>
          <p:nvPr/>
        </p:nvSpPr>
        <p:spPr>
          <a:xfrm>
            <a:off x="2773080" y="1737360"/>
            <a:ext cx="183060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TextBox 7"/>
          <p:cNvSpPr/>
          <p:nvPr/>
        </p:nvSpPr>
        <p:spPr>
          <a:xfrm>
            <a:off x="2910240" y="1874520"/>
            <a:ext cx="1556280" cy="26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1b4f72"/>
                </a:solidFill>
                <a:latin typeface="Arial"/>
              </a:rPr>
              <a:t>2. Feeding the World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Farming types &amp; food inequality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Globalisation &amp; land-use conflicts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~15 lessons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 8"/>
          <p:cNvSpPr/>
          <p:nvPr/>
        </p:nvSpPr>
        <p:spPr>
          <a:xfrm>
            <a:off x="4722840" y="1737360"/>
            <a:ext cx="183060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9"/>
          <p:cNvSpPr/>
          <p:nvPr/>
        </p:nvSpPr>
        <p:spPr>
          <a:xfrm>
            <a:off x="4860000" y="1874520"/>
            <a:ext cx="1556280" cy="26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1b4f72"/>
                </a:solidFill>
                <a:latin typeface="Arial"/>
              </a:rPr>
              <a:t>3. Urban Studies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Urbanisation &amp; city structure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Urban challenges &amp; sustainable solutions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~15 lessons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ectangle 10"/>
          <p:cNvSpPr/>
          <p:nvPr/>
        </p:nvSpPr>
        <p:spPr>
          <a:xfrm>
            <a:off x="6672960" y="1737360"/>
            <a:ext cx="1830600" cy="475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11"/>
          <p:cNvSpPr/>
          <p:nvPr/>
        </p:nvSpPr>
        <p:spPr>
          <a:xfrm>
            <a:off x="6810120" y="1874520"/>
            <a:ext cx="1556280" cy="28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1b4f72"/>
                </a:solidFill>
                <a:latin typeface="Arial"/>
              </a:rPr>
              <a:t>4. Weather and Climate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The atmosphere &amp; weather systems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Global climate zones compared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~15 lessons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2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extBox 8"/>
          <p:cNvSpPr/>
          <p:nvPr/>
        </p:nvSpPr>
        <p:spPr>
          <a:xfrm>
            <a:off x="822960" y="320040"/>
            <a:ext cx="7680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b4f72"/>
                </a:solidFill>
                <a:latin typeface="Arial"/>
              </a:rPr>
              <a:t>How You'll Be Graded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822960" y="65844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1b4f72"/>
                </a:solidFill>
                <a:latin typeface="Verdana"/>
              </a:rPr>
              <a:t>The Evaluation Process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12"/>
          <p:cNvSpPr/>
          <p:nvPr/>
        </p:nvSpPr>
        <p:spPr>
          <a:xfrm>
            <a:off x="822960" y="1737360"/>
            <a:ext cx="7680600" cy="37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Semester 1: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  one B-test (run in 1 or 2 periods), giving your first semester mark.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Semester 2: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  one harmonised exam (same across all language sections), 2 periods long — covering the last two chapters we study this semester, weighted equally.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What's tested: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  not just facts — knowledge, application of ideas, analysis of real sources (maps, graphs, photos), and clear written communication.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Year 5 is a step up: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  expect to start writing short essays or extended paragraphs, not just short answers — this builds toward Years 6 and 7.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822960" y="320040"/>
            <a:ext cx="7680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b4f72"/>
                </a:solidFill>
                <a:latin typeface="Arial"/>
              </a:rPr>
              <a:t>WHERE WE'RE STARTING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822960" y="658440"/>
            <a:ext cx="7680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1b4f72"/>
                </a:solidFill>
                <a:latin typeface="Verdana"/>
              </a:rPr>
              <a:t>Theme 2: Feeding the World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822960" y="3108960"/>
            <a:ext cx="76806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555555"/>
                </a:solidFill>
                <a:latin typeface="Arial"/>
              </a:rPr>
              <a:t>We're starting here first — one of the most immediate, real-world themes in the whole syllabus.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822960" y="320040"/>
            <a:ext cx="7680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b4f72"/>
                </a:solidFill>
                <a:latin typeface="Arial"/>
              </a:rPr>
              <a:t>The Hook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822960" y="658440"/>
            <a:ext cx="76806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1b4f72"/>
                </a:solidFill>
                <a:latin typeface="Verdana"/>
              </a:rPr>
              <a:t>Enough Food for Everyone — So Why Not?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822960" y="1737360"/>
            <a:ext cx="7680600" cy="22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Global food production is, on paper, enough to feed every single person on Earth.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And yet: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  around 645 million people faced hunger in 2025 — about 7.8% of the world's population.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2000" spc="-1" strike="noStrike">
                <a:solidFill>
                  <a:srgbClr val="1b4f72"/>
                </a:solidFill>
                <a:latin typeface="Arial"/>
              </a:rPr>
              <a:t>The pattern:</a:t>
            </a:r>
            <a:r>
              <a:rPr b="0" lang="en-US" sz="2000" spc="-1" strike="noStrike">
                <a:solidFill>
                  <a:srgbClr val="262626"/>
                </a:solidFill>
                <a:latin typeface="Arial"/>
              </a:rPr>
              <a:t>  that number has been falling (it was 8.6% in 2022) — but progress is slow and very unevenly spread.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Picture 5" descr="children_wide.png"/>
          <p:cNvPicPr/>
          <p:nvPr/>
        </p:nvPicPr>
        <p:blipFill>
          <a:blip r:embed="rId1"/>
          <a:stretch/>
        </p:blipFill>
        <p:spPr>
          <a:xfrm>
            <a:off x="822960" y="4572000"/>
            <a:ext cx="3748680" cy="2320560"/>
          </a:xfrm>
          <a:prstGeom prst="rect">
            <a:avLst/>
          </a:prstGeom>
          <a:ln w="0">
            <a:noFill/>
          </a:ln>
        </p:spPr>
      </p:pic>
      <p:sp>
        <p:nvSpPr>
          <p:cNvPr id="95" name="TextBox 6"/>
          <p:cNvSpPr/>
          <p:nvPr/>
        </p:nvSpPr>
        <p:spPr>
          <a:xfrm>
            <a:off x="4754880" y="4572000"/>
            <a:ext cx="3748680" cy="112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b4f72"/>
                </a:solidFill>
                <a:latin typeface="Arial"/>
              </a:rPr>
              <a:t>The question this theme asks: if there's enough food, why isn't everyone fed — and what would it take to change that?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822960" y="320040"/>
            <a:ext cx="7680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b4f72"/>
                </a:solidFill>
                <a:latin typeface="Arial"/>
              </a:rPr>
              <a:t>A Real Tool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3"/>
          <p:cNvSpPr/>
          <p:nvPr/>
        </p:nvSpPr>
        <p:spPr>
          <a:xfrm>
            <a:off x="822960" y="658440"/>
            <a:ext cx="76806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1b4f72"/>
                </a:solidFill>
                <a:latin typeface="Verdana"/>
              </a:rPr>
              <a:t>Measuring Hunger: The Global Hunger Index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822960" y="1737360"/>
            <a:ext cx="7680600" cy="274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The GHI scores every country from 0 (no hunger) to 100 (extreme hunger), combining four indicators: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800" spc="-1" strike="noStrike">
                <a:solidFill>
                  <a:srgbClr val="1b4f72"/>
                </a:solidFill>
                <a:latin typeface="Arial"/>
              </a:rPr>
              <a:t>Undernourishment: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  the share of the population with insufficient caloric intake.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800" spc="-1" strike="noStrike">
                <a:solidFill>
                  <a:srgbClr val="1b4f72"/>
                </a:solidFill>
                <a:latin typeface="Arial"/>
              </a:rPr>
              <a:t>Child wasting &amp; stunting: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  low weight-for-height and low height-for-age in under-5s — signs of acute and chronic malnutrition.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8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800" spc="-1" strike="noStrike">
                <a:solidFill>
                  <a:srgbClr val="1b4f72"/>
                </a:solidFill>
                <a:latin typeface="Arial"/>
              </a:rPr>
              <a:t>Child mortality:</a:t>
            </a:r>
            <a:r>
              <a:rPr b="0" lang="en-US" sz="1800" spc="-1" strike="noStrike">
                <a:solidFill>
                  <a:srgbClr val="262626"/>
                </a:solidFill>
                <a:latin typeface="Arial"/>
              </a:rPr>
              <a:t>  the death rate among under-5s, reflecting poor nutrition and unhealthy environments.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822960" y="4572000"/>
            <a:ext cx="3748680" cy="13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700" spc="-1" strike="noStrike">
                <a:solidFill>
                  <a:srgbClr val="262626"/>
                </a:solidFill>
                <a:latin typeface="Arial"/>
              </a:rPr>
              <a:t>A map like this is exactly the kind of source you'll be asked to describe and analyse this year: what pattern do you notice, and why might it exist?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 descr="ghi_map.png"/>
          <p:cNvPicPr/>
          <p:nvPr/>
        </p:nvPicPr>
        <p:blipFill>
          <a:blip r:embed="rId1"/>
          <a:stretch/>
        </p:blipFill>
        <p:spPr>
          <a:xfrm>
            <a:off x="279000" y="914400"/>
            <a:ext cx="8471520" cy="5257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822960" y="320040"/>
            <a:ext cx="7680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b4f72"/>
                </a:solidFill>
                <a:latin typeface="Arial"/>
              </a:rPr>
              <a:t>Roadmap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822960" y="65844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1b4f72"/>
                </a:solidFill>
                <a:latin typeface="Verdana"/>
              </a:rPr>
              <a:t>What We'll Cover: Farming Types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822960" y="1737360"/>
            <a:ext cx="7680600" cy="19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Farming types: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  intensive, extensive, commercial, and subsistence — and why the same crop can be farmed completely differently in France, Tanzania, or Bangladesh.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900" spc="-1" strike="noStrike">
                <a:solidFill>
                  <a:srgbClr val="1b4f72"/>
                </a:solidFill>
                <a:latin typeface="Arial"/>
              </a:rPr>
              <a:t>Real examples coming up:</a:t>
            </a:r>
            <a:r>
              <a:rPr b="0" lang="en-US" sz="1900" spc="-1" strike="noStrike">
                <a:solidFill>
                  <a:srgbClr val="262626"/>
                </a:solidFill>
                <a:latin typeface="Arial"/>
              </a:rPr>
              <a:t>  cattle farming in Wallonia, subsistence farming in Tanzania, vineyards in Alsace, and hydroponic greenhouses in Almeria, Spain.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2" descr="intensiveextensive.png"/>
          <p:cNvPicPr/>
          <p:nvPr/>
        </p:nvPicPr>
        <p:blipFill>
          <a:blip r:embed="rId1"/>
          <a:stretch/>
        </p:blipFill>
        <p:spPr>
          <a:xfrm>
            <a:off x="9360" y="457200"/>
            <a:ext cx="8677440" cy="5486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822960" y="320040"/>
            <a:ext cx="7680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b4f72"/>
                </a:solidFill>
                <a:latin typeface="Arial"/>
              </a:rPr>
              <a:t>A Sneak Peek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822960" y="658440"/>
            <a:ext cx="76806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1b4f72"/>
                </a:solidFill>
                <a:latin typeface="Verdana"/>
              </a:rPr>
              <a:t>The Globalisation Case Study: Palm Oil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Picture 4" descr="palmoil_solo.png"/>
          <p:cNvPicPr/>
          <p:nvPr/>
        </p:nvPicPr>
        <p:blipFill>
          <a:blip r:embed="rId1"/>
          <a:stretch/>
        </p:blipFill>
        <p:spPr>
          <a:xfrm>
            <a:off x="5257800" y="1737360"/>
            <a:ext cx="3880800" cy="3063240"/>
          </a:xfrm>
          <a:prstGeom prst="rect">
            <a:avLst/>
          </a:prstGeom>
          <a:ln w="0">
            <a:noFill/>
          </a:ln>
        </p:spPr>
      </p:pic>
      <p:sp>
        <p:nvSpPr>
          <p:cNvPr id="111" name="TextBox 5"/>
          <p:cNvSpPr/>
          <p:nvPr/>
        </p:nvSpPr>
        <p:spPr>
          <a:xfrm>
            <a:off x="822960" y="2286000"/>
            <a:ext cx="4571640" cy="30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•  </a:t>
            </a: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One option for our globalisation case study: palm oil — found in roughly half of all packaged supermarket products, from food to cosmetics.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6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600" spc="-1" strike="noStrike">
                <a:solidFill>
                  <a:srgbClr val="1b4f72"/>
                </a:solidFill>
                <a:latin typeface="Arial"/>
              </a:rPr>
              <a:t>The tension:</a:t>
            </a: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  Indonesia and Malaysia produce ~85% of the world's palm oil — a huge economic opportunity, but also a major driver of rainforest deforestation.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1" lang="en-US" sz="1600" spc="-1" strike="noStrike">
                <a:solidFill>
                  <a:srgbClr val="1b4f72"/>
                </a:solidFill>
                <a:latin typeface="Arial"/>
              </a:rPr>
              <a:t>•  </a:t>
            </a:r>
            <a:r>
              <a:rPr b="1" lang="en-US" sz="1600" spc="-1" strike="noStrike">
                <a:solidFill>
                  <a:srgbClr val="1b4f72"/>
                </a:solidFill>
                <a:latin typeface="Arial"/>
              </a:rPr>
              <a:t>What you'll be asked to do:</a:t>
            </a: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  weigh real advantages (yield, jobs, versatility) against real costs (deforestation, habitat loss, labour conditions) — not just pick a side.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1b4f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822960" y="320040"/>
            <a:ext cx="76806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b4f72"/>
                </a:solidFill>
                <a:latin typeface="Arial"/>
              </a:rPr>
              <a:t>NEXT LESSON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822960" y="658440"/>
            <a:ext cx="76806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1b4f72"/>
                </a:solidFill>
                <a:latin typeface="Verdana"/>
              </a:rPr>
              <a:t>Where Does Food Inequality Come From?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822960" y="3108960"/>
            <a:ext cx="768060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555555"/>
                </a:solidFill>
                <a:latin typeface="Arial"/>
              </a:rPr>
              <a:t>We'll map where hunger is concentrated in the world, and start unpacking why.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200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B4F72"/>
                </a:solidFill>
                <a:latin typeface="Arial"/>
              </a:rPr>
              <a:t>Two More Angles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58368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B4F72"/>
                </a:solidFill>
                <a:latin typeface="Verdana"/>
              </a:rPr>
              <a:t>Mapping Hunger, Two 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7680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262626"/>
                </a:solidFill>
                <a:latin typeface="Arial"/>
              </a:rPr>
              <a:t>•  These two world maps tell a similar story from different angles: how many calories people actually get, and how many people don't get enough.</a:t>
            </a:r>
          </a:p>
        </p:txBody>
      </p:sp>
      <p:pic>
        <p:nvPicPr>
          <p:cNvPr id="8" name="Picture 7" descr="img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34640"/>
            <a:ext cx="3657600" cy="3001108"/>
          </a:xfrm>
          <a:prstGeom prst="rect">
            <a:avLst/>
          </a:prstGeom>
        </p:spPr>
      </p:pic>
      <p:pic>
        <p:nvPicPr>
          <p:cNvPr id="9" name="Picture 8" descr="img-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834640"/>
            <a:ext cx="3657600" cy="30948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2514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4F72"/>
                </a:solidFill>
                <a:latin typeface="Arial"/>
              </a:rPr>
              <a:t>Calorie consumption (kcal/person/day)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51460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4F72"/>
                </a:solidFill>
                <a:latin typeface="Arial"/>
              </a:rPr>
              <a:t>Population undernourished (%)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2026-10-05T20:43:13Z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