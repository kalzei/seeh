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UNIT 2 · FEEDING THE WORLD · 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4F72"/>
                </a:solidFill>
                <a:latin typeface="Verdana"/>
              </a:rPr>
              <a:t>Weighing Up Farming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55555"/>
                </a:solidFill>
                <a:latin typeface="Arial"/>
              </a:rPr>
              <a:t>More types of farming, the real advantages and disadvantages of intensive and extensive agriculture — and what a sustainable alternative looks like.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Picking Up From Last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B4F72"/>
                </a:solidFill>
                <a:latin typeface="Arial"/>
              </a:rPr>
              <a:t>•  Already done:</a:t>
            </a:r>
            <a:r>
              <a:rPr sz="2100" b="0">
                <a:solidFill>
                  <a:srgbClr val="262626"/>
                </a:solidFill>
                <a:latin typeface="Arial"/>
              </a:rPr>
              <a:t>  the two questions that define any farm — intensive vs. extensive, commercial vs. subsistence — and four real examples.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1B4F72"/>
                </a:solidFill>
                <a:latin typeface="Arial"/>
              </a:rPr>
              <a:t>•  Today, three steps:</a:t>
            </a:r>
            <a:r>
              <a:rPr sz="2100" b="0">
                <a:solidFill>
                  <a:srgbClr val="262626"/>
                </a:solidFill>
                <a:latin typeface="Arial"/>
              </a:rPr>
              <a:t>  more types of farming you haven't met yet, then the honest advantages and disadvantages of each system, then sustainable agriculture.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1B4F72"/>
                </a:solidFill>
                <a:latin typeface="Arial"/>
              </a:rPr>
              <a:t>•  Exam skill:</a:t>
            </a:r>
            <a:r>
              <a:rPr sz="2100" b="0">
                <a:solidFill>
                  <a:srgbClr val="262626"/>
                </a:solidFill>
                <a:latin typeface="Arial"/>
              </a:rPr>
              <a:t>  “analyse the advantages and disadvantages of two different types of farming” — that is a real syllabus objective, so today's tables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 Complication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Farming Types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1B4F72"/>
                </a:solidFill>
                <a:latin typeface="Arial"/>
              </a:rPr>
              <a:t>•  Categories are not watertight:</a:t>
            </a:r>
            <a:r>
              <a:rPr sz="1900" b="0">
                <a:solidFill>
                  <a:srgbClr val="262626"/>
                </a:solidFill>
                <a:latin typeface="Arial"/>
              </a:rPr>
              <a:t>  a subsistence farmer may still sell a surplus at a local market, and extensive farms may still need heavy labour at peak times such as harvest.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B4F72"/>
                </a:solidFill>
                <a:latin typeface="Arial"/>
              </a:rPr>
              <a:t>•  Sedentary farming:</a:t>
            </a:r>
            <a:r>
              <a:rPr sz="1900" b="0">
                <a:solidFill>
                  <a:srgbClr val="262626"/>
                </a:solidFill>
                <a:latin typeface="Arial"/>
              </a:rPr>
              <a:t>  the farm stays in one permanent place — almost all farming you have studied so far.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B4F72"/>
                </a:solidFill>
                <a:latin typeface="Arial"/>
              </a:rPr>
              <a:t>•  Nomadic farming:</a:t>
            </a:r>
            <a:r>
              <a:rPr sz="1900" b="0">
                <a:solidFill>
                  <a:srgbClr val="262626"/>
                </a:solidFill>
                <a:latin typeface="Arial"/>
              </a:rPr>
              <a:t>  farmers move with their animals across regions in search of grazing. Historically widespread in Africa; many nomadic communities have now shifted to settled farming for socio-economic reasons.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B4F72"/>
                </a:solidFill>
                <a:latin typeface="Arial"/>
              </a:rPr>
              <a:t>•  Extensive commercial pastoral farming:</a:t>
            </a:r>
            <a:r>
              <a:rPr sz="1900" b="0">
                <a:solidFill>
                  <a:srgbClr val="262626"/>
                </a:solidFill>
                <a:latin typeface="Arial"/>
              </a:rPr>
              <a:t>  animals raised on large areas of land, for profit — the combination behind much of the world's beef and wool.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Type 1 ·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Rice Farming, Bangladesh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A cornerstone of Bangladesh's agriculture: sustenance for millions and a major contributor to the economy.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Many varieties grown across different agro-ecological zones, including flood-prone and high-salinity regions.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Transplanting and direct seeding, with the monsoon irrigating the fields.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Smallholders</a:t>
            </a:r>
            <a:r>
              <a:rPr sz="1800" b="0">
                <a:solidFill>
                  <a:srgbClr val="262626"/>
                </a:solidFill>
                <a:latin typeface="Arial"/>
              </a:rPr>
              <a:t>  with relatively small plots form the backbone of cultivation — traditional techniques alongside modern practices.</a:t>
            </a:r>
          </a:p>
        </p:txBody>
      </p:sp>
      <p:pic>
        <p:nvPicPr>
          <p:cNvPr id="6" name="Picture 5" descr="rice_banglade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74519"/>
            <a:ext cx="3749039" cy="25338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4481505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Rice paddies, Bangladesh — the backbone of national food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Type 2 · Europe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Open Field (Openfield) Farming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Crops grown in open spaces with no structures such as greenhouses.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Relies on natural sunlight, rainfall and soil fertility.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Mechanised planting, cultivating and harvesting — highly efficient, suited to large-scale production.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The trade-off:</a:t>
            </a:r>
            <a:r>
              <a:rPr sz="1800" b="0">
                <a:solidFill>
                  <a:srgbClr val="262626"/>
                </a:solidFill>
                <a:latin typeface="Arial"/>
              </a:rPr>
              <a:t>  fully exposed to weather fluctuations, pests, disease and soil erosion.</a:t>
            </a:r>
          </a:p>
        </p:txBody>
      </p:sp>
      <p:pic>
        <p:nvPicPr>
          <p:cNvPr id="6" name="Picture 5" descr="open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74519"/>
            <a:ext cx="3749039" cy="1654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3602420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Open field cultivation — no greenhouses, no hedgerows, just machinery and sky.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Type 3 · Worldwide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Arable Farming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Cultivation of crops on suitable (arable) land, harvested each year.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Wheat, maize, rice, barley and soybeans among others.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Supplies both food and raw materials for industry — a key component of global agriculture.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Changing fast:</a:t>
            </a:r>
            <a:r>
              <a:rPr sz="1800" b="0">
                <a:solidFill>
                  <a:srgbClr val="262626"/>
                </a:solidFill>
                <a:latin typeface="Arial"/>
              </a:rPr>
              <a:t>  technology, seed breeding, fertilisation, pest control and irrigation have all raised productivity.</a:t>
            </a:r>
          </a:p>
        </p:txBody>
      </p:sp>
      <p:pic>
        <p:nvPicPr>
          <p:cNvPr id="6" name="Picture 5" descr="ar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74519"/>
            <a:ext cx="3749039" cy="2277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4225245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Arable land under annual crops — wheat, maize, rice, barley, soybeans.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Type 4 · The Alps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Extensive Dairy Farming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Milk and dairy production in mountainous regions, on nutrient-rich alpine pastures.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Hardy cattle breeds, plus goats, suited to the terrain.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Transhumance:</a:t>
            </a:r>
            <a:r>
              <a:rPr sz="1800" b="0">
                <a:solidFill>
                  <a:srgbClr val="262626"/>
                </a:solidFill>
                <a:latin typeface="Arial"/>
              </a:rPr>
              <a:t>  seasonal movement of livestock between highland and lowland pastures.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Supports local economies, rural livelihoods, cultural heritage and sustainable land management — but terrain and climate are a constant challenge.</a:t>
            </a:r>
          </a:p>
        </p:txBody>
      </p:sp>
      <p:pic>
        <p:nvPicPr>
          <p:cNvPr id="6" name="Picture 5" descr="alps_dai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74519"/>
            <a:ext cx="3749039" cy="2610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4557925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Alpine pastures — low input per hectare, high-quality milk and cheese.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Four More Systems,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768095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773"/>
                <a:gridCol w="1558455"/>
                <a:gridCol w="2671638"/>
                <a:gridCol w="1781092"/>
              </a:tblGrid>
              <a:tr h="7863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Intensity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Mainly for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Rice farming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Bangladesh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Intensive labour, small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Subsistence + 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Open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Europe, N. America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Extensive, highly mechanised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Commercial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Worldwide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Varies — often intensive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Food + 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Extensive dairy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Alps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Extensive — low input per 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Commercial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How It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Hydroponics: Growing Without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9776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No soil:</a:t>
            </a:r>
            <a:r>
              <a:rPr sz="1800" b="0">
                <a:solidFill>
                  <a:srgbClr val="262626"/>
                </a:solidFill>
                <a:latin typeface="Arial"/>
              </a:rPr>
              <a:t>  roots sit in a nutrient solution — water plus dissolved minerals — on a grow tray.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Full control:</a:t>
            </a:r>
            <a:r>
              <a:rPr sz="1800" b="0">
                <a:solidFill>
                  <a:srgbClr val="262626"/>
                </a:solidFill>
                <a:latin typeface="Arial"/>
              </a:rPr>
              <a:t>  a timer and pump cycle the solution; LED grow lights and drain tubes let the farmer control light, water and nutrients precisely.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Why Almería uses it:</a:t>
            </a:r>
            <a:r>
              <a:rPr sz="1800" b="0">
                <a:solidFill>
                  <a:srgbClr val="262626"/>
                </a:solidFill>
                <a:latin typeface="Arial"/>
              </a:rPr>
              <a:t>  huge yields from a small area in a region with only ~200 mm of rain a year — water use per plant is far lower than in open fields.</a:t>
            </a:r>
          </a:p>
        </p:txBody>
      </p:sp>
      <p:pic>
        <p:nvPicPr>
          <p:cNvPr id="6" name="Picture 5" descr="hydroponic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94560"/>
            <a:ext cx="3749039" cy="20877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4355447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Hydroponics has turned Almería into a hub of year-round, water-efficient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Intensive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Almería, Spain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~200 mm</a:t>
            </a:r>
            <a:r>
              <a:rPr sz="1800" b="0">
                <a:solidFill>
                  <a:srgbClr val="262626"/>
                </a:solidFill>
                <a:latin typeface="Arial"/>
              </a:rPr>
              <a:t>  of rainfall a year — a landscape closer to desert than farmland.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260 km²</a:t>
            </a:r>
            <a:r>
              <a:rPr sz="1800" b="0">
                <a:solidFill>
                  <a:srgbClr val="262626"/>
                </a:solidFill>
                <a:latin typeface="Arial"/>
              </a:rPr>
              <a:t>  of greenhouses, the largest concentration in the world, built up over 35 years.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~3,000 hours</a:t>
            </a:r>
            <a:r>
              <a:rPr sz="1800" b="0">
                <a:solidFill>
                  <a:srgbClr val="262626"/>
                </a:solidFill>
                <a:latin typeface="Arial"/>
              </a:rPr>
              <a:t>  of sunshine a year and an average 20 °C — almost no heating needed.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Over US$1.5 billion</a:t>
            </a:r>
            <a:r>
              <a:rPr sz="1800" b="0">
                <a:solidFill>
                  <a:srgbClr val="262626"/>
                </a:solidFill>
                <a:latin typeface="Arial"/>
              </a:rPr>
              <a:t>  a year for the region; supplies over half of Europe's out-of-season fruit and vegetables.</a:t>
            </a:r>
          </a:p>
        </p:txBody>
      </p:sp>
      <p:pic>
        <p:nvPicPr>
          <p:cNvPr id="6" name="Picture 5" descr="almeria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520440" cy="18298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4188985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Almería supplies much of Europe's winter fruit and vegetables.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Analyse It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Almería: The Balance Sheet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7680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8412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Disadvantages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Real advances in hydroponic growing techniques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Tension between immigrant communities from different countries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Reduced water use through drip irrigation and hydroponics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Undocumented workers with no control over their working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Low energy costs — warm temperatures mean little heating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Low pay and poor living conditions for migrant 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Jobs in packing plants and in factories supplying greenhouse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Ecosystems destroyed by the vast plastic covering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Analyse It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Almería: The Balance Sheet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Disadvantages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Regular supply of cheap, temporary migrant labour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Plastic dumped at sea, harming marine ecosystems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Year-round availability of fruit and vegetables across 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Increased health risks from pesticide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Keeps a near-desert region economically productive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Aquifers depleted by excessive water extraction for 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521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B4F72"/>
                </a:solidFill>
                <a:latin typeface="Arial"/>
              </a:rPr>
              <a:t>Notice: most advantages are economic, most disadvantages are environmental or social.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Extensive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Madagascar: The Other 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2.4 million farms,</a:t>
            </a:r>
            <a:r>
              <a:rPr sz="1800" b="0">
                <a:solidFill>
                  <a:srgbClr val="262626"/>
                </a:solidFill>
                <a:latin typeface="Arial"/>
              </a:rPr>
              <a:t>  the vast majority smallholdings — most of the population works in agriculture.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Rice</a:t>
            </a:r>
            <a:r>
              <a:rPr sz="1800" b="0">
                <a:solidFill>
                  <a:srgbClr val="262626"/>
                </a:solidFill>
                <a:latin typeface="Arial"/>
              </a:rPr>
              <a:t>  is the main product and main export crop, grown on terraced paddies in the central highlands.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Also grown:</a:t>
            </a:r>
            <a:r>
              <a:rPr sz="1800" b="0">
                <a:solidFill>
                  <a:srgbClr val="262626"/>
                </a:solidFill>
                <a:latin typeface="Arial"/>
              </a:rPr>
              <a:t>  cassava, maize and sweet potato for subsistence; coffee, cloves and vanilla as cash crops for export.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Livestock:</a:t>
            </a:r>
            <a:r>
              <a:rPr sz="1800" b="0">
                <a:solidFill>
                  <a:srgbClr val="262626"/>
                </a:solidFill>
                <a:latin typeface="Arial"/>
              </a:rPr>
              <a:t>  zebu cattle dominate, with pigs, sheep, goats and poultry; fishing and aquaculture are growing.</a:t>
            </a:r>
          </a:p>
        </p:txBody>
      </p:sp>
      <p:pic>
        <p:nvPicPr>
          <p:cNvPr id="6" name="Picture 5" descr="mad_r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03120"/>
            <a:ext cx="3520440" cy="1985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4161848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Terraced rice paddies shape both the landscape and the livelihoods of most Malagasy people.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Why It Stays Extensive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Madagascar: Limits and Pressures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Small farms impede mechanisation:</a:t>
            </a:r>
            <a:r>
              <a:rPr sz="1800" b="0">
                <a:solidFill>
                  <a:srgbClr val="262626"/>
                </a:solidFill>
                <a:latin typeface="Arial"/>
              </a:rPr>
              <a:t>  traditional crop varieties, limited equipment and infrastructure — minimal surplus beyond subsistence levels.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Rainfall varies hugely:</a:t>
            </a:r>
            <a:r>
              <a:rPr sz="1800" b="0">
                <a:solidFill>
                  <a:srgbClr val="262626"/>
                </a:solidFill>
                <a:latin typeface="Arial"/>
              </a:rPr>
              <a:t>  abundant on the east coast, under 500 mm in the south and south-west; the growing season starts with the first rains in October or November.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Slash-and-burn (tavy):</a:t>
            </a:r>
            <a:r>
              <a:rPr sz="1800" b="0">
                <a:solidFill>
                  <a:srgbClr val="262626"/>
                </a:solidFill>
                <a:latin typeface="Arial"/>
              </a:rPr>
              <a:t>  used for centuries, but population pressure since the end of French rule has made it damaging — land fertility is falling. By 2006 wood, charcoal and grass for zebu grazing were among the primary products.</a:t>
            </a:r>
          </a:p>
        </p:txBody>
      </p:sp>
      <p:pic>
        <p:nvPicPr>
          <p:cNvPr id="6" name="Picture 5" descr="mad_h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2377440" cy="1540521"/>
          </a:xfrm>
          <a:prstGeom prst="rect">
            <a:avLst/>
          </a:prstGeom>
        </p:spPr>
      </p:pic>
      <p:pic>
        <p:nvPicPr>
          <p:cNvPr id="7" name="Picture 6" descr="mad_pineap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23" y="3566160"/>
            <a:ext cx="2035193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5376672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Free-range hens and pineapples: small-scale, diverse, locally traded.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Analyse It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Extensive Farming: The Balance Sheet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7680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746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Disadvantages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Uses vast land resources efficiently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Soil degradation from overuse and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Needs minimal initial investment in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Vulnerable to climate variability and extreme weather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Provides livelihoods for rural communities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Limited crop diversity and monoculture practices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Supports traditional methods and cultural practices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Low productivity per unit area compared with intensive farming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Offers flexibility in crop rotation and land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Encourages deforestation and loss of biodiversity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Analyse It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Extensive Farming: The Balance Sheet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7680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746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Disadvantages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Maintains traditional agroecological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Poor market access and transport in remote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Buffers against food shortages in times of crisis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Potential for conflict over land tenure and resource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Contributes to food security at household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May perpetuate poverty cycles and income inequality in rural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Provides habitat for wildlife in open landscapes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Susceptible to pests and disease, leading to crop losses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Supports the livelihoods of pastoral communities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Needs careful management to prevent overexploitation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 Third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What Is Sustainable Agriculture?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069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The objective:</a:t>
            </a:r>
            <a:r>
              <a:rPr sz="1800" b="0">
                <a:solidFill>
                  <a:srgbClr val="262626"/>
                </a:solidFill>
                <a:latin typeface="Arial"/>
              </a:rPr>
              <a:t>  meet society's current food and textile demands without destroying the ability of future generations to meet their own.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Three goals at once:</a:t>
            </a:r>
            <a:r>
              <a:rPr sz="1800" b="0">
                <a:solidFill>
                  <a:srgbClr val="262626"/>
                </a:solidFill>
                <a:latin typeface="Arial"/>
              </a:rPr>
              <a:t>  a healthy environment, economic profitability, and social and economic equity.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Everyone in the chain:</a:t>
            </a:r>
            <a:r>
              <a:rPr sz="1800" b="0">
                <a:solidFill>
                  <a:srgbClr val="262626"/>
                </a:solidFill>
                <a:latin typeface="Arial"/>
              </a:rPr>
              <a:t>  growers, food processors, distributors, retailers, consumers and waste managers all have a role.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In practice:</a:t>
            </a:r>
            <a:r>
              <a:rPr sz="1800" b="0">
                <a:solidFill>
                  <a:srgbClr val="262626"/>
                </a:solidFill>
                <a:latin typeface="Arial"/>
              </a:rPr>
              <a:t>  enhance soil health, conserve water, reduce pollution on farms.</a:t>
            </a:r>
          </a:p>
        </p:txBody>
      </p:sp>
      <p:pic>
        <p:nvPicPr>
          <p:cNvPr id="6" name="Picture 5" descr="sustain_flower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3520440" cy="3838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5694845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Sustainable consumption and production: nine linked practices.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Five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Ways to a More Sustainable Food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Permaculture:</a:t>
            </a:r>
            <a:r>
              <a:rPr sz="1800" b="0">
                <a:solidFill>
                  <a:srgbClr val="262626"/>
                </a:solidFill>
                <a:latin typeface="Arial"/>
              </a:rPr>
              <a:t>  farming designed around sustainability and self-sufficiency.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Organic farming:</a:t>
            </a:r>
            <a:r>
              <a:rPr sz="1800" b="0">
                <a:solidFill>
                  <a:srgbClr val="262626"/>
                </a:solidFill>
                <a:latin typeface="Arial"/>
              </a:rPr>
              <a:t>  natural fertilisers, animal slurry and natural predators instead of artificial chemicals — yields may be lower, but harm to ecosystems is minimised.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Urban farming:</a:t>
            </a:r>
            <a:r>
              <a:rPr sz="1800" b="0">
                <a:solidFill>
                  <a:srgbClr val="262626"/>
                </a:solidFill>
                <a:latin typeface="Arial"/>
              </a:rPr>
              <a:t>  food grown in and around cities, reducing farmland lost to urbanisation; urban plots often out-yield equivalent rural areas and cut food miles.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Sustainable fish and meat:</a:t>
            </a:r>
            <a:r>
              <a:rPr sz="1800" b="0">
                <a:solidFill>
                  <a:srgbClr val="262626"/>
                </a:solidFill>
                <a:latin typeface="Arial"/>
              </a:rPr>
              <a:t>  net designs that reduce bycatch, a return to traditional fishing, and grass-fed rather than grain-fed livestock.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Seasonal eating:</a:t>
            </a:r>
            <a:r>
              <a:rPr sz="1800" b="0">
                <a:solidFill>
                  <a:srgbClr val="262626"/>
                </a:solidFill>
                <a:latin typeface="Arial"/>
              </a:rPr>
              <a:t>  food in season cuts food miles and the energy used in greenhouse production and long-distance transport.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Zaytuna Farm, 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The farm:</a:t>
            </a:r>
            <a:r>
              <a:rPr sz="1800" b="0">
                <a:solidFill>
                  <a:srgbClr val="262626"/>
                </a:solidFill>
                <a:latin typeface="Arial"/>
              </a:rPr>
              <a:t>  66 acres at The Channon, northern New South Wales, founded by Geoff Lawton; home of the Permaculture Research Institute.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Permaculture =</a:t>
            </a:r>
            <a:r>
              <a:rPr sz="1800" b="0">
                <a:solidFill>
                  <a:srgbClr val="262626"/>
                </a:solidFill>
                <a:latin typeface="Arial"/>
              </a:rPr>
              <a:t>  “permanent agriculture” — sustainable, self-sufficient systems that mimic the natural environment.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Objectives:</a:t>
            </a:r>
            <a:r>
              <a:rPr sz="1800" b="0">
                <a:solidFill>
                  <a:srgbClr val="262626"/>
                </a:solidFill>
                <a:latin typeface="Arial"/>
              </a:rPr>
              <a:t>  demonstrate sustainable living and farming, educate others, build a self-sufficient resilient system, preserve biodiversity and regenerate degraded land.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783080"/>
            <a:ext cx="3749039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10912" y="1911095"/>
            <a:ext cx="3419856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1B4F72"/>
                </a:solidFill>
                <a:latin typeface="Arial"/>
              </a:rPr>
              <a:t>Six design features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Water harvesting — swales and ponds catch rainwater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Food forests — layered canopy, shrubs and fruit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Animal systems — chickens, ducks, goats for pest control and fertilisation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Composting — organic waste builds soil fertility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Renewable energy — solar panels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Sustainable buildings — low-energy materials and 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Zaytuna: Results &amp;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7810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35067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B4F72"/>
                </a:solidFill>
                <a:latin typeface="Arial"/>
              </a:rPr>
              <a:t>What improved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Biodiversity increased — a wider range of plant and animal species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Improved soil health and water retention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Higher productivity and real resilience against drought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Thousands of students and visitors taught each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1920240"/>
            <a:ext cx="378104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36" y="2057400"/>
            <a:ext cx="35067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B4F72"/>
                </a:solidFill>
                <a:latin typeface="Arial"/>
              </a:rPr>
              <a:t>What is still hard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Climate variability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Ongoing pest management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Constant adaptation of practices to changing conditions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•  66 acres is small — can the model scale to feed cities?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Watch, Then Map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5778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11095"/>
            <a:ext cx="5248655" cy="381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1B4F72"/>
                </a:solidFill>
                <a:latin typeface="Arial"/>
              </a:rPr>
              <a:t>As you watch, look for the six design features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1.  Watch the video: Geoff Lawton, “Theory in Practice: A Tour of Zaytuna Farm” (2019)  —  youtube.com/watch?v=dcgHvYWLs-Q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2.  In your notebook, create a mind map of Zaytuna Farm: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      •  outline the objectives of the farm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      •  explain the key concepts that contribute to sustainability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      •  evaluate the sustainable policies that have been put in place.</a:t>
            </a:r>
          </a:p>
        </p:txBody>
      </p:sp>
      <p:pic>
        <p:nvPicPr>
          <p:cNvPr id="7" name="Picture 6" descr="qr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03120"/>
            <a:ext cx="192024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4096512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Arial"/>
              </a:rPr>
              <a:t>Scan to open the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B4F72"/>
                </a:solidFill>
                <a:latin typeface="Arial"/>
              </a:rPr>
              <a:t>Keep your mind map — the questions on it come back in the next worksheet, together with today's advantages and disadvantages tables.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What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Four more systems: rice farming (Bangladesh), open field, arable, and extensive alpine dairy — and the sedentary/nomadic distinction that cuts across them.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Intensive (Almería): economic advantages, environmental and social costs — water, plastic, pesticides, labour conditions.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Extensive (Madagascar): low investment and cultural continuity, but low productivity per hectare, erosion and poor market access.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Sustainable agriculture aims at three goals at once — environment, profit, equity — through permaculture, organic, urban, seasonal and sustainable fish and meat.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Zaytuna Farm shows the model works at 66 acres. Whether it scales is the real debate.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