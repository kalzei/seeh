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70" r:id="rId28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presProps" Target="presProps.xml"/><Relationship Id="rId2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0E42DB-D071-452E-BB02-79B5823A8F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B877B3-5B60-423B-ADD0-C79011AA95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6EA364F-AB0F-4FB3-8D38-C3BA1D84F4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8371EC2-DD6F-4E06-AAD5-31D130A6B5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270C2CD-DDC0-48B6-9DAE-DDA4A4E40F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6B511BB-AA88-4C55-9223-75EE208581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7F24EFA-FA97-4A18-8160-485D2490D2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72E43A0-3DFC-483E-B005-8FE5B73539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B99484E-9CDB-463C-BECD-E1992A2771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0A81BB5-CA32-4C82-B97C-1BE1491051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33FE980-35F4-4D45-88C7-4E543F5E99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A9BD3D-CD61-45A5-8D8B-D9C51309D9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35D46B-B93A-44DC-A8B4-530CB90575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E7EAFF-9076-4704-A9AB-C991806A79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BF25F2-BA2C-44AB-9F16-F3FA9E2331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52EB1C-E269-4CF9-9EB8-B9795E15C54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D9F1C3-C940-4B16-A805-7D10E33AC36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215F9E-708B-4D60-A7D0-326398FCE8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550F27-9BE8-4C31-ACA0-5BCCAA2589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D6D9B2-8D56-4E27-9A41-02BC776CCD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4D1C4E-56BD-4186-922F-71EFD3E7D7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A8DC2E-7534-4AD1-92E3-8B16EAC156C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UNIT 2 · FEEDING THE WORLD · LESSON 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658440"/>
            <a:ext cx="768060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b4f72"/>
                </a:solidFill>
                <a:latin typeface="Verdana"/>
              </a:rPr>
              <a:t>Types of Farming: Feeding the World, Differently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3108960"/>
            <a:ext cx="76806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Arial"/>
              </a:rPr>
              <a:t>From hydroponic greenhouses in Spain to subsistence farming in Tanzania — how the same goal is reached in very different ways.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822960" y="1737360"/>
            <a:ext cx="7680600" cy="12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1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1b4f72"/>
                </a:solidFill>
                <a:latin typeface="Arial"/>
              </a:rPr>
              <a:t>Today's question: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how is food actually produced? Not all farming looks the same — and the differences matter a lot.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The Big Picture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822960" y="65844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Two Questions Define Any Farm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822960" y="1737360"/>
            <a:ext cx="7680600" cy="34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Intensive vs. extensive: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how much labour, money, and technology are put into each hectare of land? Intensive farms use a lot per hectare (small area, high output); extensive farms use little per hectare (large area, lower output per hectare).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Commercial vs. subsistence: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what happens to what's grown? Commercial farming sells the produce for profit; subsistence farming grows food mainly to feed the farmer's own family.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Why it matters: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these two questions combine to create very different farms, in very different parts of the world — as we'll see in four real examples.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Seeing It For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Intensive vs. Extensive: Two Real Hen Farms</a:t>
            </a:r>
          </a:p>
        </p:txBody>
      </p:sp>
      <p:pic>
        <p:nvPicPr>
          <p:cNvPr id="7" name="Picture 6" descr="img-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3657600" cy="2629497"/>
          </a:xfrm>
          <a:prstGeom prst="rect">
            <a:avLst/>
          </a:prstGeom>
        </p:spPr>
      </p:pic>
      <p:pic>
        <p:nvPicPr>
          <p:cNvPr id="8" name="Picture 7" descr="img-0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20240"/>
            <a:ext cx="3657600" cy="18724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62626"/>
                </a:solidFill>
                <a:latin typeface="Arial"/>
              </a:rPr>
              <a:t>Extensive: free-range hens, low input per hectare, more space per bird.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62626"/>
                </a:solidFill>
                <a:latin typeface="Arial"/>
              </a:rPr>
              <a:t>Intensive: thousands of hens per shed, high output per hectare, mechanised feeding.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Putting It Together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822960" y="65844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Four Combinations, Four Realities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0" name="Table 4"/>
          <p:cNvGraphicFramePr/>
          <p:nvPr/>
        </p:nvGraphicFramePr>
        <p:xfrm>
          <a:off x="822960" y="1737360"/>
          <a:ext cx="7680600" cy="1524600"/>
        </p:xfrm>
        <a:graphic>
          <a:graphicData uri="http://schemas.openxmlformats.org/drawingml/2006/table">
            <a:tbl>
              <a:tblPr/>
              <a:tblGrid>
                <a:gridCol w="1536120"/>
                <a:gridCol w="3072240"/>
                <a:gridCol w="3072240"/>
              </a:tblGrid>
              <a:tr h="0">
                <a:tc>
                  <a:txBody>
                    <a:bodyPr anchor="t">
                      <a:noAutofit/>
                    </a:bodyPr>
                    <a:p>
                      <a:endParaRPr b="0" lang="en-US" sz="2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2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Commercial (sold)</a:t>
                      </a:r>
                      <a:endParaRPr b="0" lang="en-US" sz="2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2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Subsistence (eaten)</a:t>
                      </a:r>
                      <a:endParaRPr b="0" lang="en-US" sz="2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1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Intensive (high input/ha)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1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Hydroponic greenhouses — Almería, Spain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1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Rare — small, highly-worked market gardens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1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Extensive (low input/ha)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1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Cattle ranching — Wallonia, Belgium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1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Smallholder farming — rural Tanzania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Case Study 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822960" y="65844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Cattle Farming in Wallonia, Belgium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822960" y="1737360"/>
            <a:ext cx="7680600" cy="31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Wallonia's rolling, rain-fed pastures support large-scale cattle farming for beef and dairy, sold commercially across Belgium and the EU.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Extensive: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cattle graze over large areas of grassland — relatively low input per hectare, even though the overall farm can be large and well-capitalised.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Commercial: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almost all the output is sold, not consumed by the farming family — this is a business, tightly linked to EU markets and subsidies.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5560" y="196920"/>
            <a:ext cx="9143640" cy="649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Case Study 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822960" y="65844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Subsistence Farming in Rural Tanzania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822960" y="1737360"/>
            <a:ext cx="7680600" cy="31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Many rural Tanzanian households farm small plots of maize, cassava, and vegetables, mainly to feed their own families.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Extensive: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low mechanisation and few bought inputs (fertiliser, irrigation) — yields depend heavily on rainfall and soil quality.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Subsistence: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most of what's grown is eaten by the household; any small surplus might be sold locally, but that's not the main purpose.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The vulnerability: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a single bad rainy season can threaten a family's food supply directly — very different from a commercial farm cushioned by markets and insurance.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25560" y="685800"/>
            <a:ext cx="9143640" cy="525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Case Study 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822960" y="65844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Vineyards in Alsace, France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822960" y="1737360"/>
            <a:ext cx="768060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Alsace's hillside vineyards produce some of France's best-known white wines, grown on carefully managed, labour-intensive plots.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Intensive-leaning: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vines need skilled, hands-on labour per hectare (pruning, harvesting) — a small area can represent a very high-value farm.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Commercial: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virtually all production is sold, often at a premium — Alsace wine is a global export product, not a subsistence crop.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25560" y="685800"/>
            <a:ext cx="9143640" cy="525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Case Study 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822960" y="65844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Hydroponic Greenhouses in Almería, Spain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822960" y="1737360"/>
            <a:ext cx="7680600" cy="29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Almería's "Sea of Plastic" — tens of thousands of hectares of greenhouses — grows tomatoes, peppers, and cucumbers for export across Europe.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Intensive: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hydroponics (growing in nutrient solution, not soil) lets farmers control water and nutrients precisely, producing enormous yields from a small area.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Commercial: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almost everything is sold — much of it exported — making this one of the most profitable farming systems in Europe, built in one of its driest regions.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25560" y="950760"/>
            <a:ext cx="9143640" cy="498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Did You Know?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822960" y="65844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The Trade-Offs Behind Every System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822960" y="1737360"/>
            <a:ext cx="7680600" cy="39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1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1b4f72"/>
                </a:solidFill>
                <a:latin typeface="Arial"/>
              </a:rPr>
              <a:t>More intensive usually means: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higher yield per hectare, but more water, energy, chemical inputs, and often more environmental pressure (e.g. Almería's plastic waste and water stress).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1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1b4f72"/>
                </a:solidFill>
                <a:latin typeface="Arial"/>
              </a:rPr>
              <a:t>More extensive usually means: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lower yield per hectare, but often lower input costs and sometimes gentler environmental impact — though it needs far more land.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1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1b4f72"/>
                </a:solidFill>
                <a:latin typeface="Arial"/>
              </a:rPr>
              <a:t>No system is automatically "better":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each one is a response to the local climate, land, capital, and markets available — that's why the same goal (growing food) looks so different around the world.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Recap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822960" y="65844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Types of Farming, at a Glance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822960" y="1737360"/>
            <a:ext cx="7680600" cy="35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Two questions define any farm: how intensive is it (input per hectare), and is it commercial (sold) or subsistence (eaten by the family)?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Real examples: intensive+commercial (Almería greenhouses), extensive+commercial (Wallonia cattle), extensive+subsistence (rural Tanzania), and vineyards in Alsace (intensive-leaning, commercial).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Every system trades off yield, cost, land, and environmental impact differently — shaped by local climate, capital, and markets.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2026-10-08T10:20:53Z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