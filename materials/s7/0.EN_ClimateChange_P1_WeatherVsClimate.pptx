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EA580C"/>
                </a:solidFill>
                <a:latin typeface="Arial"/>
              </a:rPr>
              <a:t>S7 SCIENCE, TECHNOLOGY &amp; SOCIETY · SEMESTER 1 · PERIOD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Verdana"/>
              </a:rPr>
              <a:t>Weather, Climate, and</a:t>
            </a:r>
          </a:p>
          <a:p>
            <a:pPr algn="l"/>
            <a:r>
              <a:rPr sz="4200" b="1" i="0">
                <a:solidFill>
                  <a:srgbClr val="FFFFFF"/>
                </a:solidFill>
                <a:latin typeface="Verdana"/>
              </a:rPr>
              <a:t>Earth's Energy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605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  <a:latin typeface="Arial"/>
              </a:rPr>
              <a:t>Climate Change and Biodiversity — how our planet's climate system works, and what the evidence actually shows.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S7 STS · Climate Change &amp; Biodiversity · Period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EA580C"/>
                </a:solidFill>
                <a:latin typeface="Arial"/>
              </a:rPr>
              <a:t>A CLAIM YOU'VE PROBABLY HEARD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88136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Verdana"/>
              </a:rPr>
              <a:t>“It snowed last week — so much for global warming.”</a:t>
            </a:r>
          </a:p>
          <a:p>
            <a:pPr algn="l"/>
            <a:r>
              <a:rPr sz="3200" b="1" i="0">
                <a:solidFill>
                  <a:srgbClr val="0F172A"/>
                </a:solidFill>
                <a:latin typeface="Verdana"/>
              </a:rPr>
              <a:t/>
            </a:r>
          </a:p>
          <a:p>
            <a:pPr algn="l"/>
            <a:r>
              <a:rPr sz="3200" b="1" i="0">
                <a:solidFill>
                  <a:srgbClr val="0F172A"/>
                </a:solidFill>
                <a:latin typeface="Verdana"/>
              </a:rPr>
              <a:t>Is this actually a valid scientific argument?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8463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>
                <a:solidFill>
                  <a:srgbClr val="45556C"/>
                </a:solidFill>
                <a:latin typeface="Arial"/>
              </a:rPr>
              <a:t>Think about it before the next slide: what would you need to know to properly evaluate this claim?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5556C"/>
                </a:solidFill>
                <a:latin typeface="Arial"/>
              </a:rPr>
              <a:t>S7 STS · Climate Change &amp; Biodiversity · Period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Arial"/>
              </a:rPr>
              <a:t>DEFINITIONS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Verdana"/>
              </a:rPr>
              <a:t>Weather vs. Climate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45556C"/>
                </a:solidFill>
                <a:latin typeface="Arial"/>
              </a:rPr>
              <a:t>S7 STS · Climate Change &amp; Biodiversity · Period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3263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50520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0F172A"/>
                </a:solidFill>
                <a:latin typeface="Arial"/>
              </a:rPr>
              <a:t>Weather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5052060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Arial"/>
              </a:rPr>
              <a:t>The state of the atmosphere at a specific place and moment: today's temperature, rainfall, wind, cloud cover. Changes hour to hour, day to day.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5060" y="1828800"/>
            <a:ext cx="53263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2220" y="1920240"/>
            <a:ext cx="50520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0F172A"/>
                </a:solidFill>
                <a:latin typeface="Arial"/>
              </a:rPr>
              <a:t>Climate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2220" y="2331720"/>
            <a:ext cx="5052060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Arial"/>
              </a:rPr>
              <a:t>The average pattern of weather in a region over a long period — typically 30 years or more. It's the statistical summary, not any single day.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45556C"/>
                </a:solidFill>
                <a:latin typeface="Arial"/>
              </a:rPr>
              <a:t>According to the World Meteorological Organization (WMO), the standard reference period for defining a region's climate is 30 years.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Arial"/>
              </a:rPr>
              <a:t>WHY THE CLAIM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Verdana"/>
              </a:rPr>
              <a:t>One Snowy Week Tells You Nothing About Climate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45556C"/>
                </a:solidFill>
                <a:latin typeface="Arial"/>
              </a:rPr>
              <a:t>S7 STS · Climate Change &amp; Biodiversity · Period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6070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2000">
                <a:solidFill>
                  <a:srgbClr val="0F172A"/>
                </a:solidFill>
                <a:latin typeface="Arial"/>
              </a:rPr>
              <a:t>• The error:</a:t>
            </a:r>
            <a:r>
              <a:rPr sz="2000">
                <a:solidFill>
                  <a:srgbClr val="1E293B"/>
                </a:solidFill>
                <a:latin typeface="Arial"/>
              </a:rPr>
              <a:t>  confusing a single data point (one cold week) with a long-term trend (average conditions over decades).</a:t>
            </a:r>
          </a:p>
          <a:p>
            <a:pPr>
              <a:spcAft>
                <a:spcPts val="1200"/>
              </a:spcAft>
            </a:pPr>
            <a:r>
              <a:rPr b="1" sz="2000">
                <a:solidFill>
                  <a:srgbClr val="0F172A"/>
                </a:solidFill>
                <a:latin typeface="Arial"/>
              </a:rPr>
              <a:t>• An analogy:</a:t>
            </a:r>
            <a:r>
              <a:rPr sz="2000">
                <a:solidFill>
                  <a:srgbClr val="1E293B"/>
                </a:solidFill>
                <a:latin typeface="Arial"/>
              </a:rPr>
              <a:t>  weather is your mood today; climate is your personality — measured over years, not a single afternoon.</a:t>
            </a:r>
          </a:p>
          <a:p>
            <a:pPr>
              <a:spcAft>
                <a:spcPts val="1200"/>
              </a:spcAft>
            </a:pPr>
            <a:r>
              <a:rPr b="1" sz="2000">
                <a:solidFill>
                  <a:srgbClr val="0F172A"/>
                </a:solidFill>
                <a:latin typeface="Arial"/>
              </a:rPr>
              <a:t>• The actual test:</a:t>
            </a:r>
            <a:r>
              <a:rPr sz="2000">
                <a:solidFill>
                  <a:srgbClr val="1E293B"/>
                </a:solidFill>
                <a:latin typeface="Arial"/>
              </a:rPr>
              <a:t>  is the 30-year average shifting, not whether any one week or winter felt cold.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Arial"/>
              </a:rPr>
              <a:t>BEYOND A SINGLE REGION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Verdana"/>
              </a:rPr>
              <a:t>Types of Climate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45556C"/>
                </a:solidFill>
                <a:latin typeface="Arial"/>
              </a:rPr>
              <a:t>S7 STS · Climate Change &amp; Biodiversity · Period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6070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E293B"/>
                </a:solidFill>
                <a:latin typeface="Arial"/>
              </a:rPr>
              <a:t>• Climates are grouped into broad categories based on typical temperature and precipitation patterns — this is the basis of the Köppen climate classification, the most widely used system in the world.</a:t>
            </a:r>
          </a:p>
          <a:p>
            <a:pPr>
              <a:spcAft>
                <a:spcPts val="1200"/>
              </a:spcAft>
            </a:pPr>
            <a:r>
              <a:rPr b="1" sz="2000">
                <a:solidFill>
                  <a:srgbClr val="0F172A"/>
                </a:solidFill>
                <a:latin typeface="Arial"/>
              </a:rPr>
              <a:t>• The major groups:</a:t>
            </a:r>
            <a:r>
              <a:rPr sz="2000">
                <a:solidFill>
                  <a:srgbClr val="1E293B"/>
                </a:solidFill>
                <a:latin typeface="Arial"/>
              </a:rPr>
              <a:t>  include Tropical, Dry (arid/desert), Temperate, and Continental climates, each covering very different regions of the globe.</a:t>
            </a:r>
          </a:p>
          <a:p>
            <a:pPr>
              <a:spcAft>
                <a:spcPts val="1200"/>
              </a:spcAft>
            </a:pPr>
            <a:r>
              <a:rPr b="1" sz="2000">
                <a:solidFill>
                  <a:srgbClr val="0F172A"/>
                </a:solidFill>
                <a:latin typeface="Arial"/>
              </a:rPr>
              <a:t>• Why it matters here:</a:t>
            </a:r>
            <a:r>
              <a:rPr sz="2000">
                <a:solidFill>
                  <a:srgbClr val="1E293B"/>
                </a:solidFill>
                <a:latin typeface="Arial"/>
              </a:rPr>
              <a:t>  different climate zones respond differently to climate change — this is part of why “biodiversity” is in this topic's title alongside “climate change.”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Arial"/>
              </a:rPr>
              <a:t>THE WORLD'S CLIMATE ZONES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Verdana"/>
              </a:rPr>
              <a:t>The Köppen Climate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45556C"/>
                </a:solidFill>
                <a:latin typeface="Arial"/>
              </a:rPr>
              <a:t>S7 STS · Climate Change &amp; Biodiversity · Period 1</a:t>
            </a:r>
          </a:p>
        </p:txBody>
      </p:sp>
      <p:pic>
        <p:nvPicPr>
          <p:cNvPr id="6" name="Picture 5" descr="koppen_map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600200"/>
            <a:ext cx="706374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Arial"/>
              </a:rPr>
              <a:t>A WORKING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Verdana"/>
              </a:rPr>
              <a:t>What Is Climate Change?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45556C"/>
                </a:solidFill>
                <a:latin typeface="Arial"/>
              </a:rPr>
              <a:t>S7 STS · Climate Change &amp; Biodiversity · Period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6070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E293B"/>
                </a:solidFill>
                <a:latin typeface="Arial"/>
              </a:rPr>
              <a:t>• Climate change refers to long-term changes in Earth's temperature, weather patterns, and atmospheric conditions.</a:t>
            </a:r>
          </a:p>
          <a:p>
            <a:pPr>
              <a:spcAft>
                <a:spcPts val="1200"/>
              </a:spcAft>
            </a:pPr>
            <a:r>
              <a:rPr b="1" sz="2000">
                <a:solidFill>
                  <a:srgbClr val="0F172A"/>
                </a:solidFill>
                <a:latin typeface="Arial"/>
              </a:rPr>
              <a:t>• The main cause:</a:t>
            </a:r>
            <a:r>
              <a:rPr sz="2000">
                <a:solidFill>
                  <a:srgbClr val="1E293B"/>
                </a:solidFill>
                <a:latin typeface="Arial"/>
              </a:rPr>
              <a:t>  human activities such as burning fossil fuels, deforestation, and industrial processes.</a:t>
            </a:r>
          </a:p>
          <a:p>
            <a:pPr>
              <a:spcAft>
                <a:spcPts val="1200"/>
              </a:spcAft>
            </a:pPr>
            <a:r>
              <a:rPr b="1" sz="2000">
                <a:solidFill>
                  <a:srgbClr val="0F172A"/>
                </a:solidFill>
                <a:latin typeface="Arial"/>
              </a:rPr>
              <a:t>• The mechanism:</a:t>
            </a:r>
            <a:r>
              <a:rPr sz="2000">
                <a:solidFill>
                  <a:srgbClr val="1E293B"/>
                </a:solidFill>
                <a:latin typeface="Arial"/>
              </a:rPr>
              <a:t>  these activities emit greenhouse gases — including carbon dioxide (CO₂) and methane (CH₄) — which trap heat in the atmosphere and contribute to global warming.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Arial"/>
              </a:rPr>
              <a:t>THE SYLLABUS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Verdana"/>
              </a:rPr>
              <a:t>Earth's Energy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45556C"/>
                </a:solidFill>
                <a:latin typeface="Arial"/>
              </a:rPr>
              <a:t>S7 STS · Climate Change &amp; Biodiversity · Period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6070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E293B"/>
                </a:solidFill>
                <a:latin typeface="Arial"/>
              </a:rPr>
              <a:t>• Earth's energy budget is, simply put, our planet's energy balance sheet: the balance between the solar energy entering Earth's system and the thermal energy that leaves and returns to space.</a:t>
            </a:r>
          </a:p>
          <a:p>
            <a:pPr>
              <a:spcAft>
                <a:spcPts val="1200"/>
              </a:spcAft>
            </a:pPr>
            <a:r>
              <a:rPr b="1" sz="2000">
                <a:solidFill>
                  <a:srgbClr val="0F172A"/>
                </a:solidFill>
                <a:latin typeface="Arial"/>
              </a:rPr>
              <a:t>• Incoming energy:</a:t>
            </a:r>
            <a:r>
              <a:rPr sz="2000">
                <a:solidFill>
                  <a:srgbClr val="1E293B"/>
                </a:solidFill>
                <a:latin typeface="Arial"/>
              </a:rPr>
              <a:t>  Earth receives energy only from the Sun, as short-wave radiation (mainly visible light and UV). Treat the energy reaching the top of the atmosphere as 100%.</a:t>
            </a:r>
          </a:p>
          <a:p>
            <a:pPr>
              <a:spcAft>
                <a:spcPts val="1200"/>
              </a:spcAft>
            </a:pPr>
            <a:r>
              <a:rPr b="1" sz="2000">
                <a:solidFill>
                  <a:srgbClr val="0F172A"/>
                </a:solidFill>
                <a:latin typeface="Arial"/>
              </a:rPr>
              <a:t>• Reflection (≈29-30%):</a:t>
            </a:r>
            <a:r>
              <a:rPr sz="2000">
                <a:solidFill>
                  <a:srgbClr val="1E293B"/>
                </a:solidFill>
                <a:latin typeface="Arial"/>
              </a:rPr>
              <a:t>  part of the radiation — the albedo — is reflected straight back to space by clouds, atmospheric particles, and light-coloured surfaces (ice, snow, deserts).</a:t>
            </a:r>
          </a:p>
          <a:p>
            <a:pPr>
              <a:spcAft>
                <a:spcPts val="1200"/>
              </a:spcAft>
            </a:pPr>
            <a:r>
              <a:rPr b="1" sz="2000">
                <a:solidFill>
                  <a:srgbClr val="0F172A"/>
                </a:solidFill>
                <a:latin typeface="Arial"/>
              </a:rPr>
              <a:t>• Absorption (≈70-71%):</a:t>
            </a:r>
            <a:r>
              <a:rPr sz="2000">
                <a:solidFill>
                  <a:srgbClr val="1E293B"/>
                </a:solidFill>
                <a:latin typeface="Arial"/>
              </a:rPr>
              <a:t>  the rest is absorbed by the atmosphere, oceans, and land — this is the energy that warms the planet, melts ice, evaporates water, and drives weather.</a:t>
            </a:r>
          </a:p>
          <a:p>
            <a:pPr>
              <a:spcAft>
                <a:spcPts val="1200"/>
              </a:spcAft>
            </a:pPr>
            <a:r>
              <a:rPr b="1" sz="2000">
                <a:solidFill>
                  <a:srgbClr val="0F172A"/>
                </a:solidFill>
                <a:latin typeface="Arial"/>
              </a:rPr>
              <a:t>• Outgoing energy:</a:t>
            </a:r>
            <a:r>
              <a:rPr sz="2000">
                <a:solidFill>
                  <a:srgbClr val="1E293B"/>
                </a:solidFill>
                <a:latin typeface="Arial"/>
              </a:rPr>
              <a:t>  to avoid overheating, Earth must eventually release the energy it absorbed — not as visible light (Earth is far colder than the Sun), but as long-wave, infrared radiation (heat).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Arial"/>
              </a:rPr>
              <a:t>THE NUMBERS BEHIND THE 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Verdana"/>
              </a:rPr>
              <a:t>Earth's Energy Budget, Quantified (NASA/CERES)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45556C"/>
                </a:solidFill>
                <a:latin typeface="Arial"/>
              </a:rPr>
              <a:t>S7 STS · Climate Change &amp; Biodiversity · Period 1</a:t>
            </a:r>
          </a:p>
        </p:txBody>
      </p:sp>
      <p:pic>
        <p:nvPicPr>
          <p:cNvPr id="6" name="Picture 5" descr="nasa_energy_budge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600200"/>
            <a:ext cx="6091196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Arial"/>
              </a:rPr>
              <a:t>THE KEY TO CLIMATE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Verdana"/>
              </a:rPr>
              <a:t>The Role of Greenhouse Gases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45556C"/>
                </a:solidFill>
                <a:latin typeface="Arial"/>
              </a:rPr>
              <a:t>S7 STS · Climate Change &amp; Biodiversity · Period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6070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E293B"/>
                </a:solidFill>
                <a:latin typeface="Arial"/>
              </a:rPr>
              <a:t>• Gases such as carbon dioxide (CO₂), methane (CH₄), and water vapour (H₂O) act like “filters”:</a:t>
            </a:r>
          </a:p>
          <a:p>
            <a:pPr>
              <a:spcAft>
                <a:spcPts val="1200"/>
              </a:spcAft>
            </a:pPr>
            <a:r>
              <a:rPr b="1" sz="2000">
                <a:solidFill>
                  <a:srgbClr val="0F172A"/>
                </a:solidFill>
                <a:latin typeface="Arial"/>
              </a:rPr>
              <a:t>• Transparent to incoming radiation:</a:t>
            </a:r>
            <a:r>
              <a:rPr sz="2000">
                <a:solidFill>
                  <a:srgbClr val="1E293B"/>
                </a:solidFill>
                <a:latin typeface="Arial"/>
              </a:rPr>
              <a:t>  short-wave solar radiation passes through them largely unaffected.</a:t>
            </a:r>
          </a:p>
          <a:p>
            <a:pPr>
              <a:spcAft>
                <a:spcPts val="1200"/>
              </a:spcAft>
            </a:pPr>
            <a:r>
              <a:rPr b="1" sz="2000">
                <a:solidFill>
                  <a:srgbClr val="0F172A"/>
                </a:solidFill>
                <a:latin typeface="Arial"/>
              </a:rPr>
              <a:t>• Opaque to outgoing radiation:</a:t>
            </a:r>
            <a:r>
              <a:rPr sz="2000">
                <a:solidFill>
                  <a:srgbClr val="1E293B"/>
                </a:solidFill>
                <a:latin typeface="Arial"/>
              </a:rPr>
              <a:t>  but they absorb long-wave, infrared radiation trying to escape.</a:t>
            </a:r>
          </a:p>
          <a:p>
            <a:pPr>
              <a:spcAft>
                <a:spcPts val="1200"/>
              </a:spcAft>
            </a:pPr>
            <a:r>
              <a:rPr b="1" sz="2000">
                <a:solidFill>
                  <a:srgbClr val="0F172A"/>
                </a:solidFill>
                <a:latin typeface="Arial"/>
              </a:rPr>
              <a:t>• The mechanism:</a:t>
            </a:r>
            <a:r>
              <a:rPr sz="2000">
                <a:solidFill>
                  <a:srgbClr val="1E293B"/>
                </a:solidFill>
                <a:latin typeface="Arial"/>
              </a:rPr>
              <a:t>  through molecular vibration, they absorb this escaping heat and re-emit it in all directions — including back down toward Earth's surface. This is the Natural Greenhouse Effect, essential for life: without it, Earth's average temperature would be –18°C instead of +15°C.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Arial"/>
              </a:rPr>
              <a:t>WHY IT'S ESSENTIAL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Verdana"/>
              </a:rPr>
              <a:t>The Benefits of the Natural Greenhouse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45556C"/>
                </a:solidFill>
                <a:latin typeface="Arial"/>
              </a:rPr>
              <a:t>S7 STS · Climate Change &amp; Biodiversity · Period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6070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800">
                <a:solidFill>
                  <a:srgbClr val="0F172A"/>
                </a:solidFill>
                <a:latin typeface="Arial"/>
              </a:rPr>
              <a:t>• Keeps water liquid:</a:t>
            </a:r>
            <a:r>
              <a:rPr sz="1800">
                <a:solidFill>
                  <a:srgbClr val="1E293B"/>
                </a:solidFill>
                <a:latin typeface="Arial"/>
              </a:rPr>
              <a:t>  raising the average temperature by 33°C (–18°C → +15°C) let water remain liquid — the solvent and setting for life's first chemistry.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0F172A"/>
                </a:solidFill>
                <a:latin typeface="Arial"/>
              </a:rPr>
              <a:t>• Smooths out temperature extremes:</a:t>
            </a:r>
            <a:r>
              <a:rPr sz="1800">
                <a:solidFill>
                  <a:srgbClr val="1E293B"/>
                </a:solidFill>
                <a:latin typeface="Arial"/>
              </a:rPr>
              <a:t>  greenhouse gases act as a “thermal blanket.” Airless bodies like the Moon swing from +120°C by day to –130°C by night; Earth stays in a stable, life-friendly range.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0F172A"/>
                </a:solidFill>
                <a:latin typeface="Arial"/>
              </a:rPr>
              <a:t>• Powers biogeochemical cycles:</a:t>
            </a:r>
            <a:r>
              <a:rPr sz="1800">
                <a:solidFill>
                  <a:srgbClr val="1E293B"/>
                </a:solidFill>
                <a:latin typeface="Arial"/>
              </a:rPr>
              <a:t>  trapped heat drives weather, the water cycle, and ocean currents — redistributing nutrients across the planet.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0F172A"/>
                </a:solidFill>
                <a:latin typeface="Arial"/>
              </a:rPr>
              <a:t>• Protects biodiversity:</a:t>
            </a:r>
            <a:r>
              <a:rPr sz="1800">
                <a:solidFill>
                  <a:srgbClr val="1E293B"/>
                </a:solidFill>
                <a:latin typeface="Arial"/>
              </a:rPr>
              <a:t>  millions of years of climate stability let ecosystems evolve and diversify, from early photosynthesising organisms to complex mammals.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Arial"/>
              </a:rPr>
              <a:t>WHEN THE BALANCE SHIFTS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Verdana"/>
              </a:rPr>
              <a:t>The Positive Balance (Radiative Forcing)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45556C"/>
                </a:solidFill>
                <a:latin typeface="Arial"/>
              </a:rPr>
              <a:t>S7 STS · Climate Change &amp; Biodiversity · Period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6070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2000">
                <a:solidFill>
                  <a:srgbClr val="0F172A"/>
                </a:solidFill>
                <a:latin typeface="Arial"/>
              </a:rPr>
              <a:t>• When balanced:</a:t>
            </a:r>
            <a:r>
              <a:rPr sz="2000">
                <a:solidFill>
                  <a:srgbClr val="1E293B"/>
                </a:solidFill>
                <a:latin typeface="Arial"/>
              </a:rPr>
              <a:t>  incoming = outgoing energy, and climate is stable.</a:t>
            </a:r>
          </a:p>
          <a:p>
            <a:pPr>
              <a:spcAft>
                <a:spcPts val="1200"/>
              </a:spcAft>
            </a:pPr>
            <a:r>
              <a:rPr b="1" sz="2000">
                <a:solidFill>
                  <a:srgbClr val="0F172A"/>
                </a:solidFill>
                <a:latin typeface="Arial"/>
              </a:rPr>
              <a:t>• What's changed:</a:t>
            </a:r>
            <a:r>
              <a:rPr sz="2000">
                <a:solidFill>
                  <a:srgbClr val="1E293B"/>
                </a:solidFill>
                <a:latin typeface="Arial"/>
              </a:rPr>
              <a:t>  human activities have dramatically increased greenhouse gas concentrations, so Earth now traps more energy than it emits back to space.</a:t>
            </a:r>
          </a:p>
          <a:p>
            <a:pPr>
              <a:spcAft>
                <a:spcPts val="1200"/>
              </a:spcAft>
            </a:pPr>
            <a:r>
              <a:rPr b="1" sz="2000">
                <a:solidFill>
                  <a:srgbClr val="0F172A"/>
                </a:solidFill>
                <a:latin typeface="Arial"/>
              </a:rPr>
              <a:t>• The surplus:</a:t>
            </a:r>
            <a:r>
              <a:rPr sz="2000">
                <a:solidFill>
                  <a:srgbClr val="1E293B"/>
                </a:solidFill>
                <a:latin typeface="Arial"/>
              </a:rPr>
              <a:t>  roughly 1 extra watt per square metre, globally — the balance is now “positive.”</a:t>
            </a:r>
          </a:p>
          <a:p>
            <a:pPr>
              <a:spcAft>
                <a:spcPts val="1200"/>
              </a:spcAft>
            </a:pPr>
            <a:r>
              <a:rPr b="1" sz="2000">
                <a:solidFill>
                  <a:srgbClr val="0F172A"/>
                </a:solidFill>
                <a:latin typeface="Arial"/>
              </a:rPr>
              <a:t>• Where that extra energy goes:</a:t>
            </a:r>
            <a:r>
              <a:rPr sz="2000">
                <a:solidFill>
                  <a:srgbClr val="1E293B"/>
                </a:solidFill>
                <a:latin typeface="Arial"/>
              </a:rPr>
              <a:t>  it warms the atmosphere, melts the cryosphere (glaciers and ice), and is absorbed by the oceans at about 90% — directly raising Ocean Heat Content, next lesson's topic.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Arial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Verdana"/>
              </a:rPr>
              <a:t>What You Should Walk Away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45556C"/>
                </a:solidFill>
                <a:latin typeface="Arial"/>
              </a:rPr>
              <a:t>S7 STS · Climate Change &amp; Biodiversity · Period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E293B"/>
                </a:solidFill>
                <a:latin typeface="Arial"/>
              </a:rPr>
              <a:t>• Climate ≠ weather: climate is the long-term average (30+ years, per the WMO), not any single event.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E293B"/>
                </a:solidFill>
                <a:latin typeface="Arial"/>
              </a:rPr>
              <a:t>• “It snowed, so no warming” confuses a data point with a trend — a common but flawed argument.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E293B"/>
                </a:solidFill>
                <a:latin typeface="Arial"/>
              </a:rPr>
              <a:t>• Earth's energy budget balances incoming solar radiation (~29-30% reflected, ~70-71% absorbed) against outgoing infrared radiation.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E293B"/>
                </a:solidFill>
                <a:latin typeface="Arial"/>
              </a:rPr>
              <a:t>• The natural greenhouse effect adds about 33°C of warming (–18°C → +15°C) and is essential for liquid water, stable temperatures, weather cycles, and biodiversity.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E293B"/>
                </a:solidFill>
                <a:latin typeface="Arial"/>
              </a:rPr>
              <a:t>• Human activity has pushed the balance “positive” (~+1 W/m²) — Earth now traps more energy than it releases.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577840"/>
            <a:ext cx="10881360" cy="777240"/>
          </a:xfrm>
          <a:prstGeom prst="rect">
            <a:avLst/>
          </a:prstGeom>
          <a:solidFill>
            <a:srgbClr val="FDECE1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687568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Arial"/>
              </a:rPr>
              <a:t>NEXT LESSON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687568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0F172A"/>
                </a:solidFill>
                <a:latin typeface="Arial"/>
              </a:rPr>
              <a:t>Period 2 — Ocean Heat Content: where ~90% of today's extra energy is going, and what it means for the planet.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