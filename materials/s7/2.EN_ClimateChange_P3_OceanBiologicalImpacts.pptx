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515600" cy="457200"/>
          </a:xfrm>
          <a:prstGeom prst="rect">
            <a:avLst/>
          </a:prstGeom>
          <a:noFill/>
        </p:spPr>
        <p:txBody>
          <a:bodyPr wrap="square" anchor="t">
            <a:spAutoFit/>
          </a:bodyPr>
          <a:lstStyle/>
          <a:p>
            <a:pPr algn="l"/>
            <a:r>
              <a:rPr sz="1800" b="1" i="0">
                <a:solidFill>
                  <a:srgbClr val="EA580C"/>
                </a:solidFill>
                <a:latin typeface="Arial"/>
              </a:rPr>
              <a:t>S7 SCIENCE, TECHNOLOGY &amp; SOCIETY · SEMESTER 1 · PERIOD 3</a:t>
            </a:r>
          </a:p>
        </p:txBody>
      </p:sp>
      <p:sp>
        <p:nvSpPr>
          <p:cNvPr id="4" name="TextBox 3"/>
          <p:cNvSpPr txBox="1"/>
          <p:nvPr/>
        </p:nvSpPr>
        <p:spPr>
          <a:xfrm>
            <a:off x="640080" y="2743200"/>
            <a:ext cx="10515600" cy="1463040"/>
          </a:xfrm>
          <a:prstGeom prst="rect">
            <a:avLst/>
          </a:prstGeom>
          <a:noFill/>
        </p:spPr>
        <p:txBody>
          <a:bodyPr wrap="square" anchor="t">
            <a:spAutoFit/>
          </a:bodyPr>
          <a:lstStyle/>
          <a:p>
            <a:pPr algn="l"/>
            <a:r>
              <a:rPr sz="4200" b="1" i="0">
                <a:solidFill>
                  <a:srgbClr val="FFFFFF"/>
                </a:solidFill>
                <a:latin typeface="Verdana"/>
              </a:rPr>
              <a:t>Ocean Heat Content, Part 2:</a:t>
            </a:r>
          </a:p>
          <a:p>
            <a:pPr algn="l"/>
            <a:r>
              <a:rPr sz="4200" b="1" i="0">
                <a:solidFill>
                  <a:srgbClr val="FFFFFF"/>
                </a:solidFill>
                <a:latin typeface="Verdana"/>
              </a:rPr>
              <a:t>Life in a Warming Sea</a:t>
            </a:r>
          </a:p>
        </p:txBody>
      </p:sp>
      <p:sp>
        <p:nvSpPr>
          <p:cNvPr id="5" name="TextBox 4"/>
          <p:cNvSpPr txBox="1"/>
          <p:nvPr/>
        </p:nvSpPr>
        <p:spPr>
          <a:xfrm>
            <a:off x="640080" y="4160520"/>
            <a:ext cx="10058400" cy="914400"/>
          </a:xfrm>
          <a:prstGeom prst="rect">
            <a:avLst/>
          </a:prstGeom>
          <a:noFill/>
        </p:spPr>
        <p:txBody>
          <a:bodyPr wrap="square" anchor="t">
            <a:spAutoFit/>
          </a:bodyPr>
          <a:lstStyle/>
          <a:p>
            <a:pPr algn="l"/>
            <a:r>
              <a:rPr sz="2000" b="0" i="0">
                <a:solidFill>
                  <a:srgbClr val="94A3B8"/>
                </a:solidFill>
                <a:latin typeface="Arial"/>
              </a:rPr>
              <a:t>Climate Change and Biodiversity — what happens to marine life when the ocean's heat content keeps rising.</a:t>
            </a:r>
          </a:p>
        </p:txBody>
      </p:sp>
      <p:sp>
        <p:nvSpPr>
          <p:cNvPr id="6" name="TextBox 5"/>
          <p:cNvSpPr txBox="1"/>
          <p:nvPr/>
        </p:nvSpPr>
        <p:spPr>
          <a:xfrm>
            <a:off x="640080" y="6355080"/>
            <a:ext cx="10058400" cy="365760"/>
          </a:xfrm>
          <a:prstGeom prst="rect">
            <a:avLst/>
          </a:prstGeom>
          <a:noFill/>
        </p:spPr>
        <p:txBody>
          <a:bodyPr wrap="square" anchor="t">
            <a:spAutoFit/>
          </a:bodyPr>
          <a:lstStyle/>
          <a:p>
            <a:pPr algn="l"/>
            <a:r>
              <a:rPr sz="1300" b="0" i="0">
                <a:solidFill>
                  <a:srgbClr val="94A3B8"/>
                </a:solidFill>
                <a:latin typeface="Arial"/>
              </a:rPr>
              <a:t>S7 STS · Climate Change &amp; Biodiversity · Period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WHERE WE LEFT OFF</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Not Just a Number in Physical Oceanography</a:t>
            </a:r>
          </a:p>
        </p:txBody>
      </p:sp>
      <p:sp>
        <p:nvSpPr>
          <p:cNvPr id="5" name="TextBox 4"/>
          <p:cNvSpPr txBox="1"/>
          <p:nvPr/>
        </p:nvSpPr>
        <p:spPr>
          <a:xfrm>
            <a:off x="640080" y="1600200"/>
            <a:ext cx="10607040" cy="4617720"/>
          </a:xfrm>
          <a:prstGeom prst="rect">
            <a:avLst/>
          </a:prstGeom>
          <a:noFill/>
        </p:spPr>
        <p:txBody>
          <a:bodyPr wrap="square">
            <a:spAutoFit/>
          </a:bodyPr>
          <a:lstStyle/>
          <a:p>
            <a:pPr>
              <a:spcAft>
                <a:spcPts val="1200"/>
              </a:spcAft>
            </a:pPr>
            <a:r>
              <a:rPr sz="2200">
                <a:solidFill>
                  <a:srgbClr val="1E293B"/>
                </a:solidFill>
                <a:latin typeface="Arial"/>
              </a:rPr>
              <a:t>• Last lesson: Ocean Heat Content (OHC) is accelerating — from ≈2 to ≈12 Hiroshima-bomb equivalents per second since 1980.</a:t>
            </a:r>
          </a:p>
          <a:p>
            <a:pPr>
              <a:spcAft>
                <a:spcPts val="1200"/>
              </a:spcAft>
            </a:pPr>
            <a:r>
              <a:rPr b="1" sz="2200">
                <a:solidFill>
                  <a:srgbClr val="0F172A"/>
                </a:solidFill>
                <a:latin typeface="Arial"/>
              </a:rPr>
              <a:t>• Today's question:</a:t>
            </a:r>
            <a:r>
              <a:rPr sz="2200">
                <a:solidFill>
                  <a:srgbClr val="1E293B"/>
                </a:solidFill>
                <a:latin typeface="Arial"/>
              </a:rPr>
              <a:t>  what does all that extra heat actually DO to life in the ocean?</a:t>
            </a:r>
          </a:p>
          <a:p>
            <a:pPr>
              <a:spcAft>
                <a:spcPts val="1200"/>
              </a:spcAft>
            </a:pPr>
            <a:r>
              <a:rPr sz="2200">
                <a:solidFill>
                  <a:srgbClr val="1E293B"/>
                </a:solidFill>
                <a:latin typeface="Arial"/>
              </a:rPr>
              <a:t>• A rise in ocean heat content causes direct, measurable changes to the physiology, biochemistry, and distribution of marine life — not just a number on a graph.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MECHANISM 1</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Speeding Up Metabolism</a:t>
            </a:r>
          </a:p>
        </p:txBody>
      </p:sp>
      <p:sp>
        <p:nvSpPr>
          <p:cNvPr id="5" name="TextBox 4"/>
          <p:cNvSpPr txBox="1"/>
          <p:nvPr/>
        </p:nvSpPr>
        <p:spPr>
          <a:xfrm>
            <a:off x="640080" y="1600200"/>
            <a:ext cx="10607040" cy="4617720"/>
          </a:xfrm>
          <a:prstGeom prst="rect">
            <a:avLst/>
          </a:prstGeom>
          <a:noFill/>
        </p:spPr>
        <p:txBody>
          <a:bodyPr wrap="square">
            <a:spAutoFit/>
          </a:bodyPr>
          <a:lstStyle/>
          <a:p>
            <a:pPr>
              <a:spcAft>
                <a:spcPts val="1200"/>
              </a:spcAft>
            </a:pPr>
            <a:r>
              <a:rPr b="1" sz="2200">
                <a:solidFill>
                  <a:srgbClr val="0F172A"/>
                </a:solidFill>
                <a:latin typeface="Arial"/>
              </a:rPr>
              <a:t>• The vast majority of marine organisms are ectotherms</a:t>
            </a:r>
            <a:r>
              <a:rPr sz="2200">
                <a:solidFill>
                  <a:srgbClr val="1E293B"/>
                </a:solidFill>
                <a:latin typeface="Arial"/>
              </a:rPr>
              <a:t>  their body temperature matches their surroundings — unlike mammals and birds, they can't regulate it internally.</a:t>
            </a:r>
          </a:p>
          <a:p>
            <a:pPr>
              <a:spcAft>
                <a:spcPts val="1200"/>
              </a:spcAft>
            </a:pPr>
            <a:r>
              <a:rPr b="1" sz="2200">
                <a:solidFill>
                  <a:srgbClr val="0F172A"/>
                </a:solidFill>
                <a:latin typeface="Arial"/>
              </a:rPr>
              <a:t>• What warmer water does:</a:t>
            </a:r>
            <a:r>
              <a:rPr sz="2200">
                <a:solidFill>
                  <a:srgbClr val="1E293B"/>
                </a:solidFill>
                <a:latin typeface="Arial"/>
              </a:rPr>
              <a:t>  it speeds up their enzyme activity and basic metabolism.</a:t>
            </a:r>
          </a:p>
          <a:p>
            <a:pPr>
              <a:spcAft>
                <a:spcPts val="1200"/>
              </a:spcAft>
            </a:pPr>
            <a:r>
              <a:rPr b="1" sz="2200">
                <a:solidFill>
                  <a:srgbClr val="0F172A"/>
                </a:solidFill>
                <a:latin typeface="Arial"/>
              </a:rPr>
              <a:t>• The consequence:</a:t>
            </a:r>
            <a:r>
              <a:rPr sz="2200">
                <a:solidFill>
                  <a:srgbClr val="1E293B"/>
                </a:solidFill>
                <a:latin typeface="Arial"/>
              </a:rPr>
              <a:t>  ectotherms suddenly need more food and more oxygen just to keep their basic cellular functions running — even before anything else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MECHANISM 2</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When Coral Loses Its Colour</a:t>
            </a:r>
          </a:p>
        </p:txBody>
      </p:sp>
      <p:pic>
        <p:nvPicPr>
          <p:cNvPr id="5" name="Picture 4" descr="s19_12.jpg"/>
          <p:cNvPicPr>
            <a:picLocks noChangeAspect="1"/>
          </p:cNvPicPr>
          <p:nvPr/>
        </p:nvPicPr>
        <p:blipFill>
          <a:blip r:embed="rId2"/>
          <a:stretch>
            <a:fillRect/>
          </a:stretch>
        </p:blipFill>
        <p:spPr>
          <a:xfrm>
            <a:off x="7223760" y="1737360"/>
            <a:ext cx="4389120" cy="2924937"/>
          </a:xfrm>
          <a:prstGeom prst="rect">
            <a:avLst/>
          </a:prstGeom>
        </p:spPr>
      </p:pic>
      <p:sp>
        <p:nvSpPr>
          <p:cNvPr id="6" name="TextBox 5"/>
          <p:cNvSpPr txBox="1"/>
          <p:nvPr/>
        </p:nvSpPr>
        <p:spPr>
          <a:xfrm>
            <a:off x="640080" y="1600200"/>
            <a:ext cx="6675120" cy="4617720"/>
          </a:xfrm>
          <a:prstGeom prst="rect">
            <a:avLst/>
          </a:prstGeom>
          <a:noFill/>
        </p:spPr>
        <p:txBody>
          <a:bodyPr wrap="square">
            <a:spAutoFit/>
          </a:bodyPr>
          <a:lstStyle/>
          <a:p>
            <a:pPr>
              <a:spcAft>
                <a:spcPts val="1200"/>
              </a:spcAft>
            </a:pPr>
            <a:r>
              <a:rPr b="1" sz="2000">
                <a:solidFill>
                  <a:srgbClr val="0F172A"/>
                </a:solidFill>
                <a:latin typeface="Arial"/>
              </a:rPr>
              <a:t>• The symbiosis:</a:t>
            </a:r>
            <a:r>
              <a:rPr sz="2000">
                <a:solidFill>
                  <a:srgbClr val="1E293B"/>
                </a:solidFill>
                <a:latin typeface="Arial"/>
              </a:rPr>
              <a:t>  coral polyps host microalgae (zooxanthellae) in their tissue, which photosynthesise and feed the coral.</a:t>
            </a:r>
          </a:p>
          <a:p>
            <a:pPr>
              <a:spcAft>
                <a:spcPts val="1200"/>
              </a:spcAft>
            </a:pPr>
            <a:r>
              <a:rPr b="1" sz="2000">
                <a:solidFill>
                  <a:srgbClr val="0F172A"/>
                </a:solidFill>
                <a:latin typeface="Arial"/>
              </a:rPr>
              <a:t>• Under heat stress:</a:t>
            </a:r>
            <a:r>
              <a:rPr sz="2000">
                <a:solidFill>
                  <a:srgbClr val="1E293B"/>
                </a:solidFill>
                <a:latin typeface="Arial"/>
              </a:rPr>
              <a:t>  this partnership breaks down — the coral expels the algae, loses its colour, and starts to starve.</a:t>
            </a:r>
          </a:p>
          <a:p>
            <a:pPr>
              <a:spcAft>
                <a:spcPts val="1200"/>
              </a:spcAft>
            </a:pPr>
            <a:r>
              <a:rPr b="1" sz="2000">
                <a:solidFill>
                  <a:srgbClr val="0F172A"/>
                </a:solidFill>
                <a:latin typeface="Arial"/>
              </a:rPr>
              <a:t>• The scale, right now:</a:t>
            </a:r>
            <a:r>
              <a:rPr sz="2000">
                <a:solidFill>
                  <a:srgbClr val="1E293B"/>
                </a:solidFill>
                <a:latin typeface="Arial"/>
              </a:rPr>
              <a:t>  the 4th global bleaching event (2023–2025) hit heat-stress levels on 84% of the world's reef area — up from 21% (1998), 37% (2010), and 68% (2014–17). Each event has been bigger than the last.</a:t>
            </a:r>
          </a:p>
        </p:txBody>
      </p:sp>
      <p:sp>
        <p:nvSpPr>
          <p:cNvPr id="7" name="TextBox 6"/>
          <p:cNvSpPr txBox="1"/>
          <p:nvPr/>
        </p:nvSpPr>
        <p:spPr>
          <a:xfrm>
            <a:off x="640080" y="6473952"/>
            <a:ext cx="7315200" cy="274320"/>
          </a:xfrm>
          <a:prstGeom prst="rect">
            <a:avLst/>
          </a:prstGeom>
          <a:noFill/>
        </p:spPr>
        <p:txBody>
          <a:bodyPr wrap="square" anchor="t">
            <a:spAutoFit/>
          </a:bodyPr>
          <a:lstStyle/>
          <a:p>
            <a:pPr algn="l"/>
            <a:r>
              <a:rPr sz="1200" b="0" i="0">
                <a:solidFill>
                  <a:srgbClr val="45556C"/>
                </a:solidFill>
                <a:latin typeface="Arial"/>
              </a:rPr>
              <a:t>S7 STS · Climate Change &amp; Biodiversity · Period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71800" y="1143000"/>
            <a:ext cx="6400800" cy="548640"/>
          </a:xfrm>
          <a:prstGeom prst="rect">
            <a:avLst/>
          </a:prstGeom>
          <a:noFill/>
        </p:spPr>
        <p:txBody>
          <a:bodyPr wrap="square" anchor="t">
            <a:spAutoFit/>
          </a:bodyPr>
          <a:lstStyle/>
          <a:p>
            <a:pPr algn="l"/>
            <a:r>
              <a:rPr sz="2200" b="1" i="0">
                <a:solidFill>
                  <a:srgbClr val="0F172A"/>
                </a:solidFill>
                <a:latin typeface="Arial"/>
              </a:rPr>
              <a:t>Watch: What is coral bleaching?</a:t>
            </a:r>
          </a:p>
        </p:txBody>
      </p:sp>
      <p:sp>
        <p:nvSpPr>
          <p:cNvPr id="3" name="TextBox 2"/>
          <p:cNvSpPr txBox="1"/>
          <p:nvPr/>
        </p:nvSpPr>
        <p:spPr>
          <a:xfrm>
            <a:off x="1143000" y="2971800"/>
            <a:ext cx="10515600" cy="822960"/>
          </a:xfrm>
          <a:prstGeom prst="rect">
            <a:avLst/>
          </a:prstGeom>
          <a:noFill/>
        </p:spPr>
        <p:txBody>
          <a:bodyPr wrap="square" anchor="t">
            <a:spAutoFit/>
          </a:bodyPr>
          <a:lstStyle/>
          <a:p>
            <a:pPr algn="l"/>
            <a:r>
              <a:rPr sz="2000" b="0" i="0">
                <a:solidFill>
                  <a:srgbClr val="1E293B"/>
                </a:solidFill>
                <a:latin typeface="Arial"/>
              </a:rPr>
              <a:t>https://www.youtube.com/watch?v=ELBrybrYrGo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MECHANISM 3</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A Suffocating Ocean</a:t>
            </a:r>
          </a:p>
        </p:txBody>
      </p:sp>
      <p:sp>
        <p:nvSpPr>
          <p:cNvPr id="5" name="TextBox 4"/>
          <p:cNvSpPr txBox="1"/>
          <p:nvPr/>
        </p:nvSpPr>
        <p:spPr>
          <a:xfrm>
            <a:off x="640080" y="1600200"/>
            <a:ext cx="10607040" cy="4617720"/>
          </a:xfrm>
          <a:prstGeom prst="rect">
            <a:avLst/>
          </a:prstGeom>
          <a:noFill/>
        </p:spPr>
        <p:txBody>
          <a:bodyPr wrap="square">
            <a:spAutoFit/>
          </a:bodyPr>
          <a:lstStyle/>
          <a:p>
            <a:pPr>
              <a:spcAft>
                <a:spcPts val="1200"/>
              </a:spcAft>
            </a:pPr>
            <a:r>
              <a:rPr b="1" sz="1900">
                <a:solidFill>
                  <a:srgbClr val="0F172A"/>
                </a:solidFill>
                <a:latin typeface="Arial"/>
              </a:rPr>
              <a:t>• Warm water is lighter:</a:t>
            </a:r>
            <a:r>
              <a:rPr sz="1900">
                <a:solidFill>
                  <a:srgbClr val="1E293B"/>
                </a:solidFill>
                <a:latin typeface="Arial"/>
              </a:rPr>
              <a:t>  so it forms a stable surface layer that resists mixing with colder, deeper water.</a:t>
            </a:r>
          </a:p>
          <a:p>
            <a:pPr>
              <a:spcAft>
                <a:spcPts val="1200"/>
              </a:spcAft>
            </a:pPr>
            <a:r>
              <a:rPr b="1" sz="1900">
                <a:solidFill>
                  <a:srgbClr val="0F172A"/>
                </a:solidFill>
                <a:latin typeface="Arial"/>
              </a:rPr>
              <a:t>• The result — stratification:</a:t>
            </a:r>
            <a:r>
              <a:rPr sz="1900">
                <a:solidFill>
                  <a:srgbClr val="1E293B"/>
                </a:solidFill>
                <a:latin typeface="Arial"/>
              </a:rPr>
              <a:t>  nutrients can't rise to feed surface phytoplankton, and dissolved oxygen can't sink to the depths.</a:t>
            </a:r>
          </a:p>
          <a:p>
            <a:pPr>
              <a:spcAft>
                <a:spcPts val="1200"/>
              </a:spcAft>
            </a:pPr>
            <a:r>
              <a:rPr b="1" sz="1900">
                <a:solidFill>
                  <a:srgbClr val="0F172A"/>
                </a:solidFill>
                <a:latin typeface="Arial"/>
              </a:rPr>
              <a:t>• Add to that:</a:t>
            </a:r>
            <a:r>
              <a:rPr sz="1900">
                <a:solidFill>
                  <a:srgbClr val="1E293B"/>
                </a:solidFill>
                <a:latin typeface="Arial"/>
              </a:rPr>
              <a:t>  warmer water simply holds less dissolved gas — so the deep ocean loses oxygen (hypoxia) on top of losing nutrient supply.</a:t>
            </a:r>
          </a:p>
          <a:p>
            <a:pPr>
              <a:spcAft>
                <a:spcPts val="1200"/>
              </a:spcAft>
            </a:pPr>
            <a:r>
              <a:rPr b="1" sz="1900">
                <a:solidFill>
                  <a:srgbClr val="0F172A"/>
                </a:solidFill>
                <a:latin typeface="Arial"/>
              </a:rPr>
              <a:t>• The evidence:</a:t>
            </a:r>
            <a:r>
              <a:rPr sz="1900">
                <a:solidFill>
                  <a:srgbClr val="1E293B"/>
                </a:solidFill>
                <a:latin typeface="Arial"/>
              </a:rPr>
              <a:t>  the ocean has lost over 2% of its oxygen in the last 50 years. Open-ocean oxygen-minimum zones have expanded by more than 4.5 million km² since 1950. Known coastal “dead zones” have grown from 45 sites in the 1960s to over 700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CASE STUDY</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The Blob: A Marine Heatwave in Action</a:t>
            </a:r>
          </a:p>
        </p:txBody>
      </p:sp>
      <p:sp>
        <p:nvSpPr>
          <p:cNvPr id="5" name="TextBox 4"/>
          <p:cNvSpPr txBox="1"/>
          <p:nvPr/>
        </p:nvSpPr>
        <p:spPr>
          <a:xfrm>
            <a:off x="640080" y="1600200"/>
            <a:ext cx="10607040" cy="4617720"/>
          </a:xfrm>
          <a:prstGeom prst="rect">
            <a:avLst/>
          </a:prstGeom>
          <a:noFill/>
        </p:spPr>
        <p:txBody>
          <a:bodyPr wrap="square">
            <a:spAutoFit/>
          </a:bodyPr>
          <a:lstStyle/>
          <a:p>
            <a:pPr>
              <a:spcAft>
                <a:spcPts val="1200"/>
              </a:spcAft>
            </a:pPr>
            <a:r>
              <a:rPr b="1" sz="1900">
                <a:solidFill>
                  <a:srgbClr val="0F172A"/>
                </a:solidFill>
                <a:latin typeface="Arial"/>
              </a:rPr>
              <a:t>• What happened:</a:t>
            </a:r>
            <a:r>
              <a:rPr sz="1900">
                <a:solidFill>
                  <a:srgbClr val="1E293B"/>
                </a:solidFill>
                <a:latin typeface="Arial"/>
              </a:rPr>
              <a:t>  from 2014 to 2016, a massive marine heatwave (“The Blob”) gripped the Northeast Pacific, from the Gulf of Alaska down the US West Coast.</a:t>
            </a:r>
          </a:p>
          <a:p>
            <a:pPr>
              <a:spcAft>
                <a:spcPts val="1200"/>
              </a:spcAft>
            </a:pPr>
            <a:r>
              <a:rPr b="1" sz="1900">
                <a:solidFill>
                  <a:srgbClr val="0F172A"/>
                </a:solidFill>
                <a:latin typeface="Arial"/>
              </a:rPr>
              <a:t>• Biological toll:</a:t>
            </a:r>
            <a:r>
              <a:rPr sz="1900">
                <a:solidFill>
                  <a:srgbClr val="1E293B"/>
                </a:solidFill>
                <a:latin typeface="Arial"/>
              </a:rPr>
              <a:t>  fish stocks shifted location, toxic algal blooms spread along the coast, humpback whales became entangled in fishing gear in unusual numbers, and thousands of starving sea lion pups washed up on beaches.</a:t>
            </a:r>
          </a:p>
          <a:p>
            <a:pPr>
              <a:spcAft>
                <a:spcPts val="1200"/>
              </a:spcAft>
            </a:pPr>
            <a:r>
              <a:rPr b="1" sz="1900">
                <a:solidFill>
                  <a:srgbClr val="0F172A"/>
                </a:solidFill>
                <a:latin typeface="Arial"/>
              </a:rPr>
              <a:t>• Economic toll:</a:t>
            </a:r>
            <a:r>
              <a:rPr sz="1900">
                <a:solidFill>
                  <a:srgbClr val="1E293B"/>
                </a:solidFill>
                <a:latin typeface="Arial"/>
              </a:rPr>
              <a:t>  fisheries losses triggered official federal disaster declarations in the US, with costs exceeding $140 million — and a toxic algae bloom delayed the opening of the valuable Dungeness crab season.</a:t>
            </a:r>
          </a:p>
          <a:p>
            <a:pPr>
              <a:spcAft>
                <a:spcPts val="1200"/>
              </a:spcAft>
            </a:pPr>
            <a:r>
              <a:rPr b="1" sz="1900">
                <a:solidFill>
                  <a:srgbClr val="0F172A"/>
                </a:solidFill>
                <a:latin typeface="Arial"/>
              </a:rPr>
              <a:t>• Why it matters here:</a:t>
            </a:r>
            <a:r>
              <a:rPr sz="1900">
                <a:solidFill>
                  <a:srgbClr val="1E293B"/>
                </a:solidFill>
                <a:latin typeface="Arial"/>
              </a:rPr>
              <a:t>  this is what “biogeographic shifts” and “metabolic stress” actually look like in the real world, all at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MECHANISM 4</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On the Move</a:t>
            </a:r>
          </a:p>
        </p:txBody>
      </p:sp>
      <p:pic>
        <p:nvPicPr>
          <p:cNvPr id="5" name="Picture 4" descr="s24_3.png"/>
          <p:cNvPicPr>
            <a:picLocks noChangeAspect="1"/>
          </p:cNvPicPr>
          <p:nvPr/>
        </p:nvPicPr>
        <p:blipFill>
          <a:blip r:embed="rId2"/>
          <a:stretch>
            <a:fillRect/>
          </a:stretch>
        </p:blipFill>
        <p:spPr>
          <a:xfrm>
            <a:off x="6949440" y="1737360"/>
            <a:ext cx="4663440" cy="3749406"/>
          </a:xfrm>
          <a:prstGeom prst="rect">
            <a:avLst/>
          </a:prstGeom>
        </p:spPr>
      </p:pic>
      <p:sp>
        <p:nvSpPr>
          <p:cNvPr id="6" name="TextBox 5"/>
          <p:cNvSpPr txBox="1"/>
          <p:nvPr/>
        </p:nvSpPr>
        <p:spPr>
          <a:xfrm>
            <a:off x="640080" y="1600200"/>
            <a:ext cx="6400800" cy="4617720"/>
          </a:xfrm>
          <a:prstGeom prst="rect">
            <a:avLst/>
          </a:prstGeom>
          <a:noFill/>
        </p:spPr>
        <p:txBody>
          <a:bodyPr wrap="square">
            <a:spAutoFit/>
          </a:bodyPr>
          <a:lstStyle/>
          <a:p>
            <a:pPr>
              <a:spcAft>
                <a:spcPts val="1200"/>
              </a:spcAft>
            </a:pPr>
            <a:r>
              <a:rPr b="1" sz="1900">
                <a:solidFill>
                  <a:srgbClr val="0F172A"/>
                </a:solidFill>
                <a:latin typeface="Arial"/>
              </a:rPr>
              <a:t>• Biogeographic shifts:</a:t>
            </a:r>
            <a:r>
              <a:rPr sz="1900">
                <a:solidFill>
                  <a:srgbClr val="1E293B"/>
                </a:solidFill>
                <a:latin typeface="Arial"/>
              </a:rPr>
              <a:t>  to stay within their thermal limits, marine species migrate rapidly toward the poles or into deeper water.</a:t>
            </a:r>
          </a:p>
          <a:p>
            <a:pPr>
              <a:spcAft>
                <a:spcPts val="1200"/>
              </a:spcAft>
            </a:pPr>
            <a:r>
              <a:rPr b="1" sz="1900">
                <a:solidFill>
                  <a:srgbClr val="0F172A"/>
                </a:solidFill>
                <a:latin typeface="Arial"/>
              </a:rPr>
              <a:t>• This reshuffles food webs</a:t>
            </a:r>
            <a:r>
              <a:rPr sz="1900">
                <a:solidFill>
                  <a:srgbClr val="1E293B"/>
                </a:solidFill>
                <a:latin typeface="Arial"/>
              </a:rPr>
              <a:t>  and threatens species with nowhere left to go — especially endemic species.</a:t>
            </a:r>
          </a:p>
          <a:p>
            <a:pPr>
              <a:spcAft>
                <a:spcPts val="1200"/>
              </a:spcAft>
            </a:pPr>
            <a:r>
              <a:rPr b="1" sz="1900">
                <a:solidFill>
                  <a:srgbClr val="0F172A"/>
                </a:solidFill>
                <a:latin typeface="Arial"/>
              </a:rPr>
              <a:t>• Megafauna examples:</a:t>
            </a:r>
            <a:r>
              <a:rPr sz="1900">
                <a:solidFill>
                  <a:srgbClr val="1E293B"/>
                </a:solidFill>
                <a:latin typeface="Arial"/>
              </a:rPr>
              <a:t>  polar bears and emperor penguins lose their sea-ice habitat; whales and whale sharks lose access to prey; sea turtles and dugongs face disrupted development and higher toxin exposure.</a:t>
            </a:r>
          </a:p>
        </p:txBody>
      </p:sp>
      <p:sp>
        <p:nvSpPr>
          <p:cNvPr id="7" name="TextBox 6"/>
          <p:cNvSpPr txBox="1"/>
          <p:nvPr/>
        </p:nvSpPr>
        <p:spPr>
          <a:xfrm>
            <a:off x="640080" y="6473952"/>
            <a:ext cx="7315200" cy="274320"/>
          </a:xfrm>
          <a:prstGeom prst="rect">
            <a:avLst/>
          </a:prstGeom>
          <a:noFill/>
        </p:spPr>
        <p:txBody>
          <a:bodyPr wrap="square" anchor="t">
            <a:spAutoFit/>
          </a:bodyPr>
          <a:lstStyle/>
          <a:p>
            <a:pPr algn="l"/>
            <a:r>
              <a:rPr sz="1200" b="0" i="0">
                <a:solidFill>
                  <a:srgbClr val="45556C"/>
                </a:solidFill>
                <a:latin typeface="Arial"/>
              </a:rPr>
              <a:t>S7 STS · Climate Change &amp; Biodiversity · Period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MECHANISM 5</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Vanishing Underwater Forests</a:t>
            </a:r>
          </a:p>
        </p:txBody>
      </p:sp>
      <p:pic>
        <p:nvPicPr>
          <p:cNvPr id="5" name="Picture 4" descr="s25_9.png"/>
          <p:cNvPicPr>
            <a:picLocks noChangeAspect="1"/>
          </p:cNvPicPr>
          <p:nvPr/>
        </p:nvPicPr>
        <p:blipFill>
          <a:blip r:embed="rId2"/>
          <a:stretch>
            <a:fillRect/>
          </a:stretch>
        </p:blipFill>
        <p:spPr>
          <a:xfrm>
            <a:off x="8503920" y="1463040"/>
            <a:ext cx="3842535" cy="5029200"/>
          </a:xfrm>
          <a:prstGeom prst="rect">
            <a:avLst/>
          </a:prstGeom>
        </p:spPr>
      </p:pic>
      <p:sp>
        <p:nvSpPr>
          <p:cNvPr id="6" name="TextBox 5"/>
          <p:cNvSpPr txBox="1"/>
          <p:nvPr/>
        </p:nvSpPr>
        <p:spPr>
          <a:xfrm>
            <a:off x="640080" y="1600200"/>
            <a:ext cx="7589520" cy="4617720"/>
          </a:xfrm>
          <a:prstGeom prst="rect">
            <a:avLst/>
          </a:prstGeom>
          <a:noFill/>
        </p:spPr>
        <p:txBody>
          <a:bodyPr wrap="square">
            <a:spAutoFit/>
          </a:bodyPr>
          <a:lstStyle/>
          <a:p>
            <a:pPr>
              <a:spcAft>
                <a:spcPts val="1200"/>
              </a:spcAft>
            </a:pPr>
            <a:r>
              <a:rPr b="1" sz="2000">
                <a:solidFill>
                  <a:srgbClr val="0F172A"/>
                </a:solidFill>
                <a:latin typeface="Arial"/>
              </a:rPr>
              <a:t>• Seagrass meadows</a:t>
            </a:r>
            <a:r>
              <a:rPr sz="2000">
                <a:solidFill>
                  <a:srgbClr val="1E293B"/>
                </a:solidFill>
                <a:latin typeface="Arial"/>
              </a:rPr>
              <a:t>  have narrow thermal tolerances — marine heatwaves can wipe out large areas almost overnight.</a:t>
            </a:r>
          </a:p>
          <a:p>
            <a:pPr>
              <a:spcAft>
                <a:spcPts val="1200"/>
              </a:spcAft>
            </a:pPr>
            <a:r>
              <a:rPr b="1" sz="2000">
                <a:solidFill>
                  <a:srgbClr val="0F172A"/>
                </a:solidFill>
                <a:latin typeface="Arial"/>
              </a:rPr>
              <a:t>• Kelp forests</a:t>
            </a:r>
            <a:r>
              <a:rPr sz="2000">
                <a:solidFill>
                  <a:srgbClr val="1E293B"/>
                </a:solidFill>
                <a:latin typeface="Arial"/>
              </a:rPr>
              <a:t>  retreat as warming favours the sea urchins that overgraze them.</a:t>
            </a:r>
          </a:p>
          <a:p>
            <a:pPr>
              <a:spcAft>
                <a:spcPts val="1200"/>
              </a:spcAft>
            </a:pPr>
            <a:r>
              <a:rPr b="1" sz="2000">
                <a:solidFill>
                  <a:srgbClr val="0F172A"/>
                </a:solidFill>
                <a:latin typeface="Arial"/>
              </a:rPr>
              <a:t>• Why it matters:</a:t>
            </a:r>
            <a:r>
              <a:rPr sz="2000">
                <a:solidFill>
                  <a:srgbClr val="1E293B"/>
                </a:solidFill>
                <a:latin typeface="Arial"/>
              </a:rPr>
              <a:t>  losing these habitats removes critical food, shelter, and nursery grounds for hundreds of connected species.</a:t>
            </a:r>
          </a:p>
        </p:txBody>
      </p:sp>
      <p:sp>
        <p:nvSpPr>
          <p:cNvPr id="7" name="TextBox 6"/>
          <p:cNvSpPr txBox="1"/>
          <p:nvPr/>
        </p:nvSpPr>
        <p:spPr>
          <a:xfrm>
            <a:off x="640080" y="6473952"/>
            <a:ext cx="7315200" cy="274320"/>
          </a:xfrm>
          <a:prstGeom prst="rect">
            <a:avLst/>
          </a:prstGeom>
          <a:noFill/>
        </p:spPr>
        <p:txBody>
          <a:bodyPr wrap="square" anchor="t">
            <a:spAutoFit/>
          </a:bodyPr>
          <a:lstStyle/>
          <a:p>
            <a:pPr algn="l"/>
            <a:r>
              <a:rPr sz="1200" b="0" i="0">
                <a:solidFill>
                  <a:srgbClr val="45556C"/>
                </a:solidFill>
                <a:latin typeface="Arial"/>
              </a:rPr>
              <a:t>S7 STS · Climate Change &amp; Biodiversity · Period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515600" cy="320040"/>
          </a:xfrm>
          <a:prstGeom prst="rect">
            <a:avLst/>
          </a:prstGeom>
          <a:noFill/>
        </p:spPr>
        <p:txBody>
          <a:bodyPr wrap="square" anchor="t">
            <a:spAutoFit/>
          </a:bodyPr>
          <a:lstStyle/>
          <a:p>
            <a:pPr algn="l"/>
            <a:r>
              <a:rPr sz="1600" b="1" i="0">
                <a:solidFill>
                  <a:srgbClr val="EA580C"/>
                </a:solidFill>
                <a:latin typeface="Arial"/>
              </a:rPr>
              <a:t>KEY TAKEAWAYS</a:t>
            </a:r>
          </a:p>
        </p:txBody>
      </p:sp>
      <p:sp>
        <p:nvSpPr>
          <p:cNvPr id="4" name="TextBox 3"/>
          <p:cNvSpPr txBox="1"/>
          <p:nvPr/>
        </p:nvSpPr>
        <p:spPr>
          <a:xfrm>
            <a:off x="640080" y="749808"/>
            <a:ext cx="10881360" cy="822960"/>
          </a:xfrm>
          <a:prstGeom prst="rect">
            <a:avLst/>
          </a:prstGeom>
          <a:noFill/>
        </p:spPr>
        <p:txBody>
          <a:bodyPr wrap="square" anchor="t">
            <a:spAutoFit/>
          </a:bodyPr>
          <a:lstStyle/>
          <a:p>
            <a:pPr algn="l"/>
            <a:r>
              <a:rPr sz="3200" b="1" i="0">
                <a:solidFill>
                  <a:srgbClr val="0F172A"/>
                </a:solidFill>
                <a:latin typeface="Verdana"/>
              </a:rPr>
              <a:t>What You Should Walk Away With</a:t>
            </a:r>
          </a:p>
        </p:txBody>
      </p:sp>
      <p:sp>
        <p:nvSpPr>
          <p:cNvPr id="5" name="TextBox 4"/>
          <p:cNvSpPr txBox="1"/>
          <p:nvPr/>
        </p:nvSpPr>
        <p:spPr>
          <a:xfrm>
            <a:off x="640080" y="6473952"/>
            <a:ext cx="7315200" cy="274320"/>
          </a:xfrm>
          <a:prstGeom prst="rect">
            <a:avLst/>
          </a:prstGeom>
          <a:noFill/>
        </p:spPr>
        <p:txBody>
          <a:bodyPr wrap="square" anchor="t">
            <a:spAutoFit/>
          </a:bodyPr>
          <a:lstStyle/>
          <a:p>
            <a:pPr algn="l"/>
            <a:r>
              <a:rPr sz="1200" b="0" i="0">
                <a:solidFill>
                  <a:srgbClr val="45556C"/>
                </a:solidFill>
                <a:latin typeface="Arial"/>
              </a:rPr>
              <a:t>S7 STS · Climate Change &amp; Biodiversity · Period 3</a:t>
            </a:r>
          </a:p>
        </p:txBody>
      </p:sp>
      <p:sp>
        <p:nvSpPr>
          <p:cNvPr id="6" name="TextBox 5"/>
          <p:cNvSpPr txBox="1"/>
          <p:nvPr/>
        </p:nvSpPr>
        <p:spPr>
          <a:xfrm>
            <a:off x="640080" y="1645920"/>
            <a:ext cx="10607040" cy="4572000"/>
          </a:xfrm>
          <a:prstGeom prst="rect">
            <a:avLst/>
          </a:prstGeom>
          <a:noFill/>
        </p:spPr>
        <p:txBody>
          <a:bodyPr wrap="square">
            <a:spAutoFit/>
          </a:bodyPr>
          <a:lstStyle/>
          <a:p>
            <a:pPr>
              <a:spcAft>
                <a:spcPts val="1000"/>
              </a:spcAft>
            </a:pPr>
            <a:r>
              <a:rPr sz="1900">
                <a:solidFill>
                  <a:srgbClr val="1E293B"/>
                </a:solidFill>
                <a:latin typeface="Arial"/>
              </a:rPr>
              <a:t>• Ocean warming doesn't just change a number — it speeds up metabolism in most marine life, which are ectotherms.</a:t>
            </a:r>
          </a:p>
          <a:p>
            <a:pPr>
              <a:spcAft>
                <a:spcPts val="1000"/>
              </a:spcAft>
            </a:pPr>
            <a:r>
              <a:rPr sz="1900">
                <a:solidFill>
                  <a:srgbClr val="1E293B"/>
                </a:solidFill>
                <a:latin typeface="Arial"/>
              </a:rPr>
              <a:t>• Coral bleaching is a breakdown of symbiosis (coral + zooxanthellae) under heat stress — and the 4th global bleaching event (2023–25) affected 84% of the world's reefs.</a:t>
            </a:r>
          </a:p>
          <a:p>
            <a:pPr>
              <a:spcAft>
                <a:spcPts val="1000"/>
              </a:spcAft>
            </a:pPr>
            <a:r>
              <a:rPr sz="1900">
                <a:solidFill>
                  <a:srgbClr val="1E293B"/>
                </a:solidFill>
                <a:latin typeface="Arial"/>
              </a:rPr>
              <a:t>• Warming causes ocean stratification, cutting off nutrients and oxygen to different depths.</a:t>
            </a:r>
          </a:p>
          <a:p>
            <a:pPr>
              <a:spcAft>
                <a:spcPts val="1000"/>
              </a:spcAft>
            </a:pPr>
            <a:r>
              <a:rPr sz="1900">
                <a:solidFill>
                  <a:srgbClr val="1E293B"/>
                </a:solidFill>
                <a:latin typeface="Arial"/>
              </a:rPr>
              <a:t>• Species are shifting poleward and deeper, reshuffling food webs and endangering species with nowhere to go — including whole underwater forests (seagrass, kelp).</a:t>
            </a:r>
          </a:p>
        </p:txBody>
      </p:sp>
      <p:sp>
        <p:nvSpPr>
          <p:cNvPr id="7" name="Rectangle 6"/>
          <p:cNvSpPr/>
          <p:nvPr/>
        </p:nvSpPr>
        <p:spPr>
          <a:xfrm>
            <a:off x="640080" y="5577840"/>
            <a:ext cx="10881360" cy="777240"/>
          </a:xfrm>
          <a:prstGeom prst="rect">
            <a:avLst/>
          </a:prstGeom>
          <a:solidFill>
            <a:srgbClr val="FDECE1"/>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687568"/>
            <a:ext cx="2011680" cy="548640"/>
          </a:xfrm>
          <a:prstGeom prst="rect">
            <a:avLst/>
          </a:prstGeom>
          <a:noFill/>
        </p:spPr>
        <p:txBody>
          <a:bodyPr wrap="square" anchor="t">
            <a:spAutoFit/>
          </a:bodyPr>
          <a:lstStyle/>
          <a:p>
            <a:pPr algn="l"/>
            <a:r>
              <a:rPr sz="1500" b="1" i="0">
                <a:solidFill>
                  <a:srgbClr val="EA580C"/>
                </a:solidFill>
                <a:latin typeface="Arial"/>
              </a:rPr>
              <a:t>NEXT LESSON</a:t>
            </a:r>
          </a:p>
        </p:txBody>
      </p:sp>
      <p:sp>
        <p:nvSpPr>
          <p:cNvPr id="9" name="TextBox 8"/>
          <p:cNvSpPr txBox="1"/>
          <p:nvPr/>
        </p:nvSpPr>
        <p:spPr>
          <a:xfrm>
            <a:off x="2743200" y="5687568"/>
            <a:ext cx="8412480" cy="548640"/>
          </a:xfrm>
          <a:prstGeom prst="rect">
            <a:avLst/>
          </a:prstGeom>
          <a:noFill/>
        </p:spPr>
        <p:txBody>
          <a:bodyPr wrap="square" anchor="t">
            <a:spAutoFit/>
          </a:bodyPr>
          <a:lstStyle/>
          <a:p>
            <a:pPr algn="l"/>
            <a:r>
              <a:rPr sz="1700" b="0" i="0">
                <a:solidFill>
                  <a:srgbClr val="0F172A"/>
                </a:solidFill>
                <a:latin typeface="Arial"/>
              </a:rPr>
              <a:t>Period 4 — the other half of the story: what ocean heat does to sea level, ice, storms, and rainfall.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