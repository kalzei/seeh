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6083352-B21D-4E5E-B108-09E0A293389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briefing: we are tracking an active, intensifying El Niño event that reorganises Pacific heat and alters climate risks around the globe.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7B85F-56A2-4AE5-9781-DD4C7B8EA2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the ENSO continuum. Emphasize that El Niño is not an isolated shock, but the warm phase of an ongoing natural coupled cycle now occurring on a warmer planet.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0592B6-DE06-47AE-88BB-8E1907217B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Trace the equatorial Pacific cross-section under normal conditions: trade winds drag warm surface water to the west, forcing rich cold water to upwell along South America.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DE011B-5304-4EE3-A549-D7E2474381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01A1C1-BA6B-4606-A0A8-E2EC8B95A8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teleconnections: the Pacific is so vast that shifting its convective core bends the polar and subtropical jet streams, echoing into rainfall and drought anomalies on six continents.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519212-99F8-4D31-B763-9C332EE6D6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7AEA0-775A-4C96-8CAF-C1F9592081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Review the observation-to-forecast timeline. NOAA’s 10 September diagnostic discussion reported a strengthening El Niño and a greater than 90% chance of a very strong event; WMO’s September outlook gave near-100% probability through February 2027. “Super El Niño” is media shorthand, not a formal universal scientific category.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5E6901-CA7B-4198-82EE-FB9AC9901E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Emphasize calibration: strong events shift the odds, but local weather depends on chaotic regional dynamics. Dismiss unverified sensational estimates and reinforce reliance on official meteorological services.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DA5EC5-1C8E-431B-A095-A2C57E84B5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Connect the physical drivers to real-world vulnerabilities across agriculture, public health, and ocean ecosystems, pointing out that impacts depend heavily on regional resilience.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E0536-AA84-4C59-9E04-D1590005B1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Conclude with clarity for Greece: debunk the idea of a direct El Niño rainfall switch in the Mediterranean, and direct attention to real transmission paths: global food markets, elevated heat baseline, and wildfire preparedness.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0C0A13-BAED-4F00-9F16-12DA594737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1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share.google/SazceZoqVXiTJfzvn" TargetMode="External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660240" y="558720"/>
            <a:ext cx="5486040" cy="3965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660240" y="558720"/>
            <a:ext cx="5486040" cy="25200"/>
          </a:xfrm>
          <a:prstGeom prst="rect">
            <a:avLst/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041480" y="965160"/>
            <a:ext cx="5104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000000"/>
                </a:solidFill>
                <a:latin typeface="Figtree SemiBold"/>
                <a:ea typeface="Figtree SemiBold"/>
              </a:rPr>
              <a:t>CLIMATE BRIEFING · ENSO 2026–27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1041480" y="1257480"/>
            <a:ext cx="472392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800" spc="-58" strike="noStrike">
                <a:solidFill>
                  <a:srgbClr val="000000"/>
                </a:solidFill>
                <a:latin typeface="Bricolage Grotesque Bold"/>
                <a:ea typeface="Bricolage Grotesque Bold"/>
              </a:rPr>
              <a:t>El Niño is reshaping the tropical Pacific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1041480" y="2476080"/>
            <a:ext cx="4723920" cy="13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000000"/>
                </a:solidFill>
                <a:latin typeface="Figtree"/>
                <a:ea typeface="Figtree"/>
              </a:rPr>
              <a:t>A powerful ocean–atmosphere reorganisation is underway, shifting equatorial heat, altering jet streams, and driving global climate risks.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1041480" y="4003920"/>
            <a:ext cx="51048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000000"/>
                </a:solidFill>
                <a:latin typeface="Figtree Medium"/>
                <a:ea typeface="Figtree Medium"/>
              </a:rPr>
              <a:t>ATMOSPHERIC &amp; OCEANIC ASSESSMENT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5892480" y="6095880"/>
            <a:ext cx="5739840" cy="523440"/>
          </a:xfrm>
          <a:prstGeom prst="rect">
            <a:avLst/>
          </a:prstGeom>
          <a:solidFill>
            <a:srgbClr val="003a40">
              <a:alpha val="6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5994360" y="6167160"/>
            <a:ext cx="55368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NOAA &amp; WMO DIAGNOSTIC UPDATE · SEPTEMBER 2026 BASELINE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58720" y="457200"/>
            <a:ext cx="716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ENSO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558720" y="874800"/>
            <a:ext cx="690804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58720" y="1321560"/>
            <a:ext cx="69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El Niño is one half of the ENSO climate cycle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558720" y="2478960"/>
            <a:ext cx="690840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ENSO links ocean temperatures in the tropical Pacific with changes in atmospheric pressure, winds, rainfall, and jet streams.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58720" y="3952080"/>
            <a:ext cx="690840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El Niño is the warm phase; La Niña is the cool phase; neutral conditions sit between them.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558720" y="5425560"/>
            <a:ext cx="69084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These events are natural, but their effects now unfold on a warmer planet.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7721280" y="0"/>
            <a:ext cx="4469760" cy="6857640"/>
          </a:xfrm>
          <a:prstGeom prst="rect">
            <a:avLst/>
          </a:prstGeom>
          <a:ln w="0">
            <a:noFill/>
          </a:ln>
        </p:spPr>
      </p:pic>
      <p:sp>
        <p:nvSpPr>
          <p:cNvPr id="28" name="Shape 6"/>
          <p:cNvSpPr/>
          <p:nvPr/>
        </p:nvSpPr>
        <p:spPr>
          <a:xfrm>
            <a:off x="7975440" y="5991120"/>
            <a:ext cx="3987360" cy="612360"/>
          </a:xfrm>
          <a:prstGeom prst="rect">
            <a:avLst/>
          </a:prstGeom>
          <a:solidFill>
            <a:srgbClr val="003a40">
              <a:alpha val="6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8076960" y="6151320"/>
            <a:ext cx="3784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EQUATORIAL MOORED BUOY ARRAY · TAO NETWORK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558720" y="3793320"/>
            <a:ext cx="6908400" cy="1224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558720" y="5266800"/>
            <a:ext cx="6908400" cy="1224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609480" y="406440"/>
            <a:ext cx="11581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EQUATORIAL PACIFIC BASELINE · NEUTRAL WALKER CIRCULATION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609480" y="824040"/>
            <a:ext cx="1097208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609480" y="1270440"/>
            <a:ext cx="1097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Normal Pacific winds pile warm water toward Asia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609480" y="1864440"/>
            <a:ext cx="558756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Steady easterly trade winds push surface water west, maintaining a steep thermocline tilt across 15,000 kilometres of ocean.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609480" y="2932200"/>
            <a:ext cx="10972080" cy="352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609480" y="406440"/>
            <a:ext cx="11581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PACIFIC CIRCULATION · BEFORE AND DURING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609480" y="824040"/>
            <a:ext cx="1097208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609480" y="1270440"/>
            <a:ext cx="1097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During El Niño, the warm pool shifts east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0" name="Table 0"/>
          <p:cNvGraphicFramePr/>
          <p:nvPr/>
        </p:nvGraphicFramePr>
        <p:xfrm>
          <a:off x="609480" y="1864440"/>
          <a:ext cx="10972080" cy="3026880"/>
        </p:xfrm>
        <a:graphic>
          <a:graphicData uri="http://schemas.openxmlformats.org/drawingml/2006/table">
            <a:tbl>
              <a:tblPr/>
              <a:tblGrid>
                <a:gridCol w="2194200"/>
                <a:gridCol w="4388760"/>
                <a:gridCol w="4389120"/>
              </a:tblGrid>
              <a:tr h="535680">
                <a:tc>
                  <a:txBody>
                    <a:bodyPr lIns="152280" rIns="152280" t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c4e8e4"/>
                          </a:solidFill>
                          <a:latin typeface="Figtree"/>
                          <a:ea typeface="Figtree"/>
                        </a:rPr>
                        <a:t>Pacific feature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005a62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c4e8e4"/>
                          </a:solidFill>
                          <a:latin typeface="Figtree"/>
                          <a:ea typeface="Figtree"/>
                        </a:rPr>
                        <a:t>Normal conditions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005a62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c4e8e4"/>
                          </a:solidFill>
                          <a:latin typeface="Figtree"/>
                          <a:ea typeface="Figtree"/>
                        </a:rPr>
                        <a:t>During El Niño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005a62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</a:tr>
              <a:tr h="830160">
                <a:tc>
                  <a:txBody>
                    <a:bodyPr lIns="152280" rIns="152280" t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Trade winds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Blow from east to west across the equatorial Pacific.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Weaken or can briefly reverse.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</a:tr>
              <a:tr h="830160">
                <a:tc>
                  <a:txBody>
                    <a:bodyPr lIns="152280" rIns="152280" t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Warm water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Gathers near Indonesia and Australia.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Moves toward the central and eastern Pacific.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1e7f87"/>
                      </a:solidFill>
                      <a:prstDash val="solid"/>
                    </a:lnB>
                    <a:noFill/>
                  </a:tcPr>
                </a:tc>
              </a:tr>
              <a:tr h="830160">
                <a:tc>
                  <a:txBody>
                    <a:bodyPr lIns="152280" rIns="152280" tIns="11412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Upwelling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005a6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Cold, nutrient-rich water rises near Peru and Ecuador.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005a6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tIns="114120" bIns="1141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f2fbfa"/>
                          </a:solidFill>
                          <a:latin typeface="Figtree"/>
                          <a:ea typeface="Figtree"/>
                        </a:rPr>
                        <a:t>Weakens near South America, changing marine ecosystems and fisheries.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05a62"/>
                      </a:solidFill>
                      <a:prstDash val="solid"/>
                    </a:lnL>
                    <a:lnR w="12240">
                      <a:solidFill>
                        <a:srgbClr val="005a62"/>
                      </a:solidFill>
                      <a:prstDash val="solid"/>
                    </a:lnR>
                    <a:lnT w="12240">
                      <a:solidFill>
                        <a:srgbClr val="1e7f87"/>
                      </a:solidFill>
                      <a:prstDash val="solid"/>
                    </a:lnT>
                    <a:lnB w="12240">
                      <a:solidFill>
                        <a:srgbClr val="005a6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Text 3"/>
          <p:cNvSpPr/>
          <p:nvPr/>
        </p:nvSpPr>
        <p:spPr>
          <a:xfrm>
            <a:off x="609480" y="5075640"/>
            <a:ext cx="115819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2fbfa"/>
                </a:solidFill>
                <a:latin typeface="Figtree Bold"/>
                <a:ea typeface="Figtree Bold"/>
              </a:rPr>
              <a:t>Atmosphere:</a:t>
            </a: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 Heat and moisture released to the atmosphere reorganize rainfall and circulation.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609480" y="406440"/>
            <a:ext cx="11581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PLANETARY TELECONNECTIONS · SEASONAL FOOTPRINTS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609480" y="824040"/>
            <a:ext cx="1097208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609480" y="1270440"/>
            <a:ext cx="1097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A Pacific anomaly becomes a global weather signal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609480" y="1864440"/>
            <a:ext cx="558756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Atmospheric wave trains known as teleconnections transmit the Pacific heat engine across oceans, shifting jet streams and altering seasonal risks worldwide.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787320" y="3109320"/>
            <a:ext cx="238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1700" spc="-35" strike="noStrike">
                <a:solidFill>
                  <a:srgbClr val="ff8a6b"/>
                </a:solidFill>
                <a:latin typeface="Bricolage Grotesque Bold"/>
                <a:ea typeface="Bricolage Grotesque Bold"/>
              </a:rPr>
              <a:t>The Americas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787320" y="3520440"/>
            <a:ext cx="2565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HEAVY RAIN &amp; FLOODS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787320" y="3832200"/>
            <a:ext cx="2387160" cy="12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2fbfa"/>
                </a:solidFill>
                <a:latin typeface="Figtree"/>
                <a:ea typeface="Figtree"/>
              </a:rPr>
              <a:t>Subtropical jet intensifies. Elevated flood and storm risk across coastal Peru, Ecuador, southern US, and southern Brazil.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3530520" y="3109320"/>
            <a:ext cx="238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1700" spc="-35" strike="noStrike">
                <a:solidFill>
                  <a:srgbClr val="ffb5a0"/>
                </a:solidFill>
                <a:latin typeface="Bricolage Grotesque Bold"/>
                <a:ea typeface="Bricolage Grotesque Bold"/>
              </a:rPr>
              <a:t>Indo-Pacific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3530520" y="3520440"/>
            <a:ext cx="2565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DROUGHT &amp; FIRE RISK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3530520" y="3832200"/>
            <a:ext cx="2387160" cy="12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 lnSpcReduction="20000"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2fbfa"/>
                </a:solidFill>
                <a:latin typeface="Figtree"/>
                <a:ea typeface="Figtree"/>
              </a:rPr>
              <a:t>Convective drying over eastern Australia, Indonesia, and parts of South Asia. Forest fire, crop moisture deficits, and water stress rise.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6273720" y="3109320"/>
            <a:ext cx="238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1700" spc="-35" strike="noStrike">
                <a:solidFill>
                  <a:srgbClr val="9fe3d9"/>
                </a:solidFill>
                <a:latin typeface="Bricolage Grotesque Bold"/>
                <a:ea typeface="Bricolage Grotesque Bold"/>
              </a:rPr>
              <a:t>Atlantic Basin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6273720" y="3520440"/>
            <a:ext cx="2565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CYCLONE SUPPRESSION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6273720" y="3832200"/>
            <a:ext cx="2387160" cy="12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 lnSpcReduction="20000"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2fbfa"/>
                </a:solidFill>
                <a:latin typeface="Figtree"/>
                <a:ea typeface="Figtree"/>
              </a:rPr>
              <a:t>Strong vertical wind shear across the Caribbean and tropical Atlantic limits hurricane development, while eastern Pacific activity rises.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9016920" y="3109320"/>
            <a:ext cx="23871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1700" spc="-35" strike="noStrike">
                <a:solidFill>
                  <a:srgbClr val="9fe3d9"/>
                </a:solidFill>
                <a:latin typeface="Bricolage Grotesque Bold"/>
                <a:ea typeface="Bricolage Grotesque Bold"/>
              </a:rPr>
              <a:t>Africa &amp; Asia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9016920" y="3520440"/>
            <a:ext cx="25650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MIXED REGIONAL REGIMES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9016920" y="3832200"/>
            <a:ext cx="2387160" cy="12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6666" lnSpcReduction="20000"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2fbfa"/>
                </a:solidFill>
                <a:latin typeface="Figtree"/>
                <a:ea typeface="Figtree"/>
              </a:rPr>
              <a:t>Drier conditions across southern Africa; enhanced rainy seasons in eastern Africa. Local impacts depend on Indian Ocean coupling.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3346200" y="2951280"/>
            <a:ext cx="12240" cy="344916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6089400" y="2951280"/>
            <a:ext cx="12240" cy="344916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8832600" y="2951280"/>
            <a:ext cx="12240" cy="344916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58720" y="798840"/>
            <a:ext cx="716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OCEAN–ATMOSPHERE HEAT TRANSFER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558720" y="1216800"/>
            <a:ext cx="690804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58720" y="1663200"/>
            <a:ext cx="69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El Niño can lift global temperatures temporarily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58720" y="2668320"/>
            <a:ext cx="558756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Warm tropical Pacific waters release additional heat into the atmosphere, increasing the chance of record-hot global years.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58720" y="3744360"/>
            <a:ext cx="69084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Figtree SemiBold"/>
                <a:ea typeface="Figtree SemiBold"/>
              </a:rPr>
              <a:t>Warm tropical Pacific waters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58720" y="4511520"/>
            <a:ext cx="69084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Figtree SemiBold"/>
                <a:ea typeface="Figtree SemiBold"/>
              </a:rPr>
              <a:t>Additional heat into the atmosphere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58720" y="5278680"/>
            <a:ext cx="69084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Figtree SemiBold"/>
                <a:ea typeface="Figtree SemiBold"/>
              </a:rPr>
              <a:t>Increased chance of record-hot global years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558720" y="5764320"/>
            <a:ext cx="71622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El Niño alone does not cause long-term warming.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7721280" y="0"/>
            <a:ext cx="4469760" cy="6857640"/>
          </a:xfrm>
          <a:prstGeom prst="rect">
            <a:avLst/>
          </a:prstGeom>
          <a:ln w="0">
            <a:noFill/>
          </a:ln>
        </p:spPr>
      </p:pic>
      <p:sp>
        <p:nvSpPr>
          <p:cNvPr id="70" name="Shape 8"/>
          <p:cNvSpPr/>
          <p:nvPr/>
        </p:nvSpPr>
        <p:spPr>
          <a:xfrm>
            <a:off x="7975440" y="3040200"/>
            <a:ext cx="3987360" cy="523440"/>
          </a:xfrm>
          <a:prstGeom prst="rect">
            <a:avLst/>
          </a:prstGeom>
          <a:solidFill>
            <a:srgbClr val="003a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8076960" y="3111120"/>
            <a:ext cx="3784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fffff"/>
                </a:solidFill>
                <a:latin typeface="Figtree Medium"/>
                <a:ea typeface="Figtree Medium"/>
              </a:rPr>
              <a:t>MARINE ATMOSPHERIC BOUNDARY MONITORING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558720" y="4268520"/>
            <a:ext cx="6908400" cy="1224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558720" y="5035320"/>
            <a:ext cx="6908400" cy="12240"/>
          </a:xfrm>
          <a:prstGeom prst="rect">
            <a:avLst/>
          </a:prstGeom>
          <a:solidFill>
            <a:srgbClr val="1e7f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609480" y="380880"/>
            <a:ext cx="11581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MID-2026 → EARLY 2027 · OBSERVATION → FORECAST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609480" y="798840"/>
            <a:ext cx="1097208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609480" y="1245240"/>
            <a:ext cx="1097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What is known about the 2026–27 event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609480" y="1972440"/>
            <a:ext cx="10972080" cy="28080"/>
          </a:xfrm>
          <a:prstGeom prst="roundRect">
            <a:avLst>
              <a:gd name="adj" fmla="val 39999"/>
            </a:avLst>
          </a:prstGeom>
          <a:solidFill>
            <a:srgbClr val="3892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3274920" y="1972440"/>
            <a:ext cx="28080" cy="406080"/>
          </a:xfrm>
          <a:prstGeom prst="roundRect">
            <a:avLst>
              <a:gd name="adj" fmla="val 40000"/>
            </a:avLst>
          </a:prstGeom>
          <a:solidFill>
            <a:srgbClr val="3892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3213000" y="1896120"/>
            <a:ext cx="151920" cy="151920"/>
          </a:xfrm>
          <a:prstGeom prst="ellipse">
            <a:avLst/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12880" y="2581920"/>
            <a:ext cx="49525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1700" spc="-35" strike="noStrike">
                <a:solidFill>
                  <a:srgbClr val="f2fbfa"/>
                </a:solidFill>
                <a:latin typeface="Bricolage Grotesque Bold"/>
                <a:ea typeface="Bricolage Grotesque Bold"/>
              </a:rPr>
              <a:t>10 September 2026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812880" y="2967120"/>
            <a:ext cx="4952520" cy="18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1000"/>
              </a:lnSpc>
              <a:spcAft>
                <a:spcPts val="95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f2fbfa"/>
                </a:solidFill>
                <a:latin typeface="Figtree Bold"/>
                <a:ea typeface="Figtree Bold"/>
              </a:rPr>
              <a:t>NOAA diagnostic discussion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NOAA reported a strengthening El Niño, with eastern Pacific sea-surface temperature anomalies above +3.0°C and a greater than 90% chance of a very strong event during Northern Hemisphere fall and winter 2026–27.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8888040" y="1972440"/>
            <a:ext cx="28080" cy="406080"/>
          </a:xfrm>
          <a:prstGeom prst="roundRect">
            <a:avLst>
              <a:gd name="adj" fmla="val 40000"/>
            </a:avLst>
          </a:prstGeom>
          <a:solidFill>
            <a:srgbClr val="3892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8826120" y="1896120"/>
            <a:ext cx="151920" cy="151920"/>
          </a:xfrm>
          <a:prstGeom prst="ellipse">
            <a:avLst/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6426000" y="2581920"/>
            <a:ext cx="49525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1700" spc="-35" strike="noStrike">
                <a:solidFill>
                  <a:srgbClr val="f2fbfa"/>
                </a:solidFill>
                <a:latin typeface="Bricolage Grotesque Bold"/>
                <a:ea typeface="Bricolage Grotesque Bold"/>
              </a:rPr>
              <a:t>September 2026 → February 2027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6426000" y="2967120"/>
            <a:ext cx="4952520" cy="15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21000"/>
              </a:lnSpc>
              <a:spcAft>
                <a:spcPts val="95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f2fbfa"/>
                </a:solidFill>
                <a:latin typeface="Figtree Bold"/>
                <a:ea typeface="Figtree Bold"/>
              </a:rPr>
              <a:t>WMO outlook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WMO reported that El Niño was firmly established, expected to intensify, and likely to persist through February 2027 with near-100% probability in its September outlook.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609480" y="5040360"/>
            <a:ext cx="10972080" cy="649800"/>
          </a:xfrm>
          <a:prstGeom prst="rect">
            <a:avLst/>
          </a:prstGeom>
          <a:solidFill>
            <a:srgbClr val="003a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838080" y="5218200"/>
            <a:ext cx="107434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Figtree Bold"/>
                <a:ea typeface="Figtree Bold"/>
              </a:rPr>
              <a:t>“</a:t>
            </a:r>
            <a:r>
              <a:rPr b="1" lang="en-US" sz="1600" spc="-1" strike="noStrike">
                <a:solidFill>
                  <a:srgbClr val="ffffff"/>
                </a:solidFill>
                <a:latin typeface="Figtree Bold"/>
                <a:ea typeface="Figtree Bold"/>
              </a:rPr>
              <a:t>Super El Niño”</a:t>
            </a:r>
            <a:r>
              <a:rPr b="0" lang="en-US" sz="1600" spc="-1" strike="noStrike">
                <a:solidFill>
                  <a:srgbClr val="ffffff"/>
                </a:solidFill>
                <a:latin typeface="Figtree"/>
                <a:ea typeface="Figtree"/>
              </a:rPr>
              <a:t> is a media shorthand for an exceptionally strong event, not a formal universal scientific category.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58720" y="1013040"/>
            <a:ext cx="716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RISK MANAGEMENT &amp; FORECAST LIMITS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558720" y="1431000"/>
            <a:ext cx="670500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58720" y="1877400"/>
            <a:ext cx="6705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Strong does not mean every prediction is certain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558720" y="2882520"/>
            <a:ext cx="6705000" cy="25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8333" lnSpcReduction="10000"/>
          </a:bodyPr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Forecast confidence is highest for the broad ENSO state and its seasonal risk pattern.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Local rainfall, flooding, drought, crop losses, and storm tracks remain uneven and probabilistic.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Do not present the supplied claims of +4°C, a new all-time record, hundreds of thousands of deaths, or exact crop losses as established facts without a specific verified source.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Preparedness works best when it follows local early-warning systems.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558720" y="5575680"/>
            <a:ext cx="71622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Risk, not destiny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7721280" y="0"/>
            <a:ext cx="44697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609480" y="325800"/>
            <a:ext cx="1097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What could it mean for food, health, and ecosystems?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609480" y="919440"/>
            <a:ext cx="3453840" cy="3892320"/>
          </a:xfrm>
          <a:prstGeom prst="rect">
            <a:avLst/>
          </a:prstGeom>
          <a:solidFill>
            <a:srgbClr val="003a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762120" y="1071720"/>
            <a:ext cx="3149280" cy="177120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762120" y="3082320"/>
            <a:ext cx="3149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Figtree SemiBold"/>
                <a:ea typeface="Figtree SemiBold"/>
              </a:rPr>
              <a:t>Farms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762120" y="3481560"/>
            <a:ext cx="3149280" cy="11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Figtree"/>
                <a:ea typeface="Figtree"/>
              </a:rPr>
              <a:t>Floods and drought can disrupt harvests, transport, water supplies, and food prices across connected markets.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4368600" y="919440"/>
            <a:ext cx="3453840" cy="3892320"/>
          </a:xfrm>
          <a:prstGeom prst="rect">
            <a:avLst/>
          </a:prstGeom>
          <a:solidFill>
            <a:srgbClr val="003a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2"/>
          <a:stretch/>
        </p:blipFill>
        <p:spPr>
          <a:xfrm>
            <a:off x="4521240" y="1071720"/>
            <a:ext cx="3149280" cy="1771200"/>
          </a:xfrm>
          <a:prstGeom prst="rect">
            <a:avLst/>
          </a:prstGeom>
          <a:ln w="0">
            <a:noFill/>
          </a:ln>
        </p:spPr>
      </p:pic>
      <p:sp>
        <p:nvSpPr>
          <p:cNvPr id="101" name="Text 5"/>
          <p:cNvSpPr/>
          <p:nvPr/>
        </p:nvSpPr>
        <p:spPr>
          <a:xfrm>
            <a:off x="4521240" y="3082320"/>
            <a:ext cx="3149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Figtree SemiBold"/>
                <a:ea typeface="Figtree SemiBold"/>
              </a:rPr>
              <a:t>Public health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4521240" y="3481560"/>
            <a:ext cx="3149280" cy="11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Figtree"/>
                <a:ea typeface="Figtree"/>
              </a:rPr>
              <a:t>Heat and humidity can increase health stress, while changing rainfall can affect disease patterns in some regions.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8127720" y="919440"/>
            <a:ext cx="3453840" cy="3892320"/>
          </a:xfrm>
          <a:prstGeom prst="rect">
            <a:avLst/>
          </a:prstGeom>
          <a:solidFill>
            <a:srgbClr val="003a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2" descr="preencoded.png"/>
          <p:cNvPicPr/>
          <p:nvPr/>
        </p:nvPicPr>
        <p:blipFill>
          <a:blip r:embed="rId3"/>
          <a:stretch/>
        </p:blipFill>
        <p:spPr>
          <a:xfrm>
            <a:off x="8280360" y="1071720"/>
            <a:ext cx="3149280" cy="1771200"/>
          </a:xfrm>
          <a:prstGeom prst="rect">
            <a:avLst/>
          </a:prstGeom>
          <a:ln w="0">
            <a:noFill/>
          </a:ln>
        </p:spPr>
      </p:pic>
      <p:sp>
        <p:nvSpPr>
          <p:cNvPr id="105" name="Text 8"/>
          <p:cNvSpPr/>
          <p:nvPr/>
        </p:nvSpPr>
        <p:spPr>
          <a:xfrm>
            <a:off x="8280360" y="3082320"/>
            <a:ext cx="3149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Figtree SemiBold"/>
                <a:ea typeface="Figtree SemiBold"/>
              </a:rPr>
              <a:t>Marine life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8280360" y="3481560"/>
            <a:ext cx="314928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Figtree"/>
                <a:ea typeface="Figtree"/>
              </a:rPr>
              <a:t>Weakened upwelling can reduce nutrient supply for marine food webs off western South America.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609480" y="4996440"/>
            <a:ext cx="115819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Final outcome depends on exposure, preparedness, and the background influence of climate change.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58720" y="406440"/>
            <a:ext cx="716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117" strike="noStrike">
                <a:solidFill>
                  <a:srgbClr val="c4e8e4"/>
                </a:solidFill>
                <a:latin typeface="Figtree SemiBold"/>
                <a:ea typeface="Figtree SemiBold"/>
              </a:rPr>
              <a:t>MEDITERRANEAN CONTEXT · SECONDARY SIGNALS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558720" y="824040"/>
            <a:ext cx="6705000" cy="252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558720" y="1270440"/>
            <a:ext cx="6705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000" spc="-46" strike="noStrike">
                <a:solidFill>
                  <a:srgbClr val="ffffff"/>
                </a:solidFill>
                <a:latin typeface="Bricolage Grotesque Bold"/>
                <a:ea typeface="Bricolage Grotesque Bold"/>
              </a:rPr>
              <a:t>For Greece, the strongest signal is indirect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558720" y="2275920"/>
            <a:ext cx="6705000" cy="27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El Niño does not provide a reliable, direct forecast for Greek or Mediterranean weather; regional circulation patterns such as the North Atlantic Oscillation matter more.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Indirect effects may include global heat stress, disrupted commodity supply chains, higher food costs, and pressure on humanitarian response.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2fbfa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2fbfa"/>
                </a:solidFill>
                <a:latin typeface="Figtree"/>
                <a:ea typeface="Figtree"/>
              </a:rPr>
              <a:t>For Greece, the practical response is monitoring seasonal forecasts, water availability, heat risk, wildfire conditions, and food-market exposure.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7721280" y="0"/>
            <a:ext cx="4469760" cy="6857640"/>
          </a:xfrm>
          <a:prstGeom prst="rect">
            <a:avLst/>
          </a:prstGeom>
          <a:ln w="0">
            <a:noFill/>
          </a:ln>
        </p:spPr>
      </p:pic>
      <p:sp>
        <p:nvSpPr>
          <p:cNvPr id="113" name="Shape 4"/>
          <p:cNvSpPr/>
          <p:nvPr/>
        </p:nvSpPr>
        <p:spPr>
          <a:xfrm>
            <a:off x="7975440" y="6080040"/>
            <a:ext cx="3987360" cy="523440"/>
          </a:xfrm>
          <a:prstGeom prst="rect">
            <a:avLst/>
          </a:prstGeom>
          <a:solidFill>
            <a:srgbClr val="003a40">
              <a:alpha val="6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8076960" y="6151320"/>
            <a:ext cx="3784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250" spc="97" strike="noStrike">
                <a:solidFill>
                  <a:srgbClr val="f2fbfa"/>
                </a:solidFill>
                <a:latin typeface="Figtree Medium"/>
                <a:ea typeface="Figtree Medium"/>
              </a:rPr>
              <a:t>MEDITERRANEAN BASIN SEASONAL MONITORING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 txBox="1"/>
          <p:nvPr/>
        </p:nvSpPr>
        <p:spPr>
          <a:xfrm>
            <a:off x="914400" y="1483920"/>
            <a:ext cx="10287000" cy="194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000" spc="-1" strike="noStrike">
                <a:solidFill>
                  <a:srgbClr val="ffffff"/>
                </a:solidFill>
                <a:latin typeface="Arial"/>
                <a:hlinkClick r:id="rId1"/>
              </a:rPr>
              <a:t>https://share.google/SazceZoqVXiTJfzvn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2026-10-10T04:31:54Z</dcterms:created>
  <dc:creator/>
  <dc:description/>
  <dc:language>en-US</dc:language>
  <cp:lastModifiedBy/>
  <dcterms:modified xsi:type="dcterms:W3CDTF">2026-10-12T10:41:29Z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