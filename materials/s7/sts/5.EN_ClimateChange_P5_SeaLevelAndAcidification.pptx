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404EA0-2F40-478F-A37E-9C0BD08277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26FC029-A7CB-48BF-B4C0-1C80962232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0D03B7D-AAF7-4031-90F6-001A312021D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870FC3F-26FA-4DA7-9E9E-81EDA4D29B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B015F5D-D650-4D8B-AD01-203257C4BD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2ED8FF1-E77E-45F0-B23B-F890E62858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F3C7238-CC1C-4EB1-9958-CEA0F3FCD6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F958CEE-AA56-4C51-9CB1-DF14CA3396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BB5AD8BF-B4D4-417A-80F9-3D85E8BF48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E68F67C-B681-4304-8567-F7B6AAFE35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0B140462-361D-4925-951A-96B13032EF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88A82F4-7107-4580-9A4A-F2D88F5B03F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257DF3D-B03B-4D6F-80C8-C082E187A42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9B0D03F-0B68-46D9-87CB-0E0A6E7DD45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62B8C6E-CFDB-4B40-86B8-203A2D821C2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D5FE0A2-3EE3-49F6-9C89-AAB72567C0A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55184C5-7FC8-45F2-A150-5484DA8ABDD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05E57C7-372F-4388-846D-AD532B97807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85360C7-34AB-4A14-AAAE-920121F4CB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F8BF683-5291-425F-A37F-30B2335E3A6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E90620F-5DA5-44D2-8D72-8CF7E560267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87F0033-321B-496E-A2B6-42730B0701D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TextBox 2"/>
          <p:cNvSpPr/>
          <p:nvPr/>
        </p:nvSpPr>
        <p:spPr>
          <a:xfrm>
            <a:off x="640080" y="2286000"/>
            <a:ext cx="10514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S7 SCIENCE, TECHNOLOGY &amp; SOCIETY · SEMESTER 1 · PERIOD 5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640080" y="2743200"/>
            <a:ext cx="10514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Verdana"/>
              </a:rPr>
              <a:t>Two More Lines of Evidence: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Verdana"/>
              </a:rPr>
              <a:t>Sea Level and Ocean Acidification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640080" y="4160520"/>
            <a:ext cx="100576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94a3b8"/>
                </a:solidFill>
                <a:latin typeface="Arial"/>
              </a:rPr>
              <a:t>Climate Change and Biodiversity — what the oceans reveal about heat and CO₂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Box 5"/>
          <p:cNvSpPr/>
          <p:nvPr/>
        </p:nvSpPr>
        <p:spPr>
          <a:xfrm>
            <a:off x="640080" y="6355080"/>
            <a:ext cx="10057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Arial"/>
              </a:rPr>
              <a:t>S7 STS · Climate Change &amp; Biodiversity · 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" name="TextBox 2"/>
          <p:cNvSpPr/>
          <p:nvPr/>
        </p:nvSpPr>
        <p:spPr>
          <a:xfrm>
            <a:off x="640080" y="411480"/>
            <a:ext cx="10514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WHERE WE LEFT OFF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3"/>
          <p:cNvSpPr/>
          <p:nvPr/>
        </p:nvSpPr>
        <p:spPr>
          <a:xfrm>
            <a:off x="640080" y="749880"/>
            <a:ext cx="10880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The Ocean Absorbs Both Heat and CO₂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4"/>
          <p:cNvSpPr/>
          <p:nvPr/>
        </p:nvSpPr>
        <p:spPr>
          <a:xfrm>
            <a:off x="640080" y="6473880"/>
            <a:ext cx="7314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S7 STS · Climate Change &amp; Biodiversity ·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5"/>
          <p:cNvSpPr/>
          <p:nvPr/>
        </p:nvSpPr>
        <p:spPr>
          <a:xfrm>
            <a:off x="640080" y="1600200"/>
            <a:ext cx="10606320" cy="29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Heat: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  the oceans absorb about 90% of the extra heat trapped by greenhouse gases (Periods 2–4).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CO₂: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  the oceans also absorb roughly 25–30% of the CO₂ we emit.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Today: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  each of these leaves a measurable fingerprint — the sea is rising, and its chemistry is changing.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Why “evidence”?</a:t>
            </a:r>
            <a:r>
              <a:rPr b="0" lang="en-US" sz="2200" spc="-1" strike="noStrike">
                <a:solidFill>
                  <a:srgbClr val="1e293b"/>
                </a:solidFill>
                <a:latin typeface="Arial"/>
              </a:rPr>
              <a:t>  both are things we can measure directly, which is how scientists build the case for climate change.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TextBox 2"/>
          <p:cNvSpPr/>
          <p:nvPr/>
        </p:nvSpPr>
        <p:spPr>
          <a:xfrm>
            <a:off x="640080" y="411480"/>
            <a:ext cx="10514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SEA LEVEL · THE EVIDENCE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3"/>
          <p:cNvSpPr/>
          <p:nvPr/>
        </p:nvSpPr>
        <p:spPr>
          <a:xfrm>
            <a:off x="640080" y="749880"/>
            <a:ext cx="10880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The Sea Is Rising — and Faster Every Decade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640080" y="6473880"/>
            <a:ext cx="7314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S7 STS · Climate Change &amp; Biodiversity ·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Rectangle 5"/>
          <p:cNvSpPr/>
          <p:nvPr/>
        </p:nvSpPr>
        <p:spPr>
          <a:xfrm>
            <a:off x="640080" y="2011680"/>
            <a:ext cx="3474000" cy="265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TextBox 6"/>
          <p:cNvSpPr/>
          <p:nvPr/>
        </p:nvSpPr>
        <p:spPr>
          <a:xfrm>
            <a:off x="777240" y="2103120"/>
            <a:ext cx="3199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~21–24 cm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7"/>
          <p:cNvSpPr/>
          <p:nvPr/>
        </p:nvSpPr>
        <p:spPr>
          <a:xfrm>
            <a:off x="777240" y="2514600"/>
            <a:ext cx="31996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Global average sea level rise since 1880.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Rectangle 8"/>
          <p:cNvSpPr/>
          <p:nvPr/>
        </p:nvSpPr>
        <p:spPr>
          <a:xfrm>
            <a:off x="4343400" y="2011680"/>
            <a:ext cx="3474000" cy="265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9"/>
          <p:cNvSpPr/>
          <p:nvPr/>
        </p:nvSpPr>
        <p:spPr>
          <a:xfrm>
            <a:off x="4480560" y="2103120"/>
            <a:ext cx="3199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~10 cm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4480560" y="2514600"/>
            <a:ext cx="319968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Rise measured by satellites since 1993 alone.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ectangle 11"/>
          <p:cNvSpPr/>
          <p:nvPr/>
        </p:nvSpPr>
        <p:spPr>
          <a:xfrm>
            <a:off x="8046720" y="2011680"/>
            <a:ext cx="3474000" cy="265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12"/>
          <p:cNvSpPr/>
          <p:nvPr/>
        </p:nvSpPr>
        <p:spPr>
          <a:xfrm>
            <a:off x="8183880" y="2103120"/>
            <a:ext cx="3199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2 → 4.5 mm/year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13"/>
          <p:cNvSpPr/>
          <p:nvPr/>
        </p:nvSpPr>
        <p:spPr>
          <a:xfrm>
            <a:off x="8183880" y="2514600"/>
            <a:ext cx="319968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The yearly rate has roughly doubled since the 1990s: it is accelerating.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14"/>
          <p:cNvSpPr/>
          <p:nvPr/>
        </p:nvSpPr>
        <p:spPr>
          <a:xfrm>
            <a:off x="640080" y="5029200"/>
            <a:ext cx="10880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pc="-1" strike="noStrike">
                <a:solidFill>
                  <a:srgbClr val="45556c"/>
                </a:solidFill>
                <a:latin typeface="Arial"/>
              </a:rPr>
              <a:t>Source: NASA / NOAA satellite and tide-gauge records.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640080" y="411480"/>
            <a:ext cx="10514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SEA LEVEL · THE CAUSES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640080" y="749880"/>
            <a:ext cx="10880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Two Main Drivers (Plus a Small Third)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640080" y="6473880"/>
            <a:ext cx="7314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S7 STS · Climate Change &amp; Biodiversity ·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 5"/>
          <p:cNvSpPr/>
          <p:nvPr/>
        </p:nvSpPr>
        <p:spPr>
          <a:xfrm>
            <a:off x="640080" y="1828800"/>
            <a:ext cx="3474000" cy="301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6"/>
          <p:cNvSpPr/>
          <p:nvPr/>
        </p:nvSpPr>
        <p:spPr>
          <a:xfrm>
            <a:off x="777240" y="1920240"/>
            <a:ext cx="3199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1. Expansion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777240" y="2331720"/>
            <a:ext cx="3199680" cy="16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Warmer water takes up more space.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This is what Period 4 showed.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About 40–50% of the rise.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8"/>
          <p:cNvSpPr/>
          <p:nvPr/>
        </p:nvSpPr>
        <p:spPr>
          <a:xfrm>
            <a:off x="4343400" y="1828800"/>
            <a:ext cx="3474000" cy="301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9"/>
          <p:cNvSpPr/>
          <p:nvPr/>
        </p:nvSpPr>
        <p:spPr>
          <a:xfrm>
            <a:off x="4480560" y="1920240"/>
            <a:ext cx="3199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2. Land ice melts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4480560" y="2331720"/>
            <a:ext cx="31996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Glaciers and the Greenland and Antarctic ice sheets add NEW water to the ocean.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Now the larger and faster-growing share.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ectangle 11"/>
          <p:cNvSpPr/>
          <p:nvPr/>
        </p:nvSpPr>
        <p:spPr>
          <a:xfrm>
            <a:off x="8046720" y="1828800"/>
            <a:ext cx="3474000" cy="301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12"/>
          <p:cNvSpPr/>
          <p:nvPr/>
        </p:nvSpPr>
        <p:spPr>
          <a:xfrm>
            <a:off x="8183880" y="1920240"/>
            <a:ext cx="3199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3. Land water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13"/>
          <p:cNvSpPr/>
          <p:nvPr/>
        </p:nvSpPr>
        <p:spPr>
          <a:xfrm>
            <a:off x="8183880" y="2331720"/>
            <a:ext cx="31996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Water pumped from aquifers and drained from wetlands ends up in the sea.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A small share (about 10%).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14"/>
          <p:cNvSpPr/>
          <p:nvPr/>
        </p:nvSpPr>
        <p:spPr>
          <a:xfrm>
            <a:off x="640080" y="5212080"/>
            <a:ext cx="10880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pc="-1" strike="noStrike">
                <a:solidFill>
                  <a:srgbClr val="45556c"/>
                </a:solidFill>
                <a:latin typeface="Arial"/>
              </a:rPr>
              <a:t>Shares are approximate (IPCC AR6, 2006–2018). Ice melt keeps growing as the ice sheets lose mass faster.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640080" y="1188720"/>
            <a:ext cx="10880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PREDICT FIRST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640080" y="2850480"/>
            <a:ext cx="10880640" cy="10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An ice cube melts in a glass filled to the brim. Does the water overflow?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640080" y="4846320"/>
            <a:ext cx="105148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45556c"/>
                </a:solidFill>
                <a:latin typeface="Arial"/>
              </a:rPr>
              <a:t>Discuss with your neighbour for 1 minute.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>
            <a:off x="914400" y="3251520"/>
            <a:ext cx="7666560" cy="8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https://www.youtube.com/shorts/fHHsxALKnwU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1"/>
          <p:cNvSpPr/>
          <p:nvPr/>
        </p:nvSpPr>
        <p:spPr>
          <a:xfrm>
            <a:off x="640080" y="1188720"/>
            <a:ext cx="10880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AND THE ANSWER IS….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640080" y="411480"/>
            <a:ext cx="10514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SEA ICE VS. LAND ICE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640080" y="749880"/>
            <a:ext cx="10880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Where the Ice Sits Makes All the Difference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640080" y="6473880"/>
            <a:ext cx="7314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S7 STS · Climate Change &amp; Biodiversity ·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ectangle 5"/>
          <p:cNvSpPr/>
          <p:nvPr/>
        </p:nvSpPr>
        <p:spPr>
          <a:xfrm>
            <a:off x="640080" y="1828800"/>
            <a:ext cx="5325840" cy="237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6"/>
          <p:cNvSpPr/>
          <p:nvPr/>
        </p:nvSpPr>
        <p:spPr>
          <a:xfrm>
            <a:off x="777240" y="1920240"/>
            <a:ext cx="5051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Sea ice (floating)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7"/>
          <p:cNvSpPr/>
          <p:nvPr/>
        </p:nvSpPr>
        <p:spPr>
          <a:xfrm>
            <a:off x="777240" y="2331720"/>
            <a:ext cx="505152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Arctic sea ice already floats in the sea and displaces its own weight.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When it melts, the level hardly changes — just like the ice cube.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angle 8"/>
          <p:cNvSpPr/>
          <p:nvPr/>
        </p:nvSpPr>
        <p:spPr>
          <a:xfrm>
            <a:off x="6195240" y="1828800"/>
            <a:ext cx="5325840" cy="237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9"/>
          <p:cNvSpPr/>
          <p:nvPr/>
        </p:nvSpPr>
        <p:spPr>
          <a:xfrm>
            <a:off x="6332400" y="1920240"/>
            <a:ext cx="5051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Land ice (on land)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6332400" y="2331720"/>
            <a:ext cx="505152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Glaciers and ice sheets rest on land.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When they melt, the water runs into the ocean — like pouring a cup of water into the full glass.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11"/>
          <p:cNvSpPr/>
          <p:nvPr/>
        </p:nvSpPr>
        <p:spPr>
          <a:xfrm>
            <a:off x="640080" y="4526280"/>
            <a:ext cx="108806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1e293b"/>
                </a:solidFill>
                <a:latin typeface="Arial"/>
              </a:rPr>
              <a:t>Greenland holds enough ice to raise the sea about 7 m. Antarctica holds enough for about 58 m.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1e293b"/>
                </a:solidFill>
                <a:latin typeface="Arial"/>
              </a:rPr>
              <a:t>Sea ice loss still matters: it removes a reflective surface and a habitat — just not a direct source of sea level rise.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640080" y="411480"/>
            <a:ext cx="10514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SEA LEVEL · WHY IT MATTERS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640080" y="749880"/>
            <a:ext cx="10880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Small Numbers, Big Consequences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4"/>
          <p:cNvSpPr/>
          <p:nvPr/>
        </p:nvSpPr>
        <p:spPr>
          <a:xfrm>
            <a:off x="640080" y="6473880"/>
            <a:ext cx="7314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S7 STS · Climate Change &amp; Biodiversity · Period 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5"/>
          <p:cNvSpPr/>
          <p:nvPr/>
        </p:nvSpPr>
        <p:spPr>
          <a:xfrm>
            <a:off x="640080" y="1600200"/>
            <a:ext cx="10606320" cy="28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21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100" spc="-1" strike="noStrike">
                <a:solidFill>
                  <a:srgbClr val="0f172a"/>
                </a:solidFill>
                <a:latin typeface="Arial"/>
              </a:rPr>
              <a:t>Flooding:</a:t>
            </a:r>
            <a:r>
              <a:rPr b="0" lang="en-US" sz="2100" spc="-1" strike="noStrike">
                <a:solidFill>
                  <a:srgbClr val="1e293b"/>
                </a:solidFill>
                <a:latin typeface="Arial"/>
              </a:rPr>
              <a:t>  higher sea level lifts storm surges and high tides, so coastal floods become more frequent.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21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100" spc="-1" strike="noStrike">
                <a:solidFill>
                  <a:srgbClr val="0f172a"/>
                </a:solidFill>
                <a:latin typeface="Arial"/>
              </a:rPr>
              <a:t>Salt in the wrong place:</a:t>
            </a:r>
            <a:r>
              <a:rPr b="0" lang="en-US" sz="2100" spc="-1" strike="noStrike">
                <a:solidFill>
                  <a:srgbClr val="1e293b"/>
                </a:solidFill>
                <a:latin typeface="Arial"/>
              </a:rPr>
              <a:t>  seawater contaminates farmland and drinking-water supplies.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21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100" spc="-1" strike="noStrike">
                <a:solidFill>
                  <a:srgbClr val="0f172a"/>
                </a:solidFill>
                <a:latin typeface="Arial"/>
              </a:rPr>
              <a:t>People:</a:t>
            </a:r>
            <a:r>
              <a:rPr b="0" lang="en-US" sz="2100" spc="-1" strike="noStrike">
                <a:solidFill>
                  <a:srgbClr val="1e293b"/>
                </a:solidFill>
                <a:latin typeface="Arial"/>
              </a:rPr>
              <a:t>  around 900 million people live in low-lying coastal zones worldwide.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21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100" spc="-1" strike="noStrike">
                <a:solidFill>
                  <a:srgbClr val="0f172a"/>
                </a:solidFill>
                <a:latin typeface="Arial"/>
              </a:rPr>
              <a:t>Closer to home:</a:t>
            </a:r>
            <a:r>
              <a:rPr b="0" lang="en-US" sz="2100" spc="-1" strike="noStrike">
                <a:solidFill>
                  <a:srgbClr val="1e293b"/>
                </a:solidFill>
                <a:latin typeface="Arial"/>
              </a:rPr>
              <a:t>  Greece has one of the longest coastlines in Europe, with many low-lying deltas, lagoons and island ports.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2"/>
          <p:cNvSpPr/>
          <p:nvPr/>
        </p:nvSpPr>
        <p:spPr>
          <a:xfrm>
            <a:off x="640080" y="411480"/>
            <a:ext cx="10514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WATCH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3"/>
          <p:cNvSpPr/>
          <p:nvPr/>
        </p:nvSpPr>
        <p:spPr>
          <a:xfrm>
            <a:off x="640080" y="749880"/>
            <a:ext cx="10880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Video 1 — Sea Level Rise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4"/>
          <p:cNvSpPr/>
          <p:nvPr/>
        </p:nvSpPr>
        <p:spPr>
          <a:xfrm>
            <a:off x="640080" y="6473880"/>
            <a:ext cx="7314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S7 STS · Climate Change &amp; Biodiversity ·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6"/>
          <p:cNvSpPr/>
          <p:nvPr/>
        </p:nvSpPr>
        <p:spPr>
          <a:xfrm>
            <a:off x="640080" y="3185640"/>
            <a:ext cx="1088064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2800" spc="-1" strike="noStrike">
                <a:solidFill>
                  <a:srgbClr val="94a3b8"/>
                </a:solidFill>
                <a:latin typeface="Arial"/>
              </a:rPr>
              <a:t>https://sealevel.nasa.gov/resources/103/video-rising-tides-understanding-sea-level-rise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7"/>
          <p:cNvSpPr/>
          <p:nvPr/>
        </p:nvSpPr>
        <p:spPr>
          <a:xfrm>
            <a:off x="640080" y="5486400"/>
            <a:ext cx="10880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45556c"/>
                </a:solidFill>
                <a:latin typeface="Arial"/>
              </a:rPr>
              <a:t>While watching: write down ONE cause of sea level rise mentioned in the video.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685800" y="1828800"/>
            <a:ext cx="10167480" cy="3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https://www.dw.com/en/how-countries-around-the-world-are-beating-sea-level-rise/video-72219464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640080" y="411480"/>
            <a:ext cx="10514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OCEAN ACIDIFICATION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640080" y="749880"/>
            <a:ext cx="10880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The Other CO₂ Problem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4"/>
          <p:cNvSpPr/>
          <p:nvPr/>
        </p:nvSpPr>
        <p:spPr>
          <a:xfrm>
            <a:off x="640080" y="6473880"/>
            <a:ext cx="7314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S7 STS · Climate Change &amp; Biodiversity ·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5"/>
          <p:cNvSpPr/>
          <p:nvPr/>
        </p:nvSpPr>
        <p:spPr>
          <a:xfrm>
            <a:off x="640080" y="1600200"/>
            <a:ext cx="10606320" cy="28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21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100" spc="-1" strike="noStrike">
                <a:solidFill>
                  <a:srgbClr val="0f172a"/>
                </a:solidFill>
                <a:latin typeface="Arial"/>
              </a:rPr>
              <a:t>Not about heat:</a:t>
            </a:r>
            <a:r>
              <a:rPr b="0" lang="en-US" sz="2100" spc="-1" strike="noStrike">
                <a:solidFill>
                  <a:srgbClr val="1e293b"/>
                </a:solidFill>
                <a:latin typeface="Arial"/>
              </a:rPr>
              <a:t>  this is a chemical change. CO₂ dissolves in seawater and makes it more acidic.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21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100" spc="-1" strike="noStrike">
                <a:solidFill>
                  <a:srgbClr val="0f172a"/>
                </a:solidFill>
                <a:latin typeface="Arial"/>
              </a:rPr>
              <a:t>The numbers:</a:t>
            </a:r>
            <a:r>
              <a:rPr b="0" lang="en-US" sz="2100" spc="-1" strike="noStrike">
                <a:solidFill>
                  <a:srgbClr val="1e293b"/>
                </a:solidFill>
                <a:latin typeface="Arial"/>
              </a:rPr>
              <a:t>  surface ocean pH has dropped from about 8.2 to 8.1 since pre-industrial times — roughly 30% more acidic.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21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100" spc="-1" strike="noStrike">
                <a:solidFill>
                  <a:srgbClr val="0f172a"/>
                </a:solidFill>
                <a:latin typeface="Arial"/>
              </a:rPr>
              <a:t>Still “basic”:</a:t>
            </a:r>
            <a:r>
              <a:rPr b="0" lang="en-US" sz="2100" spc="-1" strike="noStrike">
                <a:solidFill>
                  <a:srgbClr val="1e293b"/>
                </a:solidFill>
                <a:latin typeface="Arial"/>
              </a:rPr>
              <a:t>  the ocean is not acid yet; it is becoming LESS basic, and the change is far faster than natural shifts in the past.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21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1" lang="en-US" sz="2100" spc="-1" strike="noStrike">
                <a:solidFill>
                  <a:srgbClr val="0f172a"/>
                </a:solidFill>
                <a:latin typeface="Arial"/>
              </a:rPr>
              <a:t>The future:</a:t>
            </a:r>
            <a:r>
              <a:rPr b="0" lang="en-US" sz="2100" spc="-1" strike="noStrike">
                <a:solidFill>
                  <a:srgbClr val="1e293b"/>
                </a:solidFill>
                <a:latin typeface="Arial"/>
              </a:rPr>
              <a:t>  under high emissions the surface pH could fall to about 7.7 by 2100.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640080" y="411480"/>
            <a:ext cx="10514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OCEAN ACIDIFICATION · HOW IT WORKS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640080" y="749880"/>
            <a:ext cx="10880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From Our Exhaust Pipes to a Weaker Shell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4"/>
          <p:cNvSpPr/>
          <p:nvPr/>
        </p:nvSpPr>
        <p:spPr>
          <a:xfrm>
            <a:off x="640080" y="6473880"/>
            <a:ext cx="7314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S7 STS · Climate Change &amp; Biodiversity ·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ectangle 5"/>
          <p:cNvSpPr/>
          <p:nvPr/>
        </p:nvSpPr>
        <p:spPr>
          <a:xfrm>
            <a:off x="640080" y="2103120"/>
            <a:ext cx="1956240" cy="2376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6"/>
          <p:cNvSpPr/>
          <p:nvPr/>
        </p:nvSpPr>
        <p:spPr>
          <a:xfrm>
            <a:off x="640080" y="2194560"/>
            <a:ext cx="1956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ea580c"/>
                </a:solidFill>
                <a:latin typeface="Verdana"/>
              </a:rPr>
              <a:t>1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7"/>
          <p:cNvSpPr/>
          <p:nvPr/>
        </p:nvSpPr>
        <p:spPr>
          <a:xfrm>
            <a:off x="731520" y="2834640"/>
            <a:ext cx="1773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We emit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CO₂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ectangle 8"/>
          <p:cNvSpPr/>
          <p:nvPr/>
        </p:nvSpPr>
        <p:spPr>
          <a:xfrm>
            <a:off x="2871360" y="2103120"/>
            <a:ext cx="1956240" cy="2376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9"/>
          <p:cNvSpPr/>
          <p:nvPr/>
        </p:nvSpPr>
        <p:spPr>
          <a:xfrm>
            <a:off x="2871360" y="2194560"/>
            <a:ext cx="1956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ea580c"/>
                </a:solidFill>
                <a:latin typeface="Verdana"/>
              </a:rPr>
              <a:t>2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10"/>
          <p:cNvSpPr/>
          <p:nvPr/>
        </p:nvSpPr>
        <p:spPr>
          <a:xfrm>
            <a:off x="2962800" y="2834640"/>
            <a:ext cx="1773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The ocean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absorbs it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 11"/>
          <p:cNvSpPr/>
          <p:nvPr/>
        </p:nvSpPr>
        <p:spPr>
          <a:xfrm>
            <a:off x="5102280" y="2103120"/>
            <a:ext cx="1956240" cy="2376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12"/>
          <p:cNvSpPr/>
          <p:nvPr/>
        </p:nvSpPr>
        <p:spPr>
          <a:xfrm>
            <a:off x="5102280" y="2194560"/>
            <a:ext cx="1956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ea580c"/>
                </a:solidFill>
                <a:latin typeface="Verdana"/>
              </a:rPr>
              <a:t>3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13"/>
          <p:cNvSpPr/>
          <p:nvPr/>
        </p:nvSpPr>
        <p:spPr>
          <a:xfrm>
            <a:off x="5193720" y="2834640"/>
            <a:ext cx="17733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Seawater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becomes more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acidic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Rectangle 14"/>
          <p:cNvSpPr/>
          <p:nvPr/>
        </p:nvSpPr>
        <p:spPr>
          <a:xfrm>
            <a:off x="7333560" y="2103120"/>
            <a:ext cx="1956240" cy="2376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15"/>
          <p:cNvSpPr/>
          <p:nvPr/>
        </p:nvSpPr>
        <p:spPr>
          <a:xfrm>
            <a:off x="7333560" y="2194560"/>
            <a:ext cx="1956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ea580c"/>
                </a:solidFill>
                <a:latin typeface="Verdana"/>
              </a:rPr>
              <a:t>4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16"/>
          <p:cNvSpPr/>
          <p:nvPr/>
        </p:nvSpPr>
        <p:spPr>
          <a:xfrm>
            <a:off x="7425000" y="2834640"/>
            <a:ext cx="17733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Less carbonate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is available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ectangle 17"/>
          <p:cNvSpPr/>
          <p:nvPr/>
        </p:nvSpPr>
        <p:spPr>
          <a:xfrm>
            <a:off x="9564480" y="2103120"/>
            <a:ext cx="1956240" cy="2376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18"/>
          <p:cNvSpPr/>
          <p:nvPr/>
        </p:nvSpPr>
        <p:spPr>
          <a:xfrm>
            <a:off x="9564480" y="2194560"/>
            <a:ext cx="1956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ea580c"/>
                </a:solidFill>
                <a:latin typeface="Verdana"/>
              </a:rPr>
              <a:t>5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19"/>
          <p:cNvSpPr/>
          <p:nvPr/>
        </p:nvSpPr>
        <p:spPr>
          <a:xfrm>
            <a:off x="9655920" y="2834640"/>
            <a:ext cx="17733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Shells and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skeletons are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harder to build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20"/>
          <p:cNvSpPr/>
          <p:nvPr/>
        </p:nvSpPr>
        <p:spPr>
          <a:xfrm>
            <a:off x="640080" y="4937760"/>
            <a:ext cx="10880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800" spc="-1" strike="noStrike">
                <a:solidFill>
                  <a:srgbClr val="45556c"/>
                </a:solidFill>
                <a:latin typeface="Arial"/>
              </a:rPr>
              <a:t>Carbonate is the building material for shells and coral skeletons. No need for formulas — just remember the chain.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640080" y="411480"/>
            <a:ext cx="10514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OCEAN ACIDIFICATION · WHO IS AFFECTED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3"/>
          <p:cNvSpPr/>
          <p:nvPr/>
        </p:nvSpPr>
        <p:spPr>
          <a:xfrm>
            <a:off x="640080" y="749880"/>
            <a:ext cx="10880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Shell-Builders First, the Food Web Next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4"/>
          <p:cNvSpPr/>
          <p:nvPr/>
        </p:nvSpPr>
        <p:spPr>
          <a:xfrm>
            <a:off x="640080" y="6473880"/>
            <a:ext cx="7314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S7 STS · Climate Change &amp; Biodiversity ·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ectangle 5"/>
          <p:cNvSpPr/>
          <p:nvPr/>
        </p:nvSpPr>
        <p:spPr>
          <a:xfrm>
            <a:off x="640080" y="1828800"/>
            <a:ext cx="3474000" cy="301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6"/>
          <p:cNvSpPr/>
          <p:nvPr/>
        </p:nvSpPr>
        <p:spPr>
          <a:xfrm>
            <a:off x="777240" y="1920240"/>
            <a:ext cx="3199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Corals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7"/>
          <p:cNvSpPr/>
          <p:nvPr/>
        </p:nvSpPr>
        <p:spPr>
          <a:xfrm>
            <a:off x="777240" y="2331720"/>
            <a:ext cx="3199680" cy="16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Build their skeletons more slowly, so reefs weaken. Acidification adds to bleaching from heat (Period 3).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ectangle 8"/>
          <p:cNvSpPr/>
          <p:nvPr/>
        </p:nvSpPr>
        <p:spPr>
          <a:xfrm>
            <a:off x="4343400" y="1828800"/>
            <a:ext cx="3474000" cy="301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9"/>
          <p:cNvSpPr/>
          <p:nvPr/>
        </p:nvSpPr>
        <p:spPr>
          <a:xfrm>
            <a:off x="4480560" y="1920240"/>
            <a:ext cx="3199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Pteropods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10"/>
          <p:cNvSpPr/>
          <p:nvPr/>
        </p:nvSpPr>
        <p:spPr>
          <a:xfrm>
            <a:off x="4480560" y="2331720"/>
            <a:ext cx="319968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Tiny “sea butterflies”. Their shells begin to dissolve in more acidic water. They feed fish and whales.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 11"/>
          <p:cNvSpPr/>
          <p:nvPr/>
        </p:nvSpPr>
        <p:spPr>
          <a:xfrm>
            <a:off x="8046720" y="1828800"/>
            <a:ext cx="3474000" cy="301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12"/>
          <p:cNvSpPr/>
          <p:nvPr/>
        </p:nvSpPr>
        <p:spPr>
          <a:xfrm>
            <a:off x="8183880" y="1920240"/>
            <a:ext cx="3199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Shellfish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13"/>
          <p:cNvSpPr/>
          <p:nvPr/>
        </p:nvSpPr>
        <p:spPr>
          <a:xfrm>
            <a:off x="8183880" y="2331720"/>
            <a:ext cx="3199680" cy="16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Oyster, mussel and crab struggle to form shells. Hatcheries in the US Pacific Northwest were hit in the 2000s.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14"/>
          <p:cNvSpPr/>
          <p:nvPr/>
        </p:nvSpPr>
        <p:spPr>
          <a:xfrm>
            <a:off x="640080" y="5120640"/>
            <a:ext cx="108806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Warming + less oxygen + acidification hit the same animals at the same time.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2"/>
          <p:cNvSpPr/>
          <p:nvPr/>
        </p:nvSpPr>
        <p:spPr>
          <a:xfrm>
            <a:off x="640080" y="411480"/>
            <a:ext cx="10514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WATCH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640080" y="749880"/>
            <a:ext cx="10880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Video 2 — Ocean Acidification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640080" y="6473880"/>
            <a:ext cx="7314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S7 STS · Climate Change &amp; Biodiversity ·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ectangle 5"/>
          <p:cNvSpPr/>
          <p:nvPr/>
        </p:nvSpPr>
        <p:spPr>
          <a:xfrm>
            <a:off x="640080" y="2011680"/>
            <a:ext cx="10880640" cy="3291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6"/>
          <p:cNvSpPr/>
          <p:nvPr/>
        </p:nvSpPr>
        <p:spPr>
          <a:xfrm>
            <a:off x="640080" y="3399120"/>
            <a:ext cx="108806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2800" spc="-1" strike="noStrike">
                <a:solidFill>
                  <a:srgbClr val="94a3b8"/>
                </a:solidFill>
                <a:latin typeface="Arial"/>
              </a:rPr>
              <a:t>https://www.youtube.com/watch?v=Ug7uPJzDoNc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7"/>
          <p:cNvSpPr/>
          <p:nvPr/>
        </p:nvSpPr>
        <p:spPr>
          <a:xfrm>
            <a:off x="640080" y="5486400"/>
            <a:ext cx="10880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45556c"/>
                </a:solidFill>
                <a:latin typeface="Arial"/>
              </a:rPr>
              <a:t>While watching: which organisms are affected, and why?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2"/>
          <p:cNvSpPr/>
          <p:nvPr/>
        </p:nvSpPr>
        <p:spPr>
          <a:xfrm>
            <a:off x="640080" y="411480"/>
            <a:ext cx="10514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PUTTING IT TOGETHER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3"/>
          <p:cNvSpPr/>
          <p:nvPr/>
        </p:nvSpPr>
        <p:spPr>
          <a:xfrm>
            <a:off x="640080" y="749880"/>
            <a:ext cx="10880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Two Pathways, One Cause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4"/>
          <p:cNvSpPr/>
          <p:nvPr/>
        </p:nvSpPr>
        <p:spPr>
          <a:xfrm>
            <a:off x="640080" y="6473880"/>
            <a:ext cx="7314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S7 STS · Climate Change &amp; Biodiversity ·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Rectangle 5"/>
          <p:cNvSpPr/>
          <p:nvPr/>
        </p:nvSpPr>
        <p:spPr>
          <a:xfrm>
            <a:off x="640080" y="1828800"/>
            <a:ext cx="5325840" cy="246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TextBox 6"/>
          <p:cNvSpPr/>
          <p:nvPr/>
        </p:nvSpPr>
        <p:spPr>
          <a:xfrm>
            <a:off x="777240" y="1920240"/>
            <a:ext cx="5051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Sea level rise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7"/>
          <p:cNvSpPr/>
          <p:nvPr/>
        </p:nvSpPr>
        <p:spPr>
          <a:xfrm>
            <a:off x="777240" y="2331720"/>
            <a:ext cx="505152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Cause: extra HEAT in the ocean and on land.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Type: physical change.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Measured by satellites and tide gauges.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ectangle 8"/>
          <p:cNvSpPr/>
          <p:nvPr/>
        </p:nvSpPr>
        <p:spPr>
          <a:xfrm>
            <a:off x="6195240" y="1828800"/>
            <a:ext cx="5325840" cy="246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9"/>
          <p:cNvSpPr/>
          <p:nvPr/>
        </p:nvSpPr>
        <p:spPr>
          <a:xfrm>
            <a:off x="6332400" y="1920240"/>
            <a:ext cx="5051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Ocean acidification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10"/>
          <p:cNvSpPr/>
          <p:nvPr/>
        </p:nvSpPr>
        <p:spPr>
          <a:xfrm>
            <a:off x="6332400" y="2331720"/>
            <a:ext cx="50515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Cause: extra CO₂ dissolving in seawater.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Type: chemical change.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Measured by ocean sensors and buoys.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11"/>
          <p:cNvSpPr/>
          <p:nvPr/>
        </p:nvSpPr>
        <p:spPr>
          <a:xfrm>
            <a:off x="640080" y="4663440"/>
            <a:ext cx="108806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</a:rPr>
              <a:t>Both trace back to greenhouse gases from human activity. Acidification would happen even if CO₂ did not warm the planet at all.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2"/>
          <p:cNvSpPr/>
          <p:nvPr/>
        </p:nvSpPr>
        <p:spPr>
          <a:xfrm>
            <a:off x="640080" y="411480"/>
            <a:ext cx="10514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KEY TAKEAWAYS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3"/>
          <p:cNvSpPr/>
          <p:nvPr/>
        </p:nvSpPr>
        <p:spPr>
          <a:xfrm>
            <a:off x="640080" y="749880"/>
            <a:ext cx="10880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What You Should Walk Away With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4"/>
          <p:cNvSpPr/>
          <p:nvPr/>
        </p:nvSpPr>
        <p:spPr>
          <a:xfrm>
            <a:off x="640080" y="6473880"/>
            <a:ext cx="7314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</a:rPr>
              <a:t>S7 STS · Climate Change &amp; Biodiversity ·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5"/>
          <p:cNvSpPr/>
          <p:nvPr/>
        </p:nvSpPr>
        <p:spPr>
          <a:xfrm>
            <a:off x="640080" y="1645920"/>
            <a:ext cx="10606320" cy="19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Sea level is rising and accelerating (~21–24 cm since 1880, ~4.5 mm/year now).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Two main causes: thermal expansion and melting LAND ice. Melting sea ice does not raise the sea.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The ocean absorbs 25–30% of our CO₂, which makes it less basic (“acidification”).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</a:rPr>
              <a:t>Acidification harms shell-builders, and through them the whole marine food web.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ectangle 6"/>
          <p:cNvSpPr/>
          <p:nvPr/>
        </p:nvSpPr>
        <p:spPr>
          <a:xfrm>
            <a:off x="640080" y="5577840"/>
            <a:ext cx="10880640" cy="776520"/>
          </a:xfrm>
          <a:prstGeom prst="rect">
            <a:avLst/>
          </a:prstGeom>
          <a:solidFill>
            <a:srgbClr val="fdece1"/>
          </a:solidFill>
          <a:ln w="15875">
            <a:solidFill>
              <a:srgbClr val="ea58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TextBox 7"/>
          <p:cNvSpPr/>
          <p:nvPr/>
        </p:nvSpPr>
        <p:spPr>
          <a:xfrm>
            <a:off x="822960" y="5687640"/>
            <a:ext cx="2010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ea580c"/>
                </a:solidFill>
                <a:latin typeface="Arial"/>
              </a:rPr>
              <a:t>NEXT LESSON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Box 8"/>
          <p:cNvSpPr/>
          <p:nvPr/>
        </p:nvSpPr>
        <p:spPr>
          <a:xfrm>
            <a:off x="2743200" y="5687640"/>
            <a:ext cx="841176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— </a:t>
            </a:r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average surface temperature, and how scientists combine all the evidence (consilience).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2026-10-15T10:14:26Z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