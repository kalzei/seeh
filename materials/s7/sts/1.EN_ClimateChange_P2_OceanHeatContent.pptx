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04648B-9B0C-405E-A3F9-176588F416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1DB4C9-1EC3-44A0-9098-3E8D855E75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2AC5C4-FC88-4029-84CF-4CE9002CEA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B9678D-C307-4354-90D5-327F358CFE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" name="TextBox 2"/>
          <p:cNvSpPr/>
          <p:nvPr/>
        </p:nvSpPr>
        <p:spPr>
          <a:xfrm>
            <a:off x="640080" y="2286000"/>
            <a:ext cx="1051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  <a:ea typeface="DejaVu Sans"/>
              </a:rPr>
              <a:t>S7 SCIENCE, TECHNOLOGY &amp; SOCIETY · SEMESTER 1 · PERIOD 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Box 3"/>
          <p:cNvSpPr/>
          <p:nvPr/>
        </p:nvSpPr>
        <p:spPr>
          <a:xfrm>
            <a:off x="640080" y="2743200"/>
            <a:ext cx="105148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Verdana"/>
                <a:ea typeface="DejaVu Sans"/>
              </a:rPr>
              <a:t>The Enhanced Greenhouse Effect,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Verdana"/>
                <a:ea typeface="DejaVu Sans"/>
              </a:rPr>
              <a:t>and Where the Heat Goes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4"/>
          <p:cNvSpPr/>
          <p:nvPr/>
        </p:nvSpPr>
        <p:spPr>
          <a:xfrm>
            <a:off x="640080" y="4160520"/>
            <a:ext cx="100576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94a3b8"/>
                </a:solidFill>
                <a:latin typeface="Arial"/>
                <a:ea typeface="DejaVu Sans"/>
              </a:rPr>
              <a:t>Climate Change and Biodiversity — from last lesson's energy imbalance to the ocean's rising heat content.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5"/>
          <p:cNvSpPr/>
          <p:nvPr/>
        </p:nvSpPr>
        <p:spPr>
          <a:xfrm>
            <a:off x="640080" y="6355080"/>
            <a:ext cx="10057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Arial"/>
                <a:ea typeface="DejaVu Sans"/>
              </a:rPr>
              <a:t>S7 STS · Climate Change &amp; Biodiversity · Period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  <a:ea typeface="DejaVu Sans"/>
              </a:rPr>
              <a:t>WHERE WE LEFT OFF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  <a:ea typeface="DejaVu Sans"/>
              </a:rPr>
              <a:t>The Enhanced Greenhouse Effect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4"/>
          <p:cNvSpPr/>
          <p:nvPr/>
        </p:nvSpPr>
        <p:spPr>
          <a:xfrm>
            <a:off x="640080" y="1600200"/>
            <a:ext cx="10606320" cy="35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Last lesson: Earth's energy balance has a natural, stable state — when incoming solar energy equals outgoing infrared energy, the climate is stable.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What's changed: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human activities have added extra greenhouse gases on top of the natural baseline, so Earth now traps slightly more energy than it releases — a surplus of about +1 W/m², globally.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The name for this: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scientists call it the Enhanced Greenhouse Effect — “enhanced” because it's the same natural mechanism from last lesson, just intensified by human emissions, not a different phenomenon.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Where the extra energy goes: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it warms the atmosphere, melts the cryosphere (glaciers and ice) — and about 90% of it is absorbed by the oceans.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  <a:ea typeface="DejaVu Sans"/>
              </a:rPr>
              <a:t>TRACKING THE EVIDENCE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  <a:ea typeface="DejaVu Sans"/>
              </a:rPr>
              <a:t>Parameter 2: Ocean Heat Content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  <a:ea typeface="DejaVu Sans"/>
              </a:rPr>
              <a:t>S7 STS · Climate Change &amp; Biodiversity · Period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val 5"/>
          <p:cNvSpPr/>
          <p:nvPr/>
        </p:nvSpPr>
        <p:spPr>
          <a:xfrm>
            <a:off x="640080" y="1828800"/>
            <a:ext cx="1188000" cy="1188000"/>
          </a:xfrm>
          <a:prstGeom prst="ellipse">
            <a:avLst/>
          </a:prstGeom>
          <a:solidFill>
            <a:srgbClr val="ea580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Verdana"/>
                <a:ea typeface="DejaVu Sans"/>
              </a:rPr>
              <a:t>2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6"/>
          <p:cNvSpPr/>
          <p:nvPr/>
        </p:nvSpPr>
        <p:spPr>
          <a:xfrm>
            <a:off x="2286000" y="3291840"/>
            <a:ext cx="8411760" cy="26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The syllabus lists several independent parameters that, together, build the case for climate change: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✓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Parameter 1 — Earth's Energy Budget: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covered last lesson.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→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Parameter 2 — Ocean Heat Content: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today's focus.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Still to come: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average surface temperature, sea level, ocean acidification, and how scientists combine all of this evidence (consilience).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  <a:ea typeface="DejaVu Sans"/>
              </a:rPr>
              <a:t>THE EVIDENCE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  <a:ea typeface="DejaVu Sans"/>
              </a:rPr>
              <a:t>What Is Ocean Heat Content?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  <a:ea typeface="DejaVu Sans"/>
              </a:rPr>
              <a:t>S7 STS · Climate Change &amp; Biodiversity · Period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Box 5"/>
          <p:cNvSpPr/>
          <p:nvPr/>
        </p:nvSpPr>
        <p:spPr>
          <a:xfrm>
            <a:off x="640080" y="1600200"/>
            <a:ext cx="10606320" cy="28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Ocean Heat Content (OHC) is the total amount of thermal energy stored in Earth's oceans.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Measured in: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joules — and considered the most reliable, critical indicator for tracking global warming.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The result: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the ocean acts like a “shield,” absorbing the vast majority of the excess heat trapped by greenhouse gases — the same ~90% from last lesson.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3177000" y="920160"/>
            <a:ext cx="5904720" cy="505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2057760" y="514800"/>
            <a:ext cx="7314480" cy="588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73440" y="659520"/>
            <a:ext cx="12117960" cy="51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Why the oceans absorb so much: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 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water has an enormous specific heat capacity, so the oceans act as the planet's largest heat reservoir. It takes a huge amount of energy to raise the ocean's temperature even by a fraction of a degree.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Water molecules link together through strong hydrogen bonds.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Energy absorption: When you add heat, much of the energy breaks these bonds instead of speeding up the molecules.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Slow temperature change: Because energy goes into breaking bonds first, water heats up and cools down very slowly.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685800" y="0"/>
            <a:ext cx="4194000" cy="6857280"/>
          </a:xfrm>
          <a:prstGeom prst="rect">
            <a:avLst/>
          </a:prstGeom>
          <a:ln w="0">
            <a:noFill/>
          </a:ln>
        </p:spPr>
      </p:pic>
      <p:sp>
        <p:nvSpPr>
          <p:cNvPr id="36" name=""/>
          <p:cNvSpPr/>
          <p:nvPr/>
        </p:nvSpPr>
        <p:spPr>
          <a:xfrm>
            <a:off x="5715000" y="6026760"/>
            <a:ext cx="55540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</a:rPr>
              <a:t>https://www.youtube.com/shorts/HOqKztNeUdE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  <a:ea typeface="DejaVu Sans"/>
              </a:rPr>
              <a:t>NUMBERS TOO BIG TO PICTURE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  <a:ea typeface="DejaVu Sans"/>
              </a:rPr>
              <a:t>The Scale of Absorption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  <a:ea typeface="DejaVu Sans"/>
              </a:rPr>
              <a:t>S7 STS · Climate Change &amp; Biodiversity · Period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5"/>
          <p:cNvSpPr/>
          <p:nvPr/>
        </p:nvSpPr>
        <p:spPr>
          <a:xfrm>
            <a:off x="640080" y="1600200"/>
            <a:ext cx="1088064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To grasp numbers this large, scientists use zettajoules (ZJ) — one zettajoule equals 10²¹ joules (a 1 followed by 21 zeros).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The pattern: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ocean heat uptake isn't just large — it's accelerating, as the chart below shows.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6" descr="bombs_chart.png"/>
          <p:cNvPicPr/>
          <p:nvPr/>
        </p:nvPicPr>
        <p:blipFill>
          <a:blip r:embed="rId1"/>
          <a:stretch/>
        </p:blipFill>
        <p:spPr>
          <a:xfrm>
            <a:off x="914400" y="2971800"/>
            <a:ext cx="4690440" cy="3291120"/>
          </a:xfrm>
          <a:prstGeom prst="rect">
            <a:avLst/>
          </a:prstGeom>
          <a:ln w="0">
            <a:noFill/>
          </a:ln>
        </p:spPr>
      </p:pic>
      <p:sp>
        <p:nvSpPr>
          <p:cNvPr id="43" name=""/>
          <p:cNvSpPr/>
          <p:nvPr/>
        </p:nvSpPr>
        <p:spPr>
          <a:xfrm>
            <a:off x="7086600" y="2971800"/>
            <a:ext cx="34704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Since 1980 (long-term average): The oceans absorbed approximately 2 bomb equivalents per second.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1998–2015 (average): The rate doubled to approximately 4 bomb equivalents per second.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2025 (9th record year): The rate tripled from the previous period, reaching approximately 12 bomb equivalents per second.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  <a:ea typeface="DejaVu Sans"/>
              </a:rPr>
              <a:t>WHY IT MATTERS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  <a:ea typeface="DejaVu Sans"/>
              </a:rPr>
              <a:t>A Planet-Scale Buffer — With Limits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  <a:ea typeface="DejaVu Sans"/>
              </a:rPr>
              <a:t>S7 STS · Climate Change &amp; Biodiversity · Period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5"/>
          <p:cNvSpPr/>
          <p:nvPr/>
        </p:nvSpPr>
        <p:spPr>
          <a:xfrm>
            <a:off x="640080" y="1600200"/>
            <a:ext cx="10606320" cy="31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This ocean buffering has protected us from even faster atmospheric warming — but it isn't free.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The cost: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absorbing that much heat already drives thermal expansion of seawater (contributing to sea level rise), marine heatwaves, and coral bleaching.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• </a:t>
            </a: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DejaVu Sans"/>
              </a:rPr>
              <a:t>The buffer isn't limitless:</a:t>
            </a:r>
            <a:r>
              <a:rPr b="0" lang="en-US" sz="2000" spc="-1" strike="noStrike">
                <a:solidFill>
                  <a:srgbClr val="1e293b"/>
                </a:solidFill>
                <a:latin typeface="Arial"/>
                <a:ea typeface="DejaVu Sans"/>
              </a:rPr>
              <a:t>  the ocean's capacity to keep shielding the atmosphere doesn't disappear — but the consequences of all that stored heat compound, year after year.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3840" y="-20160"/>
            <a:ext cx="12191040" cy="664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1143000" y="2971800"/>
            <a:ext cx="105152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https://science.nasa.gov/resource/video-oceans-of-climate-change/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971800" y="1143000"/>
            <a:ext cx="476928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And a video that sums everything up: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ea580c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640080" y="411480"/>
            <a:ext cx="10514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  <a:ea typeface="DejaVu Sans"/>
              </a:rPr>
              <a:t>KEY TAKEAWAYS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3"/>
          <p:cNvSpPr/>
          <p:nvPr/>
        </p:nvSpPr>
        <p:spPr>
          <a:xfrm>
            <a:off x="640080" y="749880"/>
            <a:ext cx="1088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Verdana"/>
                <a:ea typeface="DejaVu Sans"/>
              </a:rPr>
              <a:t>What You Should Walk Away With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4"/>
          <p:cNvSpPr/>
          <p:nvPr/>
        </p:nvSpPr>
        <p:spPr>
          <a:xfrm>
            <a:off x="640080" y="647388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5556c"/>
                </a:solidFill>
                <a:latin typeface="Arial"/>
                <a:ea typeface="DejaVu Sans"/>
              </a:rPr>
              <a:t>S7 STS · Climate Change &amp; Biodiversity · Period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5"/>
          <p:cNvSpPr/>
          <p:nvPr/>
        </p:nvSpPr>
        <p:spPr>
          <a:xfrm>
            <a:off x="640080" y="1645920"/>
            <a:ext cx="10606320" cy="27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  <a:ea typeface="DejaVu Sans"/>
              </a:rPr>
              <a:t>The Enhanced Greenhouse Effect is the same natural mechanism from last lesson, intensified by human-added greenhouse gases — not a separate phenomenon.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  <a:ea typeface="DejaVu Sans"/>
              </a:rPr>
              <a:t>Ocean Heat Content (OHC) — the total thermal energy stored in the oceans — is the most reliable indicator of global warming, measured in zettajoules (10²¹ J).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  <a:ea typeface="DejaVu Sans"/>
              </a:rPr>
              <a:t>About 90% of the planet's current energy surplus is absorbed by the oceans, thanks to water's huge heat capacity.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1e293b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1e293b"/>
                </a:solidFill>
                <a:latin typeface="Arial"/>
                <a:ea typeface="DejaVu Sans"/>
              </a:rPr>
              <a:t>Ocean heat uptake is accelerating: from ≈2 bomb-equivalents/second historically, to ≈4 (1998–2015), to ≈12 in 2025 — the 9th consecutive record year.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ctangle 6"/>
          <p:cNvSpPr/>
          <p:nvPr/>
        </p:nvSpPr>
        <p:spPr>
          <a:xfrm>
            <a:off x="640080" y="5577840"/>
            <a:ext cx="10880640" cy="776520"/>
          </a:xfrm>
          <a:prstGeom prst="rect">
            <a:avLst/>
          </a:prstGeom>
          <a:solidFill>
            <a:srgbClr val="fdece1"/>
          </a:solidFill>
          <a:ln w="1584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" name="TextBox 7"/>
          <p:cNvSpPr/>
          <p:nvPr/>
        </p:nvSpPr>
        <p:spPr>
          <a:xfrm>
            <a:off x="822960" y="5687640"/>
            <a:ext cx="2010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  <a:ea typeface="DejaVu Sans"/>
              </a:rPr>
              <a:t>NEXT LESSON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8"/>
          <p:cNvSpPr/>
          <p:nvPr/>
        </p:nvSpPr>
        <p:spPr>
          <a:xfrm>
            <a:off x="2743200" y="5577840"/>
            <a:ext cx="84117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DejaVu Sans"/>
              </a:rPr>
              <a:t>Period 3 — more to the consequences..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2026-10-04T18:48:12Z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