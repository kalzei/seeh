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088824-8022-4249-A5FC-BEFCC414FD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30E20F-6D52-4035-950A-12EED8C4DC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F1B6A94-6D9B-4F2B-8C61-17265C6D75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86EE08A-00F2-4E17-AE57-D8F3332A72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93881BF-01AB-4A75-A38A-041DD7EEB4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FA4E26-C487-47D4-9488-4DEA3F7027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4CA71CE-0B1B-4A60-BB82-28417CB0F9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AD16CFF-F280-4BA2-A1B9-4EBF642556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66CBE4D-2FBA-4D82-BD7C-6992B331D5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4EDE6CE-BEE8-4EAB-A805-BE77A1AB90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7CC8BD9-9F1A-4983-8BA1-4C7DAE5050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DFD1EA-47DF-4C83-A5DB-FB9D1AA872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6DCE47-6E92-4F35-BE79-51A559A35A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E7605B-FD49-42E1-BC3F-0DBEB7EA63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CE1310-61C9-44B9-B925-CC2EBA6494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AEC800-E405-400B-A157-80C2E64CBC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A37923-F0D8-452F-A870-851AEF09A9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98501A-F153-4195-B6EB-188C8724A1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DAE85A-C979-4B80-9A7C-7B3608DA7F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D880ED-BC86-4AEE-B315-68996E098D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B908A9-7654-4375-83B9-86982A1735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5F101D-7C5F-4F4E-87D6-926CB84A7F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40080" y="2286000"/>
            <a:ext cx="1051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S7 SCIENCE, TECHNOLOGY &amp; SOCIETY · SEMESTER 1 · PERIOD 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40080" y="2743200"/>
            <a:ext cx="105152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Verdana"/>
              </a:rPr>
              <a:t>Ocean Heat Content, Part 3: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Verdana"/>
              </a:rPr>
              <a:t>A Planet Reacts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640080" y="416052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94a3b8"/>
                </a:solidFill>
                <a:latin typeface="Arial"/>
              </a:rPr>
              <a:t>Climate Change and Biodiversity — what ocean heat does to sea level, ice, currents, storms, and rainfall.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35508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Arial"/>
              </a:rPr>
              <a:t>S7 STS · Climate Change &amp; Biodiversity · Period 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WHERE WE LEFT OFF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Two Kinds of Consequences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640080" y="1600200"/>
            <a:ext cx="10606680" cy="24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The huge amount of heat the oceans absorb doesn't stay put — it constantly interacts with the atmosphere, ice, and land.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Physical changes: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direct changes to the water itself — expansion, melting, circulation.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Climate/weather changes: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what happens when all that released energy reaches the atmosphere.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PHYSICAL IMPACT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Thermal Expansion: The Simplest Physics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4" descr="s29_3.jpg"/>
          <p:cNvPicPr/>
          <p:nvPr/>
        </p:nvPicPr>
        <p:blipFill>
          <a:blip r:embed="rId1"/>
          <a:stretch/>
        </p:blipFill>
        <p:spPr>
          <a:xfrm>
            <a:off x="7223760" y="1828800"/>
            <a:ext cx="4480200" cy="3107880"/>
          </a:xfrm>
          <a:prstGeom prst="rect">
            <a:avLst/>
          </a:prstGeom>
          <a:ln w="0">
            <a:noFill/>
          </a:ln>
        </p:spPr>
      </p:pic>
      <p:sp>
        <p:nvSpPr>
          <p:cNvPr id="80" name="TextBox 5"/>
          <p:cNvSpPr/>
          <p:nvPr/>
        </p:nvSpPr>
        <p:spPr>
          <a:xfrm>
            <a:off x="640080" y="1600200"/>
            <a:ext cx="6674760" cy="27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mechanism: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as water warms, its molecules gain kinetic energy, spread apart, and take up more volume — no ice or extra water needed.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scale: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this simple physical process accounts for over 50% of the global sea level rise observed so far.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data: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satellite measurements (NASA Goddard) show sea level has risen about 100mm since 1993 — and the rate is accelerating, not steady.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640080" y="6473880"/>
            <a:ext cx="731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Period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2514600" y="1143000"/>
            <a:ext cx="7314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Watch: Watching Rising Seas From Space (NASA JPL)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1143000" y="2971800"/>
            <a:ext cx="10515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https://www.jpl.nasa.gov/videos/video-watching-rising-seas-from-space/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PHYSICAL IMPACT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Melting From Below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40080" y="1737360"/>
            <a:ext cx="6400440" cy="32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mechanism: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warmer ocean currents circulate underneath ice shelves in Antarctica and Greenland, melting them from below (“basal melt”).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Why it's dangerous: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this weakens the ice's support structure, causing faster collapse into the ocean — accelerating sea level rise further.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data: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global glacier mass balance has gone from roughly stable in the 1980s to losing several hundred gigatonnes a year now — and the annual loss keeps getting bigger.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640080" y="6473880"/>
            <a:ext cx="731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Period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 descr="s34_0.png"/>
          <p:cNvPicPr/>
          <p:nvPr/>
        </p:nvPicPr>
        <p:blipFill>
          <a:blip r:embed="rId1"/>
          <a:stretch/>
        </p:blipFill>
        <p:spPr>
          <a:xfrm>
            <a:off x="1371600" y="55800"/>
            <a:ext cx="8915400" cy="634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CASE STUDY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The “Doomsday Glacier”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640080" y="1600200"/>
            <a:ext cx="1060668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Thwaites Glacier, Antarctica: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roughly the size of Florida, and already losing about 50 billion tonnes of ice a year — basal melt from warm ocean currents is a key driver.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Current contribution: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about 4% of global sea level rise comes from Thwaites alone, right now.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If it collapsed on its own: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sea level would rise by about 65cm.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The bigger risk: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Thwaites acts like a cork holding back a much larger part of the West Antarctic Ice Sheet. If it destabilises that ice sheet too, the unlocked potential is over 3 metres of global sea level rise.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The nickname: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“Doomsday Glacier” — not because collapse is guaranteed or imminent, but because of how much is riding on a glacier few people have heard of.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PHYSICAL IMPACT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A Weakening Current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640080" y="1600200"/>
            <a:ext cx="1060668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AMOC (Atlantic Meridional Overturning Circulation):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a system of currents — including the Gulf Stream — that carries warm water north and cold water south in the Atlantic.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mechanism: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warming surface water, plus fresh meltwater pouring in, makes North Atlantic water less dense — so it sinks less easily, slowing the whole circulation.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evidence: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AMOC has weakened by about 10% since the early 2000s (continuously monitored only since 2004); some models project 50%+ weakening by 2100.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Why it matters: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a weaker AMOC could significantly reshape temperature and rainfall patterns across Europe and North America.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CLIMATE IMPACT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Supercharged Rain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640080" y="1600200"/>
            <a:ext cx="10606680" cy="24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The mechanism: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warm air above warm oceans holds more moisture — about 7% more for every 1°C of warming.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The result: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huge amounts of water vapour get transported over land in “atmospheric rivers,” producing catastrophic, fast-moving rainfall and flash floods.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In short: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a hotter ocean doesn't just mean hotter weather — it means a more intense water cycle overall.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CLIMATE IMPACT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Stronger, Not Just More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Picture 4" descr="s35_11.jpg"/>
          <p:cNvPicPr/>
          <p:nvPr/>
        </p:nvPicPr>
        <p:blipFill>
          <a:blip r:embed="rId1"/>
          <a:stretch/>
        </p:blipFill>
        <p:spPr>
          <a:xfrm>
            <a:off x="7223760" y="1737360"/>
            <a:ext cx="4480200" cy="2502720"/>
          </a:xfrm>
          <a:prstGeom prst="rect">
            <a:avLst/>
          </a:prstGeom>
          <a:ln w="0">
            <a:noFill/>
          </a:ln>
        </p:spPr>
      </p:pic>
      <p:sp>
        <p:nvSpPr>
          <p:cNvPr id="106" name="TextBox 5"/>
          <p:cNvSpPr/>
          <p:nvPr/>
        </p:nvSpPr>
        <p:spPr>
          <a:xfrm>
            <a:off x="640080" y="1600200"/>
            <a:ext cx="6674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The mechanism: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tropical cyclones draw their energy from evaporating warm seawater — a hotter ocean supplies more “latent heat.”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The result: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not necessarily more hurricanes, but much stronger ones, with faster rapid intensification.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The evidence: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~80% of major hurricanes (Cat. 3–5) now undergo rapid intensification; Atlantic hurricanes are twice as likely to do so as 30 years ago; it's 50% more likely during a marine heatwave.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A real example:</a:t>
            </a: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  Hurricane Milton (2024) intensified by 120 mph in under 36 hours, over water made 400–800 times more likely by climate change.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640080" y="6473880"/>
            <a:ext cx="731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Period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CLIMATE IMPACT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When the Ocean Gets a Fever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640080" y="1600200"/>
            <a:ext cx="10606680" cy="20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Marine heatwaves: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just like heatwaves on land, huge zones of the ocean can overheat for days to months at a time.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The mechanism: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these warm patches affect the weather systems above them, often “locking” high-pressure systems over nearby land.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The result: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prolonged droughts on land, driven by what's happening out at sea.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PUTTING IT ALL TOGETHER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The Cause-and-Effect Chain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4"/>
          <p:cNvSpPr/>
          <p:nvPr/>
        </p:nvSpPr>
        <p:spPr>
          <a:xfrm>
            <a:off x="365760" y="3017520"/>
            <a:ext cx="2377080" cy="11883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Rising Ocean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Heat Content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3657600" y="1463040"/>
            <a:ext cx="2742840" cy="868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Thermal expansion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Sea level rise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3657600" y="2514600"/>
            <a:ext cx="2742840" cy="868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Basal ice melt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Sea level rise, faster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7"/>
          <p:cNvSpPr/>
          <p:nvPr/>
        </p:nvSpPr>
        <p:spPr>
          <a:xfrm>
            <a:off x="3657600" y="3566160"/>
            <a:ext cx="2742840" cy="868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More latent heat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Stronger hurricanes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8"/>
          <p:cNvSpPr/>
          <p:nvPr/>
        </p:nvSpPr>
        <p:spPr>
          <a:xfrm>
            <a:off x="3657600" y="4617720"/>
            <a:ext cx="2742840" cy="868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More evaporation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Extreme rain &amp; floods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9"/>
          <p:cNvSpPr/>
          <p:nvPr/>
        </p:nvSpPr>
        <p:spPr>
          <a:xfrm>
            <a:off x="6949440" y="3017520"/>
            <a:ext cx="2742840" cy="868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AMOC weakening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Shifting EU/NA climate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10"/>
          <p:cNvSpPr/>
          <p:nvPr/>
        </p:nvSpPr>
        <p:spPr>
          <a:xfrm>
            <a:off x="9601200" y="1828800"/>
            <a:ext cx="2742840" cy="868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Marine heatwaves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Droughts on land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640080" y="5852160"/>
            <a:ext cx="10881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45556c"/>
                </a:solidFill>
                <a:latin typeface="Arial"/>
              </a:rPr>
              <a:t>One root cause, many downstream effects — physical and climate impacts aren't separate problems, they're the same problem branching out.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KEY TAKEAWAYS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What You Should Walk Away With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640080" y="6473880"/>
            <a:ext cx="731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Period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640080" y="1645920"/>
            <a:ext cx="10606680" cy="27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Thermal expansion alone accounts for over 50% of observed sea level rise — no melting required, just physics.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Basal melt (warm currents melting ice shelves from below) is accelerating ice loss in Antarctica and Greenland.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AMOC has weakened about 10% since the early 2000s, with much larger weakening projected by 2100.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A hotter ocean supercharges the water cycle: more intense rainfall, faster-intensifying hurricanes, and marine heatwaves that lock in droughts on land.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640080" y="5577840"/>
            <a:ext cx="10881000" cy="776880"/>
          </a:xfrm>
          <a:prstGeom prst="rect">
            <a:avLst/>
          </a:prstGeom>
          <a:solidFill>
            <a:srgbClr val="fdece1"/>
          </a:solidFill>
          <a:ln w="15875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822960" y="5687640"/>
            <a:ext cx="2011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</a:rPr>
              <a:t>NEXT LESSON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2743200" y="5687640"/>
            <a:ext cx="841212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Period 5 — back to the evidence itself: average surface temperature, sea level, ocean acidification, and consilience.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2026-10-05T21:18:28Z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